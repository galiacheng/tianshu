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  <Relationship Id="rId3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twenty-four-page tutorial treats DeepSeek Harness as an Agent control plane rather than another chat framework. Its central value is the ability to compose, observe, and replace Models, Tools, Sessions, Sandboxes, and Interfaces around one governed runtime. Technical claims are frozen to Harness v0.1.0-rc.7 at commit 99f6f02, while the material was generated with the knowledge-to-pptx and ppt-master Skills at Tianshu ede03b8. We will build a complete view through architecture, enterprise boundaries, and global and China market lenses.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 model can propose the next step, but it does not inherently own execution in files, processes, networks, or business systems. Harness routes a proposal through Context, Policy, Tool, and Session so real-world action can be constrained, recorded, and recovered after failure. The key distinction is that thinking is not acting, because side effects occur outside model text. When every execution path crosses the control plane, a visible result in the world can become durable, reviewable evidence.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Four questions provide a practical path through the project. How is one Turn controlled, how do Plugins become runtime capabilities, how far are the primitives from enterprise governance, and which market layer contains each meaningful peer? A fifth evidence thread turns every architectural answer into a testable adoption claim. That prevents the study from ending with an attractive diagram but no decision method.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Do not begin by counting packages; begin with three flows. Control flow explains how one Turn moves from context to an execution result, composition flow explains how Profile and Cordis make capabilities visible in Context, and event flow explains how Session state can be recorded, recovered, and projected. All three converge on one Harness control plane, so execution, composition, and recoverability are not isolated subsystems. This map gives every implementation detail that follows a clear architectural home.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 Turn begins with project context and policy hooks, proceeds through the model request and tool choice, and then uses executionMode to decide how calls may run. An exclusive call creates a barrier, and later calls are reclassified before they start; within an allowed region, two Tool bodies may overlap without changing commit order. Post-processing and tool results are still written to the Session in deterministic model-visible order before the loop chooses Continue, Stop, or Fail. This guarantee governs what the model sees, while authority over file, process, and network side effects remains inside Tool execution.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Cordis uses five primitives to turn plugin conventions into runtime behavior. Context establishes visibility and boundaries, Service provides a stable dependency contract, Event supports collaboration and interception, Effect makes registration disposable, and Scope decides activation, ownership, and release. Together they form one Context tree whose lifecycle is managed through the Effect and Scope relationship. Reversible registration is not automatic compensation, so files already written, network requests already sent, and processes already launched still need explicit recovery logic.</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“Everything is a Plugin” unifies lifecycle rather than directory layout. The stack runs from Host, startup configuration, providers, and external systems through Agent Presets and Models, Tools, Policies, and Sandboxes, then Sessions, Persistence, and Projections, and finally Web, CLI, ACP, and SDK adapters. Every layer may participate as a Provider, Consumer, or policy, but each follows the same Context and Scope model from mount through event handling to dispose. Stable capability seams and dependency direction are what turn many packages into a replaceable system instead of an accidental collection of modules.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Host plane owns process-level capabilities such as Web, persistence, credentials, Sandboxes, and providers. An Agent Preset normally has one standing mount per process and can be inherited by multiple Session Agent scopes rather than being remounted for every Session. Session A and Session B own their own events and runtime state while pointing to the same shared Preset node. The resulting engineering rule is that mutable state inside a shared Preset must be partitioned by Session or another explicit owner.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effective runtime comes from four ordered overlays. Bundles provide reusable default Models, Tools, and policies; the Profile patch selects a product or role workflow; the Home patch preserves durable user preferences; and the command-line --patch is closest to the current user and task. Later layers override earlier layers, which makes order part of runtime behavior. Debugging therefore requires the provenance of all four layers, not only the final JSON, or no one can explain why a Tool exists or a policy was replaced.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Session event stream records ordered facts such as request headers, request context, user and assistant messages, tool calls, approvals, and errors. Cache stores a projection checkpoint with a key, version, sequence, and value; it is not a second fact ledger. A cold read restores that versioned unit state and replays the tail after the checkpoint to rebuild independent Conversation, Tasks, or Usage views. The critical invariant is that anything visible to the model must be logged, allowing projections to be regenerated even when a cache is lost.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 capability seam defines stable types, methods, and events before a provider registry binds one implementation or a named set of implementations. Tools, the Agent loop, UI, and Services consume the contract, while approval, retry, timeout, and observation policies compose at the seam. The Agent therefore depends on a capability rather than a specific Provider, and the three-role model describes dependency direction rather than provider count. Boundary exceptions still matter: tool-fs-search launches packaged ripgrep through a subprocess, so replacing ctx.fs does not automatically replace search semantics.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key extension principle is that an Adapter should not copy Agent and Session semantics. CLI, Web, the TypeScript and Python SDKs, Headless, ACP, and Dynamic Plugins all surround one Agent, Session, and Tools Core while retaining explicit transport and runtime ownership. Dynamic Plugins still pass through an inspectable lifecycle from inspect and define to run, diagnose, and repair. The next distinction is crucial: sharing Core semantics does not mean sharing a process boundary.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CLI is a local interactive entry point, while Headless and ACP support automation over stdio JSON-RPC with the caller managing connection and lifecycle. Web sends commands through HTTP POST and delivers events over two downlink-only WebSockets, events.mux and events.host. The TypeScript and Python SDKs are both out of process, but the TypeScript caller normally supplies the runtime while Python can launch a bundled process by default. These interfaces share Agent, Session, and Tools semantics, yet their transport, deployment, failure, and security boundaries must be evaluated separately.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Typert begins with TypeScript source on the Host and passes it through Analyze, Model, and Emit to create a compiler-independent structural model. That model produces remote metadata, reflection information, and Zod schemas, which a registry or gateway publishes through loaders, routing, and remote faces for the Client compiler face to consume. The build order must therefore complete Host contracts before Client type checking. This pipeline keeps cross-process structure consistent, but authentication, TLS, and authorization remain outside schema generation.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Dynamic Plugin release begins with Inspect and a minimal query against the live contract, followed by Define of an immutable Plugin and Package. A Client half may then wait for a matching page and an explicit approval before Starting, a Run result, and the later render settle. A Run result of ok proves activation only; Client rendering can still fail independently, so diagnostics must cover both phases. Repair creates a new Package rather than mutating a settled version, and rollback explicitly selects a known currentPackageId.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Enterprise readiness is a sequence of gates, not a property inherited from open source. A local runtime must first prove that its data paths are local, then add governed identity, policy, audit, and ownership before production is justified. The diagram deliberately separates those stages because self-hosting answers where code runs, not who may act, what leaves the boundary, or how a decision is reconstructed.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first enterprise question asks where the runtime executes. The second asks where prompts, outputs, credentials, events, and artifacts actually travel, including remote models, tools, and clients. The third asks whether controls and evidence identify the actor, enforce policy, preserve an auditable record, and support review. A self-hosted process can answer the first question while leaving the other two open.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repository Sandbox contributes meaningful controls for file effects and same-world execution, but it is not a universal security boundary. Host API access, Plugin loading, remote transport, credential residency, observability data, and rollback each cross a different boundary and therefore need their own enforcement and review. The right enterprise question is not whether a Sandbox exists, but which flows it covers and which controls remain external to it.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matrix compares current public evidence with the proof an enterprise adoption decision still requires. Identity needs tenant mapping and runtime authorization; execution needs policy enforcement and approval records; data needs transport, redaction, retention, and residency controls; audit needs durable export and reconciliation; lifecycle needs signed artifacts, canaries, rollback, and operational ownership. These are evidence and accountability gaps, not proof that the architecture is unusable, and they define the control shell that a serious pilot must add.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Agent products compete on different stairs. A runtime or framework is bought by builders for execution semantics and extensibility, a developer product is won through workflow habit and task fit, and an enterprise platform is bought through governance, procurement, and support. Harness can move upward across these layers, but each step changes the buyer, the substitute, and the proof required.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At the runtime layer, Harness and AgentScope compete for architecture through plugin seams, lifecycle semantics, and control of execution. At the developer-entry layer, Qwen Code, Kimi, Trae, and similar products compete for repeated workflow habits. At the enterprise-platform layer, Dify, Coze, Model Studio, and Tencent ADP compete for governance budget and carry high switching costs around identity, networks, service levels, and procurement. A useful competitive comparison therefore stays within one layer at a time.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China snapshot separates runtime, developer entry, and enterprise budget rather than collapsing them into one ranking. Public stars and forks anchor attention as of August 18, 2026, but attention does not prove experimentation, adoption, or revenue, which is why the inference chain is deliberately broken. License boundaries also matter: AgentScope is Apache 2.0, while Dify adds conditions and some Coze capabilities are commercial-only. The decision question is the winning mechanism within each layer, not which repository has the largest headline number.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 credible trial freezes one hypothesis, release, model set, task, and success threshold before System A and System B run. Both paths receive a unique run identifier that binds the configuration snapshot, events, logs, artifacts, outcomes, and costs into one evidence bundle. The same rubric then judges success, cost, and failure without post-hoc metric changes. If the team cannot explain the delta and repeat the run, the result remains an anecdote rather than decision-grade evidence.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Architecture, governance, and evidence remain the three supports throughout the roadmap. By day thirty, the team freezes the paired experiment, owners, run identity, and shared rubric; by day sixty, it adds policy, identity, secret, audit, replay, and failure controls. By day ninety, it names a production owner, approved providers and tools, service objectives, rollback paths, and adoption and finance metrics. The gate is explicit: proceed to governed adoption only when the system remains explainable and repeatable across all three supports; otherwise hold and close the gaps.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epseek-harness-system-learning-e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epseek-harness-system-learning-e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moveTo>
                  <a:pt x="11430000" y="0"/>
                </a:moveTo>
                <a:lnTo>
                  <a:pt x="11430000" y="685800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path>
            </a:pathLst>
          </a:custGeom>
          <a:noFill/>
          <a:ln w="9525">
            <a:solidFill>
              <a:schemeClr val="accent3">
                <a:alpha val="14000"/>
              </a:schemeClr>
            </a:solidFill>
          </a:ln>
        </p:spPr>
      </p:sp>
      <p:sp>
        <p:nvSpPr>
          <p:cNvPr id="3" name="Freeform 3"/>
          <p:cNvSpPr/>
          <p:nvPr/>
        </p:nvSpPr>
        <p:spPr>
          <a:xfrm>
            <a:off x="609600" y="457200"/>
            <a:ext cx="10972800" cy="5943600"/>
          </a:xfrm>
          <a:custGeom>
            <a:avLst/>
            <a:gdLst/>
            <a:ahLst/>
            <a:cxnLst/>
            <a:rect l="l" t="t" r="r" b="b"/>
            <a:pathLst>
              <a:path w="10972800" h="5943600">
                <a:moveTo>
                  <a:pt x="5372100" y="0"/>
                </a:moveTo>
                <a:lnTo>
                  <a:pt x="5372100" y="5943600"/>
                </a:lnTo>
                <a:moveTo>
                  <a:pt x="0" y="5581650"/>
                </a:moveTo>
                <a:lnTo>
                  <a:pt x="10972800" y="5581650"/>
                </a:lnTo>
              </a:path>
            </a:pathLst>
          </a:custGeom>
          <a:noFill/>
          <a:ln w="9525">
            <a:solidFill>
              <a:schemeClr val="accent3">
                <a:alpha val="55000"/>
              </a:schemeClr>
            </a:solidFill>
            <a:prstDash val="dash"/>
          </a:ln>
        </p:spPr>
      </p:sp>
      <p:grpSp>
        <p:nvGrpSpPr>
          <p:cNvPr id="8" name="Group 8"/>
          <p:cNvGrpSpPr/>
          <p:nvPr/>
        </p:nvGrpSpPr>
        <p:grpSpPr>
          <a:xfrm>
            <a:off x="593598" y="730568"/>
            <a:ext cx="4924806" cy="3559683"/>
            <a:chOff x="593598" y="730568"/>
            <a:chExt cx="4924806" cy="3559683"/>
          </a:xfrm>
        </p:grpSpPr>
        <p:sp>
          <p:nvSpPr>
            <p:cNvPr id="4" name="TextBox 4"/>
            <p:cNvSpPr txBox="1"/>
            <p:nvPr/>
          </p:nvSpPr>
          <p:spPr>
            <a:xfrm>
              <a:off x="602742" y="730568"/>
              <a:ext cx="3218650" cy="264033"/>
            </a:xfrm>
            <a:prstGeom prst="rect">
              <a:avLst/>
            </a:prstGeom>
            <a:noFill/>
            <a:ln>
              <a:noFill/>
            </a:ln>
          </p:spPr>
          <p:txBody>
            <a:bodyPr wrap="none" lIns="0" tIns="0" rIns="0" bIns="0" anchor="t" anchorCtr="0">
              <a:spAutoFit/>
            </a:bodyPr>
            <a:lstStyle/>
            <a:p>
              <a:pPr algn="l"/>
              <a:r>
                <a:rPr lang="en-US" sz="1350" b="1" spc="150" dirty="0">
                  <a:solidFill>
                    <a:schemeClr val="accent2"/>
                  </a:solidFill>
                  <a:latin typeface="Cascadia Mono"/>
                  <a:ea typeface="Cascadia Mono"/>
                  <a:cs typeface="Cascadia Mono"/>
                </a:rPr>
                <a:t>SYSTEM LEARNING · 24 PAGES</a:t>
              </a:r>
            </a:p>
          </p:txBody>
        </p:sp>
        <p:sp>
          <p:nvSpPr>
            <p:cNvPr id="5" name="TextBox 5"/>
            <p:cNvSpPr txBox="1"/>
            <p:nvPr/>
          </p:nvSpPr>
          <p:spPr>
            <a:xfrm>
              <a:off x="593598" y="1183958"/>
              <a:ext cx="4379547" cy="1130427"/>
            </a:xfrm>
            <a:prstGeom prst="rect">
              <a:avLst/>
            </a:prstGeom>
            <a:noFill/>
            <a:ln>
              <a:noFill/>
            </a:ln>
          </p:spPr>
          <p:txBody>
            <a:bodyPr wrap="none" lIns="0" tIns="0" rIns="0" bIns="0" anchor="t" anchorCtr="0">
              <a:spAutoFit/>
            </a:bodyPr>
            <a:lstStyle/>
            <a:p>
              <a:pPr algn="l">
                <a:lnSpc>
                  <a:spcPts val="4050"/>
                </a:lnSpc>
              </a:pPr>
              <a:r>
                <a:rPr lang="en-US" sz="3150" b="1" dirty="0">
                  <a:solidFill>
                    <a:srgbClr val="F7FAFC"/>
                  </a:solidFill>
                  <a:latin typeface="+mj-lt"/>
                  <a:ea typeface="+mj-ea"/>
                  <a:cs typeface="+mj-cs"/>
                </a:rPr>
                <a:t>DeepSeek Harness:</a:t>
              </a:r>
              <a:br/>
              <a:r>
                <a:rPr lang="en-US" sz="3150" b="1" dirty="0">
                  <a:solidFill>
                    <a:srgbClr val="F7FAFC"/>
                  </a:solidFill>
                  <a:latin typeface="+mj-lt"/>
                  <a:ea typeface="+mj-ea"/>
                  <a:cs typeface="+mj-cs"/>
                </a:rPr>
                <a:t>Everything is a Plugin</a:t>
              </a:r>
            </a:p>
          </p:txBody>
        </p:sp>
        <p:sp>
          <p:nvSpPr>
            <p:cNvPr id="6" name="TextBox 6"/>
            <p:cNvSpPr txBox="1"/>
            <p:nvPr/>
          </p:nvSpPr>
          <p:spPr>
            <a:xfrm>
              <a:off x="597408" y="2465070"/>
              <a:ext cx="4920996" cy="926592"/>
            </a:xfrm>
            <a:prstGeom prst="rect">
              <a:avLst/>
            </a:prstGeom>
            <a:noFill/>
            <a:ln>
              <a:noFill/>
            </a:ln>
          </p:spPr>
          <p:txBody>
            <a:bodyPr wrap="none" lIns="0" tIns="0" rIns="0" bIns="0" anchor="t" anchorCtr="0">
              <a:spAutoFit/>
            </a:bodyPr>
            <a:lstStyle/>
            <a:p>
              <a:pPr algn="l">
                <a:lnSpc>
                  <a:spcPts val="3600"/>
                </a:lnSpc>
              </a:pPr>
              <a:r>
                <a:rPr lang="en-US" sz="2400" b="1" dirty="0">
                  <a:solidFill>
                    <a:srgbClr val="F7FAFC"/>
                  </a:solidFill>
                  <a:latin typeface="+mj-lt"/>
                  <a:ea typeface="+mj-ea"/>
                  <a:cs typeface="+mj-cs"/>
                </a:rPr>
                <a:t>A composable, observable,</a:t>
              </a:r>
              <a:br/>
              <a:r>
                <a:rPr lang="en-US" sz="2400" b="1" dirty="0">
                  <a:solidFill>
                    <a:srgbClr val="F7FAFC"/>
                  </a:solidFill>
                  <a:latin typeface="+mj-lt"/>
                  <a:ea typeface="+mj-ea"/>
                  <a:cs typeface="+mj-cs"/>
                </a:rPr>
                <a:t>replaceable Agent control plane</a:t>
              </a:r>
            </a:p>
          </p:txBody>
        </p:sp>
        <p:sp>
          <p:nvSpPr>
            <p:cNvPr id="7" name="TextBox 7"/>
            <p:cNvSpPr txBox="1"/>
            <p:nvPr/>
          </p:nvSpPr>
          <p:spPr>
            <a:xfrm>
              <a:off x="602742" y="3702368"/>
              <a:ext cx="4308538" cy="587883"/>
            </a:xfrm>
            <a:prstGeom prst="rect">
              <a:avLst/>
            </a:prstGeom>
            <a:noFill/>
            <a:ln>
              <a:noFill/>
            </a:ln>
          </p:spPr>
          <p:txBody>
            <a:bodyPr wrap="none" lIns="0" tIns="0" rIns="0" bIns="0" anchor="t" anchorCtr="0">
              <a:spAutoFit/>
            </a:bodyPr>
            <a:lstStyle/>
            <a:p>
              <a:pPr algn="l">
                <a:lnSpc>
                  <a:spcPts val="2550"/>
                </a:lnSpc>
              </a:pPr>
              <a:r>
                <a:rPr lang="en-US" sz="1350" dirty="0">
                  <a:solidFill>
                    <a:srgbClr val="A9B7D5"/>
                  </a:solidFill>
                  <a:latin typeface="Cascadia Mono"/>
                  <a:ea typeface="Cascadia Mono"/>
                  <a:cs typeface="Cascadia Mono"/>
                </a:rPr>
                <a:t>HARNESS v0.1.0-rc.7 · 99f6f02</a:t>
              </a:r>
              <a:br/>
              <a:r>
                <a:rPr lang="en-US" sz="1350" dirty="0">
                  <a:solidFill>
                    <a:srgbClr val="A9B7D5"/>
                  </a:solidFill>
                  <a:latin typeface="Cascadia Mono"/>
                  <a:ea typeface="Cascadia Mono"/>
                  <a:cs typeface="Cascadia Mono"/>
                </a:rPr>
                <a:t>TIANSHU ede03b8 · knowledge-to-pptx → ppt-master</a:t>
              </a:r>
            </a:p>
          </p:txBody>
        </p:sp>
      </p:grpSp>
      <p:grpSp>
        <p:nvGrpSpPr>
          <p:cNvPr id="37" name="Group 37"/>
          <p:cNvGrpSpPr/>
          <p:nvPr/>
        </p:nvGrpSpPr>
        <p:grpSpPr>
          <a:xfrm>
            <a:off x="609600" y="4953000"/>
            <a:ext cx="5143500" cy="653034"/>
            <a:chOff x="609600" y="4953000"/>
            <a:chExt cx="5143500" cy="653034"/>
          </a:xfrm>
        </p:grpSpPr>
        <p:sp>
          <p:nvSpPr>
            <p:cNvPr id="9" name="Line 9"/>
            <p:cNvSpPr/>
            <p:nvPr/>
          </p:nvSpPr>
          <p:spPr>
            <a:xfrm>
              <a:off x="609600" y="4953000"/>
              <a:ext cx="5143500" cy="9525"/>
            </a:xfrm>
            <a:custGeom>
              <a:avLst/>
              <a:gdLst/>
              <a:ahLst/>
              <a:cxnLst/>
              <a:rect l="l" t="t" r="r" b="b"/>
              <a:pathLst>
                <a:path w="5143500" h="9525">
                  <a:moveTo>
                    <a:pt x="0" y="0"/>
                  </a:moveTo>
                  <a:lnTo>
                    <a:pt x="5143500" y="0"/>
                  </a:lnTo>
                </a:path>
              </a:pathLst>
            </a:custGeom>
            <a:noFill/>
            <a:ln w="19050">
              <a:solidFill>
                <a:schemeClr val="accent3"/>
              </a:solidFill>
            </a:ln>
          </p:spPr>
        </p:sp>
        <p:grpSp>
          <p:nvGrpSpPr>
            <p:cNvPr id="22" name="Group 22"/>
            <p:cNvGrpSpPr/>
            <p:nvPr/>
          </p:nvGrpSpPr>
          <p:grpSpPr>
            <a:xfrm>
              <a:off x="645319" y="5253990"/>
              <a:ext cx="1996738" cy="352044"/>
              <a:chOff x="645319" y="5253990"/>
              <a:chExt cx="1996738" cy="352044"/>
            </a:xfrm>
          </p:grpSpPr>
          <p:grpSp>
            <p:nvGrpSpPr>
              <p:cNvPr id="20" name="Group 20"/>
              <p:cNvGrpSpPr/>
              <p:nvPr/>
            </p:nvGrpSpPr>
            <p:grpSpPr>
              <a:xfrm>
                <a:off x="645319" y="5255419"/>
                <a:ext cx="214312" cy="214312"/>
                <a:chOff x="645319" y="5255419"/>
                <a:chExt cx="214312" cy="214312"/>
              </a:xfrm>
            </p:grpSpPr>
            <p:sp>
              <p:nvSpPr>
                <p:cNvPr id="10" name="Freeform 10"/>
                <p:cNvSpPr/>
                <p:nvPr/>
              </p:nvSpPr>
              <p:spPr>
                <a:xfrm>
                  <a:off x="669131" y="5279231"/>
                  <a:ext cx="166688" cy="166688"/>
                </a:xfrm>
                <a:custGeom>
                  <a:avLst/>
                  <a:gdLst/>
                  <a:ahLst/>
                  <a:cxnLst/>
                  <a:rect l="l" t="t" r="r" b="b"/>
                  <a:pathLst>
                    <a:path w="166688" h="166688">
                      <a:moveTo>
                        <a:pt x="0" y="11906"/>
                      </a:moveTo>
                      <a:cubicBezTo>
                        <a:pt x="0" y="5331"/>
                        <a:pt x="5331" y="0"/>
                        <a:pt x="11906" y="0"/>
                      </a:cubicBezTo>
                      <a:lnTo>
                        <a:pt x="154781" y="0"/>
                      </a:lnTo>
                      <a:cubicBezTo>
                        <a:pt x="161357" y="0"/>
                        <a:pt x="166688" y="5331"/>
                        <a:pt x="166688" y="11906"/>
                      </a:cubicBezTo>
                      <a:lnTo>
                        <a:pt x="166688" y="154781"/>
                      </a:lnTo>
                      <a:cubicBezTo>
                        <a:pt x="166688" y="161357"/>
                        <a:pt x="161357" y="166688"/>
                        <a:pt x="154781" y="166688"/>
                      </a:cubicBezTo>
                      <a:lnTo>
                        <a:pt x="11906" y="166688"/>
                      </a:lnTo>
                      <a:cubicBezTo>
                        <a:pt x="5331" y="166688"/>
                        <a:pt x="0" y="161357"/>
                        <a:pt x="0" y="154781"/>
                      </a:cubicBezTo>
                      <a:lnTo>
                        <a:pt x="0" y="11906"/>
                      </a:lnTo>
                    </a:path>
                  </a:pathLst>
                </a:custGeom>
                <a:noFill/>
                <a:ln w="23812">
                  <a:solidFill>
                    <a:schemeClr val="accent2"/>
                  </a:solidFill>
                </a:ln>
              </p:spPr>
            </p:sp>
            <p:sp>
              <p:nvSpPr>
                <p:cNvPr id="11" name="Freeform 11"/>
                <p:cNvSpPr/>
                <p:nvPr/>
              </p:nvSpPr>
              <p:spPr>
                <a:xfrm>
                  <a:off x="716756" y="5326856"/>
                  <a:ext cx="71438" cy="71438"/>
                </a:xfrm>
                <a:custGeom>
                  <a:avLst/>
                  <a:gdLst/>
                  <a:ahLst/>
                  <a:cxnLst/>
                  <a:rect l="l" t="t" r="r" b="b"/>
                  <a:pathLst>
                    <a:path w="71438" h="71438">
                      <a:moveTo>
                        <a:pt x="0" y="0"/>
                      </a:moveTo>
                      <a:lnTo>
                        <a:pt x="71438" y="0"/>
                      </a:lnTo>
                      <a:lnTo>
                        <a:pt x="71438" y="71438"/>
                      </a:lnTo>
                      <a:lnTo>
                        <a:pt x="0" y="71438"/>
                      </a:lnTo>
                      <a:lnTo>
                        <a:pt x="0" y="0"/>
                      </a:lnTo>
                    </a:path>
                  </a:pathLst>
                </a:custGeom>
                <a:noFill/>
                <a:ln w="23812">
                  <a:solidFill>
                    <a:schemeClr val="accent2"/>
                  </a:solidFill>
                </a:ln>
              </p:spPr>
            </p:sp>
            <p:sp>
              <p:nvSpPr>
                <p:cNvPr id="12" name="Freeform 12"/>
                <p:cNvSpPr/>
                <p:nvPr/>
              </p:nvSpPr>
              <p:spPr>
                <a:xfrm>
                  <a:off x="645319" y="5338762"/>
                  <a:ext cx="23812" cy="9525"/>
                </a:xfrm>
                <a:custGeom>
                  <a:avLst/>
                  <a:gdLst/>
                  <a:ahLst/>
                  <a:cxnLst/>
                  <a:rect l="l" t="t" r="r" b="b"/>
                  <a:pathLst>
                    <a:path w="23812" h="9525">
                      <a:moveTo>
                        <a:pt x="0" y="0"/>
                      </a:moveTo>
                      <a:lnTo>
                        <a:pt x="23812" y="0"/>
                      </a:lnTo>
                    </a:path>
                  </a:pathLst>
                </a:custGeom>
                <a:noFill/>
                <a:ln w="23812">
                  <a:solidFill>
                    <a:schemeClr val="accent2"/>
                  </a:solidFill>
                </a:ln>
              </p:spPr>
            </p:sp>
            <p:sp>
              <p:nvSpPr>
                <p:cNvPr id="13" name="Freeform 13"/>
                <p:cNvSpPr/>
                <p:nvPr/>
              </p:nvSpPr>
              <p:spPr>
                <a:xfrm>
                  <a:off x="645319" y="5386388"/>
                  <a:ext cx="23812" cy="9525"/>
                </a:xfrm>
                <a:custGeom>
                  <a:avLst/>
                  <a:gdLst/>
                  <a:ahLst/>
                  <a:cxnLst/>
                  <a:rect l="l" t="t" r="r" b="b"/>
                  <a:pathLst>
                    <a:path w="23812" h="9525">
                      <a:moveTo>
                        <a:pt x="0" y="0"/>
                      </a:moveTo>
                      <a:lnTo>
                        <a:pt x="23812" y="0"/>
                      </a:lnTo>
                    </a:path>
                  </a:pathLst>
                </a:custGeom>
                <a:noFill/>
                <a:ln w="23812">
                  <a:solidFill>
                    <a:schemeClr val="accent2"/>
                  </a:solidFill>
                </a:ln>
              </p:spPr>
            </p:sp>
            <p:sp>
              <p:nvSpPr>
                <p:cNvPr id="14" name="Freeform 14"/>
                <p:cNvSpPr/>
                <p:nvPr/>
              </p:nvSpPr>
              <p:spPr>
                <a:xfrm>
                  <a:off x="728662" y="5255419"/>
                  <a:ext cx="9525" cy="23812"/>
                </a:xfrm>
                <a:custGeom>
                  <a:avLst/>
                  <a:gdLst/>
                  <a:ahLst/>
                  <a:cxnLst/>
                  <a:rect l="l" t="t" r="r" b="b"/>
                  <a:pathLst>
                    <a:path w="9525" h="23812">
                      <a:moveTo>
                        <a:pt x="0" y="0"/>
                      </a:moveTo>
                      <a:lnTo>
                        <a:pt x="0" y="23812"/>
                      </a:lnTo>
                    </a:path>
                  </a:pathLst>
                </a:custGeom>
                <a:noFill/>
                <a:ln w="23812">
                  <a:solidFill>
                    <a:schemeClr val="accent2"/>
                  </a:solidFill>
                </a:ln>
              </p:spPr>
            </p:sp>
            <p:sp>
              <p:nvSpPr>
                <p:cNvPr id="15" name="Freeform 15"/>
                <p:cNvSpPr/>
                <p:nvPr/>
              </p:nvSpPr>
              <p:spPr>
                <a:xfrm>
                  <a:off x="776288" y="5255419"/>
                  <a:ext cx="9525" cy="23812"/>
                </a:xfrm>
                <a:custGeom>
                  <a:avLst/>
                  <a:gdLst/>
                  <a:ahLst/>
                  <a:cxnLst/>
                  <a:rect l="l" t="t" r="r" b="b"/>
                  <a:pathLst>
                    <a:path w="9525" h="23812">
                      <a:moveTo>
                        <a:pt x="0" y="0"/>
                      </a:moveTo>
                      <a:lnTo>
                        <a:pt x="0" y="23812"/>
                      </a:lnTo>
                    </a:path>
                  </a:pathLst>
                </a:custGeom>
                <a:noFill/>
                <a:ln w="23812">
                  <a:solidFill>
                    <a:schemeClr val="accent2"/>
                  </a:solidFill>
                </a:ln>
              </p:spPr>
            </p:sp>
            <p:sp>
              <p:nvSpPr>
                <p:cNvPr id="16" name="Freeform 16"/>
                <p:cNvSpPr/>
                <p:nvPr/>
              </p:nvSpPr>
              <p:spPr>
                <a:xfrm>
                  <a:off x="835819" y="5338762"/>
                  <a:ext cx="23812" cy="9525"/>
                </a:xfrm>
                <a:custGeom>
                  <a:avLst/>
                  <a:gdLst/>
                  <a:ahLst/>
                  <a:cxnLst/>
                  <a:rect l="l" t="t" r="r" b="b"/>
                  <a:pathLst>
                    <a:path w="23812" h="9525">
                      <a:moveTo>
                        <a:pt x="23812" y="0"/>
                      </a:moveTo>
                      <a:lnTo>
                        <a:pt x="0" y="0"/>
                      </a:lnTo>
                    </a:path>
                  </a:pathLst>
                </a:custGeom>
                <a:noFill/>
                <a:ln w="23812">
                  <a:solidFill>
                    <a:schemeClr val="accent2"/>
                  </a:solidFill>
                </a:ln>
              </p:spPr>
            </p:sp>
            <p:sp>
              <p:nvSpPr>
                <p:cNvPr id="17" name="Freeform 17"/>
                <p:cNvSpPr/>
                <p:nvPr/>
              </p:nvSpPr>
              <p:spPr>
                <a:xfrm>
                  <a:off x="835819" y="5386388"/>
                  <a:ext cx="23812" cy="9525"/>
                </a:xfrm>
                <a:custGeom>
                  <a:avLst/>
                  <a:gdLst/>
                  <a:ahLst/>
                  <a:cxnLst/>
                  <a:rect l="l" t="t" r="r" b="b"/>
                  <a:pathLst>
                    <a:path w="23812" h="9525">
                      <a:moveTo>
                        <a:pt x="23812" y="0"/>
                      </a:moveTo>
                      <a:lnTo>
                        <a:pt x="0" y="0"/>
                      </a:lnTo>
                    </a:path>
                  </a:pathLst>
                </a:custGeom>
                <a:noFill/>
                <a:ln w="23812">
                  <a:solidFill>
                    <a:schemeClr val="accent2"/>
                  </a:solidFill>
                </a:ln>
              </p:spPr>
            </p:sp>
            <p:sp>
              <p:nvSpPr>
                <p:cNvPr id="18" name="Freeform 18"/>
                <p:cNvSpPr/>
                <p:nvPr/>
              </p:nvSpPr>
              <p:spPr>
                <a:xfrm>
                  <a:off x="776288" y="5445919"/>
                  <a:ext cx="9525" cy="23812"/>
                </a:xfrm>
                <a:custGeom>
                  <a:avLst/>
                  <a:gdLst/>
                  <a:ahLst/>
                  <a:cxnLst/>
                  <a:rect l="l" t="t" r="r" b="b"/>
                  <a:pathLst>
                    <a:path w="9525" h="23812">
                      <a:moveTo>
                        <a:pt x="0" y="23812"/>
                      </a:moveTo>
                      <a:lnTo>
                        <a:pt x="0" y="0"/>
                      </a:lnTo>
                    </a:path>
                  </a:pathLst>
                </a:custGeom>
                <a:noFill/>
                <a:ln w="23812">
                  <a:solidFill>
                    <a:schemeClr val="accent2"/>
                  </a:solidFill>
                </a:ln>
              </p:spPr>
            </p:sp>
            <p:sp>
              <p:nvSpPr>
                <p:cNvPr id="19" name="Freeform 19"/>
                <p:cNvSpPr/>
                <p:nvPr/>
              </p:nvSpPr>
              <p:spPr>
                <a:xfrm>
                  <a:off x="728662" y="5445919"/>
                  <a:ext cx="9525" cy="23812"/>
                </a:xfrm>
                <a:custGeom>
                  <a:avLst/>
                  <a:gdLst/>
                  <a:ahLst/>
                  <a:cxnLst/>
                  <a:rect l="l" t="t" r="r" b="b"/>
                  <a:pathLst>
                    <a:path w="9525" h="23812">
                      <a:moveTo>
                        <a:pt x="0" y="23812"/>
                      </a:moveTo>
                      <a:lnTo>
                        <a:pt x="0" y="0"/>
                      </a:lnTo>
                    </a:path>
                  </a:pathLst>
                </a:custGeom>
                <a:noFill/>
                <a:ln w="23812">
                  <a:solidFill>
                    <a:schemeClr val="accent2"/>
                  </a:solidFill>
                </a:ln>
              </p:spPr>
            </p:sp>
          </p:grpSp>
          <p:sp>
            <p:nvSpPr>
              <p:cNvPr id="21" name="TextBox 21"/>
              <p:cNvSpPr txBox="1"/>
              <p:nvPr/>
            </p:nvSpPr>
            <p:spPr>
              <a:xfrm>
                <a:off x="1000506" y="5253990"/>
                <a:ext cx="1641551"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Architecture</a:t>
                </a:r>
              </a:p>
            </p:txBody>
          </p:sp>
        </p:grpSp>
        <p:grpSp>
          <p:nvGrpSpPr>
            <p:cNvPr id="28" name="Group 28"/>
            <p:cNvGrpSpPr/>
            <p:nvPr/>
          </p:nvGrpSpPr>
          <p:grpSpPr>
            <a:xfrm>
              <a:off x="2431060" y="5253990"/>
              <a:ext cx="1721762" cy="352044"/>
              <a:chOff x="2431060" y="5253990"/>
              <a:chExt cx="1721762" cy="352044"/>
            </a:xfrm>
          </p:grpSpPr>
          <p:grpSp>
            <p:nvGrpSpPr>
              <p:cNvPr id="26" name="Group 26"/>
              <p:cNvGrpSpPr/>
              <p:nvPr/>
            </p:nvGrpSpPr>
            <p:grpSpPr>
              <a:xfrm>
                <a:off x="2431060" y="5255419"/>
                <a:ext cx="224229" cy="214312"/>
                <a:chOff x="2431060" y="5255419"/>
                <a:chExt cx="224229" cy="214312"/>
              </a:xfrm>
            </p:grpSpPr>
            <p:sp>
              <p:nvSpPr>
                <p:cNvPr id="23" name="Freeform 23"/>
                <p:cNvSpPr/>
                <p:nvPr/>
              </p:nvSpPr>
              <p:spPr>
                <a:xfrm>
                  <a:off x="2431060" y="5255419"/>
                  <a:ext cx="224229" cy="214312"/>
                </a:xfrm>
                <a:custGeom>
                  <a:avLst/>
                  <a:gdLst/>
                  <a:ahLst/>
                  <a:cxnLst/>
                  <a:rect l="l" t="t" r="r" b="b"/>
                  <a:pathLst>
                    <a:path w="224229" h="214312">
                      <a:moveTo>
                        <a:pt x="112115" y="0"/>
                      </a:moveTo>
                      <a:cubicBezTo>
                        <a:pt x="139926" y="24605"/>
                        <a:pt x="176223" y="37416"/>
                        <a:pt x="213318" y="35719"/>
                      </a:cubicBezTo>
                      <a:cubicBezTo>
                        <a:pt x="224229" y="72837"/>
                        <a:pt x="219621" y="112793"/>
                        <a:pt x="200547" y="146453"/>
                      </a:cubicBezTo>
                      <a:cubicBezTo>
                        <a:pt x="181473" y="180113"/>
                        <a:pt x="149564" y="204599"/>
                        <a:pt x="112115" y="214312"/>
                      </a:cubicBezTo>
                      <a:cubicBezTo>
                        <a:pt x="74665" y="204599"/>
                        <a:pt x="42756" y="180113"/>
                        <a:pt x="23682" y="146453"/>
                      </a:cubicBezTo>
                      <a:cubicBezTo>
                        <a:pt x="4608" y="112793"/>
                        <a:pt x="0" y="72837"/>
                        <a:pt x="10911" y="35719"/>
                      </a:cubicBezTo>
                      <a:cubicBezTo>
                        <a:pt x="48006" y="37416"/>
                        <a:pt x="84304" y="24605"/>
                        <a:pt x="112115" y="0"/>
                      </a:cubicBezTo>
                    </a:path>
                  </a:pathLst>
                </a:custGeom>
                <a:noFill/>
                <a:ln w="23812">
                  <a:solidFill>
                    <a:schemeClr val="accent2"/>
                  </a:solidFill>
                </a:ln>
              </p:spPr>
            </p:sp>
            <p:sp>
              <p:nvSpPr>
                <p:cNvPr id="24" name="Freeform 24"/>
                <p:cNvSpPr/>
                <p:nvPr/>
              </p:nvSpPr>
              <p:spPr>
                <a:xfrm>
                  <a:off x="2531269" y="5338762"/>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23812">
                  <a:solidFill>
                    <a:schemeClr val="accent2"/>
                  </a:solidFill>
                </a:ln>
              </p:spPr>
            </p:sp>
            <p:sp>
              <p:nvSpPr>
                <p:cNvPr id="25" name="Freeform 25"/>
                <p:cNvSpPr/>
                <p:nvPr/>
              </p:nvSpPr>
              <p:spPr>
                <a:xfrm>
                  <a:off x="2543175" y="5362575"/>
                  <a:ext cx="9525" cy="29766"/>
                </a:xfrm>
                <a:custGeom>
                  <a:avLst/>
                  <a:gdLst/>
                  <a:ahLst/>
                  <a:cxnLst/>
                  <a:rect l="l" t="t" r="r" b="b"/>
                  <a:pathLst>
                    <a:path w="9525" h="29766">
                      <a:moveTo>
                        <a:pt x="0" y="0"/>
                      </a:moveTo>
                      <a:lnTo>
                        <a:pt x="0" y="29766"/>
                      </a:lnTo>
                    </a:path>
                  </a:pathLst>
                </a:custGeom>
                <a:noFill/>
                <a:ln w="23812">
                  <a:solidFill>
                    <a:schemeClr val="accent2"/>
                  </a:solidFill>
                </a:ln>
              </p:spPr>
            </p:sp>
          </p:grpSp>
          <p:sp>
            <p:nvSpPr>
              <p:cNvPr id="27" name="TextBox 27"/>
              <p:cNvSpPr txBox="1"/>
              <p:nvPr/>
            </p:nvSpPr>
            <p:spPr>
              <a:xfrm>
                <a:off x="2791206" y="5253990"/>
                <a:ext cx="1361616"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Enterprise</a:t>
                </a:r>
              </a:p>
            </p:txBody>
          </p:sp>
        </p:grpSp>
        <p:grpSp>
          <p:nvGrpSpPr>
            <p:cNvPr id="36" name="Group 36"/>
            <p:cNvGrpSpPr/>
            <p:nvPr/>
          </p:nvGrpSpPr>
          <p:grpSpPr>
            <a:xfrm>
              <a:off x="4131469" y="5253990"/>
              <a:ext cx="1412256" cy="352044"/>
              <a:chOff x="4131469" y="5253990"/>
              <a:chExt cx="1412256" cy="352044"/>
            </a:xfrm>
          </p:grpSpPr>
          <p:grpSp>
            <p:nvGrpSpPr>
              <p:cNvPr id="34" name="Group 34"/>
              <p:cNvGrpSpPr/>
              <p:nvPr/>
            </p:nvGrpSpPr>
            <p:grpSpPr>
              <a:xfrm>
                <a:off x="4131469" y="5255419"/>
                <a:ext cx="214312" cy="214312"/>
                <a:chOff x="4131469" y="5255419"/>
                <a:chExt cx="214312" cy="214312"/>
              </a:xfrm>
            </p:grpSpPr>
            <p:sp>
              <p:nvSpPr>
                <p:cNvPr id="29" name="Freeform 29"/>
                <p:cNvSpPr/>
                <p:nvPr/>
              </p:nvSpPr>
              <p:spPr>
                <a:xfrm>
                  <a:off x="4131469" y="5255419"/>
                  <a:ext cx="214312" cy="214312"/>
                </a:xfrm>
                <a:custGeom>
                  <a:avLst/>
                  <a:gdLst/>
                  <a:ahLst/>
                  <a:cxnLst/>
                  <a:rect l="l" t="t" r="r" b="b"/>
                  <a:pathLst>
                    <a:path w="214312" h="214312">
                      <a:moveTo>
                        <a:pt x="0" y="107156"/>
                      </a:moveTo>
                      <a:cubicBezTo>
                        <a:pt x="0" y="166337"/>
                        <a:pt x="47975" y="214312"/>
                        <a:pt x="107156" y="214312"/>
                      </a:cubicBezTo>
                      <a:cubicBezTo>
                        <a:pt x="166337" y="214312"/>
                        <a:pt x="214312" y="166337"/>
                        <a:pt x="214312" y="107156"/>
                      </a:cubicBezTo>
                      <a:cubicBezTo>
                        <a:pt x="214312" y="47975"/>
                        <a:pt x="166337" y="0"/>
                        <a:pt x="107156" y="0"/>
                      </a:cubicBezTo>
                      <a:cubicBezTo>
                        <a:pt x="47975" y="0"/>
                        <a:pt x="0" y="47975"/>
                        <a:pt x="0" y="107156"/>
                      </a:cubicBezTo>
                    </a:path>
                  </a:pathLst>
                </a:custGeom>
                <a:noFill/>
                <a:ln w="23812">
                  <a:solidFill>
                    <a:schemeClr val="accent2"/>
                  </a:solidFill>
                </a:ln>
              </p:spPr>
            </p:sp>
            <p:sp>
              <p:nvSpPr>
                <p:cNvPr id="30" name="Freeform 30"/>
                <p:cNvSpPr/>
                <p:nvPr/>
              </p:nvSpPr>
              <p:spPr>
                <a:xfrm>
                  <a:off x="4138612" y="5326856"/>
                  <a:ext cx="200025" cy="9525"/>
                </a:xfrm>
                <a:custGeom>
                  <a:avLst/>
                  <a:gdLst/>
                  <a:ahLst/>
                  <a:cxnLst/>
                  <a:rect l="l" t="t" r="r" b="b"/>
                  <a:pathLst>
                    <a:path w="200025" h="9525">
                      <a:moveTo>
                        <a:pt x="0" y="0"/>
                      </a:moveTo>
                      <a:lnTo>
                        <a:pt x="200025" y="0"/>
                      </a:lnTo>
                    </a:path>
                  </a:pathLst>
                </a:custGeom>
                <a:noFill/>
                <a:ln w="23812">
                  <a:solidFill>
                    <a:schemeClr val="accent2"/>
                  </a:solidFill>
                </a:ln>
              </p:spPr>
            </p:sp>
            <p:sp>
              <p:nvSpPr>
                <p:cNvPr id="31" name="Freeform 31"/>
                <p:cNvSpPr/>
                <p:nvPr/>
              </p:nvSpPr>
              <p:spPr>
                <a:xfrm>
                  <a:off x="4138612" y="5398294"/>
                  <a:ext cx="200025" cy="9525"/>
                </a:xfrm>
                <a:custGeom>
                  <a:avLst/>
                  <a:gdLst/>
                  <a:ahLst/>
                  <a:cxnLst/>
                  <a:rect l="l" t="t" r="r" b="b"/>
                  <a:pathLst>
                    <a:path w="200025" h="9525">
                      <a:moveTo>
                        <a:pt x="0" y="0"/>
                      </a:moveTo>
                      <a:lnTo>
                        <a:pt x="200025" y="0"/>
                      </a:lnTo>
                    </a:path>
                  </a:pathLst>
                </a:custGeom>
                <a:noFill/>
                <a:ln w="23812">
                  <a:solidFill>
                    <a:schemeClr val="accent2"/>
                  </a:solidFill>
                </a:ln>
              </p:spPr>
            </p:sp>
            <p:sp>
              <p:nvSpPr>
                <p:cNvPr id="32" name="Freeform 32"/>
                <p:cNvSpPr/>
                <p:nvPr/>
              </p:nvSpPr>
              <p:spPr>
                <a:xfrm>
                  <a:off x="4191749" y="5255419"/>
                  <a:ext cx="40922" cy="214312"/>
                </a:xfrm>
                <a:custGeom>
                  <a:avLst/>
                  <a:gdLst/>
                  <a:ahLst/>
                  <a:cxnLst/>
                  <a:rect l="l" t="t" r="r" b="b"/>
                  <a:pathLst>
                    <a:path w="40922" h="214312">
                      <a:moveTo>
                        <a:pt x="40922" y="0"/>
                      </a:moveTo>
                      <a:cubicBezTo>
                        <a:pt x="0" y="65577"/>
                        <a:pt x="0" y="148736"/>
                        <a:pt x="40922" y="214312"/>
                      </a:cubicBezTo>
                    </a:path>
                  </a:pathLst>
                </a:custGeom>
                <a:noFill/>
                <a:ln w="23812">
                  <a:solidFill>
                    <a:schemeClr val="accent2"/>
                  </a:solidFill>
                </a:ln>
              </p:spPr>
            </p:sp>
            <p:sp>
              <p:nvSpPr>
                <p:cNvPr id="33" name="Freeform 33"/>
                <p:cNvSpPr/>
                <p:nvPr/>
              </p:nvSpPr>
              <p:spPr>
                <a:xfrm>
                  <a:off x="4244578" y="5255419"/>
                  <a:ext cx="40922" cy="214312"/>
                </a:xfrm>
                <a:custGeom>
                  <a:avLst/>
                  <a:gdLst/>
                  <a:ahLst/>
                  <a:cxnLst/>
                  <a:rect l="l" t="t" r="r" b="b"/>
                  <a:pathLst>
                    <a:path w="40922" h="214312">
                      <a:moveTo>
                        <a:pt x="0" y="0"/>
                      </a:moveTo>
                      <a:cubicBezTo>
                        <a:pt x="40922" y="65577"/>
                        <a:pt x="40922" y="148736"/>
                        <a:pt x="0" y="214312"/>
                      </a:cubicBezTo>
                    </a:path>
                  </a:pathLst>
                </a:custGeom>
                <a:noFill/>
                <a:ln w="23812">
                  <a:solidFill>
                    <a:schemeClr val="accent2"/>
                  </a:solidFill>
                </a:ln>
              </p:spPr>
            </p:sp>
          </p:grpSp>
          <p:sp>
            <p:nvSpPr>
              <p:cNvPr id="35" name="TextBox 35"/>
              <p:cNvSpPr txBox="1"/>
              <p:nvPr/>
            </p:nvSpPr>
            <p:spPr>
              <a:xfrm>
                <a:off x="4486656" y="5253990"/>
                <a:ext cx="1057069"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Markets</a:t>
                </a:r>
              </a:p>
            </p:txBody>
          </p:sp>
        </p:grpSp>
      </p:grpSp>
      <p:grpSp>
        <p:nvGrpSpPr>
          <p:cNvPr id="95" name="Group 95"/>
          <p:cNvGrpSpPr/>
          <p:nvPr/>
        </p:nvGrpSpPr>
        <p:grpSpPr>
          <a:xfrm>
            <a:off x="6324600" y="844868"/>
            <a:ext cx="5086350" cy="4679632"/>
            <a:chOff x="6324600" y="844868"/>
            <a:chExt cx="5086350" cy="4679632"/>
          </a:xfrm>
        </p:grpSpPr>
        <p:sp>
          <p:nvSpPr>
            <p:cNvPr id="38" name="TextBox 38"/>
            <p:cNvSpPr txBox="1"/>
            <p:nvPr/>
          </p:nvSpPr>
          <p:spPr>
            <a:xfrm>
              <a:off x="6489192" y="844868"/>
              <a:ext cx="3299460" cy="264033"/>
            </a:xfrm>
            <a:prstGeom prst="rect">
              <a:avLst/>
            </a:prstGeom>
            <a:noFill/>
            <a:ln>
              <a:noFill/>
            </a:ln>
          </p:spPr>
          <p:txBody>
            <a:bodyPr wrap="none" lIns="0" tIns="0" rIns="0" bIns="0" anchor="t" anchorCtr="0">
              <a:spAutoFit/>
            </a:bodyPr>
            <a:lstStyle/>
            <a:p>
              <a:pPr algn="l"/>
              <a:r>
                <a:rPr lang="en-US" sz="1350" spc="75" dirty="0">
                  <a:solidFill>
                    <a:srgbClr val="A9B7D5"/>
                  </a:solidFill>
                  <a:latin typeface="Cascadia Mono"/>
                  <a:ea typeface="Cascadia Mono"/>
                  <a:cs typeface="Cascadia Mono"/>
                </a:rPr>
                <a:t>CAPABILITY ORBIT / COMPOSITION</a:t>
              </a:r>
            </a:p>
          </p:txBody>
        </p:sp>
        <p:sp>
          <p:nvSpPr>
            <p:cNvPr id="39" name="Ellipse 39"/>
            <p:cNvSpPr/>
            <p:nvPr/>
          </p:nvSpPr>
          <p:spPr>
            <a:xfrm>
              <a:off x="6819900" y="1504950"/>
              <a:ext cx="4229100" cy="3695700"/>
            </a:xfrm>
            <a:prstGeom prst="ellipse">
              <a:avLst/>
            </a:prstGeom>
            <a:noFill/>
            <a:ln w="28575">
              <a:solidFill>
                <a:schemeClr val="accent2">
                  <a:alpha val="88000"/>
                </a:schemeClr>
              </a:solidFill>
            </a:ln>
          </p:spPr>
        </p:sp>
        <p:sp>
          <p:nvSpPr>
            <p:cNvPr id="40" name="Ellipse 40"/>
            <p:cNvSpPr/>
            <p:nvPr/>
          </p:nvSpPr>
          <p:spPr>
            <a:xfrm>
              <a:off x="7258050" y="1924050"/>
              <a:ext cx="3352800" cy="2857500"/>
            </a:xfrm>
            <a:prstGeom prst="ellipse">
              <a:avLst/>
            </a:prstGeom>
            <a:noFill/>
            <a:ln w="14288">
              <a:solidFill>
                <a:schemeClr val="accent3"/>
              </a:solidFill>
              <a:prstDash val="dash"/>
            </a:ln>
          </p:spPr>
        </p:sp>
        <p:sp>
          <p:nvSpPr>
            <p:cNvPr id="41" name="Line 41"/>
            <p:cNvSpPr/>
            <p:nvPr/>
          </p:nvSpPr>
          <p:spPr>
            <a:xfrm>
              <a:off x="8934450" y="1466850"/>
              <a:ext cx="9525" cy="1885950"/>
            </a:xfrm>
            <a:custGeom>
              <a:avLst/>
              <a:gdLst/>
              <a:ahLst/>
              <a:cxnLst/>
              <a:rect l="l" t="t" r="r" b="b"/>
              <a:pathLst>
                <a:path w="9525" h="1885950">
                  <a:moveTo>
                    <a:pt x="0" y="1885950"/>
                  </a:moveTo>
                  <a:lnTo>
                    <a:pt x="0" y="0"/>
                  </a:lnTo>
                </a:path>
              </a:pathLst>
            </a:custGeom>
            <a:noFill/>
            <a:ln w="14288">
              <a:solidFill>
                <a:schemeClr val="accent3"/>
              </a:solidFill>
            </a:ln>
          </p:spPr>
        </p:sp>
        <p:sp>
          <p:nvSpPr>
            <p:cNvPr id="42" name="Line 42"/>
            <p:cNvSpPr/>
            <p:nvPr/>
          </p:nvSpPr>
          <p:spPr>
            <a:xfrm>
              <a:off x="8934450" y="2876550"/>
              <a:ext cx="1962150" cy="476250"/>
            </a:xfrm>
            <a:custGeom>
              <a:avLst/>
              <a:gdLst/>
              <a:ahLst/>
              <a:cxnLst/>
              <a:rect l="l" t="t" r="r" b="b"/>
              <a:pathLst>
                <a:path w="1962150" h="476250">
                  <a:moveTo>
                    <a:pt x="0" y="476250"/>
                  </a:moveTo>
                  <a:lnTo>
                    <a:pt x="1962150" y="0"/>
                  </a:lnTo>
                </a:path>
              </a:pathLst>
            </a:custGeom>
            <a:noFill/>
            <a:ln w="14288">
              <a:solidFill>
                <a:schemeClr val="accent3"/>
              </a:solidFill>
            </a:ln>
          </p:spPr>
        </p:sp>
        <p:sp>
          <p:nvSpPr>
            <p:cNvPr id="43" name="Line 43"/>
            <p:cNvSpPr/>
            <p:nvPr/>
          </p:nvSpPr>
          <p:spPr>
            <a:xfrm>
              <a:off x="8934450" y="3352800"/>
              <a:ext cx="1238250" cy="1657350"/>
            </a:xfrm>
            <a:custGeom>
              <a:avLst/>
              <a:gdLst/>
              <a:ahLst/>
              <a:cxnLst/>
              <a:rect l="l" t="t" r="r" b="b"/>
              <a:pathLst>
                <a:path w="1238250" h="1657350">
                  <a:moveTo>
                    <a:pt x="0" y="0"/>
                  </a:moveTo>
                  <a:lnTo>
                    <a:pt x="1238250" y="1657350"/>
                  </a:lnTo>
                </a:path>
              </a:pathLst>
            </a:custGeom>
            <a:noFill/>
            <a:ln w="14288">
              <a:solidFill>
                <a:schemeClr val="accent3"/>
              </a:solidFill>
            </a:ln>
          </p:spPr>
        </p:sp>
        <p:sp>
          <p:nvSpPr>
            <p:cNvPr id="44" name="Line 44"/>
            <p:cNvSpPr/>
            <p:nvPr/>
          </p:nvSpPr>
          <p:spPr>
            <a:xfrm>
              <a:off x="7677150" y="3352800"/>
              <a:ext cx="1257300" cy="1657350"/>
            </a:xfrm>
            <a:custGeom>
              <a:avLst/>
              <a:gdLst/>
              <a:ahLst/>
              <a:cxnLst/>
              <a:rect l="l" t="t" r="r" b="b"/>
              <a:pathLst>
                <a:path w="1257300" h="1657350">
                  <a:moveTo>
                    <a:pt x="1257300" y="0"/>
                  </a:moveTo>
                  <a:lnTo>
                    <a:pt x="0" y="1657350"/>
                  </a:lnTo>
                </a:path>
              </a:pathLst>
            </a:custGeom>
            <a:noFill/>
            <a:ln w="14288">
              <a:solidFill>
                <a:schemeClr val="accent3"/>
              </a:solidFill>
            </a:ln>
          </p:spPr>
        </p:sp>
        <p:sp>
          <p:nvSpPr>
            <p:cNvPr id="45" name="Line 45"/>
            <p:cNvSpPr/>
            <p:nvPr/>
          </p:nvSpPr>
          <p:spPr>
            <a:xfrm>
              <a:off x="6838950" y="2876550"/>
              <a:ext cx="2095500" cy="476250"/>
            </a:xfrm>
            <a:custGeom>
              <a:avLst/>
              <a:gdLst/>
              <a:ahLst/>
              <a:cxnLst/>
              <a:rect l="l" t="t" r="r" b="b"/>
              <a:pathLst>
                <a:path w="2095500" h="476250">
                  <a:moveTo>
                    <a:pt x="2095500" y="476250"/>
                  </a:moveTo>
                  <a:lnTo>
                    <a:pt x="0" y="0"/>
                  </a:lnTo>
                </a:path>
              </a:pathLst>
            </a:custGeom>
            <a:noFill/>
            <a:ln w="14288">
              <a:solidFill>
                <a:schemeClr val="accent3"/>
              </a:solidFill>
            </a:ln>
          </p:spPr>
        </p:sp>
        <p:grpSp>
          <p:nvGrpSpPr>
            <p:cNvPr id="55" name="Group 55"/>
            <p:cNvGrpSpPr/>
            <p:nvPr/>
          </p:nvGrpSpPr>
          <p:grpSpPr>
            <a:xfrm>
              <a:off x="7673607" y="2362200"/>
              <a:ext cx="2521687" cy="1981200"/>
              <a:chOff x="7673607" y="2362200"/>
              <a:chExt cx="2521687" cy="1981200"/>
            </a:xfrm>
          </p:grpSpPr>
          <p:sp>
            <p:nvSpPr>
              <p:cNvPr id="46" name="Ellipse 46"/>
              <p:cNvSpPr/>
              <p:nvPr/>
            </p:nvSpPr>
            <p:spPr>
              <a:xfrm>
                <a:off x="7943850" y="2362200"/>
                <a:ext cx="1981200" cy="1981200"/>
              </a:xfrm>
              <a:prstGeom prst="ellipse">
                <a:avLst/>
              </a:prstGeom>
              <a:solidFill>
                <a:schemeClr val="accent3"/>
              </a:solidFill>
              <a:ln w="38100">
                <a:solidFill>
                  <a:schemeClr val="accent2"/>
                </a:solidFill>
              </a:ln>
            </p:spPr>
          </p:sp>
          <p:grpSp>
            <p:nvGrpSpPr>
              <p:cNvPr id="51" name="Group 51"/>
              <p:cNvGrpSpPr/>
              <p:nvPr/>
            </p:nvGrpSpPr>
            <p:grpSpPr>
              <a:xfrm>
                <a:off x="8769350" y="2768600"/>
                <a:ext cx="330200" cy="330200"/>
                <a:chOff x="8769350" y="2768600"/>
                <a:chExt cx="330200" cy="330200"/>
              </a:xfrm>
            </p:grpSpPr>
            <p:sp>
              <p:nvSpPr>
                <p:cNvPr id="47" name="Freeform 47"/>
                <p:cNvSpPr/>
                <p:nvPr/>
              </p:nvSpPr>
              <p:spPr>
                <a:xfrm>
                  <a:off x="8802478" y="2809875"/>
                  <a:ext cx="255798" cy="255798"/>
                </a:xfrm>
                <a:custGeom>
                  <a:avLst/>
                  <a:gdLst/>
                  <a:ahLst/>
                  <a:cxnLst/>
                  <a:rect l="l" t="t" r="r" b="b"/>
                  <a:pathLst>
                    <a:path w="255798" h="255798">
                      <a:moveTo>
                        <a:pt x="86261" y="0"/>
                      </a:moveTo>
                      <a:lnTo>
                        <a:pt x="255798" y="169537"/>
                      </a:lnTo>
                      <a:lnTo>
                        <a:pt x="213409" y="211927"/>
                      </a:lnTo>
                      <a:cubicBezTo>
                        <a:pt x="183329" y="243210"/>
                        <a:pt x="138693" y="255798"/>
                        <a:pt x="96701" y="244840"/>
                      </a:cubicBezTo>
                      <a:cubicBezTo>
                        <a:pt x="54709" y="233882"/>
                        <a:pt x="21916" y="201089"/>
                        <a:pt x="10958" y="159097"/>
                      </a:cubicBezTo>
                      <a:cubicBezTo>
                        <a:pt x="0" y="117105"/>
                        <a:pt x="12588" y="72469"/>
                        <a:pt x="43871" y="42389"/>
                      </a:cubicBezTo>
                      <a:lnTo>
                        <a:pt x="86261" y="0"/>
                      </a:lnTo>
                    </a:path>
                  </a:pathLst>
                </a:custGeom>
                <a:noFill/>
                <a:ln w="41275">
                  <a:solidFill>
                    <a:srgbClr val="F7FAFC"/>
                  </a:solidFill>
                </a:ln>
              </p:spPr>
            </p:sp>
            <p:sp>
              <p:nvSpPr>
                <p:cNvPr id="48" name="Freeform 48"/>
                <p:cNvSpPr/>
                <p:nvPr/>
              </p:nvSpPr>
              <p:spPr>
                <a:xfrm>
                  <a:off x="8769350" y="3026569"/>
                  <a:ext cx="72231" cy="72231"/>
                </a:xfrm>
                <a:custGeom>
                  <a:avLst/>
                  <a:gdLst/>
                  <a:ahLst/>
                  <a:cxnLst/>
                  <a:rect l="l" t="t" r="r" b="b"/>
                  <a:pathLst>
                    <a:path w="72231" h="72231">
                      <a:moveTo>
                        <a:pt x="0" y="72231"/>
                      </a:moveTo>
                      <a:lnTo>
                        <a:pt x="72231" y="0"/>
                      </a:lnTo>
                    </a:path>
                  </a:pathLst>
                </a:custGeom>
                <a:noFill/>
                <a:ln w="41275">
                  <a:solidFill>
                    <a:srgbClr val="F7FAFC"/>
                  </a:solidFill>
                </a:ln>
              </p:spPr>
            </p:sp>
            <p:sp>
              <p:nvSpPr>
                <p:cNvPr id="49" name="Freeform 49"/>
                <p:cNvSpPr/>
                <p:nvPr/>
              </p:nvSpPr>
              <p:spPr>
                <a:xfrm>
                  <a:off x="8924132" y="2768600"/>
                  <a:ext cx="72231" cy="72231"/>
                </a:xfrm>
                <a:custGeom>
                  <a:avLst/>
                  <a:gdLst/>
                  <a:ahLst/>
                  <a:cxnLst/>
                  <a:rect l="l" t="t" r="r" b="b"/>
                  <a:pathLst>
                    <a:path w="72231" h="72231">
                      <a:moveTo>
                        <a:pt x="72231" y="0"/>
                      </a:moveTo>
                      <a:lnTo>
                        <a:pt x="0" y="72231"/>
                      </a:lnTo>
                    </a:path>
                  </a:pathLst>
                </a:custGeom>
                <a:noFill/>
                <a:ln w="41275">
                  <a:solidFill>
                    <a:srgbClr val="F7FAFC"/>
                  </a:solidFill>
                </a:ln>
              </p:spPr>
            </p:sp>
            <p:sp>
              <p:nvSpPr>
                <p:cNvPr id="50" name="Freeform 50"/>
                <p:cNvSpPr/>
                <p:nvPr/>
              </p:nvSpPr>
              <p:spPr>
                <a:xfrm>
                  <a:off x="9027319" y="2871788"/>
                  <a:ext cx="72231" cy="72231"/>
                </a:xfrm>
                <a:custGeom>
                  <a:avLst/>
                  <a:gdLst/>
                  <a:ahLst/>
                  <a:cxnLst/>
                  <a:rect l="l" t="t" r="r" b="b"/>
                  <a:pathLst>
                    <a:path w="72231" h="72231">
                      <a:moveTo>
                        <a:pt x="72231" y="0"/>
                      </a:moveTo>
                      <a:lnTo>
                        <a:pt x="0" y="72231"/>
                      </a:lnTo>
                    </a:path>
                  </a:pathLst>
                </a:custGeom>
                <a:noFill/>
                <a:ln w="41275">
                  <a:solidFill>
                    <a:srgbClr val="F7FAFC"/>
                  </a:solidFill>
                </a:ln>
              </p:spPr>
            </p:sp>
          </p:grpSp>
          <p:sp>
            <p:nvSpPr>
              <p:cNvPr id="52" name="TextBox 52"/>
              <p:cNvSpPr txBox="1"/>
              <p:nvPr/>
            </p:nvSpPr>
            <p:spPr>
              <a:xfrm>
                <a:off x="8232252" y="3265170"/>
                <a:ext cx="1404396" cy="469392"/>
              </a:xfrm>
              <a:prstGeom prst="rect">
                <a:avLst/>
              </a:prstGeom>
              <a:noFill/>
              <a:ln>
                <a:noFill/>
              </a:ln>
            </p:spPr>
            <p:txBody>
              <a:bodyPr wrap="none" lIns="0" tIns="0" rIns="0" bIns="0" anchor="t" anchorCtr="0">
                <a:spAutoFit/>
              </a:bodyPr>
              <a:lstStyle/>
              <a:p>
                <a:pPr algn="ctr"/>
                <a:r>
                  <a:rPr lang="en-US" sz="2400" b="1" dirty="0">
                    <a:solidFill>
                      <a:srgbClr val="F7FAFC"/>
                    </a:solidFill>
                    <a:latin typeface="+mn-lt"/>
                    <a:ea typeface="+mn-ea"/>
                    <a:cs typeface="+mn-cs"/>
                  </a:rPr>
                  <a:t>HARNESS</a:t>
                </a:r>
              </a:p>
            </p:txBody>
          </p:sp>
          <p:sp>
            <p:nvSpPr>
              <p:cNvPr id="53" name="TextBox 53"/>
              <p:cNvSpPr txBox="1"/>
              <p:nvPr/>
            </p:nvSpPr>
            <p:spPr>
              <a:xfrm>
                <a:off x="8226704" y="3683318"/>
                <a:ext cx="1415491" cy="264033"/>
              </a:xfrm>
              <a:prstGeom prst="rect">
                <a:avLst/>
              </a:prstGeom>
              <a:noFill/>
              <a:ln>
                <a:noFill/>
              </a:ln>
            </p:spPr>
            <p:txBody>
              <a:bodyPr wrap="none" lIns="0" tIns="0" rIns="0" bIns="0" anchor="t" anchorCtr="0">
                <a:spAutoFit/>
              </a:bodyPr>
              <a:lstStyle/>
              <a:p>
                <a:pPr algn="ctr"/>
                <a:r>
                  <a:rPr lang="en-US" sz="1350" dirty="0">
                    <a:solidFill>
                      <a:srgbClr val="B9F4F7"/>
                    </a:solidFill>
                    <a:latin typeface="Cascadia Mono"/>
                    <a:ea typeface="Cascadia Mono"/>
                    <a:cs typeface="Cascadia Mono"/>
                  </a:rPr>
                  <a:t>CONTROL PLANE</a:t>
                </a:r>
              </a:p>
            </p:txBody>
          </p:sp>
          <p:sp>
            <p:nvSpPr>
              <p:cNvPr id="54" name="TextBox 54"/>
              <p:cNvSpPr txBox="1"/>
              <p:nvPr/>
            </p:nvSpPr>
            <p:spPr>
              <a:xfrm>
                <a:off x="7673607" y="3950018"/>
                <a:ext cx="2521687" cy="264033"/>
              </a:xfrm>
              <a:prstGeom prst="rect">
                <a:avLst/>
              </a:prstGeom>
              <a:noFill/>
              <a:ln>
                <a:noFill/>
              </a:ln>
            </p:spPr>
            <p:txBody>
              <a:bodyPr wrap="none" lIns="0" tIns="0" rIns="0" bIns="0" anchor="t" anchorCtr="0">
                <a:spAutoFit/>
              </a:bodyPr>
              <a:lstStyle/>
              <a:p>
                <a:pPr algn="ctr"/>
                <a:r>
                  <a:rPr lang="en-US" sz="1350" dirty="0">
                    <a:solidFill>
                      <a:srgbClr val="F7FAFC"/>
                    </a:solidFill>
                    <a:latin typeface="+mn-lt"/>
                    <a:ea typeface="+mn-ea"/>
                    <a:cs typeface="+mn-cs"/>
                  </a:rPr>
                  <a:t>compose · observe · replace</a:t>
                </a:r>
              </a:p>
            </p:txBody>
          </p:sp>
        </p:grpSp>
        <p:grpSp>
          <p:nvGrpSpPr>
            <p:cNvPr id="69" name="Group 69"/>
            <p:cNvGrpSpPr/>
            <p:nvPr/>
          </p:nvGrpSpPr>
          <p:grpSpPr>
            <a:xfrm>
              <a:off x="8420100" y="952500"/>
              <a:ext cx="1028700" cy="1028700"/>
              <a:chOff x="8420100" y="952500"/>
              <a:chExt cx="1028700" cy="1028700"/>
            </a:xfrm>
          </p:grpSpPr>
          <p:sp>
            <p:nvSpPr>
              <p:cNvPr id="56" name="Ellipse 56"/>
              <p:cNvSpPr/>
              <p:nvPr/>
            </p:nvSpPr>
            <p:spPr>
              <a:xfrm>
                <a:off x="8420100" y="952500"/>
                <a:ext cx="1028700" cy="1028700"/>
              </a:xfrm>
              <a:prstGeom prst="ellipse">
                <a:avLst/>
              </a:prstGeom>
              <a:solidFill>
                <a:schemeClr val="accent1"/>
              </a:solidFill>
              <a:ln w="19050">
                <a:solidFill>
                  <a:schemeClr val="accent3"/>
                </a:solidFill>
              </a:ln>
            </p:spPr>
          </p:sp>
          <p:grpSp>
            <p:nvGrpSpPr>
              <p:cNvPr id="67" name="Group 67"/>
              <p:cNvGrpSpPr/>
              <p:nvPr/>
            </p:nvGrpSpPr>
            <p:grpSpPr>
              <a:xfrm>
                <a:off x="8791575" y="1228725"/>
                <a:ext cx="285751" cy="285751"/>
                <a:chOff x="8791575" y="1228725"/>
                <a:chExt cx="285751" cy="285751"/>
              </a:xfrm>
            </p:grpSpPr>
            <p:sp>
              <p:nvSpPr>
                <p:cNvPr id="57" name="Freeform 57"/>
                <p:cNvSpPr/>
                <p:nvPr/>
              </p:nvSpPr>
              <p:spPr>
                <a:xfrm>
                  <a:off x="8823325" y="1260475"/>
                  <a:ext cx="222250" cy="222250"/>
                </a:xfrm>
                <a:custGeom>
                  <a:avLst/>
                  <a:gdLst/>
                  <a:ahLst/>
                  <a:cxnLst/>
                  <a:rect l="l" t="t" r="r" b="b"/>
                  <a:pathLst>
                    <a:path w="222250" h="222250">
                      <a:moveTo>
                        <a:pt x="0" y="15875"/>
                      </a:moveTo>
                      <a:cubicBezTo>
                        <a:pt x="0" y="7107"/>
                        <a:pt x="7107" y="0"/>
                        <a:pt x="15875" y="0"/>
                      </a:cubicBezTo>
                      <a:lnTo>
                        <a:pt x="206375" y="0"/>
                      </a:lnTo>
                      <a:cubicBezTo>
                        <a:pt x="215143" y="0"/>
                        <a:pt x="222250" y="7107"/>
                        <a:pt x="222250" y="15875"/>
                      </a:cubicBezTo>
                      <a:lnTo>
                        <a:pt x="222250" y="206375"/>
                      </a:lnTo>
                      <a:cubicBezTo>
                        <a:pt x="222250" y="215143"/>
                        <a:pt x="215143" y="222250"/>
                        <a:pt x="206375" y="222250"/>
                      </a:cubicBezTo>
                      <a:lnTo>
                        <a:pt x="15875" y="222250"/>
                      </a:lnTo>
                      <a:cubicBezTo>
                        <a:pt x="7107" y="222250"/>
                        <a:pt x="0" y="215143"/>
                        <a:pt x="0" y="206375"/>
                      </a:cubicBezTo>
                      <a:lnTo>
                        <a:pt x="0" y="15875"/>
                      </a:lnTo>
                    </a:path>
                  </a:pathLst>
                </a:custGeom>
                <a:noFill/>
                <a:ln w="31750">
                  <a:solidFill>
                    <a:srgbClr val="F7FAFC"/>
                  </a:solidFill>
                </a:ln>
              </p:spPr>
            </p:sp>
            <p:sp>
              <p:nvSpPr>
                <p:cNvPr id="58" name="Freeform 58"/>
                <p:cNvSpPr/>
                <p:nvPr/>
              </p:nvSpPr>
              <p:spPr>
                <a:xfrm>
                  <a:off x="8886825" y="1323975"/>
                  <a:ext cx="95250" cy="95250"/>
                </a:xfrm>
                <a:custGeom>
                  <a:avLst/>
                  <a:gdLst/>
                  <a:ahLst/>
                  <a:cxnLst/>
                  <a:rect l="l" t="t" r="r" b="b"/>
                  <a:pathLst>
                    <a:path w="95250" h="95250">
                      <a:moveTo>
                        <a:pt x="0" y="0"/>
                      </a:moveTo>
                      <a:lnTo>
                        <a:pt x="95250" y="0"/>
                      </a:lnTo>
                      <a:lnTo>
                        <a:pt x="95250" y="95250"/>
                      </a:lnTo>
                      <a:lnTo>
                        <a:pt x="0" y="95250"/>
                      </a:lnTo>
                      <a:lnTo>
                        <a:pt x="0" y="0"/>
                      </a:lnTo>
                    </a:path>
                  </a:pathLst>
                </a:custGeom>
                <a:noFill/>
                <a:ln w="31750">
                  <a:solidFill>
                    <a:srgbClr val="F7FAFC"/>
                  </a:solidFill>
                </a:ln>
              </p:spPr>
            </p:sp>
            <p:sp>
              <p:nvSpPr>
                <p:cNvPr id="59" name="Freeform 59"/>
                <p:cNvSpPr/>
                <p:nvPr/>
              </p:nvSpPr>
              <p:spPr>
                <a:xfrm>
                  <a:off x="8791575" y="1339850"/>
                  <a:ext cx="31750" cy="9525"/>
                </a:xfrm>
                <a:custGeom>
                  <a:avLst/>
                  <a:gdLst/>
                  <a:ahLst/>
                  <a:cxnLst/>
                  <a:rect l="l" t="t" r="r" b="b"/>
                  <a:pathLst>
                    <a:path w="31750" h="9525">
                      <a:moveTo>
                        <a:pt x="0" y="0"/>
                      </a:moveTo>
                      <a:lnTo>
                        <a:pt x="31750" y="0"/>
                      </a:lnTo>
                    </a:path>
                  </a:pathLst>
                </a:custGeom>
                <a:noFill/>
                <a:ln w="31750">
                  <a:solidFill>
                    <a:srgbClr val="F7FAFC"/>
                  </a:solidFill>
                </a:ln>
              </p:spPr>
            </p:sp>
            <p:sp>
              <p:nvSpPr>
                <p:cNvPr id="60" name="Freeform 60"/>
                <p:cNvSpPr/>
                <p:nvPr/>
              </p:nvSpPr>
              <p:spPr>
                <a:xfrm>
                  <a:off x="8791575" y="1403350"/>
                  <a:ext cx="31750" cy="9525"/>
                </a:xfrm>
                <a:custGeom>
                  <a:avLst/>
                  <a:gdLst/>
                  <a:ahLst/>
                  <a:cxnLst/>
                  <a:rect l="l" t="t" r="r" b="b"/>
                  <a:pathLst>
                    <a:path w="31750" h="9525">
                      <a:moveTo>
                        <a:pt x="0" y="0"/>
                      </a:moveTo>
                      <a:lnTo>
                        <a:pt x="31750" y="0"/>
                      </a:lnTo>
                    </a:path>
                  </a:pathLst>
                </a:custGeom>
                <a:noFill/>
                <a:ln w="31750">
                  <a:solidFill>
                    <a:srgbClr val="F7FAFC"/>
                  </a:solidFill>
                </a:ln>
              </p:spPr>
            </p:sp>
            <p:sp>
              <p:nvSpPr>
                <p:cNvPr id="61" name="Freeform 61"/>
                <p:cNvSpPr/>
                <p:nvPr/>
              </p:nvSpPr>
              <p:spPr>
                <a:xfrm>
                  <a:off x="8902700" y="1228725"/>
                  <a:ext cx="9525" cy="31750"/>
                </a:xfrm>
                <a:custGeom>
                  <a:avLst/>
                  <a:gdLst/>
                  <a:ahLst/>
                  <a:cxnLst/>
                  <a:rect l="l" t="t" r="r" b="b"/>
                  <a:pathLst>
                    <a:path w="9525" h="31750">
                      <a:moveTo>
                        <a:pt x="0" y="0"/>
                      </a:moveTo>
                      <a:lnTo>
                        <a:pt x="0" y="31750"/>
                      </a:lnTo>
                    </a:path>
                  </a:pathLst>
                </a:custGeom>
                <a:noFill/>
                <a:ln w="31750">
                  <a:solidFill>
                    <a:srgbClr val="F7FAFC"/>
                  </a:solidFill>
                </a:ln>
              </p:spPr>
            </p:sp>
            <p:sp>
              <p:nvSpPr>
                <p:cNvPr id="62" name="Freeform 62"/>
                <p:cNvSpPr/>
                <p:nvPr/>
              </p:nvSpPr>
              <p:spPr>
                <a:xfrm>
                  <a:off x="8966200" y="1228725"/>
                  <a:ext cx="9525" cy="31750"/>
                </a:xfrm>
                <a:custGeom>
                  <a:avLst/>
                  <a:gdLst/>
                  <a:ahLst/>
                  <a:cxnLst/>
                  <a:rect l="l" t="t" r="r" b="b"/>
                  <a:pathLst>
                    <a:path w="9525" h="31750">
                      <a:moveTo>
                        <a:pt x="0" y="0"/>
                      </a:moveTo>
                      <a:lnTo>
                        <a:pt x="0" y="31750"/>
                      </a:lnTo>
                    </a:path>
                  </a:pathLst>
                </a:custGeom>
                <a:noFill/>
                <a:ln w="31750">
                  <a:solidFill>
                    <a:srgbClr val="F7FAFC"/>
                  </a:solidFill>
                </a:ln>
              </p:spPr>
            </p:sp>
            <p:sp>
              <p:nvSpPr>
                <p:cNvPr id="63" name="Freeform 63"/>
                <p:cNvSpPr/>
                <p:nvPr/>
              </p:nvSpPr>
              <p:spPr>
                <a:xfrm>
                  <a:off x="9045576" y="1339850"/>
                  <a:ext cx="31750" cy="9525"/>
                </a:xfrm>
                <a:custGeom>
                  <a:avLst/>
                  <a:gdLst/>
                  <a:ahLst/>
                  <a:cxnLst/>
                  <a:rect l="l" t="t" r="r" b="b"/>
                  <a:pathLst>
                    <a:path w="31750" h="9525">
                      <a:moveTo>
                        <a:pt x="31750" y="0"/>
                      </a:moveTo>
                      <a:lnTo>
                        <a:pt x="0" y="0"/>
                      </a:lnTo>
                    </a:path>
                  </a:pathLst>
                </a:custGeom>
                <a:noFill/>
                <a:ln w="31750">
                  <a:solidFill>
                    <a:srgbClr val="F7FAFC"/>
                  </a:solidFill>
                </a:ln>
              </p:spPr>
            </p:sp>
            <p:sp>
              <p:nvSpPr>
                <p:cNvPr id="64" name="Freeform 64"/>
                <p:cNvSpPr/>
                <p:nvPr/>
              </p:nvSpPr>
              <p:spPr>
                <a:xfrm>
                  <a:off x="9045576" y="1403350"/>
                  <a:ext cx="31750" cy="9525"/>
                </a:xfrm>
                <a:custGeom>
                  <a:avLst/>
                  <a:gdLst/>
                  <a:ahLst/>
                  <a:cxnLst/>
                  <a:rect l="l" t="t" r="r" b="b"/>
                  <a:pathLst>
                    <a:path w="31750" h="9525">
                      <a:moveTo>
                        <a:pt x="31750" y="0"/>
                      </a:moveTo>
                      <a:lnTo>
                        <a:pt x="0" y="0"/>
                      </a:lnTo>
                    </a:path>
                  </a:pathLst>
                </a:custGeom>
                <a:noFill/>
                <a:ln w="31750">
                  <a:solidFill>
                    <a:srgbClr val="F7FAFC"/>
                  </a:solidFill>
                </a:ln>
              </p:spPr>
            </p:sp>
            <p:sp>
              <p:nvSpPr>
                <p:cNvPr id="65" name="Freeform 65"/>
                <p:cNvSpPr/>
                <p:nvPr/>
              </p:nvSpPr>
              <p:spPr>
                <a:xfrm>
                  <a:off x="8966200" y="1482726"/>
                  <a:ext cx="9525" cy="31750"/>
                </a:xfrm>
                <a:custGeom>
                  <a:avLst/>
                  <a:gdLst/>
                  <a:ahLst/>
                  <a:cxnLst/>
                  <a:rect l="l" t="t" r="r" b="b"/>
                  <a:pathLst>
                    <a:path w="9525" h="31750">
                      <a:moveTo>
                        <a:pt x="0" y="31750"/>
                      </a:moveTo>
                      <a:lnTo>
                        <a:pt x="0" y="0"/>
                      </a:lnTo>
                    </a:path>
                  </a:pathLst>
                </a:custGeom>
                <a:noFill/>
                <a:ln w="31750">
                  <a:solidFill>
                    <a:srgbClr val="F7FAFC"/>
                  </a:solidFill>
                </a:ln>
              </p:spPr>
            </p:sp>
            <p:sp>
              <p:nvSpPr>
                <p:cNvPr id="66" name="Freeform 66"/>
                <p:cNvSpPr/>
                <p:nvPr/>
              </p:nvSpPr>
              <p:spPr>
                <a:xfrm>
                  <a:off x="8902700" y="1482726"/>
                  <a:ext cx="9525" cy="31750"/>
                </a:xfrm>
                <a:custGeom>
                  <a:avLst/>
                  <a:gdLst/>
                  <a:ahLst/>
                  <a:cxnLst/>
                  <a:rect l="l" t="t" r="r" b="b"/>
                  <a:pathLst>
                    <a:path w="9525" h="31750">
                      <a:moveTo>
                        <a:pt x="0" y="31750"/>
                      </a:moveTo>
                      <a:lnTo>
                        <a:pt x="0" y="0"/>
                      </a:lnTo>
                    </a:path>
                  </a:pathLst>
                </a:custGeom>
                <a:noFill/>
                <a:ln w="31750">
                  <a:solidFill>
                    <a:srgbClr val="F7FAFC"/>
                  </a:solidFill>
                </a:ln>
              </p:spPr>
            </p:sp>
          </p:grpSp>
          <p:sp>
            <p:nvSpPr>
              <p:cNvPr id="68" name="TextBox 68"/>
              <p:cNvSpPr txBox="1"/>
              <p:nvPr/>
            </p:nvSpPr>
            <p:spPr>
              <a:xfrm>
                <a:off x="8679470" y="1625918"/>
                <a:ext cx="509961" cy="264033"/>
              </a:xfrm>
              <a:prstGeom prst="rect">
                <a:avLst/>
              </a:prstGeom>
              <a:noFill/>
              <a:ln>
                <a:noFill/>
              </a:ln>
            </p:spPr>
            <p:txBody>
              <a:bodyPr wrap="none" lIns="0" tIns="0" rIns="0" bIns="0" anchor="t" anchorCtr="0">
                <a:spAutoFit/>
              </a:bodyPr>
              <a:lstStyle/>
              <a:p>
                <a:pPr algn="ctr"/>
                <a:r>
                  <a:rPr lang="en-US" sz="1350" dirty="0">
                    <a:solidFill>
                      <a:srgbClr val="F7FAFC"/>
                    </a:solidFill>
                    <a:latin typeface="+mn-lt"/>
                    <a:ea typeface="+mn-ea"/>
                    <a:cs typeface="+mn-cs"/>
                  </a:rPr>
                  <a:t>Model</a:t>
                </a:r>
              </a:p>
            </p:txBody>
          </p:sp>
        </p:grpSp>
        <p:grpSp>
          <p:nvGrpSpPr>
            <p:cNvPr id="73" name="Group 73"/>
            <p:cNvGrpSpPr/>
            <p:nvPr/>
          </p:nvGrpSpPr>
          <p:grpSpPr>
            <a:xfrm>
              <a:off x="10382250" y="2362200"/>
              <a:ext cx="1028700" cy="1028700"/>
              <a:chOff x="10382250" y="2362200"/>
              <a:chExt cx="1028700" cy="1028700"/>
            </a:xfrm>
          </p:grpSpPr>
          <p:sp>
            <p:nvSpPr>
              <p:cNvPr id="70" name="Ellipse 70"/>
              <p:cNvSpPr/>
              <p:nvPr/>
            </p:nvSpPr>
            <p:spPr>
              <a:xfrm>
                <a:off x="10382250" y="2362200"/>
                <a:ext cx="1028700" cy="1028700"/>
              </a:xfrm>
              <a:prstGeom prst="ellipse">
                <a:avLst/>
              </a:prstGeom>
              <a:solidFill>
                <a:schemeClr val="accent1"/>
              </a:solidFill>
              <a:ln w="19050">
                <a:solidFill>
                  <a:schemeClr val="accent3"/>
                </a:solidFill>
              </a:ln>
            </p:spPr>
          </p:sp>
          <p:sp>
            <p:nvSpPr>
              <p:cNvPr id="71" name="Freeform 71"/>
              <p:cNvSpPr/>
              <p:nvPr/>
            </p:nvSpPr>
            <p:spPr>
              <a:xfrm>
                <a:off x="10744267" y="2628967"/>
                <a:ext cx="300423" cy="300423"/>
              </a:xfrm>
              <a:custGeom>
                <a:avLst/>
                <a:gdLst/>
                <a:ahLst/>
                <a:cxnLst/>
                <a:rect l="l" t="t" r="r" b="b"/>
                <a:pathLst>
                  <a:path w="300423" h="300423">
                    <a:moveTo>
                      <a:pt x="72959" y="120584"/>
                    </a:moveTo>
                    <a:lnTo>
                      <a:pt x="120584" y="120584"/>
                    </a:lnTo>
                    <a:lnTo>
                      <a:pt x="120584" y="72959"/>
                    </a:lnTo>
                    <a:lnTo>
                      <a:pt x="65021" y="17396"/>
                    </a:lnTo>
                    <a:cubicBezTo>
                      <a:pt x="101446" y="0"/>
                      <a:pt x="144880" y="7452"/>
                      <a:pt x="173423" y="35995"/>
                    </a:cubicBezTo>
                    <a:cubicBezTo>
                      <a:pt x="201965" y="64537"/>
                      <a:pt x="209417" y="107972"/>
                      <a:pt x="192021" y="144396"/>
                    </a:cubicBezTo>
                    <a:lnTo>
                      <a:pt x="287272" y="239646"/>
                    </a:lnTo>
                    <a:cubicBezTo>
                      <a:pt x="300423" y="252798"/>
                      <a:pt x="300423" y="274120"/>
                      <a:pt x="287272" y="287272"/>
                    </a:cubicBezTo>
                    <a:cubicBezTo>
                      <a:pt x="274120" y="300423"/>
                      <a:pt x="252798" y="300423"/>
                      <a:pt x="239646" y="287272"/>
                    </a:cubicBezTo>
                    <a:lnTo>
                      <a:pt x="144396" y="192021"/>
                    </a:lnTo>
                    <a:cubicBezTo>
                      <a:pt x="107972" y="209417"/>
                      <a:pt x="64537" y="201965"/>
                      <a:pt x="35995" y="173423"/>
                    </a:cubicBezTo>
                    <a:cubicBezTo>
                      <a:pt x="7452" y="144880"/>
                      <a:pt x="0" y="101446"/>
                      <a:pt x="17396" y="65021"/>
                    </a:cubicBezTo>
                    <a:lnTo>
                      <a:pt x="72959" y="120584"/>
                    </a:lnTo>
                  </a:path>
                </a:pathLst>
              </a:custGeom>
              <a:noFill/>
              <a:ln w="31750">
                <a:solidFill>
                  <a:srgbClr val="F7FAFC"/>
                </a:solidFill>
              </a:ln>
            </p:spPr>
          </p:sp>
          <p:sp>
            <p:nvSpPr>
              <p:cNvPr id="72" name="TextBox 72"/>
              <p:cNvSpPr txBox="1"/>
              <p:nvPr/>
            </p:nvSpPr>
            <p:spPr>
              <a:xfrm>
                <a:off x="10710041" y="3035618"/>
                <a:ext cx="373118" cy="264033"/>
              </a:xfrm>
              <a:prstGeom prst="rect">
                <a:avLst/>
              </a:prstGeom>
              <a:noFill/>
              <a:ln>
                <a:noFill/>
              </a:ln>
            </p:spPr>
            <p:txBody>
              <a:bodyPr wrap="none" lIns="0" tIns="0" rIns="0" bIns="0" anchor="t" anchorCtr="0">
                <a:spAutoFit/>
              </a:bodyPr>
              <a:lstStyle/>
              <a:p>
                <a:pPr algn="ctr"/>
                <a:r>
                  <a:rPr lang="en-US" sz="1350" dirty="0">
                    <a:solidFill>
                      <a:srgbClr val="F7FAFC"/>
                    </a:solidFill>
                    <a:latin typeface="+mn-lt"/>
                    <a:ea typeface="+mn-ea"/>
                    <a:cs typeface="+mn-cs"/>
                  </a:rPr>
                  <a:t>Tool</a:t>
                </a:r>
              </a:p>
            </p:txBody>
          </p:sp>
        </p:grpSp>
        <p:grpSp>
          <p:nvGrpSpPr>
            <p:cNvPr id="80" name="Group 80"/>
            <p:cNvGrpSpPr/>
            <p:nvPr/>
          </p:nvGrpSpPr>
          <p:grpSpPr>
            <a:xfrm>
              <a:off x="9658350" y="4495800"/>
              <a:ext cx="1028700" cy="1028700"/>
              <a:chOff x="9658350" y="4495800"/>
              <a:chExt cx="1028700" cy="1028700"/>
            </a:xfrm>
          </p:grpSpPr>
          <p:sp>
            <p:nvSpPr>
              <p:cNvPr id="74" name="Ellipse 74"/>
              <p:cNvSpPr/>
              <p:nvPr/>
            </p:nvSpPr>
            <p:spPr>
              <a:xfrm>
                <a:off x="9658350" y="4495800"/>
                <a:ext cx="1028700" cy="1028700"/>
              </a:xfrm>
              <a:prstGeom prst="ellipse">
                <a:avLst/>
              </a:prstGeom>
              <a:solidFill>
                <a:schemeClr val="accent1"/>
              </a:solidFill>
              <a:ln w="19050">
                <a:solidFill>
                  <a:schemeClr val="accent3"/>
                </a:solidFill>
              </a:ln>
            </p:spPr>
          </p:sp>
          <p:grpSp>
            <p:nvGrpSpPr>
              <p:cNvPr id="78" name="Group 78"/>
              <p:cNvGrpSpPr/>
              <p:nvPr/>
            </p:nvGrpSpPr>
            <p:grpSpPr>
              <a:xfrm>
                <a:off x="10045700" y="4772025"/>
                <a:ext cx="254001" cy="285750"/>
                <a:chOff x="10045700" y="4772025"/>
                <a:chExt cx="254001" cy="285750"/>
              </a:xfrm>
            </p:grpSpPr>
            <p:sp>
              <p:nvSpPr>
                <p:cNvPr id="75" name="Freeform 75"/>
                <p:cNvSpPr/>
                <p:nvPr/>
              </p:nvSpPr>
              <p:spPr>
                <a:xfrm>
                  <a:off x="10045700" y="4772025"/>
                  <a:ext cx="254001" cy="95250"/>
                </a:xfrm>
                <a:custGeom>
                  <a:avLst/>
                  <a:gdLst/>
                  <a:ahLst/>
                  <a:cxnLst/>
                  <a:rect l="l" t="t" r="r" b="b"/>
                  <a:pathLst>
                    <a:path w="254001" h="95250">
                      <a:moveTo>
                        <a:pt x="0" y="47625"/>
                      </a:moveTo>
                      <a:cubicBezTo>
                        <a:pt x="0" y="73928"/>
                        <a:pt x="56860" y="95250"/>
                        <a:pt x="127000" y="95250"/>
                      </a:cubicBezTo>
                      <a:cubicBezTo>
                        <a:pt x="197141" y="95250"/>
                        <a:pt x="254001" y="73928"/>
                        <a:pt x="254001" y="47625"/>
                      </a:cubicBezTo>
                      <a:cubicBezTo>
                        <a:pt x="254001" y="21322"/>
                        <a:pt x="197141" y="0"/>
                        <a:pt x="127000" y="0"/>
                      </a:cubicBezTo>
                      <a:cubicBezTo>
                        <a:pt x="56860" y="0"/>
                        <a:pt x="0" y="21322"/>
                        <a:pt x="0" y="47625"/>
                      </a:cubicBezTo>
                    </a:path>
                  </a:pathLst>
                </a:custGeom>
                <a:noFill/>
                <a:ln w="31750">
                  <a:solidFill>
                    <a:srgbClr val="F7FAFC"/>
                  </a:solidFill>
                </a:ln>
              </p:spPr>
            </p:sp>
            <p:sp>
              <p:nvSpPr>
                <p:cNvPr id="76" name="Freeform 76"/>
                <p:cNvSpPr/>
                <p:nvPr/>
              </p:nvSpPr>
              <p:spPr>
                <a:xfrm>
                  <a:off x="10045700" y="4819650"/>
                  <a:ext cx="254001" cy="142875"/>
                </a:xfrm>
                <a:custGeom>
                  <a:avLst/>
                  <a:gdLst/>
                  <a:ahLst/>
                  <a:cxnLst/>
                  <a:rect l="l" t="t" r="r" b="b"/>
                  <a:pathLst>
                    <a:path w="254001" h="142875">
                      <a:moveTo>
                        <a:pt x="0" y="0"/>
                      </a:moveTo>
                      <a:lnTo>
                        <a:pt x="0" y="95250"/>
                      </a:lnTo>
                      <a:cubicBezTo>
                        <a:pt x="0" y="121553"/>
                        <a:pt x="56860" y="142875"/>
                        <a:pt x="127000" y="142875"/>
                      </a:cubicBezTo>
                      <a:cubicBezTo>
                        <a:pt x="197141" y="142875"/>
                        <a:pt x="254001" y="121553"/>
                        <a:pt x="254001" y="95250"/>
                      </a:cubicBezTo>
                      <a:lnTo>
                        <a:pt x="254001" y="0"/>
                      </a:lnTo>
                    </a:path>
                  </a:pathLst>
                </a:custGeom>
                <a:noFill/>
                <a:ln w="31750">
                  <a:solidFill>
                    <a:srgbClr val="F7FAFC"/>
                  </a:solidFill>
                </a:ln>
              </p:spPr>
            </p:sp>
            <p:sp>
              <p:nvSpPr>
                <p:cNvPr id="77" name="Freeform 77"/>
                <p:cNvSpPr/>
                <p:nvPr/>
              </p:nvSpPr>
              <p:spPr>
                <a:xfrm>
                  <a:off x="10045700" y="4914900"/>
                  <a:ext cx="254001" cy="142875"/>
                </a:xfrm>
                <a:custGeom>
                  <a:avLst/>
                  <a:gdLst/>
                  <a:ahLst/>
                  <a:cxnLst/>
                  <a:rect l="l" t="t" r="r" b="b"/>
                  <a:pathLst>
                    <a:path w="254001" h="142875">
                      <a:moveTo>
                        <a:pt x="0" y="0"/>
                      </a:moveTo>
                      <a:lnTo>
                        <a:pt x="0" y="95250"/>
                      </a:lnTo>
                      <a:cubicBezTo>
                        <a:pt x="0" y="121553"/>
                        <a:pt x="56860" y="142875"/>
                        <a:pt x="127000" y="142875"/>
                      </a:cubicBezTo>
                      <a:cubicBezTo>
                        <a:pt x="197141" y="142875"/>
                        <a:pt x="254001" y="121553"/>
                        <a:pt x="254001" y="95250"/>
                      </a:cubicBezTo>
                      <a:lnTo>
                        <a:pt x="254001" y="0"/>
                      </a:lnTo>
                    </a:path>
                  </a:pathLst>
                </a:custGeom>
                <a:noFill/>
                <a:ln w="31750">
                  <a:solidFill>
                    <a:srgbClr val="F7FAFC"/>
                  </a:solidFill>
                </a:ln>
              </p:spPr>
            </p:sp>
          </p:grpSp>
          <p:sp>
            <p:nvSpPr>
              <p:cNvPr id="79" name="TextBox 79"/>
              <p:cNvSpPr txBox="1"/>
              <p:nvPr/>
            </p:nvSpPr>
            <p:spPr>
              <a:xfrm>
                <a:off x="9836070" y="5169218"/>
                <a:ext cx="673260" cy="264033"/>
              </a:xfrm>
              <a:prstGeom prst="rect">
                <a:avLst/>
              </a:prstGeom>
              <a:noFill/>
              <a:ln>
                <a:noFill/>
              </a:ln>
            </p:spPr>
            <p:txBody>
              <a:bodyPr wrap="none" lIns="0" tIns="0" rIns="0" bIns="0" anchor="t" anchorCtr="0">
                <a:spAutoFit/>
              </a:bodyPr>
              <a:lstStyle/>
              <a:p>
                <a:pPr algn="ctr"/>
                <a:r>
                  <a:rPr lang="en-US" sz="1350" dirty="0">
                    <a:solidFill>
                      <a:srgbClr val="F7FAFC"/>
                    </a:solidFill>
                    <a:latin typeface="+mn-lt"/>
                    <a:ea typeface="+mn-ea"/>
                    <a:cs typeface="+mn-cs"/>
                  </a:rPr>
                  <a:t>Session</a:t>
                </a:r>
              </a:p>
            </p:txBody>
          </p:sp>
        </p:grpSp>
        <p:grpSp>
          <p:nvGrpSpPr>
            <p:cNvPr id="87" name="Group 87"/>
            <p:cNvGrpSpPr/>
            <p:nvPr/>
          </p:nvGrpSpPr>
          <p:grpSpPr>
            <a:xfrm>
              <a:off x="7162800" y="4495800"/>
              <a:ext cx="1028700" cy="1028700"/>
              <a:chOff x="7162800" y="4495800"/>
              <a:chExt cx="1028700" cy="1028700"/>
            </a:xfrm>
          </p:grpSpPr>
          <p:sp>
            <p:nvSpPr>
              <p:cNvPr id="81" name="Ellipse 81"/>
              <p:cNvSpPr/>
              <p:nvPr/>
            </p:nvSpPr>
            <p:spPr>
              <a:xfrm>
                <a:off x="7162800" y="4495800"/>
                <a:ext cx="1028700" cy="1028700"/>
              </a:xfrm>
              <a:prstGeom prst="ellipse">
                <a:avLst/>
              </a:prstGeom>
              <a:solidFill>
                <a:schemeClr val="accent1"/>
              </a:solidFill>
              <a:ln w="19050">
                <a:solidFill>
                  <a:schemeClr val="accent3"/>
                </a:solidFill>
              </a:ln>
            </p:spPr>
          </p:sp>
          <p:grpSp>
            <p:nvGrpSpPr>
              <p:cNvPr id="85" name="Group 85"/>
              <p:cNvGrpSpPr/>
              <p:nvPr/>
            </p:nvGrpSpPr>
            <p:grpSpPr>
              <a:xfrm>
                <a:off x="7527664" y="4772025"/>
                <a:ext cx="298973" cy="285751"/>
                <a:chOff x="7527664" y="4772025"/>
                <a:chExt cx="298973" cy="285751"/>
              </a:xfrm>
            </p:grpSpPr>
            <p:sp>
              <p:nvSpPr>
                <p:cNvPr id="82" name="Freeform 82"/>
                <p:cNvSpPr/>
                <p:nvPr/>
              </p:nvSpPr>
              <p:spPr>
                <a:xfrm>
                  <a:off x="7527664" y="4772025"/>
                  <a:ext cx="298973" cy="285751"/>
                </a:xfrm>
                <a:custGeom>
                  <a:avLst/>
                  <a:gdLst/>
                  <a:ahLst/>
                  <a:cxnLst/>
                  <a:rect l="l" t="t" r="r" b="b"/>
                  <a:pathLst>
                    <a:path w="298973" h="285751">
                      <a:moveTo>
                        <a:pt x="149486" y="0"/>
                      </a:moveTo>
                      <a:cubicBezTo>
                        <a:pt x="186568" y="32807"/>
                        <a:pt x="234965" y="49888"/>
                        <a:pt x="284424" y="47625"/>
                      </a:cubicBezTo>
                      <a:cubicBezTo>
                        <a:pt x="298973" y="97116"/>
                        <a:pt x="292829" y="150391"/>
                        <a:pt x="267397" y="195271"/>
                      </a:cubicBezTo>
                      <a:cubicBezTo>
                        <a:pt x="241965" y="240151"/>
                        <a:pt x="199419" y="272799"/>
                        <a:pt x="149486" y="285751"/>
                      </a:cubicBezTo>
                      <a:cubicBezTo>
                        <a:pt x="99554" y="272799"/>
                        <a:pt x="57008" y="240151"/>
                        <a:pt x="31576" y="195271"/>
                      </a:cubicBezTo>
                      <a:cubicBezTo>
                        <a:pt x="6144" y="150391"/>
                        <a:pt x="0" y="97116"/>
                        <a:pt x="14549" y="47625"/>
                      </a:cubicBezTo>
                      <a:cubicBezTo>
                        <a:pt x="64008" y="49888"/>
                        <a:pt x="112405" y="32807"/>
                        <a:pt x="149486" y="0"/>
                      </a:cubicBezTo>
                    </a:path>
                  </a:pathLst>
                </a:custGeom>
                <a:noFill/>
                <a:ln w="31750">
                  <a:solidFill>
                    <a:srgbClr val="F7FAFC"/>
                  </a:solidFill>
                </a:ln>
              </p:spPr>
            </p:sp>
            <p:sp>
              <p:nvSpPr>
                <p:cNvPr id="83" name="Freeform 83"/>
                <p:cNvSpPr/>
                <p:nvPr/>
              </p:nvSpPr>
              <p:spPr>
                <a:xfrm>
                  <a:off x="7661275" y="4883150"/>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31750">
                  <a:solidFill>
                    <a:srgbClr val="F7FAFC"/>
                  </a:solidFill>
                </a:ln>
              </p:spPr>
            </p:sp>
            <p:sp>
              <p:nvSpPr>
                <p:cNvPr id="84" name="Freeform 84"/>
                <p:cNvSpPr/>
                <p:nvPr/>
              </p:nvSpPr>
              <p:spPr>
                <a:xfrm>
                  <a:off x="7677150" y="4914900"/>
                  <a:ext cx="9525" cy="39688"/>
                </a:xfrm>
                <a:custGeom>
                  <a:avLst/>
                  <a:gdLst/>
                  <a:ahLst/>
                  <a:cxnLst/>
                  <a:rect l="l" t="t" r="r" b="b"/>
                  <a:pathLst>
                    <a:path w="9525" h="39688">
                      <a:moveTo>
                        <a:pt x="0" y="0"/>
                      </a:moveTo>
                      <a:lnTo>
                        <a:pt x="0" y="39688"/>
                      </a:lnTo>
                    </a:path>
                  </a:pathLst>
                </a:custGeom>
                <a:noFill/>
                <a:ln w="31750">
                  <a:solidFill>
                    <a:srgbClr val="F7FAFC"/>
                  </a:solidFill>
                </a:ln>
              </p:spPr>
            </p:sp>
          </p:grpSp>
          <p:sp>
            <p:nvSpPr>
              <p:cNvPr id="86" name="TextBox 86"/>
              <p:cNvSpPr txBox="1"/>
              <p:nvPr/>
            </p:nvSpPr>
            <p:spPr>
              <a:xfrm>
                <a:off x="7317619" y="5169218"/>
                <a:ext cx="719061" cy="264033"/>
              </a:xfrm>
              <a:prstGeom prst="rect">
                <a:avLst/>
              </a:prstGeom>
              <a:noFill/>
              <a:ln>
                <a:noFill/>
              </a:ln>
            </p:spPr>
            <p:txBody>
              <a:bodyPr wrap="none" lIns="0" tIns="0" rIns="0" bIns="0" anchor="t" anchorCtr="0">
                <a:spAutoFit/>
              </a:bodyPr>
              <a:lstStyle/>
              <a:p>
                <a:pPr algn="ctr"/>
                <a:r>
                  <a:rPr lang="en-US" sz="1350" dirty="0">
                    <a:solidFill>
                      <a:srgbClr val="F7FAFC"/>
                    </a:solidFill>
                    <a:latin typeface="+mn-lt"/>
                    <a:ea typeface="+mn-ea"/>
                    <a:cs typeface="+mn-cs"/>
                  </a:rPr>
                  <a:t>Sandbox</a:t>
                </a:r>
              </a:p>
            </p:txBody>
          </p:sp>
        </p:grpSp>
        <p:grpSp>
          <p:nvGrpSpPr>
            <p:cNvPr id="94" name="Group 94"/>
            <p:cNvGrpSpPr/>
            <p:nvPr/>
          </p:nvGrpSpPr>
          <p:grpSpPr>
            <a:xfrm>
              <a:off x="6324600" y="2362200"/>
              <a:ext cx="1028700" cy="1028700"/>
              <a:chOff x="6324600" y="2362200"/>
              <a:chExt cx="1028700" cy="1028700"/>
            </a:xfrm>
          </p:grpSpPr>
          <p:sp>
            <p:nvSpPr>
              <p:cNvPr id="88" name="Ellipse 88"/>
              <p:cNvSpPr/>
              <p:nvPr/>
            </p:nvSpPr>
            <p:spPr>
              <a:xfrm>
                <a:off x="6324600" y="2362200"/>
                <a:ext cx="1028700" cy="1028700"/>
              </a:xfrm>
              <a:prstGeom prst="ellipse">
                <a:avLst/>
              </a:prstGeom>
              <a:solidFill>
                <a:schemeClr val="accent1"/>
              </a:solidFill>
              <a:ln w="19050">
                <a:solidFill>
                  <a:schemeClr val="accent3"/>
                </a:solidFill>
              </a:ln>
            </p:spPr>
          </p:sp>
          <p:grpSp>
            <p:nvGrpSpPr>
              <p:cNvPr id="92" name="Group 92"/>
              <p:cNvGrpSpPr/>
              <p:nvPr/>
            </p:nvGrpSpPr>
            <p:grpSpPr>
              <a:xfrm>
                <a:off x="6696075" y="2654300"/>
                <a:ext cx="285751" cy="254001"/>
                <a:chOff x="6696075" y="2654300"/>
                <a:chExt cx="285751" cy="254001"/>
              </a:xfrm>
            </p:grpSpPr>
            <p:sp>
              <p:nvSpPr>
                <p:cNvPr id="89" name="Freeform 89"/>
                <p:cNvSpPr/>
                <p:nvPr/>
              </p:nvSpPr>
              <p:spPr>
                <a:xfrm>
                  <a:off x="6775450" y="2733675"/>
                  <a:ext cx="47625" cy="95250"/>
                </a:xfrm>
                <a:custGeom>
                  <a:avLst/>
                  <a:gdLst/>
                  <a:ahLst/>
                  <a:cxnLst/>
                  <a:rect l="l" t="t" r="r" b="b"/>
                  <a:pathLst>
                    <a:path w="47625" h="95250">
                      <a:moveTo>
                        <a:pt x="0" y="0"/>
                      </a:moveTo>
                      <a:lnTo>
                        <a:pt x="47625" y="47625"/>
                      </a:lnTo>
                      <a:lnTo>
                        <a:pt x="0" y="95250"/>
                      </a:lnTo>
                    </a:path>
                  </a:pathLst>
                </a:custGeom>
                <a:noFill/>
                <a:ln w="31750">
                  <a:solidFill>
                    <a:srgbClr val="F7FAFC"/>
                  </a:solidFill>
                </a:ln>
              </p:spPr>
            </p:sp>
            <p:sp>
              <p:nvSpPr>
                <p:cNvPr id="90" name="Freeform 90"/>
                <p:cNvSpPr/>
                <p:nvPr/>
              </p:nvSpPr>
              <p:spPr>
                <a:xfrm>
                  <a:off x="6854825" y="2828925"/>
                  <a:ext cx="47625" cy="9525"/>
                </a:xfrm>
                <a:custGeom>
                  <a:avLst/>
                  <a:gdLst/>
                  <a:ahLst/>
                  <a:cxnLst/>
                  <a:rect l="l" t="t" r="r" b="b"/>
                  <a:pathLst>
                    <a:path w="47625" h="9525">
                      <a:moveTo>
                        <a:pt x="0" y="0"/>
                      </a:moveTo>
                      <a:lnTo>
                        <a:pt x="47625" y="0"/>
                      </a:lnTo>
                    </a:path>
                  </a:pathLst>
                </a:custGeom>
                <a:noFill/>
                <a:ln w="31750">
                  <a:solidFill>
                    <a:srgbClr val="F7FAFC"/>
                  </a:solidFill>
                </a:ln>
              </p:spPr>
            </p:sp>
            <p:sp>
              <p:nvSpPr>
                <p:cNvPr id="91" name="Freeform 91"/>
                <p:cNvSpPr/>
                <p:nvPr/>
              </p:nvSpPr>
              <p:spPr>
                <a:xfrm>
                  <a:off x="6696075" y="2654300"/>
                  <a:ext cx="285751" cy="254001"/>
                </a:xfrm>
                <a:custGeom>
                  <a:avLst/>
                  <a:gdLst/>
                  <a:ahLst/>
                  <a:cxnLst/>
                  <a:rect l="l" t="t" r="r" b="b"/>
                  <a:pathLst>
                    <a:path w="285751" h="254001">
                      <a:moveTo>
                        <a:pt x="0" y="31750"/>
                      </a:moveTo>
                      <a:cubicBezTo>
                        <a:pt x="0" y="14215"/>
                        <a:pt x="14215" y="0"/>
                        <a:pt x="31750" y="0"/>
                      </a:cubicBezTo>
                      <a:lnTo>
                        <a:pt x="254001" y="0"/>
                      </a:lnTo>
                      <a:cubicBezTo>
                        <a:pt x="271536" y="0"/>
                        <a:pt x="285751" y="14215"/>
                        <a:pt x="285751" y="31750"/>
                      </a:cubicBezTo>
                      <a:lnTo>
                        <a:pt x="285751" y="222250"/>
                      </a:lnTo>
                      <a:cubicBezTo>
                        <a:pt x="285751" y="239786"/>
                        <a:pt x="271536" y="254001"/>
                        <a:pt x="254001" y="254001"/>
                      </a:cubicBezTo>
                      <a:lnTo>
                        <a:pt x="31750" y="254001"/>
                      </a:lnTo>
                      <a:cubicBezTo>
                        <a:pt x="14215" y="254001"/>
                        <a:pt x="0" y="239786"/>
                        <a:pt x="0" y="222250"/>
                      </a:cubicBezTo>
                      <a:lnTo>
                        <a:pt x="0" y="31750"/>
                      </a:lnTo>
                    </a:path>
                  </a:pathLst>
                </a:custGeom>
                <a:noFill/>
                <a:ln w="31750">
                  <a:solidFill>
                    <a:srgbClr val="F7FAFC"/>
                  </a:solidFill>
                </a:ln>
              </p:spPr>
            </p:sp>
          </p:grpSp>
          <p:sp>
            <p:nvSpPr>
              <p:cNvPr id="93" name="TextBox 93"/>
              <p:cNvSpPr txBox="1"/>
              <p:nvPr/>
            </p:nvSpPr>
            <p:spPr>
              <a:xfrm>
                <a:off x="6402324" y="3035618"/>
                <a:ext cx="873252" cy="264033"/>
              </a:xfrm>
              <a:prstGeom prst="rect">
                <a:avLst/>
              </a:prstGeom>
              <a:noFill/>
              <a:ln>
                <a:noFill/>
              </a:ln>
            </p:spPr>
            <p:txBody>
              <a:bodyPr wrap="none" lIns="0" tIns="0" rIns="0" bIns="0" anchor="t" anchorCtr="0">
                <a:spAutoFit/>
              </a:bodyPr>
              <a:lstStyle/>
              <a:p>
                <a:pPr algn="ctr"/>
                <a:r>
                  <a:rPr lang="en-US" sz="1350" dirty="0">
                    <a:solidFill>
                      <a:srgbClr val="F7FAFC"/>
                    </a:solidFill>
                    <a:latin typeface="+mn-lt"/>
                    <a:ea typeface="+mn-ea"/>
                    <a:cs typeface="+mn-cs"/>
                  </a:rPr>
                  <a:t>Interface</a:t>
                </a:r>
              </a:p>
            </p:txBody>
          </p:sp>
        </p:grpSp>
      </p:grpSp>
      <p:grpSp>
        <p:nvGrpSpPr>
          <p:cNvPr id="98" name="Group 98"/>
          <p:cNvGrpSpPr/>
          <p:nvPr/>
        </p:nvGrpSpPr>
        <p:grpSpPr>
          <a:xfrm>
            <a:off x="602742" y="6293168"/>
            <a:ext cx="10986516" cy="264033"/>
            <a:chOff x="602742" y="6293168"/>
            <a:chExt cx="10986516" cy="264033"/>
          </a:xfrm>
        </p:grpSpPr>
        <p:sp>
          <p:nvSpPr>
            <p:cNvPr id="96" name="TextBox 96"/>
            <p:cNvSpPr txBox="1"/>
            <p:nvPr/>
          </p:nvSpPr>
          <p:spPr>
            <a:xfrm>
              <a:off x="602742" y="6293168"/>
              <a:ext cx="4785512" cy="264033"/>
            </a:xfrm>
            <a:prstGeom prst="rect">
              <a:avLst/>
            </a:prstGeom>
            <a:noFill/>
            <a:ln>
              <a:noFill/>
            </a:ln>
          </p:spPr>
          <p:txBody>
            <a:bodyPr wrap="none" lIns="0" tIns="0" rIns="0" bIns="0" anchor="t" anchorCtr="0">
              <a:spAutoFit/>
            </a:bodyPr>
            <a:lstStyle/>
            <a:p>
              <a:pPr algn="l"/>
              <a:r>
                <a:rPr lang="en-US" sz="1350" dirty="0">
                  <a:solidFill>
                    <a:srgbClr val="A9B7D5"/>
                  </a:solidFill>
                  <a:latin typeface="Cascadia Mono"/>
                  <a:ea typeface="Cascadia Mono"/>
                  <a:cs typeface="Cascadia Mono"/>
                </a:rPr>
                <a:t>ARCHITECTURE · ENTERPRISE · GLOBAL / CHINA MARKET</a:t>
              </a:r>
            </a:p>
          </p:txBody>
        </p:sp>
        <p:sp>
          <p:nvSpPr>
            <p:cNvPr id="97" name="TextBox 97"/>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2"/>
                  </a:solidFill>
                  <a:latin typeface="Cascadia Mono"/>
                  <a:ea typeface="Cascadia Mono"/>
                  <a:cs typeface="Cascadia Mono"/>
                </a:rPr>
                <a:t>P01 / 24</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7000"/>
              </a:schemeClr>
            </a:solidFill>
          </a:ln>
        </p:spPr>
      </p:sp>
      <p:grpSp>
        <p:nvGrpSpPr>
          <p:cNvPr id="5" name="Group 5"/>
          <p:cNvGrpSpPr/>
          <p:nvPr/>
        </p:nvGrpSpPr>
        <p:grpSpPr>
          <a:xfrm>
            <a:off x="593598" y="482918"/>
            <a:ext cx="10888251" cy="955167"/>
            <a:chOff x="593598" y="482918"/>
            <a:chExt cx="10888251" cy="955167"/>
          </a:xfrm>
        </p:grpSpPr>
        <p:sp>
          <p:nvSpPr>
            <p:cNvPr id="3" name="TextBox 3"/>
            <p:cNvSpPr txBox="1"/>
            <p:nvPr/>
          </p:nvSpPr>
          <p:spPr>
            <a:xfrm>
              <a:off x="602742" y="482918"/>
              <a:ext cx="4191305"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WHY A HARNESS / CONTROL RESPONSIBILITY</a:t>
              </a:r>
            </a:p>
          </p:txBody>
        </p:sp>
        <p:sp>
          <p:nvSpPr>
            <p:cNvPr id="4" name="TextBox 4"/>
            <p:cNvSpPr txBox="1"/>
            <p:nvPr/>
          </p:nvSpPr>
          <p:spPr>
            <a:xfrm>
              <a:off x="593598" y="822008"/>
              <a:ext cx="10888251"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The hard part is not thinking—it is finishing safely</a:t>
              </a:r>
            </a:p>
          </p:txBody>
        </p:sp>
      </p:grpSp>
      <p:grpSp>
        <p:nvGrpSpPr>
          <p:cNvPr id="10" name="Group 10"/>
          <p:cNvGrpSpPr/>
          <p:nvPr/>
        </p:nvGrpSpPr>
        <p:grpSpPr>
          <a:xfrm>
            <a:off x="597408" y="1893570"/>
            <a:ext cx="3771519" cy="3546919"/>
            <a:chOff x="597408" y="1893570"/>
            <a:chExt cx="3771519" cy="3546919"/>
          </a:xfrm>
        </p:grpSpPr>
        <p:sp>
          <p:nvSpPr>
            <p:cNvPr id="6" name="TextBox 6"/>
            <p:cNvSpPr txBox="1"/>
            <p:nvPr/>
          </p:nvSpPr>
          <p:spPr>
            <a:xfrm>
              <a:off x="597408" y="1893570"/>
              <a:ext cx="3480816" cy="1840992"/>
            </a:xfrm>
            <a:prstGeom prst="rect">
              <a:avLst/>
            </a:prstGeom>
            <a:noFill/>
            <a:ln>
              <a:noFill/>
            </a:ln>
          </p:spPr>
          <p:txBody>
            <a:bodyPr wrap="none" lIns="0" tIns="0" rIns="0" bIns="0" anchor="t" anchorCtr="0">
              <a:spAutoFit/>
            </a:bodyPr>
            <a:lstStyle/>
            <a:p>
              <a:pPr algn="l">
                <a:lnSpc>
                  <a:spcPts val="3600"/>
                </a:lnSpc>
              </a:pPr>
              <a:r>
                <a:rPr lang="en-US" sz="2400" b="1" dirty="0">
                  <a:solidFill>
                    <a:schemeClr val="accent1"/>
                  </a:solidFill>
                  <a:latin typeface="+mj-lt"/>
                  <a:ea typeface="+mj-ea"/>
                  <a:cs typeface="+mj-cs"/>
                </a:rPr>
                <a:t>The model proposes.</a:t>
              </a:r>
              <a:br/>
              <a:r>
                <a:rPr lang="en-US" sz="2400" b="1" dirty="0">
                  <a:solidFill>
                    <a:schemeClr val="accent1"/>
                  </a:solidFill>
                  <a:latin typeface="+mj-lt"/>
                  <a:ea typeface="+mj-ea"/>
                  <a:cs typeface="+mj-cs"/>
                </a:rPr>
                <a:t>Harness turns it into</a:t>
              </a:r>
              <a:br/>
              <a:r>
                <a:rPr lang="en-US" sz="2400" b="1" dirty="0">
                  <a:solidFill>
                    <a:schemeClr val="accent3"/>
                  </a:solidFill>
                  <a:latin typeface="+mj-lt"/>
                  <a:ea typeface="+mj-ea"/>
                  <a:cs typeface="+mj-cs"/>
                </a:rPr>
                <a:t>controlled, recorded,</a:t>
              </a:r>
              <a:br/>
              <a:r>
                <a:rPr lang="en-US" sz="2400" b="1" dirty="0">
                  <a:solidFill>
                    <a:schemeClr val="accent1"/>
                  </a:solidFill>
                  <a:latin typeface="+mj-lt"/>
                  <a:ea typeface="+mj-ea"/>
                  <a:cs typeface="+mj-cs"/>
                </a:rPr>
                <a:t>recoverable action.</a:t>
              </a:r>
            </a:p>
          </p:txBody>
        </p:sp>
        <p:sp>
          <p:nvSpPr>
            <p:cNvPr id="7" name="Line 7"/>
            <p:cNvSpPr/>
            <p:nvPr/>
          </p:nvSpPr>
          <p:spPr>
            <a:xfrm>
              <a:off x="609600" y="4191000"/>
              <a:ext cx="3238500" cy="9525"/>
            </a:xfrm>
            <a:custGeom>
              <a:avLst/>
              <a:gdLst/>
              <a:ahLst/>
              <a:cxnLst/>
              <a:rect l="l" t="t" r="r" b="b"/>
              <a:pathLst>
                <a:path w="3238500" h="9525">
                  <a:moveTo>
                    <a:pt x="0" y="0"/>
                  </a:moveTo>
                  <a:lnTo>
                    <a:pt x="3238500" y="0"/>
                  </a:lnTo>
                </a:path>
              </a:pathLst>
            </a:custGeom>
            <a:noFill/>
            <a:ln w="38100">
              <a:solidFill>
                <a:schemeClr val="accent2"/>
              </a:solidFill>
            </a:ln>
          </p:spPr>
        </p:sp>
        <p:sp>
          <p:nvSpPr>
            <p:cNvPr id="8" name="TextBox 8"/>
            <p:cNvSpPr txBox="1"/>
            <p:nvPr/>
          </p:nvSpPr>
          <p:spPr>
            <a:xfrm>
              <a:off x="602742" y="4483418"/>
              <a:ext cx="1082330" cy="264033"/>
            </a:xfrm>
            <a:prstGeom prst="rect">
              <a:avLst/>
            </a:prstGeom>
            <a:noFill/>
            <a:ln>
              <a:noFill/>
            </a:ln>
          </p:spPr>
          <p:txBody>
            <a:bodyPr wrap="none" lIns="0" tIns="0" rIns="0" bIns="0" anchor="t" anchorCtr="0">
              <a:spAutoFit/>
            </a:bodyPr>
            <a:lstStyle/>
            <a:p>
              <a:pPr algn="l"/>
              <a:r>
                <a:rPr lang="en-US" sz="1350" b="1" dirty="0">
                  <a:solidFill>
                    <a:srgbClr val="C2415B"/>
                  </a:solidFill>
                  <a:latin typeface="Cascadia Mono"/>
                  <a:ea typeface="Cascadia Mono"/>
                  <a:cs typeface="Cascadia Mono"/>
                </a:rPr>
                <a:t>THINK ≠ ACT</a:t>
              </a:r>
            </a:p>
          </p:txBody>
        </p:sp>
        <p:sp>
          <p:nvSpPr>
            <p:cNvPr id="9" name="TextBox 9"/>
            <p:cNvSpPr txBox="1"/>
            <p:nvPr/>
          </p:nvSpPr>
          <p:spPr>
            <a:xfrm>
              <a:off x="601218" y="4470082"/>
              <a:ext cx="3767709" cy="970407"/>
            </a:xfrm>
            <a:prstGeom prst="rect">
              <a:avLst/>
            </a:prstGeom>
            <a:noFill/>
            <a:ln>
              <a:noFill/>
            </a:ln>
          </p:spPr>
          <p:txBody>
            <a:bodyPr wrap="none" lIns="0" tIns="0" rIns="0" bIns="0" anchor="t" anchorCtr="0">
              <a:spAutoFit/>
            </a:bodyPr>
            <a:lstStyle/>
            <a:p>
              <a:pPr algn="l">
                <a:lnSpc>
                  <a:spcPts val="2550"/>
                </a:lnSpc>
              </a:pPr>
              <a:r>
                <a:rPr lang="en-US" sz="1650" dirty="0">
                  <a:solidFill>
                    <a:schemeClr val="accent5"/>
                  </a:solidFill>
                  <a:latin typeface="+mn-lt"/>
                  <a:ea typeface="+mn-ea"/>
                  <a:cs typeface="+mn-cs"/>
                </a:rPr>
                <a:t>Side effects live in files.</a:t>
              </a:r>
              <a:br/>
              <a:r>
                <a:rPr lang="en-US" sz="1650" dirty="0">
                  <a:solidFill>
                    <a:schemeClr val="accent5"/>
                  </a:solidFill>
                  <a:latin typeface="+mn-lt"/>
                  <a:ea typeface="+mn-ea"/>
                  <a:cs typeface="+mn-cs"/>
                </a:rPr>
                <a:t>They reach processes and networks.</a:t>
              </a:r>
              <a:br/>
              <a:r>
                <a:rPr lang="en-US" sz="1650" dirty="0">
                  <a:solidFill>
                    <a:schemeClr val="accent5"/>
                  </a:solidFill>
                  <a:latin typeface="+mn-lt"/>
                  <a:ea typeface="+mn-ea"/>
                  <a:cs typeface="+mn-cs"/>
                </a:rPr>
                <a:t>They reach business systems.</a:t>
              </a:r>
            </a:p>
          </p:txBody>
        </p:sp>
      </p:grpSp>
      <p:grpSp>
        <p:nvGrpSpPr>
          <p:cNvPr id="46" name="Group 46"/>
          <p:cNvGrpSpPr/>
          <p:nvPr/>
        </p:nvGrpSpPr>
        <p:grpSpPr>
          <a:xfrm>
            <a:off x="4857750" y="1657350"/>
            <a:ext cx="6724650" cy="3737801"/>
            <a:chOff x="4857750" y="1657350"/>
            <a:chExt cx="6724650" cy="3737801"/>
          </a:xfrm>
        </p:grpSpPr>
        <p:sp>
          <p:nvSpPr>
            <p:cNvPr id="11" name="Line 11"/>
            <p:cNvSpPr/>
            <p:nvPr/>
          </p:nvSpPr>
          <p:spPr>
            <a:xfrm>
              <a:off x="6400800" y="2686050"/>
              <a:ext cx="800100" cy="1"/>
            </a:xfrm>
            <a:prstGeom prst="line">
              <a:avLst/>
            </a:prstGeom>
            <a:noFill/>
            <a:ln w="38100">
              <a:solidFill>
                <a:schemeClr val="accent2"/>
              </a:solidFill>
              <a:tailEnd type="triangle" w="lg" len="lg"/>
            </a:ln>
          </p:spPr>
        </p:sp>
        <p:sp>
          <p:nvSpPr>
            <p:cNvPr id="12" name="Line 12"/>
            <p:cNvSpPr/>
            <p:nvPr/>
          </p:nvSpPr>
          <p:spPr>
            <a:xfrm>
              <a:off x="9696450" y="2686050"/>
              <a:ext cx="609600" cy="1"/>
            </a:xfrm>
            <a:prstGeom prst="line">
              <a:avLst/>
            </a:prstGeom>
            <a:noFill/>
            <a:ln w="38100">
              <a:solidFill>
                <a:schemeClr val="accent2"/>
              </a:solidFill>
              <a:tailEnd type="triangle" w="lg" len="lg"/>
            </a:ln>
          </p:spPr>
        </p:sp>
        <p:sp>
          <p:nvSpPr>
            <p:cNvPr id="13" name="Rectangle 13"/>
            <p:cNvSpPr/>
            <p:nvPr/>
          </p:nvSpPr>
          <p:spPr>
            <a:xfrm>
              <a:off x="4857750" y="2114550"/>
              <a:ext cx="1543050" cy="1143000"/>
            </a:xfrm>
            <a:prstGeom prst="roundRect">
              <a:avLst>
                <a:gd name="adj" fmla="val 6667"/>
              </a:avLst>
            </a:prstGeom>
            <a:solidFill>
              <a:schemeClr val="lt2"/>
            </a:solidFill>
            <a:ln w="19050">
              <a:solidFill>
                <a:schemeClr val="accent3"/>
              </a:solidFill>
            </a:ln>
          </p:spPr>
        </p:sp>
        <p:grpSp>
          <p:nvGrpSpPr>
            <p:cNvPr id="24" name="Group 24"/>
            <p:cNvGrpSpPr/>
            <p:nvPr/>
          </p:nvGrpSpPr>
          <p:grpSpPr>
            <a:xfrm>
              <a:off x="5448300" y="2324100"/>
              <a:ext cx="342900" cy="342900"/>
              <a:chOff x="5448300" y="2324100"/>
              <a:chExt cx="342900" cy="342900"/>
            </a:xfrm>
          </p:grpSpPr>
          <p:sp>
            <p:nvSpPr>
              <p:cNvPr id="14" name="Freeform 14"/>
              <p:cNvSpPr/>
              <p:nvPr/>
            </p:nvSpPr>
            <p:spPr>
              <a:xfrm>
                <a:off x="5486400" y="2362200"/>
                <a:ext cx="266700" cy="266700"/>
              </a:xfrm>
              <a:custGeom>
                <a:avLst/>
                <a:gdLst/>
                <a:ahLst/>
                <a:cxnLst/>
                <a:rect l="l" t="t" r="r" b="b"/>
                <a:pathLst>
                  <a:path w="266700" h="266700">
                    <a:moveTo>
                      <a:pt x="0" y="19050"/>
                    </a:moveTo>
                    <a:cubicBezTo>
                      <a:pt x="0" y="8529"/>
                      <a:pt x="8529" y="0"/>
                      <a:pt x="19050" y="0"/>
                    </a:cubicBezTo>
                    <a:lnTo>
                      <a:pt x="247650" y="0"/>
                    </a:lnTo>
                    <a:cubicBezTo>
                      <a:pt x="258171" y="0"/>
                      <a:pt x="266700" y="8529"/>
                      <a:pt x="266700" y="19050"/>
                    </a:cubicBezTo>
                    <a:lnTo>
                      <a:pt x="266700" y="247650"/>
                    </a:lnTo>
                    <a:cubicBezTo>
                      <a:pt x="266700" y="258171"/>
                      <a:pt x="258171" y="266700"/>
                      <a:pt x="247650" y="266700"/>
                    </a:cubicBezTo>
                    <a:lnTo>
                      <a:pt x="19050" y="266700"/>
                    </a:lnTo>
                    <a:cubicBezTo>
                      <a:pt x="8529" y="266700"/>
                      <a:pt x="0" y="258171"/>
                      <a:pt x="0" y="247650"/>
                    </a:cubicBezTo>
                    <a:lnTo>
                      <a:pt x="0" y="19050"/>
                    </a:lnTo>
                  </a:path>
                </a:pathLst>
              </a:custGeom>
              <a:noFill/>
              <a:ln w="38100">
                <a:solidFill>
                  <a:schemeClr val="accent3"/>
                </a:solidFill>
              </a:ln>
            </p:spPr>
          </p:sp>
          <p:sp>
            <p:nvSpPr>
              <p:cNvPr id="15" name="Freeform 15"/>
              <p:cNvSpPr/>
              <p:nvPr/>
            </p:nvSpPr>
            <p:spPr>
              <a:xfrm>
                <a:off x="5562600" y="2438400"/>
                <a:ext cx="114300" cy="114300"/>
              </a:xfrm>
              <a:custGeom>
                <a:avLst/>
                <a:gdLst/>
                <a:ahLst/>
                <a:cxnLst/>
                <a:rect l="l" t="t" r="r" b="b"/>
                <a:pathLst>
                  <a:path w="114300" h="114300">
                    <a:moveTo>
                      <a:pt x="0" y="0"/>
                    </a:moveTo>
                    <a:lnTo>
                      <a:pt x="114300" y="0"/>
                    </a:lnTo>
                    <a:lnTo>
                      <a:pt x="114300" y="114300"/>
                    </a:lnTo>
                    <a:lnTo>
                      <a:pt x="0" y="114300"/>
                    </a:lnTo>
                    <a:lnTo>
                      <a:pt x="0" y="0"/>
                    </a:lnTo>
                  </a:path>
                </a:pathLst>
              </a:custGeom>
              <a:noFill/>
              <a:ln w="38100">
                <a:solidFill>
                  <a:schemeClr val="accent3"/>
                </a:solidFill>
              </a:ln>
            </p:spPr>
          </p:sp>
          <p:sp>
            <p:nvSpPr>
              <p:cNvPr id="16" name="Freeform 16"/>
              <p:cNvSpPr/>
              <p:nvPr/>
            </p:nvSpPr>
            <p:spPr>
              <a:xfrm>
                <a:off x="5448300" y="2457450"/>
                <a:ext cx="38100" cy="9525"/>
              </a:xfrm>
              <a:custGeom>
                <a:avLst/>
                <a:gdLst/>
                <a:ahLst/>
                <a:cxnLst/>
                <a:rect l="l" t="t" r="r" b="b"/>
                <a:pathLst>
                  <a:path w="38100" h="9525">
                    <a:moveTo>
                      <a:pt x="0" y="0"/>
                    </a:moveTo>
                    <a:lnTo>
                      <a:pt x="38100" y="0"/>
                    </a:lnTo>
                  </a:path>
                </a:pathLst>
              </a:custGeom>
              <a:noFill/>
              <a:ln w="38100">
                <a:solidFill>
                  <a:schemeClr val="accent3"/>
                </a:solidFill>
              </a:ln>
            </p:spPr>
          </p:sp>
          <p:sp>
            <p:nvSpPr>
              <p:cNvPr id="17" name="Freeform 17"/>
              <p:cNvSpPr/>
              <p:nvPr/>
            </p:nvSpPr>
            <p:spPr>
              <a:xfrm>
                <a:off x="5448300" y="2533650"/>
                <a:ext cx="38100" cy="9525"/>
              </a:xfrm>
              <a:custGeom>
                <a:avLst/>
                <a:gdLst/>
                <a:ahLst/>
                <a:cxnLst/>
                <a:rect l="l" t="t" r="r" b="b"/>
                <a:pathLst>
                  <a:path w="38100" h="9525">
                    <a:moveTo>
                      <a:pt x="0" y="0"/>
                    </a:moveTo>
                    <a:lnTo>
                      <a:pt x="38100" y="0"/>
                    </a:lnTo>
                  </a:path>
                </a:pathLst>
              </a:custGeom>
              <a:noFill/>
              <a:ln w="38100">
                <a:solidFill>
                  <a:schemeClr val="accent3"/>
                </a:solidFill>
              </a:ln>
            </p:spPr>
          </p:sp>
          <p:sp>
            <p:nvSpPr>
              <p:cNvPr id="18" name="Freeform 18"/>
              <p:cNvSpPr/>
              <p:nvPr/>
            </p:nvSpPr>
            <p:spPr>
              <a:xfrm>
                <a:off x="5581650" y="2324100"/>
                <a:ext cx="9525" cy="38100"/>
              </a:xfrm>
              <a:custGeom>
                <a:avLst/>
                <a:gdLst/>
                <a:ahLst/>
                <a:cxnLst/>
                <a:rect l="l" t="t" r="r" b="b"/>
                <a:pathLst>
                  <a:path w="9525" h="38100">
                    <a:moveTo>
                      <a:pt x="0" y="0"/>
                    </a:moveTo>
                    <a:lnTo>
                      <a:pt x="0" y="38100"/>
                    </a:lnTo>
                  </a:path>
                </a:pathLst>
              </a:custGeom>
              <a:noFill/>
              <a:ln w="38100">
                <a:solidFill>
                  <a:schemeClr val="accent3"/>
                </a:solidFill>
              </a:ln>
            </p:spPr>
          </p:sp>
          <p:sp>
            <p:nvSpPr>
              <p:cNvPr id="19" name="Freeform 19"/>
              <p:cNvSpPr/>
              <p:nvPr/>
            </p:nvSpPr>
            <p:spPr>
              <a:xfrm>
                <a:off x="5657850" y="2324100"/>
                <a:ext cx="9525" cy="38100"/>
              </a:xfrm>
              <a:custGeom>
                <a:avLst/>
                <a:gdLst/>
                <a:ahLst/>
                <a:cxnLst/>
                <a:rect l="l" t="t" r="r" b="b"/>
                <a:pathLst>
                  <a:path w="9525" h="38100">
                    <a:moveTo>
                      <a:pt x="0" y="0"/>
                    </a:moveTo>
                    <a:lnTo>
                      <a:pt x="0" y="38100"/>
                    </a:lnTo>
                  </a:path>
                </a:pathLst>
              </a:custGeom>
              <a:noFill/>
              <a:ln w="38100">
                <a:solidFill>
                  <a:schemeClr val="accent3"/>
                </a:solidFill>
              </a:ln>
            </p:spPr>
          </p:sp>
          <p:sp>
            <p:nvSpPr>
              <p:cNvPr id="20" name="Freeform 20"/>
              <p:cNvSpPr/>
              <p:nvPr/>
            </p:nvSpPr>
            <p:spPr>
              <a:xfrm>
                <a:off x="5753100" y="2457450"/>
                <a:ext cx="38100" cy="9525"/>
              </a:xfrm>
              <a:custGeom>
                <a:avLst/>
                <a:gdLst/>
                <a:ahLst/>
                <a:cxnLst/>
                <a:rect l="l" t="t" r="r" b="b"/>
                <a:pathLst>
                  <a:path w="38100" h="9525">
                    <a:moveTo>
                      <a:pt x="38100" y="0"/>
                    </a:moveTo>
                    <a:lnTo>
                      <a:pt x="0" y="0"/>
                    </a:lnTo>
                  </a:path>
                </a:pathLst>
              </a:custGeom>
              <a:noFill/>
              <a:ln w="38100">
                <a:solidFill>
                  <a:schemeClr val="accent3"/>
                </a:solidFill>
              </a:ln>
            </p:spPr>
          </p:sp>
          <p:sp>
            <p:nvSpPr>
              <p:cNvPr id="21" name="Freeform 21"/>
              <p:cNvSpPr/>
              <p:nvPr/>
            </p:nvSpPr>
            <p:spPr>
              <a:xfrm>
                <a:off x="5753100" y="2533650"/>
                <a:ext cx="38100" cy="9525"/>
              </a:xfrm>
              <a:custGeom>
                <a:avLst/>
                <a:gdLst/>
                <a:ahLst/>
                <a:cxnLst/>
                <a:rect l="l" t="t" r="r" b="b"/>
                <a:pathLst>
                  <a:path w="38100" h="9525">
                    <a:moveTo>
                      <a:pt x="38100" y="0"/>
                    </a:moveTo>
                    <a:lnTo>
                      <a:pt x="0" y="0"/>
                    </a:lnTo>
                  </a:path>
                </a:pathLst>
              </a:custGeom>
              <a:noFill/>
              <a:ln w="38100">
                <a:solidFill>
                  <a:schemeClr val="accent3"/>
                </a:solidFill>
              </a:ln>
            </p:spPr>
          </p:sp>
          <p:sp>
            <p:nvSpPr>
              <p:cNvPr id="22" name="Freeform 22"/>
              <p:cNvSpPr/>
              <p:nvPr/>
            </p:nvSpPr>
            <p:spPr>
              <a:xfrm>
                <a:off x="5657850" y="2628900"/>
                <a:ext cx="9525" cy="38100"/>
              </a:xfrm>
              <a:custGeom>
                <a:avLst/>
                <a:gdLst/>
                <a:ahLst/>
                <a:cxnLst/>
                <a:rect l="l" t="t" r="r" b="b"/>
                <a:pathLst>
                  <a:path w="9525" h="38100">
                    <a:moveTo>
                      <a:pt x="0" y="38100"/>
                    </a:moveTo>
                    <a:lnTo>
                      <a:pt x="0" y="0"/>
                    </a:lnTo>
                  </a:path>
                </a:pathLst>
              </a:custGeom>
              <a:noFill/>
              <a:ln w="38100">
                <a:solidFill>
                  <a:schemeClr val="accent3"/>
                </a:solidFill>
              </a:ln>
            </p:spPr>
          </p:sp>
          <p:sp>
            <p:nvSpPr>
              <p:cNvPr id="23" name="Freeform 23"/>
              <p:cNvSpPr/>
              <p:nvPr/>
            </p:nvSpPr>
            <p:spPr>
              <a:xfrm>
                <a:off x="5581650" y="2628900"/>
                <a:ext cx="9525" cy="38100"/>
              </a:xfrm>
              <a:custGeom>
                <a:avLst/>
                <a:gdLst/>
                <a:ahLst/>
                <a:cxnLst/>
                <a:rect l="l" t="t" r="r" b="b"/>
                <a:pathLst>
                  <a:path w="9525" h="38100">
                    <a:moveTo>
                      <a:pt x="0" y="38100"/>
                    </a:moveTo>
                    <a:lnTo>
                      <a:pt x="0" y="0"/>
                    </a:lnTo>
                  </a:path>
                </a:pathLst>
              </a:custGeom>
              <a:noFill/>
              <a:ln w="38100">
                <a:solidFill>
                  <a:schemeClr val="accent3"/>
                </a:solidFill>
              </a:ln>
            </p:spPr>
          </p:sp>
        </p:grpSp>
        <p:sp>
          <p:nvSpPr>
            <p:cNvPr id="25" name="TextBox 25"/>
            <p:cNvSpPr txBox="1"/>
            <p:nvPr/>
          </p:nvSpPr>
          <p:spPr>
            <a:xfrm>
              <a:off x="5272760" y="2834640"/>
              <a:ext cx="713031"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Model</a:t>
              </a:r>
            </a:p>
          </p:txBody>
        </p:sp>
        <p:sp>
          <p:nvSpPr>
            <p:cNvPr id="26" name="Rectangle 26"/>
            <p:cNvSpPr/>
            <p:nvPr/>
          </p:nvSpPr>
          <p:spPr>
            <a:xfrm>
              <a:off x="7200900" y="1657350"/>
              <a:ext cx="2495550" cy="2895600"/>
            </a:xfrm>
            <a:prstGeom prst="roundRect">
              <a:avLst>
                <a:gd name="adj" fmla="val 3817"/>
              </a:avLst>
            </a:prstGeom>
            <a:solidFill>
              <a:schemeClr val="accent1"/>
            </a:solidFill>
            <a:ln w="28575">
              <a:solidFill>
                <a:schemeClr val="accent2"/>
              </a:solidFill>
            </a:ln>
          </p:spPr>
        </p:sp>
        <p:sp>
          <p:nvSpPr>
            <p:cNvPr id="27" name="TextBox 27"/>
            <p:cNvSpPr txBox="1"/>
            <p:nvPr/>
          </p:nvSpPr>
          <p:spPr>
            <a:xfrm>
              <a:off x="6900459" y="1844040"/>
              <a:ext cx="3096433"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HARNESS CONTROL PLANE</a:t>
              </a:r>
            </a:p>
          </p:txBody>
        </p:sp>
        <p:sp>
          <p:nvSpPr>
            <p:cNvPr id="28" name="Rectangle 28"/>
            <p:cNvSpPr/>
            <p:nvPr/>
          </p:nvSpPr>
          <p:spPr>
            <a:xfrm>
              <a:off x="7448550" y="2324100"/>
              <a:ext cx="895350" cy="723900"/>
            </a:xfrm>
            <a:prstGeom prst="roundRect">
              <a:avLst>
                <a:gd name="adj" fmla="val 7895"/>
              </a:avLst>
            </a:prstGeom>
            <a:solidFill>
              <a:srgbClr val="1C2A4A"/>
            </a:solidFill>
            <a:ln w="9525">
              <a:solidFill>
                <a:schemeClr val="accent3"/>
              </a:solidFill>
            </a:ln>
          </p:spPr>
        </p:sp>
        <p:sp>
          <p:nvSpPr>
            <p:cNvPr id="29" name="Rectangle 29"/>
            <p:cNvSpPr/>
            <p:nvPr/>
          </p:nvSpPr>
          <p:spPr>
            <a:xfrm>
              <a:off x="8534400" y="2324100"/>
              <a:ext cx="895350" cy="723900"/>
            </a:xfrm>
            <a:prstGeom prst="roundRect">
              <a:avLst>
                <a:gd name="adj" fmla="val 7895"/>
              </a:avLst>
            </a:prstGeom>
            <a:solidFill>
              <a:srgbClr val="1C2A4A"/>
            </a:solidFill>
            <a:ln w="9525">
              <a:solidFill>
                <a:schemeClr val="accent3"/>
              </a:solidFill>
            </a:ln>
          </p:spPr>
        </p:sp>
        <p:sp>
          <p:nvSpPr>
            <p:cNvPr id="30" name="Rectangle 30"/>
            <p:cNvSpPr/>
            <p:nvPr/>
          </p:nvSpPr>
          <p:spPr>
            <a:xfrm>
              <a:off x="7448550" y="3257550"/>
              <a:ext cx="895350" cy="723900"/>
            </a:xfrm>
            <a:prstGeom prst="roundRect">
              <a:avLst>
                <a:gd name="adj" fmla="val 7895"/>
              </a:avLst>
            </a:prstGeom>
            <a:solidFill>
              <a:srgbClr val="1C2A4A"/>
            </a:solidFill>
            <a:ln w="9525">
              <a:solidFill>
                <a:schemeClr val="accent3"/>
              </a:solidFill>
            </a:ln>
          </p:spPr>
        </p:sp>
        <p:sp>
          <p:nvSpPr>
            <p:cNvPr id="31" name="Rectangle 31"/>
            <p:cNvSpPr/>
            <p:nvPr/>
          </p:nvSpPr>
          <p:spPr>
            <a:xfrm>
              <a:off x="8534400" y="3257550"/>
              <a:ext cx="895350" cy="723900"/>
            </a:xfrm>
            <a:prstGeom prst="roundRect">
              <a:avLst>
                <a:gd name="adj" fmla="val 7895"/>
              </a:avLst>
            </a:prstGeom>
            <a:solidFill>
              <a:srgbClr val="1C2A4A"/>
            </a:solidFill>
            <a:ln w="19050">
              <a:solidFill>
                <a:schemeClr val="accent2"/>
              </a:solidFill>
            </a:ln>
          </p:spPr>
        </p:sp>
        <p:sp>
          <p:nvSpPr>
            <p:cNvPr id="32" name="TextBox 32"/>
            <p:cNvSpPr txBox="1"/>
            <p:nvPr/>
          </p:nvSpPr>
          <p:spPr>
            <a:xfrm>
              <a:off x="7536694" y="2616518"/>
              <a:ext cx="719061" cy="264033"/>
            </a:xfrm>
            <a:prstGeom prst="rect">
              <a:avLst/>
            </a:prstGeom>
            <a:noFill/>
            <a:ln>
              <a:noFill/>
            </a:ln>
          </p:spPr>
          <p:txBody>
            <a:bodyPr wrap="none" lIns="0" tIns="0" rIns="0" bIns="0" anchor="t" anchorCtr="0">
              <a:spAutoFit/>
            </a:bodyPr>
            <a:lstStyle/>
            <a:p>
              <a:pPr algn="ctr"/>
              <a:r>
                <a:rPr lang="en-US" sz="1350" dirty="0">
                  <a:solidFill>
                    <a:srgbClr val="F7FAFC"/>
                  </a:solidFill>
                  <a:latin typeface="+mn-lt"/>
                  <a:ea typeface="+mn-ea"/>
                  <a:cs typeface="+mn-cs"/>
                </a:rPr>
                <a:t>Context</a:t>
              </a:r>
            </a:p>
          </p:txBody>
        </p:sp>
        <p:sp>
          <p:nvSpPr>
            <p:cNvPr id="33" name="TextBox 33"/>
            <p:cNvSpPr txBox="1"/>
            <p:nvPr/>
          </p:nvSpPr>
          <p:spPr>
            <a:xfrm>
              <a:off x="8718385" y="2616518"/>
              <a:ext cx="527380" cy="264033"/>
            </a:xfrm>
            <a:prstGeom prst="rect">
              <a:avLst/>
            </a:prstGeom>
            <a:noFill/>
            <a:ln>
              <a:noFill/>
            </a:ln>
          </p:spPr>
          <p:txBody>
            <a:bodyPr wrap="none" lIns="0" tIns="0" rIns="0" bIns="0" anchor="t" anchorCtr="0">
              <a:spAutoFit/>
            </a:bodyPr>
            <a:lstStyle/>
            <a:p>
              <a:pPr algn="ctr"/>
              <a:r>
                <a:rPr lang="en-US" sz="1350" dirty="0">
                  <a:solidFill>
                    <a:srgbClr val="F7FAFC"/>
                  </a:solidFill>
                  <a:latin typeface="+mn-lt"/>
                  <a:ea typeface="+mn-ea"/>
                  <a:cs typeface="+mn-cs"/>
                </a:rPr>
                <a:t>Policy</a:t>
              </a:r>
            </a:p>
          </p:txBody>
        </p:sp>
        <p:sp>
          <p:nvSpPr>
            <p:cNvPr id="34" name="TextBox 34"/>
            <p:cNvSpPr txBox="1"/>
            <p:nvPr/>
          </p:nvSpPr>
          <p:spPr>
            <a:xfrm>
              <a:off x="7709666" y="3549968"/>
              <a:ext cx="373118" cy="264033"/>
            </a:xfrm>
            <a:prstGeom prst="rect">
              <a:avLst/>
            </a:prstGeom>
            <a:noFill/>
            <a:ln>
              <a:noFill/>
            </a:ln>
          </p:spPr>
          <p:txBody>
            <a:bodyPr wrap="none" lIns="0" tIns="0" rIns="0" bIns="0" anchor="t" anchorCtr="0">
              <a:spAutoFit/>
            </a:bodyPr>
            <a:lstStyle/>
            <a:p>
              <a:pPr algn="ctr"/>
              <a:r>
                <a:rPr lang="en-US" sz="1350" dirty="0">
                  <a:solidFill>
                    <a:srgbClr val="F7FAFC"/>
                  </a:solidFill>
                  <a:latin typeface="+mn-lt"/>
                  <a:ea typeface="+mn-ea"/>
                  <a:cs typeface="+mn-cs"/>
                </a:rPr>
                <a:t>Tool</a:t>
              </a:r>
            </a:p>
          </p:txBody>
        </p:sp>
        <p:sp>
          <p:nvSpPr>
            <p:cNvPr id="35" name="TextBox 35"/>
            <p:cNvSpPr txBox="1"/>
            <p:nvPr/>
          </p:nvSpPr>
          <p:spPr>
            <a:xfrm>
              <a:off x="8645445" y="3549968"/>
              <a:ext cx="673260" cy="264033"/>
            </a:xfrm>
            <a:prstGeom prst="rect">
              <a:avLst/>
            </a:prstGeom>
            <a:noFill/>
            <a:ln>
              <a:noFill/>
            </a:ln>
          </p:spPr>
          <p:txBody>
            <a:bodyPr wrap="none" lIns="0" tIns="0" rIns="0" bIns="0" anchor="t" anchorCtr="0">
              <a:spAutoFit/>
            </a:bodyPr>
            <a:lstStyle/>
            <a:p>
              <a:pPr algn="ctr"/>
              <a:r>
                <a:rPr lang="en-US" sz="1350" dirty="0">
                  <a:solidFill>
                    <a:srgbClr val="B9F4F7"/>
                  </a:solidFill>
                  <a:latin typeface="+mn-lt"/>
                  <a:ea typeface="+mn-ea"/>
                  <a:cs typeface="+mn-cs"/>
                </a:rPr>
                <a:t>Session</a:t>
              </a:r>
            </a:p>
          </p:txBody>
        </p:sp>
        <p:sp>
          <p:nvSpPr>
            <p:cNvPr id="36" name="Rectangle 36"/>
            <p:cNvSpPr/>
            <p:nvPr/>
          </p:nvSpPr>
          <p:spPr>
            <a:xfrm>
              <a:off x="10306050" y="2114550"/>
              <a:ext cx="1276350" cy="1143000"/>
            </a:xfrm>
            <a:prstGeom prst="roundRect">
              <a:avLst>
                <a:gd name="adj" fmla="val 6667"/>
              </a:avLst>
            </a:prstGeom>
            <a:solidFill>
              <a:schemeClr val="lt2"/>
            </a:solidFill>
            <a:ln w="19050">
              <a:solidFill>
                <a:schemeClr val="accent3"/>
              </a:solidFill>
            </a:ln>
          </p:spPr>
        </p:sp>
        <p:grpSp>
          <p:nvGrpSpPr>
            <p:cNvPr id="41" name="Group 41"/>
            <p:cNvGrpSpPr/>
            <p:nvPr/>
          </p:nvGrpSpPr>
          <p:grpSpPr>
            <a:xfrm>
              <a:off x="10772775" y="2343150"/>
              <a:ext cx="342900" cy="304800"/>
              <a:chOff x="10772775" y="2343150"/>
              <a:chExt cx="342900" cy="304800"/>
            </a:xfrm>
          </p:grpSpPr>
          <p:sp>
            <p:nvSpPr>
              <p:cNvPr id="37" name="Freeform 37"/>
              <p:cNvSpPr/>
              <p:nvPr/>
            </p:nvSpPr>
            <p:spPr>
              <a:xfrm>
                <a:off x="10772775" y="2343150"/>
                <a:ext cx="342900" cy="152400"/>
              </a:xfrm>
              <a:custGeom>
                <a:avLst/>
                <a:gdLst/>
                <a:ahLst/>
                <a:cxnLst/>
                <a:rect l="l" t="t" r="r" b="b"/>
                <a:pathLst>
                  <a:path w="342900" h="152400">
                    <a:moveTo>
                      <a:pt x="0" y="57150"/>
                    </a:moveTo>
                    <a:cubicBezTo>
                      <a:pt x="0" y="25587"/>
                      <a:pt x="25587" y="0"/>
                      <a:pt x="57150" y="0"/>
                    </a:cubicBezTo>
                    <a:lnTo>
                      <a:pt x="285750" y="0"/>
                    </a:lnTo>
                    <a:cubicBezTo>
                      <a:pt x="317313" y="0"/>
                      <a:pt x="342900" y="25587"/>
                      <a:pt x="342900" y="57150"/>
                    </a:cubicBezTo>
                    <a:lnTo>
                      <a:pt x="342900" y="95250"/>
                    </a:lnTo>
                    <a:cubicBezTo>
                      <a:pt x="342900" y="126813"/>
                      <a:pt x="317313" y="152400"/>
                      <a:pt x="285750" y="152400"/>
                    </a:cubicBezTo>
                    <a:lnTo>
                      <a:pt x="57150" y="152400"/>
                    </a:lnTo>
                    <a:cubicBezTo>
                      <a:pt x="25587" y="152400"/>
                      <a:pt x="0" y="126813"/>
                      <a:pt x="0" y="95250"/>
                    </a:cubicBezTo>
                    <a:lnTo>
                      <a:pt x="0" y="57150"/>
                    </a:lnTo>
                  </a:path>
                </a:pathLst>
              </a:custGeom>
              <a:noFill/>
              <a:ln w="38100">
                <a:solidFill>
                  <a:schemeClr val="accent3"/>
                </a:solidFill>
              </a:ln>
            </p:spPr>
          </p:sp>
          <p:sp>
            <p:nvSpPr>
              <p:cNvPr id="38" name="Freeform 38"/>
              <p:cNvSpPr/>
              <p:nvPr/>
            </p:nvSpPr>
            <p:spPr>
              <a:xfrm>
                <a:off x="10772775" y="2495550"/>
                <a:ext cx="342900" cy="152400"/>
              </a:xfrm>
              <a:custGeom>
                <a:avLst/>
                <a:gdLst/>
                <a:ahLst/>
                <a:cxnLst/>
                <a:rect l="l" t="t" r="r" b="b"/>
                <a:pathLst>
                  <a:path w="342900" h="152400">
                    <a:moveTo>
                      <a:pt x="0" y="57150"/>
                    </a:moveTo>
                    <a:cubicBezTo>
                      <a:pt x="0" y="25587"/>
                      <a:pt x="25587" y="0"/>
                      <a:pt x="57150" y="0"/>
                    </a:cubicBezTo>
                    <a:lnTo>
                      <a:pt x="285750" y="0"/>
                    </a:lnTo>
                    <a:cubicBezTo>
                      <a:pt x="317313" y="0"/>
                      <a:pt x="342900" y="25587"/>
                      <a:pt x="342900" y="57150"/>
                    </a:cubicBezTo>
                    <a:lnTo>
                      <a:pt x="342900" y="95250"/>
                    </a:lnTo>
                    <a:cubicBezTo>
                      <a:pt x="342900" y="126813"/>
                      <a:pt x="317313" y="152400"/>
                      <a:pt x="285750" y="152400"/>
                    </a:cubicBezTo>
                    <a:lnTo>
                      <a:pt x="57150" y="152400"/>
                    </a:lnTo>
                    <a:cubicBezTo>
                      <a:pt x="25587" y="152400"/>
                      <a:pt x="0" y="126813"/>
                      <a:pt x="0" y="95250"/>
                    </a:cubicBezTo>
                    <a:lnTo>
                      <a:pt x="0" y="57150"/>
                    </a:lnTo>
                  </a:path>
                </a:pathLst>
              </a:custGeom>
              <a:noFill/>
              <a:ln w="38100">
                <a:solidFill>
                  <a:schemeClr val="accent3"/>
                </a:solidFill>
              </a:ln>
            </p:spPr>
          </p:sp>
          <p:sp>
            <p:nvSpPr>
              <p:cNvPr id="39" name="Freeform 39"/>
              <p:cNvSpPr/>
              <p:nvPr/>
            </p:nvSpPr>
            <p:spPr>
              <a:xfrm>
                <a:off x="10848975" y="2419350"/>
                <a:ext cx="9525" cy="9525"/>
              </a:xfrm>
              <a:custGeom>
                <a:avLst/>
                <a:gdLst/>
                <a:ahLst/>
                <a:cxnLst/>
                <a:rect l="l" t="t" r="r" b="b"/>
                <a:pathLst>
                  <a:path w="9525" h="9525">
                    <a:moveTo>
                      <a:pt x="0" y="0"/>
                    </a:moveTo>
                    <a:lnTo>
                      <a:pt x="0" y="191"/>
                    </a:lnTo>
                  </a:path>
                </a:pathLst>
              </a:custGeom>
              <a:noFill/>
              <a:ln w="38100">
                <a:solidFill>
                  <a:schemeClr val="accent3"/>
                </a:solidFill>
              </a:ln>
            </p:spPr>
          </p:sp>
          <p:sp>
            <p:nvSpPr>
              <p:cNvPr id="40" name="Freeform 40"/>
              <p:cNvSpPr/>
              <p:nvPr/>
            </p:nvSpPr>
            <p:spPr>
              <a:xfrm>
                <a:off x="10848975" y="2571750"/>
                <a:ext cx="9525" cy="9525"/>
              </a:xfrm>
              <a:custGeom>
                <a:avLst/>
                <a:gdLst/>
                <a:ahLst/>
                <a:cxnLst/>
                <a:rect l="l" t="t" r="r" b="b"/>
                <a:pathLst>
                  <a:path w="9525" h="9525">
                    <a:moveTo>
                      <a:pt x="0" y="0"/>
                    </a:moveTo>
                    <a:lnTo>
                      <a:pt x="0" y="190"/>
                    </a:lnTo>
                  </a:path>
                </a:pathLst>
              </a:custGeom>
              <a:noFill/>
              <a:ln w="38100">
                <a:solidFill>
                  <a:schemeClr val="accent3"/>
                </a:solidFill>
              </a:ln>
            </p:spPr>
          </p:sp>
        </p:grpSp>
        <p:sp>
          <p:nvSpPr>
            <p:cNvPr id="42" name="TextBox 42"/>
            <p:cNvSpPr txBox="1"/>
            <p:nvPr/>
          </p:nvSpPr>
          <p:spPr>
            <a:xfrm>
              <a:off x="10587710" y="2834640"/>
              <a:ext cx="713031"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World</a:t>
              </a:r>
            </a:p>
          </p:txBody>
        </p:sp>
        <p:sp>
          <p:nvSpPr>
            <p:cNvPr id="43" name="Freeform 43"/>
            <p:cNvSpPr/>
            <p:nvPr/>
          </p:nvSpPr>
          <p:spPr>
            <a:xfrm>
              <a:off x="8982075" y="3429000"/>
              <a:ext cx="1962150" cy="1543050"/>
            </a:xfrm>
            <a:custGeom>
              <a:avLst/>
              <a:gdLst/>
              <a:ahLst/>
              <a:cxnLst/>
              <a:rect l="l" t="t" r="r" b="b"/>
              <a:pathLst>
                <a:path w="1962150" h="1543050">
                  <a:moveTo>
                    <a:pt x="1962150" y="0"/>
                  </a:moveTo>
                  <a:lnTo>
                    <a:pt x="1962150" y="1543050"/>
                  </a:lnTo>
                  <a:lnTo>
                    <a:pt x="0" y="1543050"/>
                  </a:lnTo>
                  <a:lnTo>
                    <a:pt x="0" y="666750"/>
                  </a:lnTo>
                </a:path>
              </a:pathLst>
            </a:custGeom>
            <a:noFill/>
            <a:ln w="28575">
              <a:solidFill>
                <a:schemeClr val="accent2"/>
              </a:solidFill>
              <a:prstDash val="dash"/>
              <a:tailEnd type="triangle" w="lg" len="lg"/>
            </a:ln>
          </p:spPr>
        </p:sp>
        <p:sp>
          <p:nvSpPr>
            <p:cNvPr id="44" name="TextBox 44"/>
            <p:cNvSpPr txBox="1"/>
            <p:nvPr/>
          </p:nvSpPr>
          <p:spPr>
            <a:xfrm>
              <a:off x="8315239" y="5131118"/>
              <a:ext cx="3257721"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visible result → recoverable evidence</a:t>
              </a:r>
            </a:p>
          </p:txBody>
        </p:sp>
        <p:sp>
          <p:nvSpPr>
            <p:cNvPr id="45" name="TextBox 45"/>
            <p:cNvSpPr txBox="1"/>
            <p:nvPr/>
          </p:nvSpPr>
          <p:spPr>
            <a:xfrm>
              <a:off x="6622390" y="4712018"/>
              <a:ext cx="3652571" cy="264033"/>
            </a:xfrm>
            <a:prstGeom prst="rect">
              <a:avLst/>
            </a:prstGeom>
            <a:noFill/>
            <a:ln>
              <a:noFill/>
            </a:ln>
          </p:spPr>
          <p:txBody>
            <a:bodyPr wrap="none" lIns="0" tIns="0" rIns="0" bIns="0" anchor="t" anchorCtr="0">
              <a:spAutoFit/>
            </a:bodyPr>
            <a:lstStyle/>
            <a:p>
              <a:pPr algn="ctr"/>
              <a:r>
                <a:rPr lang="en-US" sz="1350" dirty="0">
                  <a:solidFill>
                    <a:schemeClr val="accent3"/>
                  </a:solidFill>
                  <a:latin typeface="Cascadia Mono"/>
                  <a:ea typeface="Cascadia Mono"/>
                  <a:cs typeface="Cascadia Mono"/>
                </a:rPr>
                <a:t>ALL EXECUTION PASSES THROUGH HARNESS</a:t>
              </a:r>
            </a:p>
          </p:txBody>
        </p:sp>
      </p:grpSp>
      <p:grpSp>
        <p:nvGrpSpPr>
          <p:cNvPr id="49" name="Group 49"/>
          <p:cNvGrpSpPr/>
          <p:nvPr/>
        </p:nvGrpSpPr>
        <p:grpSpPr>
          <a:xfrm>
            <a:off x="602742" y="6293168"/>
            <a:ext cx="10986516" cy="264033"/>
            <a:chOff x="602742" y="6293168"/>
            <a:chExt cx="10986516" cy="264033"/>
          </a:xfrm>
        </p:grpSpPr>
        <p:sp>
          <p:nvSpPr>
            <p:cNvPr id="47" name="TextBox 47"/>
            <p:cNvSpPr txBox="1"/>
            <p:nvPr/>
          </p:nvSpPr>
          <p:spPr>
            <a:xfrm>
              <a:off x="602742" y="6293168"/>
              <a:ext cx="503482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K-001 · K-002 · K-008 | DEEPSEEK HARNESS v0.1.0-rc.7</a:t>
              </a:r>
            </a:p>
          </p:txBody>
        </p:sp>
        <p:sp>
          <p:nvSpPr>
            <p:cNvPr id="48" name="TextBox 48"/>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P02 / 24</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52450" y="4907280"/>
            <a:ext cx="1530767" cy="1847850"/>
          </a:xfrm>
          <a:prstGeom prst="rect">
            <a:avLst/>
          </a:prstGeom>
          <a:noFill/>
          <a:ln>
            <a:noFill/>
          </a:ln>
        </p:spPr>
        <p:txBody>
          <a:bodyPr wrap="none" lIns="0" tIns="0" rIns="0" bIns="0" anchor="t" anchorCtr="0">
            <a:spAutoFit/>
          </a:bodyPr>
          <a:lstStyle/>
          <a:p>
            <a:pPr algn="l"/>
            <a:r>
              <a:rPr lang="en-US" sz="9600" b="1" dirty="0">
                <a:solidFill>
                  <a:schemeClr val="accent3">
                    <a:alphaMod val="8000"/>
                  </a:schemeClr>
                </a:solidFill>
                <a:latin typeface="+mj-lt"/>
                <a:ea typeface="+mj-ea"/>
                <a:cs typeface="+mj-cs"/>
              </a:rPr>
              <a:t>04</a:t>
            </a:r>
          </a:p>
        </p:txBody>
      </p:sp>
      <p:grpSp>
        <p:nvGrpSpPr>
          <p:cNvPr id="5" name="Group 5"/>
          <p:cNvGrpSpPr/>
          <p:nvPr/>
        </p:nvGrpSpPr>
        <p:grpSpPr>
          <a:xfrm>
            <a:off x="593598" y="482918"/>
            <a:ext cx="8860283" cy="955167"/>
            <a:chOff x="593598" y="482918"/>
            <a:chExt cx="8860283" cy="955167"/>
          </a:xfrm>
        </p:grpSpPr>
        <p:sp>
          <p:nvSpPr>
            <p:cNvPr id="3" name="TextBox 3"/>
            <p:cNvSpPr txBox="1"/>
            <p:nvPr/>
          </p:nvSpPr>
          <p:spPr>
            <a:xfrm>
              <a:off x="602742" y="482918"/>
              <a:ext cx="3240786"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LEARNING MAP / FOUR QUESTIONS</a:t>
              </a:r>
            </a:p>
          </p:txBody>
        </p:sp>
        <p:sp>
          <p:nvSpPr>
            <p:cNvPr id="4" name="TextBox 4"/>
            <p:cNvSpPr txBox="1"/>
            <p:nvPr/>
          </p:nvSpPr>
          <p:spPr>
            <a:xfrm>
              <a:off x="593598" y="822008"/>
              <a:ext cx="8860283"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Four questions explain DeepSeek Harness</a:t>
              </a:r>
            </a:p>
          </p:txBody>
        </p:sp>
      </p:grpSp>
      <p:grpSp>
        <p:nvGrpSpPr>
          <p:cNvPr id="31" name="Group 31"/>
          <p:cNvGrpSpPr/>
          <p:nvPr/>
        </p:nvGrpSpPr>
        <p:grpSpPr>
          <a:xfrm>
            <a:off x="1057656" y="1123950"/>
            <a:ext cx="10118664" cy="4957001"/>
            <a:chOff x="1057656" y="1123950"/>
            <a:chExt cx="10118664" cy="4957001"/>
          </a:xfrm>
        </p:grpSpPr>
        <p:sp>
          <p:nvSpPr>
            <p:cNvPr id="6" name="Freeform 6"/>
            <p:cNvSpPr/>
            <p:nvPr/>
          </p:nvSpPr>
          <p:spPr>
            <a:xfrm>
              <a:off x="1447800" y="1524000"/>
              <a:ext cx="8763000" cy="3429000"/>
            </a:xfrm>
            <a:custGeom>
              <a:avLst/>
              <a:gdLst/>
              <a:ahLst/>
              <a:cxnLst/>
              <a:rect l="l" t="t" r="r" b="b"/>
              <a:pathLst>
                <a:path w="8763000" h="3429000">
                  <a:moveTo>
                    <a:pt x="0" y="3429000"/>
                  </a:moveTo>
                  <a:lnTo>
                    <a:pt x="2190750" y="2571750"/>
                  </a:lnTo>
                  <a:lnTo>
                    <a:pt x="4381500" y="1714500"/>
                  </a:lnTo>
                  <a:lnTo>
                    <a:pt x="6572250" y="857250"/>
                  </a:lnTo>
                  <a:lnTo>
                    <a:pt x="8763000" y="0"/>
                  </a:lnTo>
                </a:path>
              </a:pathLst>
            </a:custGeom>
            <a:noFill/>
            <a:ln w="38100">
              <a:solidFill>
                <a:schemeClr val="accent2"/>
              </a:solidFill>
              <a:tailEnd type="triangle" w="lg" len="lg"/>
            </a:ln>
          </p:spPr>
        </p:sp>
        <p:sp>
          <p:nvSpPr>
            <p:cNvPr id="7" name="Line 7"/>
            <p:cNvSpPr/>
            <p:nvPr/>
          </p:nvSpPr>
          <p:spPr>
            <a:xfrm>
              <a:off x="1447800" y="4953000"/>
              <a:ext cx="9525" cy="628650"/>
            </a:xfrm>
            <a:custGeom>
              <a:avLst/>
              <a:gdLst/>
              <a:ahLst/>
              <a:cxnLst/>
              <a:rect l="l" t="t" r="r" b="b"/>
              <a:pathLst>
                <a:path w="9525" h="628650">
                  <a:moveTo>
                    <a:pt x="0" y="0"/>
                  </a:moveTo>
                  <a:lnTo>
                    <a:pt x="0" y="628650"/>
                  </a:lnTo>
                </a:path>
              </a:pathLst>
            </a:custGeom>
            <a:noFill/>
            <a:ln w="14288">
              <a:solidFill>
                <a:schemeClr val="accent3"/>
              </a:solidFill>
            </a:ln>
          </p:spPr>
        </p:sp>
        <p:sp>
          <p:nvSpPr>
            <p:cNvPr id="8" name="Line 8"/>
            <p:cNvSpPr/>
            <p:nvPr/>
          </p:nvSpPr>
          <p:spPr>
            <a:xfrm>
              <a:off x="3638550" y="4095750"/>
              <a:ext cx="9525" cy="704850"/>
            </a:xfrm>
            <a:custGeom>
              <a:avLst/>
              <a:gdLst/>
              <a:ahLst/>
              <a:cxnLst/>
              <a:rect l="l" t="t" r="r" b="b"/>
              <a:pathLst>
                <a:path w="9525" h="704850">
                  <a:moveTo>
                    <a:pt x="0" y="0"/>
                  </a:moveTo>
                  <a:lnTo>
                    <a:pt x="0" y="704850"/>
                  </a:lnTo>
                </a:path>
              </a:pathLst>
            </a:custGeom>
            <a:noFill/>
            <a:ln w="14288">
              <a:solidFill>
                <a:schemeClr val="accent3"/>
              </a:solidFill>
            </a:ln>
          </p:spPr>
        </p:sp>
        <p:sp>
          <p:nvSpPr>
            <p:cNvPr id="9" name="Line 9"/>
            <p:cNvSpPr/>
            <p:nvPr/>
          </p:nvSpPr>
          <p:spPr>
            <a:xfrm>
              <a:off x="5829300" y="3238500"/>
              <a:ext cx="9525" cy="704850"/>
            </a:xfrm>
            <a:custGeom>
              <a:avLst/>
              <a:gdLst/>
              <a:ahLst/>
              <a:cxnLst/>
              <a:rect l="l" t="t" r="r" b="b"/>
              <a:pathLst>
                <a:path w="9525" h="704850">
                  <a:moveTo>
                    <a:pt x="0" y="0"/>
                  </a:moveTo>
                  <a:lnTo>
                    <a:pt x="0" y="704850"/>
                  </a:lnTo>
                </a:path>
              </a:pathLst>
            </a:custGeom>
            <a:noFill/>
            <a:ln w="14288">
              <a:solidFill>
                <a:schemeClr val="accent3"/>
              </a:solidFill>
            </a:ln>
          </p:spPr>
        </p:sp>
        <p:sp>
          <p:nvSpPr>
            <p:cNvPr id="10" name="Line 10"/>
            <p:cNvSpPr/>
            <p:nvPr/>
          </p:nvSpPr>
          <p:spPr>
            <a:xfrm>
              <a:off x="8020050" y="2381250"/>
              <a:ext cx="9525" cy="704850"/>
            </a:xfrm>
            <a:custGeom>
              <a:avLst/>
              <a:gdLst/>
              <a:ahLst/>
              <a:cxnLst/>
              <a:rect l="l" t="t" r="r" b="b"/>
              <a:pathLst>
                <a:path w="9525" h="704850">
                  <a:moveTo>
                    <a:pt x="0" y="0"/>
                  </a:moveTo>
                  <a:lnTo>
                    <a:pt x="0" y="704850"/>
                  </a:lnTo>
                </a:path>
              </a:pathLst>
            </a:custGeom>
            <a:noFill/>
            <a:ln w="14288">
              <a:solidFill>
                <a:schemeClr val="accent3"/>
              </a:solidFill>
            </a:ln>
          </p:spPr>
        </p:sp>
        <p:sp>
          <p:nvSpPr>
            <p:cNvPr id="11" name="Ellipse 11"/>
            <p:cNvSpPr/>
            <p:nvPr/>
          </p:nvSpPr>
          <p:spPr>
            <a:xfrm>
              <a:off x="1181100" y="4686300"/>
              <a:ext cx="533400" cy="533400"/>
            </a:xfrm>
            <a:prstGeom prst="ellipse">
              <a:avLst/>
            </a:prstGeom>
            <a:solidFill>
              <a:schemeClr val="accent1"/>
            </a:solidFill>
            <a:ln w="28575">
              <a:solidFill>
                <a:schemeClr val="accent3"/>
              </a:solidFill>
            </a:ln>
          </p:spPr>
        </p:sp>
        <p:sp>
          <p:nvSpPr>
            <p:cNvPr id="12" name="Ellipse 12"/>
            <p:cNvSpPr/>
            <p:nvPr/>
          </p:nvSpPr>
          <p:spPr>
            <a:xfrm>
              <a:off x="3371850" y="3829050"/>
              <a:ext cx="533400" cy="533400"/>
            </a:xfrm>
            <a:prstGeom prst="ellipse">
              <a:avLst/>
            </a:prstGeom>
            <a:solidFill>
              <a:schemeClr val="accent1"/>
            </a:solidFill>
            <a:ln w="28575">
              <a:solidFill>
                <a:schemeClr val="accent3"/>
              </a:solidFill>
            </a:ln>
          </p:spPr>
        </p:sp>
        <p:sp>
          <p:nvSpPr>
            <p:cNvPr id="13" name="Ellipse 13"/>
            <p:cNvSpPr/>
            <p:nvPr/>
          </p:nvSpPr>
          <p:spPr>
            <a:xfrm>
              <a:off x="5562600" y="2971800"/>
              <a:ext cx="533400" cy="533400"/>
            </a:xfrm>
            <a:prstGeom prst="ellipse">
              <a:avLst/>
            </a:prstGeom>
            <a:solidFill>
              <a:schemeClr val="accent1"/>
            </a:solidFill>
            <a:ln w="28575">
              <a:solidFill>
                <a:schemeClr val="accent3"/>
              </a:solidFill>
            </a:ln>
          </p:spPr>
        </p:sp>
        <p:sp>
          <p:nvSpPr>
            <p:cNvPr id="14" name="Ellipse 14"/>
            <p:cNvSpPr/>
            <p:nvPr/>
          </p:nvSpPr>
          <p:spPr>
            <a:xfrm>
              <a:off x="7753350" y="2114550"/>
              <a:ext cx="533400" cy="533400"/>
            </a:xfrm>
            <a:prstGeom prst="ellipse">
              <a:avLst/>
            </a:prstGeom>
            <a:solidFill>
              <a:schemeClr val="accent1"/>
            </a:solidFill>
            <a:ln w="28575">
              <a:solidFill>
                <a:schemeClr val="accent3"/>
              </a:solidFill>
            </a:ln>
          </p:spPr>
        </p:sp>
        <p:sp>
          <p:nvSpPr>
            <p:cNvPr id="15" name="Ellipse 15"/>
            <p:cNvSpPr/>
            <p:nvPr/>
          </p:nvSpPr>
          <p:spPr>
            <a:xfrm>
              <a:off x="9810750" y="1123950"/>
              <a:ext cx="800100" cy="800100"/>
            </a:xfrm>
            <a:prstGeom prst="ellipse">
              <a:avLst/>
            </a:prstGeom>
            <a:solidFill>
              <a:schemeClr val="accent3"/>
            </a:solidFill>
            <a:ln w="38100">
              <a:solidFill>
                <a:schemeClr val="accent2"/>
              </a:solidFill>
            </a:ln>
          </p:spPr>
        </p:sp>
        <p:sp>
          <p:nvSpPr>
            <p:cNvPr id="16" name="TextBox 16"/>
            <p:cNvSpPr txBox="1"/>
            <p:nvPr/>
          </p:nvSpPr>
          <p:spPr>
            <a:xfrm>
              <a:off x="1368687" y="4834890"/>
              <a:ext cx="158225"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1</a:t>
              </a:r>
            </a:p>
          </p:txBody>
        </p:sp>
        <p:sp>
          <p:nvSpPr>
            <p:cNvPr id="17" name="TextBox 17"/>
            <p:cNvSpPr txBox="1"/>
            <p:nvPr/>
          </p:nvSpPr>
          <p:spPr>
            <a:xfrm>
              <a:off x="3559437" y="3977640"/>
              <a:ext cx="158225"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2</a:t>
              </a:r>
            </a:p>
          </p:txBody>
        </p:sp>
        <p:sp>
          <p:nvSpPr>
            <p:cNvPr id="18" name="TextBox 18"/>
            <p:cNvSpPr txBox="1"/>
            <p:nvPr/>
          </p:nvSpPr>
          <p:spPr>
            <a:xfrm>
              <a:off x="5750187" y="3120390"/>
              <a:ext cx="158225"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3</a:t>
              </a:r>
            </a:p>
          </p:txBody>
        </p:sp>
        <p:sp>
          <p:nvSpPr>
            <p:cNvPr id="19" name="TextBox 19"/>
            <p:cNvSpPr txBox="1"/>
            <p:nvPr/>
          </p:nvSpPr>
          <p:spPr>
            <a:xfrm>
              <a:off x="7940937" y="2263140"/>
              <a:ext cx="158225"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4</a:t>
              </a:r>
            </a:p>
          </p:txBody>
        </p:sp>
        <p:sp>
          <p:nvSpPr>
            <p:cNvPr id="20" name="Freeform 20"/>
            <p:cNvSpPr/>
            <p:nvPr/>
          </p:nvSpPr>
          <p:spPr>
            <a:xfrm>
              <a:off x="10099675" y="1444625"/>
              <a:ext cx="238125" cy="158750"/>
            </a:xfrm>
            <a:custGeom>
              <a:avLst/>
              <a:gdLst/>
              <a:ahLst/>
              <a:cxnLst/>
              <a:rect l="l" t="t" r="r" b="b"/>
              <a:pathLst>
                <a:path w="238125" h="158750">
                  <a:moveTo>
                    <a:pt x="0" y="79375"/>
                  </a:moveTo>
                  <a:lnTo>
                    <a:pt x="79375" y="158750"/>
                  </a:lnTo>
                  <a:lnTo>
                    <a:pt x="238125" y="0"/>
                  </a:lnTo>
                </a:path>
              </a:pathLst>
            </a:custGeom>
            <a:noFill/>
            <a:ln w="31750">
              <a:solidFill>
                <a:srgbClr val="F7FAFC"/>
              </a:solidFill>
            </a:ln>
          </p:spPr>
        </p:sp>
        <p:sp>
          <p:nvSpPr>
            <p:cNvPr id="21" name="TextBox 21"/>
            <p:cNvSpPr txBox="1"/>
            <p:nvPr/>
          </p:nvSpPr>
          <p:spPr>
            <a:xfrm>
              <a:off x="1057656" y="5501640"/>
              <a:ext cx="99294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Runtime</a:t>
              </a:r>
            </a:p>
          </p:txBody>
        </p:sp>
        <p:sp>
          <p:nvSpPr>
            <p:cNvPr id="22" name="TextBox 22"/>
            <p:cNvSpPr txBox="1"/>
            <p:nvPr/>
          </p:nvSpPr>
          <p:spPr>
            <a:xfrm>
              <a:off x="1059942" y="5816918"/>
              <a:ext cx="243703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How is one turn controlled?</a:t>
              </a:r>
            </a:p>
          </p:txBody>
        </p:sp>
        <p:sp>
          <p:nvSpPr>
            <p:cNvPr id="23" name="TextBox 23"/>
            <p:cNvSpPr txBox="1"/>
            <p:nvPr/>
          </p:nvSpPr>
          <p:spPr>
            <a:xfrm>
              <a:off x="3248406" y="4720590"/>
              <a:ext cx="158985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Extensibility</a:t>
              </a:r>
            </a:p>
          </p:txBody>
        </p:sp>
        <p:sp>
          <p:nvSpPr>
            <p:cNvPr id="24" name="TextBox 24"/>
            <p:cNvSpPr txBox="1"/>
            <p:nvPr/>
          </p:nvSpPr>
          <p:spPr>
            <a:xfrm>
              <a:off x="3250692" y="5035868"/>
              <a:ext cx="281601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How do Plugins become runtime?</a:t>
              </a:r>
            </a:p>
          </p:txBody>
        </p:sp>
        <p:sp>
          <p:nvSpPr>
            <p:cNvPr id="25" name="TextBox 25"/>
            <p:cNvSpPr txBox="1"/>
            <p:nvPr/>
          </p:nvSpPr>
          <p:spPr>
            <a:xfrm>
              <a:off x="5439156" y="3863340"/>
              <a:ext cx="1361616"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Enterprise</a:t>
              </a:r>
            </a:p>
          </p:txBody>
        </p:sp>
        <p:sp>
          <p:nvSpPr>
            <p:cNvPr id="26" name="TextBox 26"/>
            <p:cNvSpPr txBox="1"/>
            <p:nvPr/>
          </p:nvSpPr>
          <p:spPr>
            <a:xfrm>
              <a:off x="5441442" y="4178618"/>
              <a:ext cx="366379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How far are primitives from governance?</a:t>
              </a:r>
            </a:p>
          </p:txBody>
        </p:sp>
        <p:sp>
          <p:nvSpPr>
            <p:cNvPr id="27" name="TextBox 27"/>
            <p:cNvSpPr txBox="1"/>
            <p:nvPr/>
          </p:nvSpPr>
          <p:spPr>
            <a:xfrm>
              <a:off x="7629906" y="3006090"/>
              <a:ext cx="91720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Market</a:t>
              </a:r>
            </a:p>
          </p:txBody>
        </p:sp>
        <p:sp>
          <p:nvSpPr>
            <p:cNvPr id="28" name="TextBox 28"/>
            <p:cNvSpPr txBox="1"/>
            <p:nvPr/>
          </p:nvSpPr>
          <p:spPr>
            <a:xfrm>
              <a:off x="7632192" y="3321368"/>
              <a:ext cx="283677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Which layer contains each peer?</a:t>
              </a:r>
            </a:p>
          </p:txBody>
        </p:sp>
        <p:sp>
          <p:nvSpPr>
            <p:cNvPr id="29" name="TextBox 29"/>
            <p:cNvSpPr txBox="1"/>
            <p:nvPr/>
          </p:nvSpPr>
          <p:spPr>
            <a:xfrm>
              <a:off x="9669975" y="1939290"/>
              <a:ext cx="1081651"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mn-lt"/>
                  <a:ea typeface="+mn-ea"/>
                  <a:cs typeface="+mn-cs"/>
                </a:rPr>
                <a:t>Evidence</a:t>
              </a:r>
            </a:p>
          </p:txBody>
        </p:sp>
        <p:sp>
          <p:nvSpPr>
            <p:cNvPr id="30" name="TextBox 30"/>
            <p:cNvSpPr txBox="1"/>
            <p:nvPr/>
          </p:nvSpPr>
          <p:spPr>
            <a:xfrm>
              <a:off x="9245279" y="2273618"/>
              <a:ext cx="1931041"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evidence-led adoption</a:t>
              </a:r>
            </a:p>
          </p:txBody>
        </p:sp>
      </p:grpSp>
      <p:grpSp>
        <p:nvGrpSpPr>
          <p:cNvPr id="34" name="Group 34"/>
          <p:cNvGrpSpPr/>
          <p:nvPr/>
        </p:nvGrpSpPr>
        <p:grpSpPr>
          <a:xfrm>
            <a:off x="602742" y="6293168"/>
            <a:ext cx="10986516" cy="264033"/>
            <a:chOff x="602742" y="6293168"/>
            <a:chExt cx="10986516" cy="264033"/>
          </a:xfrm>
        </p:grpSpPr>
        <p:sp>
          <p:nvSpPr>
            <p:cNvPr id="32" name="TextBox 32"/>
            <p:cNvSpPr txBox="1"/>
            <p:nvPr/>
          </p:nvSpPr>
          <p:spPr>
            <a:xfrm>
              <a:off x="602742" y="6293168"/>
              <a:ext cx="278846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K-002 · K-005 · K-018 · K-019</a:t>
              </a:r>
            </a:p>
          </p:txBody>
        </p:sp>
        <p:sp>
          <p:nvSpPr>
            <p:cNvPr id="33" name="TextBox 33"/>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P03 / 24</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219200" y="0"/>
                </a:moveTo>
                <a:lnTo>
                  <a:pt x="1219200" y="6858000"/>
                </a:lnTo>
                <a:moveTo>
                  <a:pt x="2438400" y="0"/>
                </a:moveTo>
                <a:lnTo>
                  <a:pt x="2438400" y="6858000"/>
                </a:lnTo>
                <a:moveTo>
                  <a:pt x="3657600" y="0"/>
                </a:moveTo>
                <a:lnTo>
                  <a:pt x="3657600" y="6858000"/>
                </a:lnTo>
                <a:moveTo>
                  <a:pt x="4876800" y="0"/>
                </a:moveTo>
                <a:lnTo>
                  <a:pt x="4876800" y="6858000"/>
                </a:lnTo>
                <a:moveTo>
                  <a:pt x="6096000" y="0"/>
                </a:moveTo>
                <a:lnTo>
                  <a:pt x="6096000" y="6858000"/>
                </a:lnTo>
                <a:moveTo>
                  <a:pt x="7315200" y="0"/>
                </a:moveTo>
                <a:lnTo>
                  <a:pt x="7315200" y="6858000"/>
                </a:lnTo>
                <a:moveTo>
                  <a:pt x="8534400" y="0"/>
                </a:moveTo>
                <a:lnTo>
                  <a:pt x="8534400" y="6858000"/>
                </a:lnTo>
                <a:moveTo>
                  <a:pt x="9753600" y="0"/>
                </a:moveTo>
                <a:lnTo>
                  <a:pt x="9753600" y="6858000"/>
                </a:lnTo>
                <a:moveTo>
                  <a:pt x="10972800" y="0"/>
                </a:moveTo>
                <a:lnTo>
                  <a:pt x="109728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16000"/>
              </a:schemeClr>
            </a:solidFill>
          </a:ln>
        </p:spPr>
      </p:sp>
      <p:sp>
        <p:nvSpPr>
          <p:cNvPr id="3" name="Freeform 3"/>
          <p:cNvSpPr/>
          <p:nvPr/>
        </p:nvSpPr>
        <p:spPr>
          <a:xfrm>
            <a:off x="5734050" y="685800"/>
            <a:ext cx="9525" cy="5391150"/>
          </a:xfrm>
          <a:custGeom>
            <a:avLst/>
            <a:gdLst/>
            <a:ahLst/>
            <a:cxnLst/>
            <a:rect l="l" t="t" r="r" b="b"/>
            <a:pathLst>
              <a:path w="9525" h="5391150">
                <a:moveTo>
                  <a:pt x="0" y="0"/>
                </a:moveTo>
                <a:lnTo>
                  <a:pt x="0" y="5391150"/>
                </a:lnTo>
              </a:path>
            </a:pathLst>
          </a:custGeom>
          <a:noFill/>
          <a:ln w="14288">
            <a:solidFill>
              <a:schemeClr val="accent3"/>
            </a:solidFill>
            <a:prstDash val="dash"/>
          </a:ln>
        </p:spPr>
      </p:sp>
      <p:grpSp>
        <p:nvGrpSpPr>
          <p:cNvPr id="8" name="Group 8"/>
          <p:cNvGrpSpPr/>
          <p:nvPr/>
        </p:nvGrpSpPr>
        <p:grpSpPr>
          <a:xfrm>
            <a:off x="593598" y="902018"/>
            <a:ext cx="4246705" cy="3732466"/>
            <a:chOff x="593598" y="902018"/>
            <a:chExt cx="4246705" cy="3732466"/>
          </a:xfrm>
        </p:grpSpPr>
        <p:sp>
          <p:nvSpPr>
            <p:cNvPr id="4" name="TextBox 4"/>
            <p:cNvSpPr txBox="1"/>
            <p:nvPr/>
          </p:nvSpPr>
          <p:spPr>
            <a:xfrm>
              <a:off x="602742" y="902018"/>
              <a:ext cx="2974086" cy="264033"/>
            </a:xfrm>
            <a:prstGeom prst="rect">
              <a:avLst/>
            </a:prstGeom>
            <a:noFill/>
            <a:ln>
              <a:noFill/>
            </a:ln>
          </p:spPr>
          <p:txBody>
            <a:bodyPr wrap="none" lIns="0" tIns="0" rIns="0" bIns="0" anchor="t" anchorCtr="0">
              <a:spAutoFit/>
            </a:bodyPr>
            <a:lstStyle/>
            <a:p>
              <a:pPr algn="l"/>
              <a:r>
                <a:rPr lang="en-US" sz="1350" spc="150" dirty="0">
                  <a:solidFill>
                    <a:schemeClr val="accent2"/>
                  </a:solidFill>
                  <a:latin typeface="Cascadia Mono"/>
                  <a:ea typeface="Cascadia Mono"/>
                  <a:cs typeface="Cascadia Mono"/>
                </a:rPr>
                <a:t>CHAPTER 01 / ARCHITECTURE</a:t>
              </a:r>
            </a:p>
          </p:txBody>
        </p:sp>
        <p:sp>
          <p:nvSpPr>
            <p:cNvPr id="5" name="TextBox 5"/>
            <p:cNvSpPr txBox="1"/>
            <p:nvPr/>
          </p:nvSpPr>
          <p:spPr>
            <a:xfrm>
              <a:off x="593598" y="1450658"/>
              <a:ext cx="3623453" cy="1130427"/>
            </a:xfrm>
            <a:prstGeom prst="rect">
              <a:avLst/>
            </a:prstGeom>
            <a:noFill/>
            <a:ln>
              <a:noFill/>
            </a:ln>
          </p:spPr>
          <p:txBody>
            <a:bodyPr wrap="none" lIns="0" tIns="0" rIns="0" bIns="0" anchor="t" anchorCtr="0">
              <a:spAutoFit/>
            </a:bodyPr>
            <a:lstStyle/>
            <a:p>
              <a:pPr algn="l">
                <a:lnSpc>
                  <a:spcPts val="4050"/>
                </a:lnSpc>
              </a:pPr>
              <a:r>
                <a:rPr lang="en-US" sz="3150" b="1" dirty="0">
                  <a:solidFill>
                    <a:srgbClr val="F7FAFC"/>
                  </a:solidFill>
                  <a:latin typeface="+mj-lt"/>
                  <a:ea typeface="+mj-ea"/>
                  <a:cs typeface="+mj-cs"/>
                </a:rPr>
                <a:t>Three flows form</a:t>
              </a:r>
              <a:br/>
              <a:r>
                <a:rPr lang="en-US" sz="3150" b="1" dirty="0">
                  <a:solidFill>
                    <a:srgbClr val="F7FAFC"/>
                  </a:solidFill>
                  <a:latin typeface="+mj-lt"/>
                  <a:ea typeface="+mj-ea"/>
                  <a:cs typeface="+mj-cs"/>
                </a:rPr>
                <a:t>DeepSeek Harness</a:t>
              </a:r>
            </a:p>
          </p:txBody>
        </p:sp>
        <p:sp>
          <p:nvSpPr>
            <p:cNvPr id="6" name="TextBox 6"/>
            <p:cNvSpPr txBox="1"/>
            <p:nvPr/>
          </p:nvSpPr>
          <p:spPr>
            <a:xfrm>
              <a:off x="597408" y="2960370"/>
              <a:ext cx="4242895" cy="469392"/>
            </a:xfrm>
            <a:prstGeom prst="rect">
              <a:avLst/>
            </a:prstGeom>
            <a:noFill/>
            <a:ln>
              <a:noFill/>
            </a:ln>
          </p:spPr>
          <p:txBody>
            <a:bodyPr wrap="none" lIns="0" tIns="0" rIns="0" bIns="0" anchor="t" anchorCtr="0">
              <a:spAutoFit/>
            </a:bodyPr>
            <a:lstStyle/>
            <a:p>
              <a:pPr algn="l"/>
              <a:r>
                <a:rPr lang="en-US" sz="2400" b="1" dirty="0">
                  <a:solidFill>
                    <a:srgbClr val="B9F4F7"/>
                  </a:solidFill>
                  <a:latin typeface="+mj-lt"/>
                  <a:ea typeface="+mj-ea"/>
                  <a:cs typeface="+mj-cs"/>
                </a:rPr>
                <a:t>Read flows, not packages</a:t>
              </a:r>
            </a:p>
          </p:txBody>
        </p:sp>
        <p:sp>
          <p:nvSpPr>
            <p:cNvPr id="7" name="TextBox 7"/>
            <p:cNvSpPr txBox="1"/>
            <p:nvPr/>
          </p:nvSpPr>
          <p:spPr>
            <a:xfrm>
              <a:off x="600456" y="3558540"/>
              <a:ext cx="4018788" cy="1075944"/>
            </a:xfrm>
            <a:prstGeom prst="rect">
              <a:avLst/>
            </a:prstGeom>
            <a:noFill/>
            <a:ln>
              <a:noFill/>
            </a:ln>
          </p:spPr>
          <p:txBody>
            <a:bodyPr wrap="none" lIns="0" tIns="0" rIns="0" bIns="0" anchor="t" anchorCtr="0">
              <a:spAutoFit/>
            </a:bodyPr>
            <a:lstStyle/>
            <a:p>
              <a:pPr algn="l">
                <a:lnSpc>
                  <a:spcPts val="2850"/>
                </a:lnSpc>
              </a:pPr>
              <a:r>
                <a:rPr lang="en-US" sz="1800" dirty="0">
                  <a:solidFill>
                    <a:srgbClr val="D7E0F1"/>
                  </a:solidFill>
                  <a:latin typeface="+mn-lt"/>
                  <a:ea typeface="+mn-ea"/>
                  <a:cs typeface="+mn-cs"/>
                </a:rPr>
                <a:t>Control explains one turn.</a:t>
              </a:r>
              <a:br/>
              <a:r>
                <a:rPr lang="en-US" sz="1800" dirty="0">
                  <a:solidFill>
                    <a:srgbClr val="D7E0F1"/>
                  </a:solidFill>
                  <a:latin typeface="+mn-lt"/>
                  <a:ea typeface="+mn-ea"/>
                  <a:cs typeface="+mn-cs"/>
                </a:rPr>
                <a:t>Composition shows what is visible.</a:t>
              </a:r>
              <a:br/>
              <a:r>
                <a:rPr lang="en-US" sz="1800" dirty="0">
                  <a:solidFill>
                    <a:srgbClr val="D7E0F1"/>
                  </a:solidFill>
                  <a:latin typeface="+mn-lt"/>
                  <a:ea typeface="+mn-ea"/>
                  <a:cs typeface="+mn-cs"/>
                </a:rPr>
                <a:t>Events explain replay and recovery.</a:t>
              </a:r>
            </a:p>
          </p:txBody>
        </p:sp>
      </p:grpSp>
      <p:grpSp>
        <p:nvGrpSpPr>
          <p:cNvPr id="38" name="Group 38"/>
          <p:cNvGrpSpPr/>
          <p:nvPr/>
        </p:nvGrpSpPr>
        <p:grpSpPr>
          <a:xfrm>
            <a:off x="6248400" y="1714500"/>
            <a:ext cx="5105172" cy="3352800"/>
            <a:chOff x="6248400" y="1714500"/>
            <a:chExt cx="5105172" cy="3352800"/>
          </a:xfrm>
        </p:grpSpPr>
        <p:sp>
          <p:nvSpPr>
            <p:cNvPr id="9" name="Freeform 9"/>
            <p:cNvSpPr/>
            <p:nvPr/>
          </p:nvSpPr>
          <p:spPr>
            <a:xfrm>
              <a:off x="6534150" y="2000250"/>
              <a:ext cx="3905250" cy="1390650"/>
            </a:xfrm>
            <a:custGeom>
              <a:avLst/>
              <a:gdLst/>
              <a:ahLst/>
              <a:cxnLst/>
              <a:rect l="l" t="t" r="r" b="b"/>
              <a:pathLst>
                <a:path w="3905250" h="1390650">
                  <a:moveTo>
                    <a:pt x="0" y="0"/>
                  </a:moveTo>
                  <a:lnTo>
                    <a:pt x="2228850" y="0"/>
                  </a:lnTo>
                  <a:lnTo>
                    <a:pt x="3905250" y="1390650"/>
                  </a:lnTo>
                </a:path>
              </a:pathLst>
            </a:custGeom>
            <a:noFill/>
            <a:ln w="57150">
              <a:solidFill>
                <a:schemeClr val="accent3"/>
              </a:solidFill>
            </a:ln>
          </p:spPr>
        </p:sp>
        <p:sp>
          <p:nvSpPr>
            <p:cNvPr id="10" name="Freeform 10"/>
            <p:cNvSpPr/>
            <p:nvPr/>
          </p:nvSpPr>
          <p:spPr>
            <a:xfrm>
              <a:off x="6534150" y="3390900"/>
              <a:ext cx="3905250" cy="9525"/>
            </a:xfrm>
            <a:custGeom>
              <a:avLst/>
              <a:gdLst/>
              <a:ahLst/>
              <a:cxnLst/>
              <a:rect l="l" t="t" r="r" b="b"/>
              <a:pathLst>
                <a:path w="3905250" h="9525">
                  <a:moveTo>
                    <a:pt x="0" y="0"/>
                  </a:moveTo>
                  <a:lnTo>
                    <a:pt x="3905250" y="0"/>
                  </a:lnTo>
                </a:path>
              </a:pathLst>
            </a:custGeom>
            <a:noFill/>
            <a:ln w="57150">
              <a:solidFill>
                <a:schemeClr val="accent3"/>
              </a:solidFill>
            </a:ln>
          </p:spPr>
        </p:sp>
        <p:sp>
          <p:nvSpPr>
            <p:cNvPr id="11" name="Freeform 11"/>
            <p:cNvSpPr/>
            <p:nvPr/>
          </p:nvSpPr>
          <p:spPr>
            <a:xfrm>
              <a:off x="6534150" y="3390900"/>
              <a:ext cx="3905250" cy="1390650"/>
            </a:xfrm>
            <a:custGeom>
              <a:avLst/>
              <a:gdLst/>
              <a:ahLst/>
              <a:cxnLst/>
              <a:rect l="l" t="t" r="r" b="b"/>
              <a:pathLst>
                <a:path w="3905250" h="1390650">
                  <a:moveTo>
                    <a:pt x="0" y="1390650"/>
                  </a:moveTo>
                  <a:lnTo>
                    <a:pt x="2228850" y="1390650"/>
                  </a:lnTo>
                  <a:lnTo>
                    <a:pt x="3905250" y="0"/>
                  </a:lnTo>
                </a:path>
              </a:pathLst>
            </a:custGeom>
            <a:noFill/>
            <a:ln w="57150">
              <a:solidFill>
                <a:schemeClr val="accent3"/>
              </a:solidFill>
            </a:ln>
          </p:spPr>
        </p:sp>
        <p:sp>
          <p:nvSpPr>
            <p:cNvPr id="12" name="Ellipse 12"/>
            <p:cNvSpPr/>
            <p:nvPr/>
          </p:nvSpPr>
          <p:spPr>
            <a:xfrm>
              <a:off x="6248400" y="1714500"/>
              <a:ext cx="571500" cy="571500"/>
            </a:xfrm>
            <a:prstGeom prst="ellipse">
              <a:avLst/>
            </a:prstGeom>
            <a:solidFill>
              <a:schemeClr val="accent1"/>
            </a:solidFill>
            <a:ln w="28575">
              <a:solidFill>
                <a:schemeClr val="accent3"/>
              </a:solidFill>
            </a:ln>
          </p:spPr>
        </p:sp>
        <p:sp>
          <p:nvSpPr>
            <p:cNvPr id="13" name="Ellipse 13"/>
            <p:cNvSpPr/>
            <p:nvPr/>
          </p:nvSpPr>
          <p:spPr>
            <a:xfrm>
              <a:off x="6248400" y="3105150"/>
              <a:ext cx="571500" cy="571500"/>
            </a:xfrm>
            <a:prstGeom prst="ellipse">
              <a:avLst/>
            </a:prstGeom>
            <a:solidFill>
              <a:schemeClr val="accent1"/>
            </a:solidFill>
            <a:ln w="28575">
              <a:solidFill>
                <a:schemeClr val="accent3"/>
              </a:solidFill>
            </a:ln>
          </p:spPr>
        </p:sp>
        <p:sp>
          <p:nvSpPr>
            <p:cNvPr id="14" name="Ellipse 14"/>
            <p:cNvSpPr/>
            <p:nvPr/>
          </p:nvSpPr>
          <p:spPr>
            <a:xfrm>
              <a:off x="6248400" y="4495800"/>
              <a:ext cx="571500" cy="571500"/>
            </a:xfrm>
            <a:prstGeom prst="ellipse">
              <a:avLst/>
            </a:prstGeom>
            <a:solidFill>
              <a:schemeClr val="accent1"/>
            </a:solidFill>
            <a:ln w="28575">
              <a:solidFill>
                <a:schemeClr val="accent3"/>
              </a:solidFill>
            </a:ln>
          </p:spPr>
        </p:sp>
        <p:sp>
          <p:nvSpPr>
            <p:cNvPr id="15" name="Freeform 15"/>
            <p:cNvSpPr/>
            <p:nvPr/>
          </p:nvSpPr>
          <p:spPr>
            <a:xfrm>
              <a:off x="6405562" y="1885950"/>
              <a:ext cx="257175" cy="228600"/>
            </a:xfrm>
            <a:custGeom>
              <a:avLst/>
              <a:gdLst/>
              <a:ahLst/>
              <a:cxnLst/>
              <a:rect l="l" t="t" r="r" b="b"/>
              <a:pathLst>
                <a:path w="257175" h="228600">
                  <a:moveTo>
                    <a:pt x="0" y="114300"/>
                  </a:moveTo>
                  <a:lnTo>
                    <a:pt x="57150" y="114300"/>
                  </a:lnTo>
                  <a:lnTo>
                    <a:pt x="100012" y="228600"/>
                  </a:lnTo>
                  <a:lnTo>
                    <a:pt x="157162" y="0"/>
                  </a:lnTo>
                  <a:lnTo>
                    <a:pt x="200025" y="114300"/>
                  </a:lnTo>
                  <a:lnTo>
                    <a:pt x="257175" y="114300"/>
                  </a:lnTo>
                </a:path>
              </a:pathLst>
            </a:custGeom>
            <a:noFill/>
            <a:ln w="28575">
              <a:solidFill>
                <a:srgbClr val="F7FAFC"/>
              </a:solidFill>
            </a:ln>
          </p:spPr>
        </p:sp>
        <p:grpSp>
          <p:nvGrpSpPr>
            <p:cNvPr id="20" name="Group 20"/>
            <p:cNvGrpSpPr/>
            <p:nvPr/>
          </p:nvGrpSpPr>
          <p:grpSpPr>
            <a:xfrm>
              <a:off x="6419850" y="3276600"/>
              <a:ext cx="228600" cy="228600"/>
              <a:chOff x="6419850" y="3276600"/>
              <a:chExt cx="228600" cy="228600"/>
            </a:xfrm>
          </p:grpSpPr>
          <p:sp>
            <p:nvSpPr>
              <p:cNvPr id="16" name="Freeform 16"/>
              <p:cNvSpPr/>
              <p:nvPr/>
            </p:nvSpPr>
            <p:spPr>
              <a:xfrm>
                <a:off x="6442784" y="3305175"/>
                <a:ext cx="177091" cy="177091"/>
              </a:xfrm>
              <a:custGeom>
                <a:avLst/>
                <a:gdLst/>
                <a:ahLst/>
                <a:cxnLst/>
                <a:rect l="l" t="t" r="r" b="b"/>
                <a:pathLst>
                  <a:path w="177091" h="177091">
                    <a:moveTo>
                      <a:pt x="59719" y="0"/>
                    </a:moveTo>
                    <a:lnTo>
                      <a:pt x="177091" y="117372"/>
                    </a:lnTo>
                    <a:lnTo>
                      <a:pt x="147744" y="146718"/>
                    </a:lnTo>
                    <a:cubicBezTo>
                      <a:pt x="126920" y="168376"/>
                      <a:pt x="96018" y="177091"/>
                      <a:pt x="66947" y="169504"/>
                    </a:cubicBezTo>
                    <a:cubicBezTo>
                      <a:pt x="37876" y="161918"/>
                      <a:pt x="15173" y="139215"/>
                      <a:pt x="7586" y="110144"/>
                    </a:cubicBezTo>
                    <a:cubicBezTo>
                      <a:pt x="0" y="81072"/>
                      <a:pt x="8715" y="50171"/>
                      <a:pt x="30372" y="29347"/>
                    </a:cubicBezTo>
                    <a:lnTo>
                      <a:pt x="59719" y="0"/>
                    </a:lnTo>
                  </a:path>
                </a:pathLst>
              </a:custGeom>
              <a:noFill/>
              <a:ln w="28575">
                <a:solidFill>
                  <a:srgbClr val="F7FAFC"/>
                </a:solidFill>
              </a:ln>
            </p:spPr>
          </p:sp>
          <p:sp>
            <p:nvSpPr>
              <p:cNvPr id="17" name="Freeform 17"/>
              <p:cNvSpPr/>
              <p:nvPr/>
            </p:nvSpPr>
            <p:spPr>
              <a:xfrm>
                <a:off x="6419850" y="3455194"/>
                <a:ext cx="50006" cy="50006"/>
              </a:xfrm>
              <a:custGeom>
                <a:avLst/>
                <a:gdLst/>
                <a:ahLst/>
                <a:cxnLst/>
                <a:rect l="l" t="t" r="r" b="b"/>
                <a:pathLst>
                  <a:path w="50006" h="50006">
                    <a:moveTo>
                      <a:pt x="0" y="50006"/>
                    </a:moveTo>
                    <a:lnTo>
                      <a:pt x="50006" y="0"/>
                    </a:lnTo>
                  </a:path>
                </a:pathLst>
              </a:custGeom>
              <a:noFill/>
              <a:ln w="28575">
                <a:solidFill>
                  <a:srgbClr val="F7FAFC"/>
                </a:solidFill>
              </a:ln>
            </p:spPr>
          </p:sp>
          <p:sp>
            <p:nvSpPr>
              <p:cNvPr id="18" name="Freeform 18"/>
              <p:cNvSpPr/>
              <p:nvPr/>
            </p:nvSpPr>
            <p:spPr>
              <a:xfrm>
                <a:off x="6527006" y="3276600"/>
                <a:ext cx="50006" cy="50006"/>
              </a:xfrm>
              <a:custGeom>
                <a:avLst/>
                <a:gdLst/>
                <a:ahLst/>
                <a:cxnLst/>
                <a:rect l="l" t="t" r="r" b="b"/>
                <a:pathLst>
                  <a:path w="50006" h="50006">
                    <a:moveTo>
                      <a:pt x="50006" y="0"/>
                    </a:moveTo>
                    <a:lnTo>
                      <a:pt x="0" y="50006"/>
                    </a:lnTo>
                  </a:path>
                </a:pathLst>
              </a:custGeom>
              <a:noFill/>
              <a:ln w="28575">
                <a:solidFill>
                  <a:srgbClr val="F7FAFC"/>
                </a:solidFill>
              </a:ln>
            </p:spPr>
          </p:sp>
          <p:sp>
            <p:nvSpPr>
              <p:cNvPr id="19" name="Freeform 19"/>
              <p:cNvSpPr/>
              <p:nvPr/>
            </p:nvSpPr>
            <p:spPr>
              <a:xfrm>
                <a:off x="6598444" y="3348038"/>
                <a:ext cx="50006" cy="50006"/>
              </a:xfrm>
              <a:custGeom>
                <a:avLst/>
                <a:gdLst/>
                <a:ahLst/>
                <a:cxnLst/>
                <a:rect l="l" t="t" r="r" b="b"/>
                <a:pathLst>
                  <a:path w="50006" h="50006">
                    <a:moveTo>
                      <a:pt x="50006" y="0"/>
                    </a:moveTo>
                    <a:lnTo>
                      <a:pt x="0" y="50006"/>
                    </a:lnTo>
                  </a:path>
                </a:pathLst>
              </a:custGeom>
              <a:noFill/>
              <a:ln w="28575">
                <a:solidFill>
                  <a:srgbClr val="F7FAFC"/>
                </a:solidFill>
              </a:ln>
            </p:spPr>
          </p:sp>
        </p:grpSp>
        <p:grpSp>
          <p:nvGrpSpPr>
            <p:cNvPr id="26" name="Group 26"/>
            <p:cNvGrpSpPr/>
            <p:nvPr/>
          </p:nvGrpSpPr>
          <p:grpSpPr>
            <a:xfrm>
              <a:off x="6405562" y="4710112"/>
              <a:ext cx="257175" cy="142875"/>
              <a:chOff x="6405562" y="4710112"/>
              <a:chExt cx="257175" cy="142875"/>
            </a:xfrm>
          </p:grpSpPr>
          <p:sp>
            <p:nvSpPr>
              <p:cNvPr id="21" name="Freeform 21"/>
              <p:cNvSpPr/>
              <p:nvPr/>
            </p:nvSpPr>
            <p:spPr>
              <a:xfrm>
                <a:off x="6419850" y="4724400"/>
                <a:ext cx="228600" cy="114300"/>
              </a:xfrm>
              <a:custGeom>
                <a:avLst/>
                <a:gdLst/>
                <a:ahLst/>
                <a:cxnLst/>
                <a:rect l="l" t="t" r="r" b="b"/>
                <a:pathLst>
                  <a:path w="228600" h="114300">
                    <a:moveTo>
                      <a:pt x="0" y="114300"/>
                    </a:moveTo>
                    <a:lnTo>
                      <a:pt x="85725" y="14288"/>
                    </a:lnTo>
                    <a:lnTo>
                      <a:pt x="157162" y="85725"/>
                    </a:lnTo>
                    <a:lnTo>
                      <a:pt x="228600" y="0"/>
                    </a:lnTo>
                  </a:path>
                </a:pathLst>
              </a:custGeom>
              <a:noFill/>
              <a:ln w="28575">
                <a:solidFill>
                  <a:srgbClr val="F7FAFC"/>
                </a:solidFill>
              </a:ln>
            </p:spPr>
          </p:sp>
          <p:sp>
            <p:nvSpPr>
              <p:cNvPr id="22" name="Freeform 22"/>
              <p:cNvSpPr/>
              <p:nvPr/>
            </p:nvSpPr>
            <p:spPr>
              <a:xfrm>
                <a:off x="6562725" y="4795838"/>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28575">
                <a:solidFill>
                  <a:srgbClr val="F7FAFC"/>
                </a:solidFill>
              </a:ln>
            </p:spPr>
          </p:sp>
          <p:sp>
            <p:nvSpPr>
              <p:cNvPr id="23" name="Freeform 23"/>
              <p:cNvSpPr/>
              <p:nvPr/>
            </p:nvSpPr>
            <p:spPr>
              <a:xfrm>
                <a:off x="6491288" y="4724400"/>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28575">
                <a:solidFill>
                  <a:srgbClr val="F7FAFC"/>
                </a:solidFill>
              </a:ln>
            </p:spPr>
          </p:sp>
          <p:sp>
            <p:nvSpPr>
              <p:cNvPr id="24" name="Freeform 24"/>
              <p:cNvSpPr/>
              <p:nvPr/>
            </p:nvSpPr>
            <p:spPr>
              <a:xfrm>
                <a:off x="6405562" y="4824412"/>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28575">
                <a:solidFill>
                  <a:srgbClr val="F7FAFC"/>
                </a:solidFill>
              </a:ln>
            </p:spPr>
          </p:sp>
          <p:sp>
            <p:nvSpPr>
              <p:cNvPr id="25" name="Freeform 25"/>
              <p:cNvSpPr/>
              <p:nvPr/>
            </p:nvSpPr>
            <p:spPr>
              <a:xfrm>
                <a:off x="6634162" y="4710112"/>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28575">
                <a:solidFill>
                  <a:srgbClr val="F7FAFC"/>
                </a:solidFill>
              </a:ln>
            </p:spPr>
          </p:sp>
        </p:grpSp>
        <p:sp>
          <p:nvSpPr>
            <p:cNvPr id="27" name="TextBox 27"/>
            <p:cNvSpPr txBox="1"/>
            <p:nvPr/>
          </p:nvSpPr>
          <p:spPr>
            <a:xfrm>
              <a:off x="7058406" y="1882140"/>
              <a:ext cx="1565521"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Control flow</a:t>
              </a:r>
            </a:p>
          </p:txBody>
        </p:sp>
        <p:sp>
          <p:nvSpPr>
            <p:cNvPr id="28" name="TextBox 28"/>
            <p:cNvSpPr txBox="1"/>
            <p:nvPr/>
          </p:nvSpPr>
          <p:spPr>
            <a:xfrm>
              <a:off x="7058406" y="3272790"/>
              <a:ext cx="2112502"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Composition flow</a:t>
              </a:r>
            </a:p>
          </p:txBody>
        </p:sp>
        <p:sp>
          <p:nvSpPr>
            <p:cNvPr id="29" name="TextBox 29"/>
            <p:cNvSpPr txBox="1"/>
            <p:nvPr/>
          </p:nvSpPr>
          <p:spPr>
            <a:xfrm>
              <a:off x="7058406" y="4663440"/>
              <a:ext cx="1349654"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Event flow</a:t>
              </a:r>
            </a:p>
          </p:txBody>
        </p:sp>
        <p:sp>
          <p:nvSpPr>
            <p:cNvPr id="30" name="Ellipse 30"/>
            <p:cNvSpPr/>
            <p:nvPr/>
          </p:nvSpPr>
          <p:spPr>
            <a:xfrm>
              <a:off x="9601200" y="2552700"/>
              <a:ext cx="1676400" cy="1676400"/>
            </a:xfrm>
            <a:prstGeom prst="ellipse">
              <a:avLst/>
            </a:prstGeom>
            <a:solidFill>
              <a:schemeClr val="accent3"/>
            </a:solidFill>
            <a:ln w="38100">
              <a:solidFill>
                <a:schemeClr val="accent2"/>
              </a:solidFill>
            </a:ln>
          </p:spPr>
        </p:sp>
        <p:grpSp>
          <p:nvGrpSpPr>
            <p:cNvPr id="35" name="Group 35"/>
            <p:cNvGrpSpPr/>
            <p:nvPr/>
          </p:nvGrpSpPr>
          <p:grpSpPr>
            <a:xfrm>
              <a:off x="10261600" y="2832100"/>
              <a:ext cx="355599" cy="355599"/>
              <a:chOff x="10261600" y="2832100"/>
              <a:chExt cx="355599" cy="355599"/>
            </a:xfrm>
          </p:grpSpPr>
          <p:sp>
            <p:nvSpPr>
              <p:cNvPr id="31" name="Freeform 31"/>
              <p:cNvSpPr/>
              <p:nvPr/>
            </p:nvSpPr>
            <p:spPr>
              <a:xfrm>
                <a:off x="10297275" y="2876550"/>
                <a:ext cx="275474" cy="275474"/>
              </a:xfrm>
              <a:custGeom>
                <a:avLst/>
                <a:gdLst/>
                <a:ahLst/>
                <a:cxnLst/>
                <a:rect l="l" t="t" r="r" b="b"/>
                <a:pathLst>
                  <a:path w="275474" h="275474">
                    <a:moveTo>
                      <a:pt x="92896" y="0"/>
                    </a:moveTo>
                    <a:lnTo>
                      <a:pt x="275474" y="182578"/>
                    </a:lnTo>
                    <a:lnTo>
                      <a:pt x="229824" y="228228"/>
                    </a:lnTo>
                    <a:cubicBezTo>
                      <a:pt x="197431" y="261918"/>
                      <a:pt x="149362" y="275474"/>
                      <a:pt x="104140" y="263673"/>
                    </a:cubicBezTo>
                    <a:cubicBezTo>
                      <a:pt x="58917" y="251872"/>
                      <a:pt x="23602" y="216557"/>
                      <a:pt x="11801" y="171334"/>
                    </a:cubicBezTo>
                    <a:cubicBezTo>
                      <a:pt x="0" y="126112"/>
                      <a:pt x="13556" y="78043"/>
                      <a:pt x="47246" y="45650"/>
                    </a:cubicBezTo>
                    <a:lnTo>
                      <a:pt x="92896" y="0"/>
                    </a:lnTo>
                  </a:path>
                </a:pathLst>
              </a:custGeom>
              <a:noFill/>
              <a:ln w="44450">
                <a:solidFill>
                  <a:srgbClr val="F7FAFC"/>
                </a:solidFill>
              </a:ln>
            </p:spPr>
          </p:sp>
          <p:sp>
            <p:nvSpPr>
              <p:cNvPr id="32" name="Freeform 32"/>
              <p:cNvSpPr/>
              <p:nvPr/>
            </p:nvSpPr>
            <p:spPr>
              <a:xfrm>
                <a:off x="10261600" y="3109912"/>
                <a:ext cx="77787" cy="77787"/>
              </a:xfrm>
              <a:custGeom>
                <a:avLst/>
                <a:gdLst/>
                <a:ahLst/>
                <a:cxnLst/>
                <a:rect l="l" t="t" r="r" b="b"/>
                <a:pathLst>
                  <a:path w="77787" h="77787">
                    <a:moveTo>
                      <a:pt x="0" y="77787"/>
                    </a:moveTo>
                    <a:lnTo>
                      <a:pt x="77787" y="0"/>
                    </a:lnTo>
                  </a:path>
                </a:pathLst>
              </a:custGeom>
              <a:noFill/>
              <a:ln w="44450">
                <a:solidFill>
                  <a:srgbClr val="F7FAFC"/>
                </a:solidFill>
              </a:ln>
            </p:spPr>
          </p:sp>
          <p:sp>
            <p:nvSpPr>
              <p:cNvPr id="33" name="Freeform 33"/>
              <p:cNvSpPr/>
              <p:nvPr/>
            </p:nvSpPr>
            <p:spPr>
              <a:xfrm>
                <a:off x="10428287" y="2832100"/>
                <a:ext cx="77787" cy="77787"/>
              </a:xfrm>
              <a:custGeom>
                <a:avLst/>
                <a:gdLst/>
                <a:ahLst/>
                <a:cxnLst/>
                <a:rect l="l" t="t" r="r" b="b"/>
                <a:pathLst>
                  <a:path w="77787" h="77787">
                    <a:moveTo>
                      <a:pt x="77787" y="0"/>
                    </a:moveTo>
                    <a:lnTo>
                      <a:pt x="0" y="77787"/>
                    </a:lnTo>
                  </a:path>
                </a:pathLst>
              </a:custGeom>
              <a:noFill/>
              <a:ln w="44450">
                <a:solidFill>
                  <a:srgbClr val="F7FAFC"/>
                </a:solidFill>
              </a:ln>
            </p:spPr>
          </p:sp>
          <p:sp>
            <p:nvSpPr>
              <p:cNvPr id="34" name="Freeform 34"/>
              <p:cNvSpPr/>
              <p:nvPr/>
            </p:nvSpPr>
            <p:spPr>
              <a:xfrm>
                <a:off x="10539412" y="2943225"/>
                <a:ext cx="77787" cy="77787"/>
              </a:xfrm>
              <a:custGeom>
                <a:avLst/>
                <a:gdLst/>
                <a:ahLst/>
                <a:cxnLst/>
                <a:rect l="l" t="t" r="r" b="b"/>
                <a:pathLst>
                  <a:path w="77787" h="77787">
                    <a:moveTo>
                      <a:pt x="77787" y="0"/>
                    </a:moveTo>
                    <a:lnTo>
                      <a:pt x="0" y="77787"/>
                    </a:lnTo>
                  </a:path>
                </a:pathLst>
              </a:custGeom>
              <a:noFill/>
              <a:ln w="44450">
                <a:solidFill>
                  <a:srgbClr val="F7FAFC"/>
                </a:solidFill>
              </a:ln>
            </p:spPr>
          </p:sp>
        </p:grpSp>
        <p:sp>
          <p:nvSpPr>
            <p:cNvPr id="36" name="TextBox 36"/>
            <p:cNvSpPr txBox="1"/>
            <p:nvPr/>
          </p:nvSpPr>
          <p:spPr>
            <a:xfrm>
              <a:off x="9737202" y="3379470"/>
              <a:ext cx="1404396" cy="469392"/>
            </a:xfrm>
            <a:prstGeom prst="rect">
              <a:avLst/>
            </a:prstGeom>
            <a:noFill/>
            <a:ln>
              <a:noFill/>
            </a:ln>
          </p:spPr>
          <p:txBody>
            <a:bodyPr wrap="none" lIns="0" tIns="0" rIns="0" bIns="0" anchor="t" anchorCtr="0">
              <a:spAutoFit/>
            </a:bodyPr>
            <a:lstStyle/>
            <a:p>
              <a:pPr algn="ctr"/>
              <a:r>
                <a:rPr lang="en-US" sz="2400" b="1" dirty="0">
                  <a:solidFill>
                    <a:srgbClr val="F7FAFC"/>
                  </a:solidFill>
                  <a:latin typeface="+mn-lt"/>
                  <a:ea typeface="+mn-ea"/>
                  <a:cs typeface="+mn-cs"/>
                </a:rPr>
                <a:t>HARNESS</a:t>
              </a:r>
            </a:p>
          </p:txBody>
        </p:sp>
        <p:sp>
          <p:nvSpPr>
            <p:cNvPr id="37" name="TextBox 37"/>
            <p:cNvSpPr txBox="1"/>
            <p:nvPr/>
          </p:nvSpPr>
          <p:spPr>
            <a:xfrm>
              <a:off x="9525229" y="3797618"/>
              <a:ext cx="1828343" cy="264033"/>
            </a:xfrm>
            <a:prstGeom prst="rect">
              <a:avLst/>
            </a:prstGeom>
            <a:noFill/>
            <a:ln>
              <a:noFill/>
            </a:ln>
          </p:spPr>
          <p:txBody>
            <a:bodyPr wrap="none" lIns="0" tIns="0" rIns="0" bIns="0" anchor="t" anchorCtr="0">
              <a:spAutoFit/>
            </a:bodyPr>
            <a:lstStyle/>
            <a:p>
              <a:pPr algn="ctr"/>
              <a:r>
                <a:rPr lang="en-US" sz="1350" dirty="0">
                  <a:solidFill>
                    <a:srgbClr val="B9F4F7"/>
                  </a:solidFill>
                  <a:latin typeface="Cascadia Mono"/>
                  <a:ea typeface="Cascadia Mono"/>
                  <a:cs typeface="Cascadia Mono"/>
                </a:rPr>
                <a:t>ONE CONTROL PLANE</a:t>
              </a:r>
            </a:p>
          </p:txBody>
        </p:sp>
      </p:grpSp>
      <p:grpSp>
        <p:nvGrpSpPr>
          <p:cNvPr id="41" name="Group 41"/>
          <p:cNvGrpSpPr/>
          <p:nvPr/>
        </p:nvGrpSpPr>
        <p:grpSpPr>
          <a:xfrm>
            <a:off x="602742" y="6293168"/>
            <a:ext cx="10986516" cy="264033"/>
            <a:chOff x="602742" y="6293168"/>
            <a:chExt cx="10986516" cy="264033"/>
          </a:xfrm>
        </p:grpSpPr>
        <p:sp>
          <p:nvSpPr>
            <p:cNvPr id="39" name="TextBox 39"/>
            <p:cNvSpPr txBox="1"/>
            <p:nvPr/>
          </p:nvSpPr>
          <p:spPr>
            <a:xfrm>
              <a:off x="602742" y="6293168"/>
              <a:ext cx="5217566" cy="264033"/>
            </a:xfrm>
            <a:prstGeom prst="rect">
              <a:avLst/>
            </a:prstGeom>
            <a:noFill/>
            <a:ln>
              <a:noFill/>
            </a:ln>
          </p:spPr>
          <p:txBody>
            <a:bodyPr wrap="none" lIns="0" tIns="0" rIns="0" bIns="0" anchor="t" anchorCtr="0">
              <a:spAutoFit/>
            </a:bodyPr>
            <a:lstStyle/>
            <a:p>
              <a:pPr algn="l"/>
              <a:r>
                <a:rPr lang="en-US" sz="1350" dirty="0">
                  <a:solidFill>
                    <a:srgbClr val="A9B7D5"/>
                  </a:solidFill>
                  <a:latin typeface="Cascadia Mono"/>
                  <a:ea typeface="Cascadia Mono"/>
                  <a:cs typeface="Cascadia Mono"/>
                </a:rPr>
                <a:t>K-002 · K-003 · K-008 | CONTROL · COMPOSITION · EVENT</a:t>
              </a:r>
            </a:p>
          </p:txBody>
        </p:sp>
        <p:sp>
          <p:nvSpPr>
            <p:cNvPr id="40" name="TextBox 40"/>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2"/>
                  </a:solidFill>
                  <a:latin typeface="Cascadia Mono"/>
                  <a:ea typeface="Cascadia Mono"/>
                  <a:cs typeface="Cascadia Mono"/>
                </a:rPr>
                <a:t>P04 / 24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7000"/>
              </a:schemeClr>
            </a:solidFill>
          </a:ln>
        </p:spPr>
      </p:sp>
      <p:grpSp>
        <p:nvGrpSpPr>
          <p:cNvPr id="5" name="Group 5"/>
          <p:cNvGrpSpPr/>
          <p:nvPr/>
        </p:nvGrpSpPr>
        <p:grpSpPr>
          <a:xfrm>
            <a:off x="593598" y="482918"/>
            <a:ext cx="9597349" cy="955167"/>
            <a:chOff x="593598" y="482918"/>
            <a:chExt cx="9597349" cy="955167"/>
          </a:xfrm>
        </p:grpSpPr>
        <p:sp>
          <p:nvSpPr>
            <p:cNvPr id="3" name="TextBox 3"/>
            <p:cNvSpPr txBox="1"/>
            <p:nvPr/>
          </p:nvSpPr>
          <p:spPr>
            <a:xfrm>
              <a:off x="602742" y="482918"/>
              <a:ext cx="2677516"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CONTROL FLOW / ONE TURN</a:t>
              </a:r>
            </a:p>
          </p:txBody>
        </p:sp>
        <p:sp>
          <p:nvSpPr>
            <p:cNvPr id="4" name="TextBox 4"/>
            <p:cNvSpPr txBox="1"/>
            <p:nvPr/>
          </p:nvSpPr>
          <p:spPr>
            <a:xfrm>
              <a:off x="593598" y="822008"/>
              <a:ext cx="9597349"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A turn is a barrier-controlled feedback loop</a:t>
              </a:r>
            </a:p>
          </p:txBody>
        </p:sp>
      </p:grpSp>
      <p:grpSp>
        <p:nvGrpSpPr>
          <p:cNvPr id="43" name="Group 43"/>
          <p:cNvGrpSpPr/>
          <p:nvPr/>
        </p:nvGrpSpPr>
        <p:grpSpPr>
          <a:xfrm>
            <a:off x="486214" y="1587818"/>
            <a:ext cx="11141449" cy="4359783"/>
            <a:chOff x="486214" y="1587818"/>
            <a:chExt cx="11141449" cy="4359783"/>
          </a:xfrm>
        </p:grpSpPr>
        <p:sp>
          <p:nvSpPr>
            <p:cNvPr id="6" name="Freeform 6"/>
            <p:cNvSpPr/>
            <p:nvPr/>
          </p:nvSpPr>
          <p:spPr>
            <a:xfrm>
              <a:off x="1200150" y="2457450"/>
              <a:ext cx="6038850" cy="9525"/>
            </a:xfrm>
            <a:custGeom>
              <a:avLst/>
              <a:gdLst/>
              <a:ahLst/>
              <a:cxnLst/>
              <a:rect l="l" t="t" r="r" b="b"/>
              <a:pathLst>
                <a:path w="6038850" h="9525">
                  <a:moveTo>
                    <a:pt x="0" y="0"/>
                  </a:moveTo>
                  <a:lnTo>
                    <a:pt x="6038850" y="0"/>
                  </a:lnTo>
                </a:path>
              </a:pathLst>
            </a:custGeom>
            <a:noFill/>
            <a:ln w="38100">
              <a:solidFill>
                <a:schemeClr val="accent2"/>
              </a:solidFill>
              <a:tailEnd type="triangle" w="lg" len="lg"/>
            </a:ln>
          </p:spPr>
        </p:sp>
        <p:sp>
          <p:nvSpPr>
            <p:cNvPr id="7" name="Freeform 7"/>
            <p:cNvSpPr/>
            <p:nvPr/>
          </p:nvSpPr>
          <p:spPr>
            <a:xfrm>
              <a:off x="8305800" y="4210050"/>
              <a:ext cx="2362200" cy="1009650"/>
            </a:xfrm>
            <a:custGeom>
              <a:avLst/>
              <a:gdLst/>
              <a:ahLst/>
              <a:cxnLst/>
              <a:rect l="l" t="t" r="r" b="b"/>
              <a:pathLst>
                <a:path w="2362200" h="1009650">
                  <a:moveTo>
                    <a:pt x="2362200" y="0"/>
                  </a:moveTo>
                  <a:lnTo>
                    <a:pt x="2362200" y="1009650"/>
                  </a:lnTo>
                  <a:lnTo>
                    <a:pt x="0" y="1009650"/>
                  </a:lnTo>
                </a:path>
              </a:pathLst>
            </a:custGeom>
            <a:noFill/>
            <a:ln w="38100">
              <a:solidFill>
                <a:schemeClr val="accent2"/>
              </a:solidFill>
              <a:tailEnd type="triangle" w="lg" len="lg"/>
            </a:ln>
          </p:spPr>
        </p:sp>
        <p:sp>
          <p:nvSpPr>
            <p:cNvPr id="8" name="Freeform 8"/>
            <p:cNvSpPr/>
            <p:nvPr/>
          </p:nvSpPr>
          <p:spPr>
            <a:xfrm>
              <a:off x="1200150" y="2895600"/>
              <a:ext cx="6038850" cy="2324100"/>
            </a:xfrm>
            <a:custGeom>
              <a:avLst/>
              <a:gdLst/>
              <a:ahLst/>
              <a:cxnLst/>
              <a:rect l="l" t="t" r="r" b="b"/>
              <a:pathLst>
                <a:path w="6038850" h="2324100">
                  <a:moveTo>
                    <a:pt x="6038850" y="2324100"/>
                  </a:moveTo>
                  <a:lnTo>
                    <a:pt x="0" y="2324100"/>
                  </a:lnTo>
                  <a:lnTo>
                    <a:pt x="0" y="0"/>
                  </a:lnTo>
                </a:path>
              </a:pathLst>
            </a:custGeom>
            <a:noFill/>
            <a:ln w="28575">
              <a:solidFill>
                <a:schemeClr val="accent2"/>
              </a:solidFill>
              <a:prstDash val="dash"/>
              <a:tailEnd type="triangle" w="lg" len="lg"/>
            </a:ln>
          </p:spPr>
        </p:sp>
        <p:sp>
          <p:nvSpPr>
            <p:cNvPr id="9" name="Ellipse 9"/>
            <p:cNvSpPr/>
            <p:nvPr/>
          </p:nvSpPr>
          <p:spPr>
            <a:xfrm>
              <a:off x="914400" y="2171700"/>
              <a:ext cx="571500" cy="571500"/>
            </a:xfrm>
            <a:prstGeom prst="ellipse">
              <a:avLst/>
            </a:prstGeom>
            <a:solidFill>
              <a:schemeClr val="accent1"/>
            </a:solidFill>
            <a:ln>
              <a:noFill/>
            </a:ln>
          </p:spPr>
        </p:sp>
        <p:sp>
          <p:nvSpPr>
            <p:cNvPr id="10" name="Ellipse 10"/>
            <p:cNvSpPr/>
            <p:nvPr/>
          </p:nvSpPr>
          <p:spPr>
            <a:xfrm>
              <a:off x="2419350" y="2171700"/>
              <a:ext cx="571500" cy="571500"/>
            </a:xfrm>
            <a:prstGeom prst="ellipse">
              <a:avLst/>
            </a:prstGeom>
            <a:solidFill>
              <a:schemeClr val="accent1"/>
            </a:solidFill>
            <a:ln>
              <a:noFill/>
            </a:ln>
          </p:spPr>
        </p:sp>
        <p:sp>
          <p:nvSpPr>
            <p:cNvPr id="11" name="Ellipse 11"/>
            <p:cNvSpPr/>
            <p:nvPr/>
          </p:nvSpPr>
          <p:spPr>
            <a:xfrm>
              <a:off x="3924300" y="2171700"/>
              <a:ext cx="571500" cy="571500"/>
            </a:xfrm>
            <a:prstGeom prst="ellipse">
              <a:avLst/>
            </a:prstGeom>
            <a:solidFill>
              <a:schemeClr val="accent1"/>
            </a:solidFill>
            <a:ln>
              <a:noFill/>
            </a:ln>
          </p:spPr>
        </p:sp>
        <p:sp>
          <p:nvSpPr>
            <p:cNvPr id="12" name="Ellipse 12"/>
            <p:cNvSpPr/>
            <p:nvPr/>
          </p:nvSpPr>
          <p:spPr>
            <a:xfrm>
              <a:off x="5429250" y="2171700"/>
              <a:ext cx="571500" cy="571500"/>
            </a:xfrm>
            <a:prstGeom prst="ellipse">
              <a:avLst/>
            </a:prstGeom>
            <a:solidFill>
              <a:schemeClr val="accent1"/>
            </a:solidFill>
            <a:ln>
              <a:noFill/>
            </a:ln>
          </p:spPr>
        </p:sp>
        <p:sp>
          <p:nvSpPr>
            <p:cNvPr id="13" name="Ellipse 13"/>
            <p:cNvSpPr/>
            <p:nvPr/>
          </p:nvSpPr>
          <p:spPr>
            <a:xfrm>
              <a:off x="6896100" y="2133600"/>
              <a:ext cx="647700" cy="647700"/>
            </a:xfrm>
            <a:prstGeom prst="ellipse">
              <a:avLst/>
            </a:prstGeom>
            <a:solidFill>
              <a:schemeClr val="accent3"/>
            </a:solidFill>
            <a:ln w="28575">
              <a:solidFill>
                <a:schemeClr val="accent2"/>
              </a:solidFill>
            </a:ln>
          </p:spPr>
        </p:sp>
        <p:sp>
          <p:nvSpPr>
            <p:cNvPr id="14" name="TextBox 14"/>
            <p:cNvSpPr txBox="1"/>
            <p:nvPr/>
          </p:nvSpPr>
          <p:spPr>
            <a:xfrm>
              <a:off x="1121037" y="2339340"/>
              <a:ext cx="158225"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1</a:t>
              </a:r>
            </a:p>
          </p:txBody>
        </p:sp>
        <p:sp>
          <p:nvSpPr>
            <p:cNvPr id="15" name="TextBox 15"/>
            <p:cNvSpPr txBox="1"/>
            <p:nvPr/>
          </p:nvSpPr>
          <p:spPr>
            <a:xfrm>
              <a:off x="2625987" y="2339340"/>
              <a:ext cx="158225"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2</a:t>
              </a:r>
            </a:p>
          </p:txBody>
        </p:sp>
        <p:sp>
          <p:nvSpPr>
            <p:cNvPr id="16" name="TextBox 16"/>
            <p:cNvSpPr txBox="1"/>
            <p:nvPr/>
          </p:nvSpPr>
          <p:spPr>
            <a:xfrm>
              <a:off x="4130937" y="2339340"/>
              <a:ext cx="158225"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3</a:t>
              </a:r>
            </a:p>
          </p:txBody>
        </p:sp>
        <p:sp>
          <p:nvSpPr>
            <p:cNvPr id="17" name="TextBox 17"/>
            <p:cNvSpPr txBox="1"/>
            <p:nvPr/>
          </p:nvSpPr>
          <p:spPr>
            <a:xfrm>
              <a:off x="5635887" y="2339340"/>
              <a:ext cx="158225"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4</a:t>
              </a:r>
            </a:p>
          </p:txBody>
        </p:sp>
        <p:sp>
          <p:nvSpPr>
            <p:cNvPr id="18" name="TextBox 18"/>
            <p:cNvSpPr txBox="1"/>
            <p:nvPr/>
          </p:nvSpPr>
          <p:spPr>
            <a:xfrm>
              <a:off x="7140837" y="2339340"/>
              <a:ext cx="158225"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5</a:t>
              </a:r>
            </a:p>
          </p:txBody>
        </p:sp>
        <p:sp>
          <p:nvSpPr>
            <p:cNvPr id="19" name="TextBox 19"/>
            <p:cNvSpPr txBox="1"/>
            <p:nvPr/>
          </p:nvSpPr>
          <p:spPr>
            <a:xfrm>
              <a:off x="486214" y="2902268"/>
              <a:ext cx="1427872"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Project context</a:t>
              </a:r>
            </a:p>
          </p:txBody>
        </p:sp>
        <p:sp>
          <p:nvSpPr>
            <p:cNvPr id="20" name="TextBox 20"/>
            <p:cNvSpPr txBox="1"/>
            <p:nvPr/>
          </p:nvSpPr>
          <p:spPr>
            <a:xfrm>
              <a:off x="2163926" y="2902268"/>
              <a:ext cx="1082348"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Policy hooks</a:t>
              </a:r>
            </a:p>
          </p:txBody>
        </p:sp>
        <p:sp>
          <p:nvSpPr>
            <p:cNvPr id="21" name="TextBox 21"/>
            <p:cNvSpPr txBox="1"/>
            <p:nvPr/>
          </p:nvSpPr>
          <p:spPr>
            <a:xfrm>
              <a:off x="3577807" y="2902268"/>
              <a:ext cx="1264487"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Model request</a:t>
              </a:r>
            </a:p>
          </p:txBody>
        </p:sp>
        <p:sp>
          <p:nvSpPr>
            <p:cNvPr id="22" name="TextBox 22"/>
            <p:cNvSpPr txBox="1"/>
            <p:nvPr/>
          </p:nvSpPr>
          <p:spPr>
            <a:xfrm>
              <a:off x="5223813" y="2902268"/>
              <a:ext cx="982374"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Tool choice</a:t>
              </a:r>
            </a:p>
          </p:txBody>
        </p:sp>
        <p:sp>
          <p:nvSpPr>
            <p:cNvPr id="23" name="TextBox 23"/>
            <p:cNvSpPr txBox="1"/>
            <p:nvPr/>
          </p:nvSpPr>
          <p:spPr>
            <a:xfrm>
              <a:off x="6565117" y="2902268"/>
              <a:ext cx="1309667" cy="264033"/>
            </a:xfrm>
            <a:prstGeom prst="rect">
              <a:avLst/>
            </a:prstGeom>
            <a:noFill/>
            <a:ln>
              <a:noFill/>
            </a:ln>
          </p:spPr>
          <p:txBody>
            <a:bodyPr wrap="none" lIns="0" tIns="0" rIns="0" bIns="0" anchor="t" anchorCtr="0">
              <a:spAutoFit/>
            </a:bodyPr>
            <a:lstStyle/>
            <a:p>
              <a:pPr algn="ctr"/>
              <a:r>
                <a:rPr lang="en-US" sz="1350" dirty="0">
                  <a:solidFill>
                    <a:schemeClr val="accent3"/>
                  </a:solidFill>
                  <a:latin typeface="Cascadia Mono"/>
                  <a:ea typeface="Cascadia Mono"/>
                  <a:cs typeface="Cascadia Mono"/>
                </a:rPr>
                <a:t>executionMode</a:t>
              </a:r>
            </a:p>
          </p:txBody>
        </p:sp>
        <p:sp>
          <p:nvSpPr>
            <p:cNvPr id="24" name="Line 24"/>
            <p:cNvSpPr/>
            <p:nvPr/>
          </p:nvSpPr>
          <p:spPr>
            <a:xfrm>
              <a:off x="7772400" y="1885950"/>
              <a:ext cx="9525" cy="2324100"/>
            </a:xfrm>
            <a:custGeom>
              <a:avLst/>
              <a:gdLst/>
              <a:ahLst/>
              <a:cxnLst/>
              <a:rect l="l" t="t" r="r" b="b"/>
              <a:pathLst>
                <a:path w="9525" h="2324100">
                  <a:moveTo>
                    <a:pt x="0" y="0"/>
                  </a:moveTo>
                  <a:lnTo>
                    <a:pt x="0" y="2324100"/>
                  </a:lnTo>
                </a:path>
              </a:pathLst>
            </a:custGeom>
            <a:noFill/>
            <a:ln w="38100">
              <a:solidFill>
                <a:schemeClr val="accent6"/>
              </a:solidFill>
            </a:ln>
          </p:spPr>
        </p:sp>
        <p:sp>
          <p:nvSpPr>
            <p:cNvPr id="25" name="TextBox 25"/>
            <p:cNvSpPr txBox="1"/>
            <p:nvPr/>
          </p:nvSpPr>
          <p:spPr>
            <a:xfrm>
              <a:off x="6898554" y="1587818"/>
              <a:ext cx="1747693" cy="264033"/>
            </a:xfrm>
            <a:prstGeom prst="rect">
              <a:avLst/>
            </a:prstGeom>
            <a:noFill/>
            <a:ln>
              <a:noFill/>
            </a:ln>
          </p:spPr>
          <p:txBody>
            <a:bodyPr wrap="none" lIns="0" tIns="0" rIns="0" bIns="0" anchor="t" anchorCtr="0">
              <a:spAutoFit/>
            </a:bodyPr>
            <a:lstStyle/>
            <a:p>
              <a:pPr algn="ctr"/>
              <a:r>
                <a:rPr lang="en-US" sz="1350" b="1" dirty="0">
                  <a:solidFill>
                    <a:schemeClr val="accent6"/>
                  </a:solidFill>
                  <a:latin typeface="Cascadia Mono"/>
                  <a:ea typeface="Cascadia Mono"/>
                  <a:cs typeface="Cascadia Mono"/>
                </a:rPr>
                <a:t>EXCLUSIVE BARRIER</a:t>
              </a:r>
            </a:p>
          </p:txBody>
        </p:sp>
        <p:sp>
          <p:nvSpPr>
            <p:cNvPr id="26" name="Rectangle 26"/>
            <p:cNvSpPr/>
            <p:nvPr/>
          </p:nvSpPr>
          <p:spPr>
            <a:xfrm>
              <a:off x="8191500" y="2019300"/>
              <a:ext cx="2266950" cy="742950"/>
            </a:xfrm>
            <a:prstGeom prst="roundRect">
              <a:avLst>
                <a:gd name="adj" fmla="val 10256"/>
              </a:avLst>
            </a:prstGeom>
            <a:solidFill>
              <a:schemeClr val="lt2"/>
            </a:solidFill>
            <a:ln w="19050">
              <a:solidFill>
                <a:schemeClr val="accent3"/>
              </a:solidFill>
            </a:ln>
          </p:spPr>
        </p:sp>
        <p:sp>
          <p:nvSpPr>
            <p:cNvPr id="27" name="Rectangle 27"/>
            <p:cNvSpPr/>
            <p:nvPr/>
          </p:nvSpPr>
          <p:spPr>
            <a:xfrm>
              <a:off x="8191500" y="3086100"/>
              <a:ext cx="2266950" cy="742950"/>
            </a:xfrm>
            <a:prstGeom prst="roundRect">
              <a:avLst>
                <a:gd name="adj" fmla="val 10256"/>
              </a:avLst>
            </a:prstGeom>
            <a:solidFill>
              <a:schemeClr val="lt2"/>
            </a:solidFill>
            <a:ln w="19050">
              <a:solidFill>
                <a:schemeClr val="accent3"/>
              </a:solidFill>
            </a:ln>
          </p:spPr>
        </p:sp>
        <p:sp>
          <p:nvSpPr>
            <p:cNvPr id="28" name="Freeform 28"/>
            <p:cNvSpPr/>
            <p:nvPr/>
          </p:nvSpPr>
          <p:spPr>
            <a:xfrm>
              <a:off x="8439217" y="2238442"/>
              <a:ext cx="300423" cy="300423"/>
            </a:xfrm>
            <a:custGeom>
              <a:avLst/>
              <a:gdLst/>
              <a:ahLst/>
              <a:cxnLst/>
              <a:rect l="l" t="t" r="r" b="b"/>
              <a:pathLst>
                <a:path w="300423" h="300423">
                  <a:moveTo>
                    <a:pt x="72959" y="120584"/>
                  </a:moveTo>
                  <a:lnTo>
                    <a:pt x="120584" y="120584"/>
                  </a:lnTo>
                  <a:lnTo>
                    <a:pt x="120584" y="72959"/>
                  </a:lnTo>
                  <a:lnTo>
                    <a:pt x="65021" y="17396"/>
                  </a:lnTo>
                  <a:cubicBezTo>
                    <a:pt x="101446" y="0"/>
                    <a:pt x="144880" y="7452"/>
                    <a:pt x="173423" y="35995"/>
                  </a:cubicBezTo>
                  <a:cubicBezTo>
                    <a:pt x="201965" y="64537"/>
                    <a:pt x="209417" y="107972"/>
                    <a:pt x="192021" y="144396"/>
                  </a:cubicBezTo>
                  <a:lnTo>
                    <a:pt x="287272" y="239646"/>
                  </a:lnTo>
                  <a:cubicBezTo>
                    <a:pt x="300423" y="252798"/>
                    <a:pt x="300423" y="274120"/>
                    <a:pt x="287272" y="287272"/>
                  </a:cubicBezTo>
                  <a:cubicBezTo>
                    <a:pt x="274120" y="300423"/>
                    <a:pt x="252798" y="300423"/>
                    <a:pt x="239646" y="287272"/>
                  </a:cubicBezTo>
                  <a:lnTo>
                    <a:pt x="144396" y="192021"/>
                  </a:lnTo>
                  <a:cubicBezTo>
                    <a:pt x="107972" y="209417"/>
                    <a:pt x="64537" y="201965"/>
                    <a:pt x="35995" y="173423"/>
                  </a:cubicBezTo>
                  <a:cubicBezTo>
                    <a:pt x="7452" y="144880"/>
                    <a:pt x="0" y="101446"/>
                    <a:pt x="17396" y="65021"/>
                  </a:cubicBezTo>
                  <a:lnTo>
                    <a:pt x="72959" y="120584"/>
                  </a:lnTo>
                </a:path>
              </a:pathLst>
            </a:custGeom>
            <a:noFill/>
            <a:ln w="31750">
              <a:solidFill>
                <a:schemeClr val="accent3"/>
              </a:solidFill>
            </a:ln>
          </p:spPr>
        </p:sp>
        <p:sp>
          <p:nvSpPr>
            <p:cNvPr id="29" name="Freeform 29"/>
            <p:cNvSpPr/>
            <p:nvPr/>
          </p:nvSpPr>
          <p:spPr>
            <a:xfrm>
              <a:off x="8439217" y="3305242"/>
              <a:ext cx="300423" cy="300423"/>
            </a:xfrm>
            <a:custGeom>
              <a:avLst/>
              <a:gdLst/>
              <a:ahLst/>
              <a:cxnLst/>
              <a:rect l="l" t="t" r="r" b="b"/>
              <a:pathLst>
                <a:path w="300423" h="300423">
                  <a:moveTo>
                    <a:pt x="72959" y="120584"/>
                  </a:moveTo>
                  <a:lnTo>
                    <a:pt x="120584" y="120584"/>
                  </a:lnTo>
                  <a:lnTo>
                    <a:pt x="120584" y="72959"/>
                  </a:lnTo>
                  <a:lnTo>
                    <a:pt x="65021" y="17396"/>
                  </a:lnTo>
                  <a:cubicBezTo>
                    <a:pt x="101446" y="0"/>
                    <a:pt x="144880" y="7452"/>
                    <a:pt x="173423" y="35995"/>
                  </a:cubicBezTo>
                  <a:cubicBezTo>
                    <a:pt x="201965" y="64537"/>
                    <a:pt x="209417" y="107972"/>
                    <a:pt x="192021" y="144396"/>
                  </a:cubicBezTo>
                  <a:lnTo>
                    <a:pt x="287272" y="239646"/>
                  </a:lnTo>
                  <a:cubicBezTo>
                    <a:pt x="300423" y="252798"/>
                    <a:pt x="300423" y="274120"/>
                    <a:pt x="287272" y="287272"/>
                  </a:cubicBezTo>
                  <a:cubicBezTo>
                    <a:pt x="274120" y="300423"/>
                    <a:pt x="252798" y="300423"/>
                    <a:pt x="239646" y="287272"/>
                  </a:cubicBezTo>
                  <a:lnTo>
                    <a:pt x="144396" y="192021"/>
                  </a:lnTo>
                  <a:cubicBezTo>
                    <a:pt x="107972" y="209417"/>
                    <a:pt x="64537" y="201965"/>
                    <a:pt x="35995" y="173423"/>
                  </a:cubicBezTo>
                  <a:cubicBezTo>
                    <a:pt x="7452" y="144880"/>
                    <a:pt x="0" y="101446"/>
                    <a:pt x="17396" y="65021"/>
                  </a:cubicBezTo>
                  <a:lnTo>
                    <a:pt x="72959" y="120584"/>
                  </a:lnTo>
                </a:path>
              </a:pathLst>
            </a:custGeom>
            <a:noFill/>
            <a:ln w="31750">
              <a:solidFill>
                <a:schemeClr val="accent3"/>
              </a:solidFill>
            </a:ln>
          </p:spPr>
        </p:sp>
        <p:sp>
          <p:nvSpPr>
            <p:cNvPr id="30" name="TextBox 30"/>
            <p:cNvSpPr txBox="1"/>
            <p:nvPr/>
          </p:nvSpPr>
          <p:spPr>
            <a:xfrm>
              <a:off x="9001506" y="2186940"/>
              <a:ext cx="1383739"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Tool body A</a:t>
              </a:r>
            </a:p>
          </p:txBody>
        </p:sp>
        <p:sp>
          <p:nvSpPr>
            <p:cNvPr id="31" name="TextBox 31"/>
            <p:cNvSpPr txBox="1"/>
            <p:nvPr/>
          </p:nvSpPr>
          <p:spPr>
            <a:xfrm>
              <a:off x="9003792" y="2502218"/>
              <a:ext cx="212528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May overlap with body B</a:t>
              </a:r>
            </a:p>
          </p:txBody>
        </p:sp>
        <p:sp>
          <p:nvSpPr>
            <p:cNvPr id="32" name="TextBox 32"/>
            <p:cNvSpPr txBox="1"/>
            <p:nvPr/>
          </p:nvSpPr>
          <p:spPr>
            <a:xfrm>
              <a:off x="9001506" y="3253740"/>
              <a:ext cx="1383739"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Tool body B</a:t>
              </a:r>
            </a:p>
          </p:txBody>
        </p:sp>
        <p:sp>
          <p:nvSpPr>
            <p:cNvPr id="33" name="TextBox 33"/>
            <p:cNvSpPr txBox="1"/>
            <p:nvPr/>
          </p:nvSpPr>
          <p:spPr>
            <a:xfrm>
              <a:off x="8394192" y="3569018"/>
              <a:ext cx="182199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body overlap allowed</a:t>
              </a:r>
            </a:p>
          </p:txBody>
        </p:sp>
        <p:sp>
          <p:nvSpPr>
            <p:cNvPr id="34" name="Line 34"/>
            <p:cNvSpPr/>
            <p:nvPr/>
          </p:nvSpPr>
          <p:spPr>
            <a:xfrm>
              <a:off x="10458450" y="2390775"/>
              <a:ext cx="209550" cy="1066800"/>
            </a:xfrm>
            <a:custGeom>
              <a:avLst/>
              <a:gdLst/>
              <a:ahLst/>
              <a:cxnLst/>
              <a:rect l="l" t="t" r="r" b="b"/>
              <a:pathLst>
                <a:path w="209550" h="1066800">
                  <a:moveTo>
                    <a:pt x="0" y="0"/>
                  </a:moveTo>
                  <a:lnTo>
                    <a:pt x="209550" y="1066800"/>
                  </a:lnTo>
                </a:path>
              </a:pathLst>
            </a:custGeom>
            <a:noFill/>
            <a:ln w="19050">
              <a:solidFill>
                <a:schemeClr val="accent3"/>
              </a:solidFill>
            </a:ln>
          </p:spPr>
        </p:sp>
        <p:sp>
          <p:nvSpPr>
            <p:cNvPr id="35" name="Line 35"/>
            <p:cNvSpPr/>
            <p:nvPr/>
          </p:nvSpPr>
          <p:spPr>
            <a:xfrm>
              <a:off x="10458450" y="3457575"/>
              <a:ext cx="209550" cy="9525"/>
            </a:xfrm>
            <a:custGeom>
              <a:avLst/>
              <a:gdLst/>
              <a:ahLst/>
              <a:cxnLst/>
              <a:rect l="l" t="t" r="r" b="b"/>
              <a:pathLst>
                <a:path w="209550" h="9525">
                  <a:moveTo>
                    <a:pt x="0" y="0"/>
                  </a:moveTo>
                  <a:lnTo>
                    <a:pt x="209550" y="0"/>
                  </a:lnTo>
                </a:path>
              </a:pathLst>
            </a:custGeom>
            <a:noFill/>
            <a:ln w="19050">
              <a:solidFill>
                <a:schemeClr val="accent3"/>
              </a:solidFill>
            </a:ln>
          </p:spPr>
        </p:sp>
        <p:sp>
          <p:nvSpPr>
            <p:cNvPr id="36" name="Rectangle 36"/>
            <p:cNvSpPr/>
            <p:nvPr/>
          </p:nvSpPr>
          <p:spPr>
            <a:xfrm>
              <a:off x="9696450" y="3829050"/>
              <a:ext cx="1885950" cy="914400"/>
            </a:xfrm>
            <a:prstGeom prst="roundRect">
              <a:avLst>
                <a:gd name="adj" fmla="val 8333"/>
              </a:avLst>
            </a:prstGeom>
            <a:solidFill>
              <a:schemeClr val="accent1"/>
            </a:solidFill>
            <a:ln w="28575">
              <a:solidFill>
                <a:schemeClr val="accent2"/>
              </a:solidFill>
            </a:ln>
          </p:spPr>
        </p:sp>
        <p:sp>
          <p:nvSpPr>
            <p:cNvPr id="37" name="TextBox 37"/>
            <p:cNvSpPr txBox="1"/>
            <p:nvPr/>
          </p:nvSpPr>
          <p:spPr>
            <a:xfrm>
              <a:off x="9864471" y="4026218"/>
              <a:ext cx="1549908" cy="264033"/>
            </a:xfrm>
            <a:prstGeom prst="rect">
              <a:avLst/>
            </a:prstGeom>
            <a:noFill/>
            <a:ln>
              <a:noFill/>
            </a:ln>
          </p:spPr>
          <p:txBody>
            <a:bodyPr wrap="none" lIns="0" tIns="0" rIns="0" bIns="0" anchor="t" anchorCtr="0">
              <a:spAutoFit/>
            </a:bodyPr>
            <a:lstStyle/>
            <a:p>
              <a:pPr algn="ctr"/>
              <a:r>
                <a:rPr lang="en-US" sz="1350" dirty="0">
                  <a:solidFill>
                    <a:srgbClr val="B9F4F7"/>
                  </a:solidFill>
                  <a:latin typeface="Cascadia Mono"/>
                  <a:ea typeface="Cascadia Mono"/>
                  <a:cs typeface="Cascadia Mono"/>
                </a:rPr>
                <a:t>ORDERED COMMIT</a:t>
              </a:r>
            </a:p>
          </p:txBody>
        </p:sp>
        <p:sp>
          <p:nvSpPr>
            <p:cNvPr id="38" name="TextBox 38"/>
            <p:cNvSpPr txBox="1"/>
            <p:nvPr/>
          </p:nvSpPr>
          <p:spPr>
            <a:xfrm>
              <a:off x="9651187" y="4331018"/>
              <a:ext cx="1976476" cy="264033"/>
            </a:xfrm>
            <a:prstGeom prst="rect">
              <a:avLst/>
            </a:prstGeom>
            <a:noFill/>
            <a:ln>
              <a:noFill/>
            </a:ln>
          </p:spPr>
          <p:txBody>
            <a:bodyPr wrap="none" lIns="0" tIns="0" rIns="0" bIns="0" anchor="t" anchorCtr="0">
              <a:spAutoFit/>
            </a:bodyPr>
            <a:lstStyle/>
            <a:p>
              <a:pPr algn="ctr"/>
              <a:r>
                <a:rPr lang="en-US" sz="1350" dirty="0">
                  <a:solidFill>
                    <a:srgbClr val="F7FAFC"/>
                  </a:solidFill>
                  <a:latin typeface="+mn-lt"/>
                  <a:ea typeface="+mn-ea"/>
                  <a:cs typeface="+mn-cs"/>
                </a:rPr>
                <a:t>post-process → result</a:t>
              </a:r>
            </a:p>
          </p:txBody>
        </p:sp>
        <p:sp>
          <p:nvSpPr>
            <p:cNvPr id="39" name="Rectangle 39"/>
            <p:cNvSpPr/>
            <p:nvPr/>
          </p:nvSpPr>
          <p:spPr>
            <a:xfrm>
              <a:off x="5810250" y="4819650"/>
              <a:ext cx="2495550" cy="800100"/>
            </a:xfrm>
            <a:prstGeom prst="roundRect">
              <a:avLst>
                <a:gd name="adj" fmla="val 9524"/>
              </a:avLst>
            </a:prstGeom>
            <a:solidFill>
              <a:schemeClr val="lt2"/>
            </a:solidFill>
            <a:ln w="19050">
              <a:solidFill>
                <a:schemeClr val="accent3"/>
              </a:solidFill>
            </a:ln>
          </p:spPr>
        </p:sp>
        <p:sp>
          <p:nvSpPr>
            <p:cNvPr id="40" name="TextBox 40"/>
            <p:cNvSpPr txBox="1"/>
            <p:nvPr/>
          </p:nvSpPr>
          <p:spPr>
            <a:xfrm>
              <a:off x="5718222" y="4968240"/>
              <a:ext cx="2679606"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Continue · Stop · Fail</a:t>
              </a:r>
            </a:p>
          </p:txBody>
        </p:sp>
        <p:sp>
          <p:nvSpPr>
            <p:cNvPr id="41" name="TextBox 41"/>
            <p:cNvSpPr txBox="1"/>
            <p:nvPr/>
          </p:nvSpPr>
          <p:spPr>
            <a:xfrm>
              <a:off x="5570010" y="5302568"/>
              <a:ext cx="2976029"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deterministic model-visible order</a:t>
              </a:r>
            </a:p>
          </p:txBody>
        </p:sp>
        <p:sp>
          <p:nvSpPr>
            <p:cNvPr id="42" name="TextBox 42"/>
            <p:cNvSpPr txBox="1"/>
            <p:nvPr/>
          </p:nvSpPr>
          <p:spPr>
            <a:xfrm>
              <a:off x="907542" y="5683568"/>
              <a:ext cx="9176506" cy="264033"/>
            </a:xfrm>
            <a:prstGeom prst="rect">
              <a:avLst/>
            </a:prstGeom>
            <a:noFill/>
            <a:ln>
              <a:noFill/>
            </a:ln>
          </p:spPr>
          <p:txBody>
            <a:bodyPr wrap="none" lIns="0" tIns="0" rIns="0" bIns="0" anchor="t" anchorCtr="0">
              <a:spAutoFit/>
            </a:bodyPr>
            <a:lstStyle/>
            <a:p>
              <a:pPr algn="l"/>
              <a:r>
                <a:rPr lang="en-US" sz="1350" dirty="0">
                  <a:solidFill>
                    <a:srgbClr val="C2415B"/>
                  </a:solidFill>
                  <a:latin typeface="+mn-lt"/>
                  <a:ea typeface="+mn-ea"/>
                  <a:cs typeface="+mn-cs"/>
                </a:rPr>
                <a:t>Boundary: side-effect authority stays in Tool execution; ordered commit governs model-visible order.</a:t>
              </a:r>
            </a:p>
          </p:txBody>
        </p:sp>
      </p:grpSp>
      <p:grpSp>
        <p:nvGrpSpPr>
          <p:cNvPr id="46" name="Group 46"/>
          <p:cNvGrpSpPr/>
          <p:nvPr/>
        </p:nvGrpSpPr>
        <p:grpSpPr>
          <a:xfrm>
            <a:off x="602742" y="6293168"/>
            <a:ext cx="10986516" cy="264033"/>
            <a:chOff x="602742" y="6293168"/>
            <a:chExt cx="10986516" cy="264033"/>
          </a:xfrm>
        </p:grpSpPr>
        <p:sp>
          <p:nvSpPr>
            <p:cNvPr id="44" name="TextBox 44"/>
            <p:cNvSpPr txBox="1"/>
            <p:nvPr/>
          </p:nvSpPr>
          <p:spPr>
            <a:xfrm>
              <a:off x="602742" y="6293168"/>
              <a:ext cx="526557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K-002 · K-008 · K-009 | BODY OVERLAP ≠ COMMIT REORDER</a:t>
              </a:r>
            </a:p>
          </p:txBody>
        </p:sp>
        <p:sp>
          <p:nvSpPr>
            <p:cNvPr id="45" name="TextBox 45"/>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P05 / 24</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7000"/>
              </a:schemeClr>
            </a:solidFill>
          </a:ln>
        </p:spPr>
      </p:sp>
      <p:grpSp>
        <p:nvGrpSpPr>
          <p:cNvPr id="5" name="Group 5"/>
          <p:cNvGrpSpPr/>
          <p:nvPr/>
        </p:nvGrpSpPr>
        <p:grpSpPr>
          <a:xfrm>
            <a:off x="593598" y="482918"/>
            <a:ext cx="10064087" cy="955167"/>
            <a:chOff x="593598" y="482918"/>
            <a:chExt cx="10064087" cy="955167"/>
          </a:xfrm>
        </p:grpSpPr>
        <p:sp>
          <p:nvSpPr>
            <p:cNvPr id="3" name="TextBox 3"/>
            <p:cNvSpPr txBox="1"/>
            <p:nvPr/>
          </p:nvSpPr>
          <p:spPr>
            <a:xfrm>
              <a:off x="602742" y="482918"/>
              <a:ext cx="2890876"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COMPOSITION FLOW / CORDIS</a:t>
              </a:r>
            </a:p>
          </p:txBody>
        </p:sp>
        <p:sp>
          <p:nvSpPr>
            <p:cNvPr id="4" name="TextBox 4"/>
            <p:cNvSpPr txBox="1"/>
            <p:nvPr/>
          </p:nvSpPr>
          <p:spPr>
            <a:xfrm>
              <a:off x="593598" y="822008"/>
              <a:ext cx="10064087"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Five primitives turn plugins into runtime rules</a:t>
              </a:r>
            </a:p>
          </p:txBody>
        </p:sp>
      </p:grpSp>
      <p:grpSp>
        <p:nvGrpSpPr>
          <p:cNvPr id="66" name="Group 66"/>
          <p:cNvGrpSpPr/>
          <p:nvPr/>
        </p:nvGrpSpPr>
        <p:grpSpPr>
          <a:xfrm>
            <a:off x="3495408" y="1143000"/>
            <a:ext cx="5078511" cy="4614101"/>
            <a:chOff x="3495408" y="1143000"/>
            <a:chExt cx="5078511" cy="4614101"/>
          </a:xfrm>
        </p:grpSpPr>
        <p:sp>
          <p:nvSpPr>
            <p:cNvPr id="6" name="Ellipse 6"/>
            <p:cNvSpPr/>
            <p:nvPr/>
          </p:nvSpPr>
          <p:spPr>
            <a:xfrm>
              <a:off x="4343400" y="1752600"/>
              <a:ext cx="3505200" cy="3505200"/>
            </a:xfrm>
            <a:prstGeom prst="ellipse">
              <a:avLst/>
            </a:prstGeom>
            <a:noFill/>
            <a:ln w="19050">
              <a:solidFill>
                <a:schemeClr val="accent3"/>
              </a:solidFill>
              <a:prstDash val="dash"/>
            </a:ln>
          </p:spPr>
        </p:sp>
        <p:sp>
          <p:nvSpPr>
            <p:cNvPr id="7" name="Line 7"/>
            <p:cNvSpPr/>
            <p:nvPr/>
          </p:nvSpPr>
          <p:spPr>
            <a:xfrm>
              <a:off x="6096000" y="1752600"/>
              <a:ext cx="9525" cy="1752600"/>
            </a:xfrm>
            <a:custGeom>
              <a:avLst/>
              <a:gdLst/>
              <a:ahLst/>
              <a:cxnLst/>
              <a:rect l="l" t="t" r="r" b="b"/>
              <a:pathLst>
                <a:path w="9525" h="1752600">
                  <a:moveTo>
                    <a:pt x="0" y="1752600"/>
                  </a:moveTo>
                  <a:lnTo>
                    <a:pt x="0" y="0"/>
                  </a:lnTo>
                </a:path>
              </a:pathLst>
            </a:custGeom>
            <a:noFill/>
            <a:ln w="19050">
              <a:solidFill>
                <a:schemeClr val="accent3"/>
              </a:solidFill>
            </a:ln>
          </p:spPr>
        </p:sp>
        <p:sp>
          <p:nvSpPr>
            <p:cNvPr id="8" name="Line 8"/>
            <p:cNvSpPr/>
            <p:nvPr/>
          </p:nvSpPr>
          <p:spPr>
            <a:xfrm>
              <a:off x="6096000" y="2962275"/>
              <a:ext cx="1666875" cy="542925"/>
            </a:xfrm>
            <a:custGeom>
              <a:avLst/>
              <a:gdLst/>
              <a:ahLst/>
              <a:cxnLst/>
              <a:rect l="l" t="t" r="r" b="b"/>
              <a:pathLst>
                <a:path w="1666875" h="542925">
                  <a:moveTo>
                    <a:pt x="0" y="542925"/>
                  </a:moveTo>
                  <a:lnTo>
                    <a:pt x="1666875" y="0"/>
                  </a:lnTo>
                </a:path>
              </a:pathLst>
            </a:custGeom>
            <a:noFill/>
            <a:ln w="19050">
              <a:solidFill>
                <a:schemeClr val="accent3"/>
              </a:solidFill>
            </a:ln>
          </p:spPr>
        </p:sp>
        <p:sp>
          <p:nvSpPr>
            <p:cNvPr id="9" name="Line 9"/>
            <p:cNvSpPr/>
            <p:nvPr/>
          </p:nvSpPr>
          <p:spPr>
            <a:xfrm>
              <a:off x="6096000" y="3505200"/>
              <a:ext cx="1028700" cy="1428750"/>
            </a:xfrm>
            <a:custGeom>
              <a:avLst/>
              <a:gdLst/>
              <a:ahLst/>
              <a:cxnLst/>
              <a:rect l="l" t="t" r="r" b="b"/>
              <a:pathLst>
                <a:path w="1028700" h="1428750">
                  <a:moveTo>
                    <a:pt x="0" y="0"/>
                  </a:moveTo>
                  <a:lnTo>
                    <a:pt x="1028700" y="1428750"/>
                  </a:lnTo>
                </a:path>
              </a:pathLst>
            </a:custGeom>
            <a:noFill/>
            <a:ln w="19050">
              <a:solidFill>
                <a:schemeClr val="accent3"/>
              </a:solidFill>
            </a:ln>
          </p:spPr>
        </p:sp>
        <p:sp>
          <p:nvSpPr>
            <p:cNvPr id="10" name="Line 10"/>
            <p:cNvSpPr/>
            <p:nvPr/>
          </p:nvSpPr>
          <p:spPr>
            <a:xfrm>
              <a:off x="5067300" y="3505200"/>
              <a:ext cx="1028700" cy="1428750"/>
            </a:xfrm>
            <a:custGeom>
              <a:avLst/>
              <a:gdLst/>
              <a:ahLst/>
              <a:cxnLst/>
              <a:rect l="l" t="t" r="r" b="b"/>
              <a:pathLst>
                <a:path w="1028700" h="1428750">
                  <a:moveTo>
                    <a:pt x="1028700" y="0"/>
                  </a:moveTo>
                  <a:lnTo>
                    <a:pt x="0" y="1428750"/>
                  </a:lnTo>
                </a:path>
              </a:pathLst>
            </a:custGeom>
            <a:noFill/>
            <a:ln w="38100">
              <a:solidFill>
                <a:schemeClr val="accent2"/>
              </a:solidFill>
            </a:ln>
          </p:spPr>
        </p:sp>
        <p:sp>
          <p:nvSpPr>
            <p:cNvPr id="11" name="Line 11"/>
            <p:cNvSpPr/>
            <p:nvPr/>
          </p:nvSpPr>
          <p:spPr>
            <a:xfrm>
              <a:off x="4429125" y="2962275"/>
              <a:ext cx="1666875" cy="542925"/>
            </a:xfrm>
            <a:custGeom>
              <a:avLst/>
              <a:gdLst/>
              <a:ahLst/>
              <a:cxnLst/>
              <a:rect l="l" t="t" r="r" b="b"/>
              <a:pathLst>
                <a:path w="1666875" h="542925">
                  <a:moveTo>
                    <a:pt x="1666875" y="542925"/>
                  </a:moveTo>
                  <a:lnTo>
                    <a:pt x="0" y="0"/>
                  </a:lnTo>
                </a:path>
              </a:pathLst>
            </a:custGeom>
            <a:noFill/>
            <a:ln w="19050">
              <a:solidFill>
                <a:schemeClr val="accent3"/>
              </a:solidFill>
            </a:ln>
          </p:spPr>
        </p:sp>
        <p:sp>
          <p:nvSpPr>
            <p:cNvPr id="12" name="Ellipse 12"/>
            <p:cNvSpPr/>
            <p:nvPr/>
          </p:nvSpPr>
          <p:spPr>
            <a:xfrm>
              <a:off x="5219700" y="2628900"/>
              <a:ext cx="1752600" cy="1752600"/>
            </a:xfrm>
            <a:prstGeom prst="ellipse">
              <a:avLst/>
            </a:prstGeom>
            <a:solidFill>
              <a:schemeClr val="accent1"/>
            </a:solidFill>
            <a:ln w="38100">
              <a:solidFill>
                <a:schemeClr val="accent2"/>
              </a:solidFill>
            </a:ln>
          </p:spPr>
        </p:sp>
        <p:grpSp>
          <p:nvGrpSpPr>
            <p:cNvPr id="17" name="Group 17"/>
            <p:cNvGrpSpPr/>
            <p:nvPr/>
          </p:nvGrpSpPr>
          <p:grpSpPr>
            <a:xfrm>
              <a:off x="5930900" y="2978150"/>
              <a:ext cx="330200" cy="330200"/>
              <a:chOff x="5930900" y="2978150"/>
              <a:chExt cx="330200" cy="330200"/>
            </a:xfrm>
          </p:grpSpPr>
          <p:sp>
            <p:nvSpPr>
              <p:cNvPr id="13" name="Freeform 13"/>
              <p:cNvSpPr/>
              <p:nvPr/>
            </p:nvSpPr>
            <p:spPr>
              <a:xfrm>
                <a:off x="5964028" y="3019425"/>
                <a:ext cx="255798" cy="255798"/>
              </a:xfrm>
              <a:custGeom>
                <a:avLst/>
                <a:gdLst/>
                <a:ahLst/>
                <a:cxnLst/>
                <a:rect l="l" t="t" r="r" b="b"/>
                <a:pathLst>
                  <a:path w="255798" h="255798">
                    <a:moveTo>
                      <a:pt x="86261" y="0"/>
                    </a:moveTo>
                    <a:lnTo>
                      <a:pt x="255798" y="169537"/>
                    </a:lnTo>
                    <a:lnTo>
                      <a:pt x="213409" y="211927"/>
                    </a:lnTo>
                    <a:cubicBezTo>
                      <a:pt x="183329" y="243210"/>
                      <a:pt x="138693" y="255798"/>
                      <a:pt x="96701" y="244840"/>
                    </a:cubicBezTo>
                    <a:cubicBezTo>
                      <a:pt x="54709" y="233882"/>
                      <a:pt x="21916" y="201089"/>
                      <a:pt x="10958" y="159097"/>
                    </a:cubicBezTo>
                    <a:cubicBezTo>
                      <a:pt x="0" y="117105"/>
                      <a:pt x="12588" y="72469"/>
                      <a:pt x="43871" y="42389"/>
                    </a:cubicBezTo>
                    <a:lnTo>
                      <a:pt x="86261" y="0"/>
                    </a:lnTo>
                  </a:path>
                </a:pathLst>
              </a:custGeom>
              <a:noFill/>
              <a:ln w="41275">
                <a:solidFill>
                  <a:srgbClr val="F7FAFC"/>
                </a:solidFill>
              </a:ln>
            </p:spPr>
          </p:sp>
          <p:sp>
            <p:nvSpPr>
              <p:cNvPr id="14" name="Freeform 14"/>
              <p:cNvSpPr/>
              <p:nvPr/>
            </p:nvSpPr>
            <p:spPr>
              <a:xfrm>
                <a:off x="5930900" y="3236119"/>
                <a:ext cx="72231" cy="72231"/>
              </a:xfrm>
              <a:custGeom>
                <a:avLst/>
                <a:gdLst/>
                <a:ahLst/>
                <a:cxnLst/>
                <a:rect l="l" t="t" r="r" b="b"/>
                <a:pathLst>
                  <a:path w="72231" h="72231">
                    <a:moveTo>
                      <a:pt x="0" y="72231"/>
                    </a:moveTo>
                    <a:lnTo>
                      <a:pt x="72231" y="0"/>
                    </a:lnTo>
                  </a:path>
                </a:pathLst>
              </a:custGeom>
              <a:noFill/>
              <a:ln w="41275">
                <a:solidFill>
                  <a:srgbClr val="F7FAFC"/>
                </a:solidFill>
              </a:ln>
            </p:spPr>
          </p:sp>
          <p:sp>
            <p:nvSpPr>
              <p:cNvPr id="15" name="Freeform 15"/>
              <p:cNvSpPr/>
              <p:nvPr/>
            </p:nvSpPr>
            <p:spPr>
              <a:xfrm>
                <a:off x="6085682" y="2978150"/>
                <a:ext cx="72231" cy="72231"/>
              </a:xfrm>
              <a:custGeom>
                <a:avLst/>
                <a:gdLst/>
                <a:ahLst/>
                <a:cxnLst/>
                <a:rect l="l" t="t" r="r" b="b"/>
                <a:pathLst>
                  <a:path w="72231" h="72231">
                    <a:moveTo>
                      <a:pt x="72231" y="0"/>
                    </a:moveTo>
                    <a:lnTo>
                      <a:pt x="0" y="72231"/>
                    </a:lnTo>
                  </a:path>
                </a:pathLst>
              </a:custGeom>
              <a:noFill/>
              <a:ln w="41275">
                <a:solidFill>
                  <a:srgbClr val="F7FAFC"/>
                </a:solidFill>
              </a:ln>
            </p:spPr>
          </p:sp>
          <p:sp>
            <p:nvSpPr>
              <p:cNvPr id="16" name="Freeform 16"/>
              <p:cNvSpPr/>
              <p:nvPr/>
            </p:nvSpPr>
            <p:spPr>
              <a:xfrm>
                <a:off x="6188869" y="3081338"/>
                <a:ext cx="72231" cy="72231"/>
              </a:xfrm>
              <a:custGeom>
                <a:avLst/>
                <a:gdLst/>
                <a:ahLst/>
                <a:cxnLst/>
                <a:rect l="l" t="t" r="r" b="b"/>
                <a:pathLst>
                  <a:path w="72231" h="72231">
                    <a:moveTo>
                      <a:pt x="72231" y="0"/>
                    </a:moveTo>
                    <a:lnTo>
                      <a:pt x="0" y="72231"/>
                    </a:lnTo>
                  </a:path>
                </a:pathLst>
              </a:custGeom>
              <a:noFill/>
              <a:ln w="41275">
                <a:solidFill>
                  <a:srgbClr val="F7FAFC"/>
                </a:solidFill>
              </a:ln>
            </p:spPr>
          </p:sp>
        </p:grpSp>
        <p:sp>
          <p:nvSpPr>
            <p:cNvPr id="18" name="TextBox 18"/>
            <p:cNvSpPr txBox="1"/>
            <p:nvPr/>
          </p:nvSpPr>
          <p:spPr>
            <a:xfrm>
              <a:off x="4908326" y="3455670"/>
              <a:ext cx="2375349" cy="469392"/>
            </a:xfrm>
            <a:prstGeom prst="rect">
              <a:avLst/>
            </a:prstGeom>
            <a:noFill/>
            <a:ln>
              <a:noFill/>
            </a:ln>
          </p:spPr>
          <p:txBody>
            <a:bodyPr wrap="none" lIns="0" tIns="0" rIns="0" bIns="0" anchor="t" anchorCtr="0">
              <a:spAutoFit/>
            </a:bodyPr>
            <a:lstStyle/>
            <a:p>
              <a:pPr algn="ctr"/>
              <a:r>
                <a:rPr lang="en-US" sz="2400" b="1" dirty="0">
                  <a:solidFill>
                    <a:srgbClr val="F7FAFC"/>
                  </a:solidFill>
                  <a:latin typeface="+mn-lt"/>
                  <a:ea typeface="+mn-ea"/>
                  <a:cs typeface="+mn-cs"/>
                </a:rPr>
                <a:t>Plugin runtime</a:t>
              </a:r>
            </a:p>
          </p:txBody>
        </p:sp>
        <p:sp>
          <p:nvSpPr>
            <p:cNvPr id="19" name="TextBox 19"/>
            <p:cNvSpPr txBox="1"/>
            <p:nvPr/>
          </p:nvSpPr>
          <p:spPr>
            <a:xfrm>
              <a:off x="5253838" y="3873818"/>
              <a:ext cx="1684325" cy="264033"/>
            </a:xfrm>
            <a:prstGeom prst="rect">
              <a:avLst/>
            </a:prstGeom>
            <a:noFill/>
            <a:ln>
              <a:noFill/>
            </a:ln>
          </p:spPr>
          <p:txBody>
            <a:bodyPr wrap="none" lIns="0" tIns="0" rIns="0" bIns="0" anchor="t" anchorCtr="0">
              <a:spAutoFit/>
            </a:bodyPr>
            <a:lstStyle/>
            <a:p>
              <a:pPr algn="ctr"/>
              <a:r>
                <a:rPr lang="en-US" sz="1350" dirty="0">
                  <a:solidFill>
                    <a:srgbClr val="B9F4F7"/>
                  </a:solidFill>
                  <a:latin typeface="Cascadia Mono"/>
                  <a:ea typeface="Cascadia Mono"/>
                  <a:cs typeface="Cascadia Mono"/>
                </a:rPr>
                <a:t>ONE CONTEXT TREE</a:t>
              </a:r>
            </a:p>
          </p:txBody>
        </p:sp>
        <p:grpSp>
          <p:nvGrpSpPr>
            <p:cNvPr id="32" name="Group 32"/>
            <p:cNvGrpSpPr/>
            <p:nvPr/>
          </p:nvGrpSpPr>
          <p:grpSpPr>
            <a:xfrm>
              <a:off x="5198631" y="1143000"/>
              <a:ext cx="1794739" cy="1223201"/>
              <a:chOff x="5198631" y="1143000"/>
              <a:chExt cx="1794739" cy="1223201"/>
            </a:xfrm>
          </p:grpSpPr>
          <p:sp>
            <p:nvSpPr>
              <p:cNvPr id="20" name="Ellipse 20"/>
              <p:cNvSpPr/>
              <p:nvPr/>
            </p:nvSpPr>
            <p:spPr>
              <a:xfrm>
                <a:off x="5486400" y="1143000"/>
                <a:ext cx="1219200" cy="1219200"/>
              </a:xfrm>
              <a:prstGeom prst="ellipse">
                <a:avLst/>
              </a:prstGeom>
              <a:solidFill>
                <a:schemeClr val="lt2"/>
              </a:solidFill>
              <a:ln w="19050">
                <a:solidFill>
                  <a:schemeClr val="accent3"/>
                </a:solidFill>
              </a:ln>
            </p:spPr>
          </p:sp>
          <p:grpSp>
            <p:nvGrpSpPr>
              <p:cNvPr id="29" name="Group 29"/>
              <p:cNvGrpSpPr/>
              <p:nvPr/>
            </p:nvGrpSpPr>
            <p:grpSpPr>
              <a:xfrm>
                <a:off x="5953125" y="1419225"/>
                <a:ext cx="285750" cy="301626"/>
                <a:chOff x="5953125" y="1419225"/>
                <a:chExt cx="285750" cy="301626"/>
              </a:xfrm>
            </p:grpSpPr>
            <p:sp>
              <p:nvSpPr>
                <p:cNvPr id="21" name="Freeform 21"/>
                <p:cNvSpPr/>
                <p:nvPr/>
              </p:nvSpPr>
              <p:spPr>
                <a:xfrm>
                  <a:off x="6000750" y="1419225"/>
                  <a:ext cx="190500" cy="190500"/>
                </a:xfrm>
                <a:custGeom>
                  <a:avLst/>
                  <a:gdLst/>
                  <a:ahLst/>
                  <a:cxnLst/>
                  <a:rect l="l" t="t" r="r" b="b"/>
                  <a:pathLst>
                    <a:path w="190500" h="190500">
                      <a:moveTo>
                        <a:pt x="0" y="95250"/>
                      </a:moveTo>
                      <a:cubicBezTo>
                        <a:pt x="0" y="147855"/>
                        <a:pt x="42645" y="190500"/>
                        <a:pt x="95250" y="190500"/>
                      </a:cubicBezTo>
                      <a:cubicBezTo>
                        <a:pt x="147855" y="190500"/>
                        <a:pt x="190500" y="147855"/>
                        <a:pt x="190500" y="95250"/>
                      </a:cubicBezTo>
                      <a:cubicBezTo>
                        <a:pt x="190500" y="42645"/>
                        <a:pt x="147855" y="0"/>
                        <a:pt x="95250" y="0"/>
                      </a:cubicBezTo>
                      <a:cubicBezTo>
                        <a:pt x="42645" y="0"/>
                        <a:pt x="0" y="42645"/>
                        <a:pt x="0" y="95250"/>
                      </a:cubicBezTo>
                    </a:path>
                  </a:pathLst>
                </a:custGeom>
                <a:noFill/>
                <a:ln w="31750">
                  <a:solidFill>
                    <a:schemeClr val="accent3"/>
                  </a:solidFill>
                </a:ln>
              </p:spPr>
            </p:sp>
            <p:sp>
              <p:nvSpPr>
                <p:cNvPr id="22" name="Freeform 22"/>
                <p:cNvSpPr/>
                <p:nvPr/>
              </p:nvSpPr>
              <p:spPr>
                <a:xfrm>
                  <a:off x="6096000" y="1419225"/>
                  <a:ext cx="31750" cy="190500"/>
                </a:xfrm>
                <a:custGeom>
                  <a:avLst/>
                  <a:gdLst/>
                  <a:ahLst/>
                  <a:cxnLst/>
                  <a:rect l="l" t="t" r="r" b="b"/>
                  <a:pathLst>
                    <a:path w="31750" h="190500">
                      <a:moveTo>
                        <a:pt x="0" y="0"/>
                      </a:moveTo>
                      <a:cubicBezTo>
                        <a:pt x="21161" y="5286"/>
                        <a:pt x="31750" y="37036"/>
                        <a:pt x="31750" y="95250"/>
                      </a:cubicBezTo>
                      <a:cubicBezTo>
                        <a:pt x="31750" y="153464"/>
                        <a:pt x="21161" y="185214"/>
                        <a:pt x="0" y="190500"/>
                      </a:cubicBezTo>
                    </a:path>
                  </a:pathLst>
                </a:custGeom>
                <a:noFill/>
                <a:ln w="31750">
                  <a:solidFill>
                    <a:schemeClr val="accent3"/>
                  </a:solidFill>
                </a:ln>
              </p:spPr>
            </p:sp>
            <p:sp>
              <p:nvSpPr>
                <p:cNvPr id="23" name="Freeform 23"/>
                <p:cNvSpPr/>
                <p:nvPr/>
              </p:nvSpPr>
              <p:spPr>
                <a:xfrm>
                  <a:off x="6064250" y="1419225"/>
                  <a:ext cx="31750" cy="190500"/>
                </a:xfrm>
                <a:custGeom>
                  <a:avLst/>
                  <a:gdLst/>
                  <a:ahLst/>
                  <a:cxnLst/>
                  <a:rect l="l" t="t" r="r" b="b"/>
                  <a:pathLst>
                    <a:path w="31750" h="190500">
                      <a:moveTo>
                        <a:pt x="31750" y="0"/>
                      </a:moveTo>
                      <a:cubicBezTo>
                        <a:pt x="10589" y="5286"/>
                        <a:pt x="0" y="37036"/>
                        <a:pt x="0" y="95250"/>
                      </a:cubicBezTo>
                      <a:cubicBezTo>
                        <a:pt x="0" y="153464"/>
                        <a:pt x="10589" y="185214"/>
                        <a:pt x="31750" y="190500"/>
                      </a:cubicBezTo>
                    </a:path>
                  </a:pathLst>
                </a:custGeom>
                <a:noFill/>
                <a:ln w="31750">
                  <a:solidFill>
                    <a:schemeClr val="accent3"/>
                  </a:solidFill>
                </a:ln>
              </p:spPr>
            </p:sp>
            <p:sp>
              <p:nvSpPr>
                <p:cNvPr id="24" name="Freeform 24"/>
                <p:cNvSpPr/>
                <p:nvPr/>
              </p:nvSpPr>
              <p:spPr>
                <a:xfrm>
                  <a:off x="6000750" y="1514475"/>
                  <a:ext cx="190500" cy="9525"/>
                </a:xfrm>
                <a:custGeom>
                  <a:avLst/>
                  <a:gdLst/>
                  <a:ahLst/>
                  <a:cxnLst/>
                  <a:rect l="l" t="t" r="r" b="b"/>
                  <a:pathLst>
                    <a:path w="190500" h="9525">
                      <a:moveTo>
                        <a:pt x="0" y="0"/>
                      </a:moveTo>
                      <a:lnTo>
                        <a:pt x="190500" y="0"/>
                      </a:lnTo>
                    </a:path>
                  </a:pathLst>
                </a:custGeom>
                <a:noFill/>
                <a:ln w="31750">
                  <a:solidFill>
                    <a:schemeClr val="accent3"/>
                  </a:solidFill>
                </a:ln>
              </p:spPr>
            </p:sp>
            <p:sp>
              <p:nvSpPr>
                <p:cNvPr id="25" name="Freeform 25"/>
                <p:cNvSpPr/>
                <p:nvPr/>
              </p:nvSpPr>
              <p:spPr>
                <a:xfrm>
                  <a:off x="5953125" y="1689101"/>
                  <a:ext cx="111125" cy="9525"/>
                </a:xfrm>
                <a:custGeom>
                  <a:avLst/>
                  <a:gdLst/>
                  <a:ahLst/>
                  <a:cxnLst/>
                  <a:rect l="l" t="t" r="r" b="b"/>
                  <a:pathLst>
                    <a:path w="111125" h="9525">
                      <a:moveTo>
                        <a:pt x="0" y="0"/>
                      </a:moveTo>
                      <a:lnTo>
                        <a:pt x="111125" y="0"/>
                      </a:lnTo>
                    </a:path>
                  </a:pathLst>
                </a:custGeom>
                <a:noFill/>
                <a:ln w="31750">
                  <a:solidFill>
                    <a:schemeClr val="accent3"/>
                  </a:solidFill>
                </a:ln>
              </p:spPr>
            </p:sp>
            <p:sp>
              <p:nvSpPr>
                <p:cNvPr id="26" name="Freeform 26"/>
                <p:cNvSpPr/>
                <p:nvPr/>
              </p:nvSpPr>
              <p:spPr>
                <a:xfrm>
                  <a:off x="6127750" y="1689101"/>
                  <a:ext cx="111125" cy="9525"/>
                </a:xfrm>
                <a:custGeom>
                  <a:avLst/>
                  <a:gdLst/>
                  <a:ahLst/>
                  <a:cxnLst/>
                  <a:rect l="l" t="t" r="r" b="b"/>
                  <a:pathLst>
                    <a:path w="111125" h="9525">
                      <a:moveTo>
                        <a:pt x="0" y="0"/>
                      </a:moveTo>
                      <a:lnTo>
                        <a:pt x="111125" y="0"/>
                      </a:lnTo>
                    </a:path>
                  </a:pathLst>
                </a:custGeom>
                <a:noFill/>
                <a:ln w="31750">
                  <a:solidFill>
                    <a:schemeClr val="accent3"/>
                  </a:solidFill>
                </a:ln>
              </p:spPr>
            </p:sp>
            <p:sp>
              <p:nvSpPr>
                <p:cNvPr id="27" name="Freeform 27"/>
                <p:cNvSpPr/>
                <p:nvPr/>
              </p:nvSpPr>
              <p:spPr>
                <a:xfrm>
                  <a:off x="6064250" y="1657351"/>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31750">
                  <a:solidFill>
                    <a:schemeClr val="accent3"/>
                  </a:solidFill>
                </a:ln>
              </p:spPr>
            </p:sp>
            <p:sp>
              <p:nvSpPr>
                <p:cNvPr id="28" name="Freeform 28"/>
                <p:cNvSpPr/>
                <p:nvPr/>
              </p:nvSpPr>
              <p:spPr>
                <a:xfrm>
                  <a:off x="6096000" y="1609725"/>
                  <a:ext cx="9525" cy="47625"/>
                </a:xfrm>
                <a:custGeom>
                  <a:avLst/>
                  <a:gdLst/>
                  <a:ahLst/>
                  <a:cxnLst/>
                  <a:rect l="l" t="t" r="r" b="b"/>
                  <a:pathLst>
                    <a:path w="9525" h="47625">
                      <a:moveTo>
                        <a:pt x="0" y="0"/>
                      </a:moveTo>
                      <a:lnTo>
                        <a:pt x="0" y="47625"/>
                      </a:lnTo>
                    </a:path>
                  </a:pathLst>
                </a:custGeom>
                <a:noFill/>
                <a:ln w="31750">
                  <a:solidFill>
                    <a:schemeClr val="accent3"/>
                  </a:solidFill>
                </a:ln>
              </p:spPr>
            </p:sp>
          </p:grpSp>
          <p:sp>
            <p:nvSpPr>
              <p:cNvPr id="30" name="TextBox 30"/>
              <p:cNvSpPr txBox="1"/>
              <p:nvPr/>
            </p:nvSpPr>
            <p:spPr>
              <a:xfrm>
                <a:off x="5593114" y="1786890"/>
                <a:ext cx="1005771"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Context</a:t>
                </a:r>
              </a:p>
            </p:txBody>
          </p:sp>
          <p:sp>
            <p:nvSpPr>
              <p:cNvPr id="31" name="TextBox 31"/>
              <p:cNvSpPr txBox="1"/>
              <p:nvPr/>
            </p:nvSpPr>
            <p:spPr>
              <a:xfrm>
                <a:off x="5198631" y="2102168"/>
                <a:ext cx="1794739"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visibility · boundary</a:t>
                </a:r>
              </a:p>
            </p:txBody>
          </p:sp>
        </p:grpSp>
        <p:grpSp>
          <p:nvGrpSpPr>
            <p:cNvPr id="40" name="Group 40"/>
            <p:cNvGrpSpPr/>
            <p:nvPr/>
          </p:nvGrpSpPr>
          <p:grpSpPr>
            <a:xfrm>
              <a:off x="6951831" y="2352675"/>
              <a:ext cx="1622088" cy="1223200"/>
              <a:chOff x="6951831" y="2352675"/>
              <a:chExt cx="1622088" cy="1223200"/>
            </a:xfrm>
          </p:grpSpPr>
          <p:sp>
            <p:nvSpPr>
              <p:cNvPr id="33" name="Ellipse 33"/>
              <p:cNvSpPr/>
              <p:nvPr/>
            </p:nvSpPr>
            <p:spPr>
              <a:xfrm>
                <a:off x="7153275" y="2352675"/>
                <a:ext cx="1219200" cy="1219200"/>
              </a:xfrm>
              <a:prstGeom prst="ellipse">
                <a:avLst/>
              </a:prstGeom>
              <a:solidFill>
                <a:schemeClr val="lt2"/>
              </a:solidFill>
              <a:ln w="19050">
                <a:solidFill>
                  <a:schemeClr val="accent3"/>
                </a:solidFill>
              </a:ln>
            </p:spPr>
          </p:sp>
          <p:grpSp>
            <p:nvGrpSpPr>
              <p:cNvPr id="37" name="Group 37"/>
              <p:cNvGrpSpPr/>
              <p:nvPr/>
            </p:nvGrpSpPr>
            <p:grpSpPr>
              <a:xfrm>
                <a:off x="7620000" y="2644775"/>
                <a:ext cx="285751" cy="254001"/>
                <a:chOff x="7620000" y="2644775"/>
                <a:chExt cx="285751" cy="254001"/>
              </a:xfrm>
            </p:grpSpPr>
            <p:sp>
              <p:nvSpPr>
                <p:cNvPr id="34" name="Freeform 34"/>
                <p:cNvSpPr/>
                <p:nvPr/>
              </p:nvSpPr>
              <p:spPr>
                <a:xfrm>
                  <a:off x="7620000" y="2708275"/>
                  <a:ext cx="63500" cy="127000"/>
                </a:xfrm>
                <a:custGeom>
                  <a:avLst/>
                  <a:gdLst/>
                  <a:ahLst/>
                  <a:cxnLst/>
                  <a:rect l="l" t="t" r="r" b="b"/>
                  <a:pathLst>
                    <a:path w="63500" h="127000">
                      <a:moveTo>
                        <a:pt x="63500" y="0"/>
                      </a:moveTo>
                      <a:lnTo>
                        <a:pt x="0" y="63500"/>
                      </a:lnTo>
                      <a:lnTo>
                        <a:pt x="63500" y="127000"/>
                      </a:lnTo>
                    </a:path>
                  </a:pathLst>
                </a:custGeom>
                <a:noFill/>
                <a:ln w="31750">
                  <a:solidFill>
                    <a:schemeClr val="accent3"/>
                  </a:solidFill>
                </a:ln>
              </p:spPr>
            </p:sp>
            <p:sp>
              <p:nvSpPr>
                <p:cNvPr id="35" name="Freeform 35"/>
                <p:cNvSpPr/>
                <p:nvPr/>
              </p:nvSpPr>
              <p:spPr>
                <a:xfrm>
                  <a:off x="7842251" y="2708275"/>
                  <a:ext cx="63500" cy="127000"/>
                </a:xfrm>
                <a:custGeom>
                  <a:avLst/>
                  <a:gdLst/>
                  <a:ahLst/>
                  <a:cxnLst/>
                  <a:rect l="l" t="t" r="r" b="b"/>
                  <a:pathLst>
                    <a:path w="63500" h="127000">
                      <a:moveTo>
                        <a:pt x="0" y="0"/>
                      </a:moveTo>
                      <a:lnTo>
                        <a:pt x="63500" y="63500"/>
                      </a:lnTo>
                      <a:lnTo>
                        <a:pt x="0" y="127000"/>
                      </a:lnTo>
                    </a:path>
                  </a:pathLst>
                </a:custGeom>
                <a:noFill/>
                <a:ln w="31750">
                  <a:solidFill>
                    <a:schemeClr val="accent3"/>
                  </a:solidFill>
                </a:ln>
              </p:spPr>
            </p:sp>
            <p:sp>
              <p:nvSpPr>
                <p:cNvPr id="36" name="Freeform 36"/>
                <p:cNvSpPr/>
                <p:nvPr/>
              </p:nvSpPr>
              <p:spPr>
                <a:xfrm>
                  <a:off x="7731125" y="2644775"/>
                  <a:ext cx="63500" cy="254001"/>
                </a:xfrm>
                <a:custGeom>
                  <a:avLst/>
                  <a:gdLst/>
                  <a:ahLst/>
                  <a:cxnLst/>
                  <a:rect l="l" t="t" r="r" b="b"/>
                  <a:pathLst>
                    <a:path w="63500" h="254001">
                      <a:moveTo>
                        <a:pt x="63500" y="0"/>
                      </a:moveTo>
                      <a:lnTo>
                        <a:pt x="0" y="254001"/>
                      </a:lnTo>
                    </a:path>
                  </a:pathLst>
                </a:custGeom>
                <a:noFill/>
                <a:ln w="31750">
                  <a:solidFill>
                    <a:schemeClr val="accent3"/>
                  </a:solidFill>
                </a:ln>
              </p:spPr>
            </p:sp>
          </p:grpSp>
          <p:sp>
            <p:nvSpPr>
              <p:cNvPr id="38" name="TextBox 38"/>
              <p:cNvSpPr txBox="1"/>
              <p:nvPr/>
            </p:nvSpPr>
            <p:spPr>
              <a:xfrm>
                <a:off x="7292050" y="2996565"/>
                <a:ext cx="941649"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Service</a:t>
                </a:r>
              </a:p>
            </p:txBody>
          </p:sp>
          <p:sp>
            <p:nvSpPr>
              <p:cNvPr id="39" name="TextBox 39"/>
              <p:cNvSpPr txBox="1"/>
              <p:nvPr/>
            </p:nvSpPr>
            <p:spPr>
              <a:xfrm>
                <a:off x="6951831" y="3311842"/>
                <a:ext cx="1622088"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stable dependency</a:t>
                </a:r>
              </a:p>
            </p:txBody>
          </p:sp>
        </p:grpSp>
        <p:grpSp>
          <p:nvGrpSpPr>
            <p:cNvPr id="50" name="Group 50"/>
            <p:cNvGrpSpPr/>
            <p:nvPr/>
          </p:nvGrpSpPr>
          <p:grpSpPr>
            <a:xfrm>
              <a:off x="6081941" y="4324350"/>
              <a:ext cx="2085518" cy="1223201"/>
              <a:chOff x="6081941" y="4324350"/>
              <a:chExt cx="2085518" cy="1223201"/>
            </a:xfrm>
          </p:grpSpPr>
          <p:sp>
            <p:nvSpPr>
              <p:cNvPr id="41" name="Ellipse 41"/>
              <p:cNvSpPr/>
              <p:nvPr/>
            </p:nvSpPr>
            <p:spPr>
              <a:xfrm>
                <a:off x="6515100" y="4324350"/>
                <a:ext cx="1219200" cy="1219200"/>
              </a:xfrm>
              <a:prstGeom prst="ellipse">
                <a:avLst/>
              </a:prstGeom>
              <a:solidFill>
                <a:schemeClr val="lt2"/>
              </a:solidFill>
              <a:ln w="19050">
                <a:solidFill>
                  <a:schemeClr val="accent3"/>
                </a:solidFill>
              </a:ln>
            </p:spPr>
          </p:sp>
          <p:grpSp>
            <p:nvGrpSpPr>
              <p:cNvPr id="47" name="Group 47"/>
              <p:cNvGrpSpPr/>
              <p:nvPr/>
            </p:nvGrpSpPr>
            <p:grpSpPr>
              <a:xfrm>
                <a:off x="6981825" y="4664075"/>
                <a:ext cx="285751" cy="158750"/>
                <a:chOff x="6981825" y="4664075"/>
                <a:chExt cx="285751" cy="158750"/>
              </a:xfrm>
            </p:grpSpPr>
            <p:sp>
              <p:nvSpPr>
                <p:cNvPr id="42" name="Freeform 42"/>
                <p:cNvSpPr/>
                <p:nvPr/>
              </p:nvSpPr>
              <p:spPr>
                <a:xfrm>
                  <a:off x="6997700" y="4679950"/>
                  <a:ext cx="254001" cy="127000"/>
                </a:xfrm>
                <a:custGeom>
                  <a:avLst/>
                  <a:gdLst/>
                  <a:ahLst/>
                  <a:cxnLst/>
                  <a:rect l="l" t="t" r="r" b="b"/>
                  <a:pathLst>
                    <a:path w="254001" h="127000">
                      <a:moveTo>
                        <a:pt x="0" y="127000"/>
                      </a:moveTo>
                      <a:lnTo>
                        <a:pt x="95250" y="15875"/>
                      </a:lnTo>
                      <a:lnTo>
                        <a:pt x="174625" y="95250"/>
                      </a:lnTo>
                      <a:lnTo>
                        <a:pt x="254001" y="0"/>
                      </a:lnTo>
                    </a:path>
                  </a:pathLst>
                </a:custGeom>
                <a:noFill/>
                <a:ln w="31750">
                  <a:solidFill>
                    <a:schemeClr val="accent3"/>
                  </a:solidFill>
                </a:ln>
              </p:spPr>
            </p:sp>
            <p:sp>
              <p:nvSpPr>
                <p:cNvPr id="43" name="Freeform 43"/>
                <p:cNvSpPr/>
                <p:nvPr/>
              </p:nvSpPr>
              <p:spPr>
                <a:xfrm>
                  <a:off x="7156450" y="475932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31750">
                  <a:solidFill>
                    <a:schemeClr val="accent3"/>
                  </a:solidFill>
                </a:ln>
              </p:spPr>
            </p:sp>
            <p:sp>
              <p:nvSpPr>
                <p:cNvPr id="44" name="Freeform 44"/>
                <p:cNvSpPr/>
                <p:nvPr/>
              </p:nvSpPr>
              <p:spPr>
                <a:xfrm>
                  <a:off x="7077075" y="4679950"/>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31750">
                  <a:solidFill>
                    <a:schemeClr val="accent3"/>
                  </a:solidFill>
                </a:ln>
              </p:spPr>
            </p:sp>
            <p:sp>
              <p:nvSpPr>
                <p:cNvPr id="45" name="Freeform 45"/>
                <p:cNvSpPr/>
                <p:nvPr/>
              </p:nvSpPr>
              <p:spPr>
                <a:xfrm>
                  <a:off x="6981825" y="479107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31750">
                  <a:solidFill>
                    <a:schemeClr val="accent3"/>
                  </a:solidFill>
                </a:ln>
              </p:spPr>
            </p:sp>
            <p:sp>
              <p:nvSpPr>
                <p:cNvPr id="46" name="Freeform 46"/>
                <p:cNvSpPr/>
                <p:nvPr/>
              </p:nvSpPr>
              <p:spPr>
                <a:xfrm>
                  <a:off x="7235826" y="466407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31750">
                  <a:solidFill>
                    <a:schemeClr val="accent3"/>
                  </a:solidFill>
                </a:ln>
              </p:spPr>
            </p:sp>
          </p:grpSp>
          <p:sp>
            <p:nvSpPr>
              <p:cNvPr id="48" name="TextBox 48"/>
              <p:cNvSpPr txBox="1"/>
              <p:nvPr/>
            </p:nvSpPr>
            <p:spPr>
              <a:xfrm>
                <a:off x="6761752" y="4968240"/>
                <a:ext cx="725896"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Event</a:t>
                </a:r>
              </a:p>
            </p:txBody>
          </p:sp>
          <p:sp>
            <p:nvSpPr>
              <p:cNvPr id="49" name="TextBox 49"/>
              <p:cNvSpPr txBox="1"/>
              <p:nvPr/>
            </p:nvSpPr>
            <p:spPr>
              <a:xfrm>
                <a:off x="6081941" y="5283518"/>
                <a:ext cx="2085518"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collaborate · intercept</a:t>
                </a:r>
              </a:p>
            </p:txBody>
          </p:sp>
        </p:grpSp>
        <p:grpSp>
          <p:nvGrpSpPr>
            <p:cNvPr id="55" name="Group 55"/>
            <p:cNvGrpSpPr/>
            <p:nvPr/>
          </p:nvGrpSpPr>
          <p:grpSpPr>
            <a:xfrm>
              <a:off x="4201735" y="4324350"/>
              <a:ext cx="1731131" cy="1223201"/>
              <a:chOff x="4201735" y="4324350"/>
              <a:chExt cx="1731131" cy="1223201"/>
            </a:xfrm>
          </p:grpSpPr>
          <p:sp>
            <p:nvSpPr>
              <p:cNvPr id="51" name="Ellipse 51"/>
              <p:cNvSpPr/>
              <p:nvPr/>
            </p:nvSpPr>
            <p:spPr>
              <a:xfrm>
                <a:off x="4457700" y="4324350"/>
                <a:ext cx="1219200" cy="1219200"/>
              </a:xfrm>
              <a:prstGeom prst="ellipse">
                <a:avLst/>
              </a:prstGeom>
              <a:solidFill>
                <a:schemeClr val="accent3"/>
              </a:solidFill>
              <a:ln w="28575">
                <a:solidFill>
                  <a:schemeClr val="accent2"/>
                </a:solidFill>
              </a:ln>
            </p:spPr>
          </p:sp>
          <p:sp>
            <p:nvSpPr>
              <p:cNvPr id="52" name="Freeform 52"/>
              <p:cNvSpPr/>
              <p:nvPr/>
            </p:nvSpPr>
            <p:spPr>
              <a:xfrm>
                <a:off x="4914967" y="4591117"/>
                <a:ext cx="300423" cy="300423"/>
              </a:xfrm>
              <a:custGeom>
                <a:avLst/>
                <a:gdLst/>
                <a:ahLst/>
                <a:cxnLst/>
                <a:rect l="l" t="t" r="r" b="b"/>
                <a:pathLst>
                  <a:path w="300423" h="300423">
                    <a:moveTo>
                      <a:pt x="72959" y="120584"/>
                    </a:moveTo>
                    <a:lnTo>
                      <a:pt x="120584" y="120584"/>
                    </a:lnTo>
                    <a:lnTo>
                      <a:pt x="120584" y="72959"/>
                    </a:lnTo>
                    <a:lnTo>
                      <a:pt x="65021" y="17396"/>
                    </a:lnTo>
                    <a:cubicBezTo>
                      <a:pt x="101446" y="0"/>
                      <a:pt x="144880" y="7452"/>
                      <a:pt x="173423" y="35995"/>
                    </a:cubicBezTo>
                    <a:cubicBezTo>
                      <a:pt x="201965" y="64537"/>
                      <a:pt x="209417" y="107972"/>
                      <a:pt x="192021" y="144396"/>
                    </a:cubicBezTo>
                    <a:lnTo>
                      <a:pt x="287272" y="239646"/>
                    </a:lnTo>
                    <a:cubicBezTo>
                      <a:pt x="300423" y="252798"/>
                      <a:pt x="300423" y="274120"/>
                      <a:pt x="287272" y="287272"/>
                    </a:cubicBezTo>
                    <a:cubicBezTo>
                      <a:pt x="274120" y="300423"/>
                      <a:pt x="252798" y="300423"/>
                      <a:pt x="239646" y="287272"/>
                    </a:cubicBezTo>
                    <a:lnTo>
                      <a:pt x="144396" y="192021"/>
                    </a:lnTo>
                    <a:cubicBezTo>
                      <a:pt x="107972" y="209417"/>
                      <a:pt x="64537" y="201965"/>
                      <a:pt x="35995" y="173423"/>
                    </a:cubicBezTo>
                    <a:cubicBezTo>
                      <a:pt x="7452" y="144880"/>
                      <a:pt x="0" y="101446"/>
                      <a:pt x="17396" y="65021"/>
                    </a:cubicBezTo>
                    <a:lnTo>
                      <a:pt x="72959" y="120584"/>
                    </a:lnTo>
                  </a:path>
                </a:pathLst>
              </a:custGeom>
              <a:noFill/>
              <a:ln w="31750">
                <a:solidFill>
                  <a:srgbClr val="F7FAFC"/>
                </a:solidFill>
              </a:ln>
            </p:spPr>
          </p:sp>
          <p:sp>
            <p:nvSpPr>
              <p:cNvPr id="53" name="TextBox 53"/>
              <p:cNvSpPr txBox="1"/>
              <p:nvPr/>
            </p:nvSpPr>
            <p:spPr>
              <a:xfrm>
                <a:off x="4634383" y="4968240"/>
                <a:ext cx="865834"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Effect</a:t>
                </a:r>
              </a:p>
            </p:txBody>
          </p:sp>
          <p:sp>
            <p:nvSpPr>
              <p:cNvPr id="54" name="TextBox 54"/>
              <p:cNvSpPr txBox="1"/>
              <p:nvPr/>
            </p:nvSpPr>
            <p:spPr>
              <a:xfrm>
                <a:off x="4201735" y="5283518"/>
                <a:ext cx="1731131" cy="264033"/>
              </a:xfrm>
              <a:prstGeom prst="rect">
                <a:avLst/>
              </a:prstGeom>
              <a:noFill/>
              <a:ln>
                <a:noFill/>
              </a:ln>
            </p:spPr>
            <p:txBody>
              <a:bodyPr wrap="none" lIns="0" tIns="0" rIns="0" bIns="0" anchor="t" anchorCtr="0">
                <a:spAutoFit/>
              </a:bodyPr>
              <a:lstStyle/>
              <a:p>
                <a:pPr algn="ctr"/>
                <a:r>
                  <a:rPr lang="en-US" sz="1350" dirty="0">
                    <a:solidFill>
                      <a:srgbClr val="B9F4F7"/>
                    </a:solidFill>
                    <a:latin typeface="+mn-lt"/>
                    <a:ea typeface="+mn-ea"/>
                    <a:cs typeface="+mn-cs"/>
                  </a:rPr>
                  <a:t>register + disposer</a:t>
                </a:r>
              </a:p>
            </p:txBody>
          </p:sp>
        </p:grpSp>
        <p:grpSp>
          <p:nvGrpSpPr>
            <p:cNvPr id="63" name="Group 63"/>
            <p:cNvGrpSpPr/>
            <p:nvPr/>
          </p:nvGrpSpPr>
          <p:grpSpPr>
            <a:xfrm>
              <a:off x="3495408" y="2352675"/>
              <a:ext cx="1867433" cy="1223200"/>
              <a:chOff x="3495408" y="2352675"/>
              <a:chExt cx="1867433" cy="1223200"/>
            </a:xfrm>
          </p:grpSpPr>
          <p:sp>
            <p:nvSpPr>
              <p:cNvPr id="56" name="Ellipse 56"/>
              <p:cNvSpPr/>
              <p:nvPr/>
            </p:nvSpPr>
            <p:spPr>
              <a:xfrm>
                <a:off x="3819525" y="2352675"/>
                <a:ext cx="1219200" cy="1219200"/>
              </a:xfrm>
              <a:prstGeom prst="ellipse">
                <a:avLst/>
              </a:prstGeom>
              <a:solidFill>
                <a:schemeClr val="lt2"/>
              </a:solidFill>
              <a:ln w="19050">
                <a:solidFill>
                  <a:schemeClr val="accent3"/>
                </a:solidFill>
              </a:ln>
            </p:spPr>
          </p:sp>
          <p:grpSp>
            <p:nvGrpSpPr>
              <p:cNvPr id="60" name="Group 60"/>
              <p:cNvGrpSpPr/>
              <p:nvPr/>
            </p:nvGrpSpPr>
            <p:grpSpPr>
              <a:xfrm>
                <a:off x="4318000" y="2628900"/>
                <a:ext cx="222250" cy="285750"/>
                <a:chOff x="4318000" y="2628900"/>
                <a:chExt cx="222250" cy="285750"/>
              </a:xfrm>
            </p:grpSpPr>
            <p:sp>
              <p:nvSpPr>
                <p:cNvPr id="57" name="Freeform 57"/>
                <p:cNvSpPr/>
                <p:nvPr/>
              </p:nvSpPr>
              <p:spPr>
                <a:xfrm>
                  <a:off x="4318000" y="2755900"/>
                  <a:ext cx="222250" cy="158750"/>
                </a:xfrm>
                <a:custGeom>
                  <a:avLst/>
                  <a:gdLst/>
                  <a:ahLst/>
                  <a:cxnLst/>
                  <a:rect l="l" t="t" r="r" b="b"/>
                  <a:pathLst>
                    <a:path w="222250" h="158750">
                      <a:moveTo>
                        <a:pt x="0" y="31750"/>
                      </a:moveTo>
                      <a:cubicBezTo>
                        <a:pt x="0" y="14215"/>
                        <a:pt x="14215" y="0"/>
                        <a:pt x="31750" y="0"/>
                      </a:cubicBezTo>
                      <a:lnTo>
                        <a:pt x="190500" y="0"/>
                      </a:lnTo>
                      <a:cubicBezTo>
                        <a:pt x="208035" y="0"/>
                        <a:pt x="222250" y="14215"/>
                        <a:pt x="222250" y="31750"/>
                      </a:cubicBezTo>
                      <a:lnTo>
                        <a:pt x="222250" y="127000"/>
                      </a:lnTo>
                      <a:cubicBezTo>
                        <a:pt x="222250" y="144535"/>
                        <a:pt x="208035" y="158750"/>
                        <a:pt x="190500" y="158750"/>
                      </a:cubicBezTo>
                      <a:lnTo>
                        <a:pt x="31750" y="158750"/>
                      </a:lnTo>
                      <a:cubicBezTo>
                        <a:pt x="14215" y="158750"/>
                        <a:pt x="0" y="144535"/>
                        <a:pt x="0" y="127000"/>
                      </a:cubicBezTo>
                      <a:lnTo>
                        <a:pt x="0" y="31750"/>
                      </a:lnTo>
                    </a:path>
                  </a:pathLst>
                </a:custGeom>
                <a:noFill/>
                <a:ln w="31750">
                  <a:solidFill>
                    <a:schemeClr val="accent3"/>
                  </a:solidFill>
                </a:ln>
              </p:spPr>
            </p:sp>
            <p:sp>
              <p:nvSpPr>
                <p:cNvPr id="58" name="Freeform 58"/>
                <p:cNvSpPr/>
                <p:nvPr/>
              </p:nvSpPr>
              <p:spPr>
                <a:xfrm>
                  <a:off x="4413250" y="2819400"/>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31750">
                  <a:solidFill>
                    <a:schemeClr val="accent3"/>
                  </a:solidFill>
                </a:ln>
              </p:spPr>
            </p:sp>
            <p:sp>
              <p:nvSpPr>
                <p:cNvPr id="59" name="Freeform 59"/>
                <p:cNvSpPr/>
                <p:nvPr/>
              </p:nvSpPr>
              <p:spPr>
                <a:xfrm>
                  <a:off x="4365625" y="2628900"/>
                  <a:ext cx="127000" cy="127000"/>
                </a:xfrm>
                <a:custGeom>
                  <a:avLst/>
                  <a:gdLst/>
                  <a:ahLst/>
                  <a:cxnLst/>
                  <a:rect l="l" t="t" r="r" b="b"/>
                  <a:pathLst>
                    <a:path w="127000" h="127000">
                      <a:moveTo>
                        <a:pt x="0" y="127000"/>
                      </a:moveTo>
                      <a:lnTo>
                        <a:pt x="0" y="63500"/>
                      </a:lnTo>
                      <a:cubicBezTo>
                        <a:pt x="0" y="28430"/>
                        <a:pt x="28430" y="0"/>
                        <a:pt x="63500" y="0"/>
                      </a:cubicBezTo>
                      <a:cubicBezTo>
                        <a:pt x="98570" y="0"/>
                        <a:pt x="127000" y="28430"/>
                        <a:pt x="127000" y="63500"/>
                      </a:cubicBezTo>
                      <a:lnTo>
                        <a:pt x="127000" y="127000"/>
                      </a:lnTo>
                    </a:path>
                  </a:pathLst>
                </a:custGeom>
                <a:noFill/>
                <a:ln w="31750">
                  <a:solidFill>
                    <a:schemeClr val="accent3"/>
                  </a:solidFill>
                </a:ln>
              </p:spPr>
            </p:sp>
          </p:grpSp>
          <p:sp>
            <p:nvSpPr>
              <p:cNvPr id="61" name="TextBox 61"/>
              <p:cNvSpPr txBox="1"/>
              <p:nvPr/>
            </p:nvSpPr>
            <p:spPr>
              <a:xfrm>
                <a:off x="4066177" y="2996565"/>
                <a:ext cx="725896"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Scope</a:t>
                </a:r>
              </a:p>
            </p:txBody>
          </p:sp>
          <p:sp>
            <p:nvSpPr>
              <p:cNvPr id="62" name="TextBox 62"/>
              <p:cNvSpPr txBox="1"/>
              <p:nvPr/>
            </p:nvSpPr>
            <p:spPr>
              <a:xfrm>
                <a:off x="3495408" y="3311842"/>
                <a:ext cx="1867433"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activation ownership</a:t>
                </a:r>
              </a:p>
            </p:txBody>
          </p:sp>
        </p:grpSp>
        <p:sp>
          <p:nvSpPr>
            <p:cNvPr id="64" name="Line 64"/>
            <p:cNvSpPr/>
            <p:nvPr/>
          </p:nvSpPr>
          <p:spPr>
            <a:xfrm>
              <a:off x="5067300" y="5543550"/>
              <a:ext cx="2057400" cy="9525"/>
            </a:xfrm>
            <a:custGeom>
              <a:avLst/>
              <a:gdLst/>
              <a:ahLst/>
              <a:cxnLst/>
              <a:rect l="l" t="t" r="r" b="b"/>
              <a:pathLst>
                <a:path w="2057400" h="9525">
                  <a:moveTo>
                    <a:pt x="0" y="0"/>
                  </a:moveTo>
                  <a:lnTo>
                    <a:pt x="2057400" y="0"/>
                  </a:lnTo>
                </a:path>
              </a:pathLst>
            </a:custGeom>
            <a:noFill/>
            <a:ln w="28575">
              <a:solidFill>
                <a:schemeClr val="accent2"/>
              </a:solidFill>
            </a:ln>
          </p:spPr>
        </p:sp>
        <p:sp>
          <p:nvSpPr>
            <p:cNvPr id="65" name="TextBox 65"/>
            <p:cNvSpPr txBox="1"/>
            <p:nvPr/>
          </p:nvSpPr>
          <p:spPr>
            <a:xfrm>
              <a:off x="4816983" y="5493068"/>
              <a:ext cx="2558034" cy="264033"/>
            </a:xfrm>
            <a:prstGeom prst="rect">
              <a:avLst/>
            </a:prstGeom>
            <a:noFill/>
            <a:ln>
              <a:noFill/>
            </a:ln>
          </p:spPr>
          <p:txBody>
            <a:bodyPr wrap="none" lIns="0" tIns="0" rIns="0" bIns="0" anchor="t" anchorCtr="0">
              <a:spAutoFit/>
            </a:bodyPr>
            <a:lstStyle/>
            <a:p>
              <a:pPr algn="ctr"/>
              <a:r>
                <a:rPr lang="en-US" sz="1350" dirty="0">
                  <a:solidFill>
                    <a:schemeClr val="accent3"/>
                  </a:solidFill>
                  <a:latin typeface="Cascadia Mono"/>
                  <a:ea typeface="Cascadia Mono"/>
                  <a:cs typeface="Cascadia Mono"/>
                </a:rPr>
                <a:t>EFFECT ↔ SCOPE / LIFECYCLE</a:t>
              </a:r>
            </a:p>
          </p:txBody>
        </p:sp>
      </p:grpSp>
      <p:grpSp>
        <p:nvGrpSpPr>
          <p:cNvPr id="72" name="Group 72"/>
          <p:cNvGrpSpPr/>
          <p:nvPr/>
        </p:nvGrpSpPr>
        <p:grpSpPr>
          <a:xfrm>
            <a:off x="630879" y="5782746"/>
            <a:ext cx="9189122" cy="317255"/>
            <a:chOff x="630879" y="5782746"/>
            <a:chExt cx="9189122" cy="317255"/>
          </a:xfrm>
        </p:grpSpPr>
        <p:grpSp>
          <p:nvGrpSpPr>
            <p:cNvPr id="70" name="Group 70"/>
            <p:cNvGrpSpPr/>
            <p:nvPr/>
          </p:nvGrpSpPr>
          <p:grpSpPr>
            <a:xfrm>
              <a:off x="630879" y="5782746"/>
              <a:ext cx="224134" cy="192560"/>
              <a:chOff x="630879" y="5782746"/>
              <a:chExt cx="224134" cy="192560"/>
            </a:xfrm>
          </p:grpSpPr>
          <p:sp>
            <p:nvSpPr>
              <p:cNvPr id="67" name="Freeform 67"/>
              <p:cNvSpPr/>
              <p:nvPr/>
            </p:nvSpPr>
            <p:spPr>
              <a:xfrm>
                <a:off x="742950" y="5853113"/>
                <a:ext cx="9525" cy="44450"/>
              </a:xfrm>
              <a:custGeom>
                <a:avLst/>
                <a:gdLst/>
                <a:ahLst/>
                <a:cxnLst/>
                <a:rect l="l" t="t" r="r" b="b"/>
                <a:pathLst>
                  <a:path w="9525" h="44450">
                    <a:moveTo>
                      <a:pt x="0" y="0"/>
                    </a:moveTo>
                    <a:lnTo>
                      <a:pt x="0" y="44450"/>
                    </a:lnTo>
                  </a:path>
                </a:pathLst>
              </a:custGeom>
              <a:noFill/>
              <a:ln w="22225">
                <a:solidFill>
                  <a:schemeClr val="accent6"/>
                </a:solidFill>
              </a:ln>
            </p:spPr>
          </p:sp>
          <p:sp>
            <p:nvSpPr>
              <p:cNvPr id="68" name="Freeform 68"/>
              <p:cNvSpPr/>
              <p:nvPr/>
            </p:nvSpPr>
            <p:spPr>
              <a:xfrm>
                <a:off x="630879" y="578274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chemeClr val="accent6"/>
                </a:solidFill>
              </a:ln>
            </p:spPr>
          </p:sp>
          <p:sp>
            <p:nvSpPr>
              <p:cNvPr id="69" name="Freeform 69"/>
              <p:cNvSpPr/>
              <p:nvPr/>
            </p:nvSpPr>
            <p:spPr>
              <a:xfrm>
                <a:off x="742950" y="5930901"/>
                <a:ext cx="9525" cy="9525"/>
              </a:xfrm>
              <a:custGeom>
                <a:avLst/>
                <a:gdLst/>
                <a:ahLst/>
                <a:cxnLst/>
                <a:rect l="l" t="t" r="r" b="b"/>
                <a:pathLst>
                  <a:path w="9525" h="9525">
                    <a:moveTo>
                      <a:pt x="0" y="0"/>
                    </a:moveTo>
                    <a:lnTo>
                      <a:pt x="111" y="0"/>
                    </a:lnTo>
                  </a:path>
                </a:pathLst>
              </a:custGeom>
              <a:noFill/>
              <a:ln w="22225">
                <a:solidFill>
                  <a:schemeClr val="accent6"/>
                </a:solidFill>
              </a:ln>
            </p:spPr>
          </p:sp>
        </p:grpSp>
        <p:sp>
          <p:nvSpPr>
            <p:cNvPr id="71" name="TextBox 71"/>
            <p:cNvSpPr txBox="1"/>
            <p:nvPr/>
          </p:nvSpPr>
          <p:spPr>
            <a:xfrm>
              <a:off x="983742" y="5835968"/>
              <a:ext cx="8836259"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Reversible registration ≠ automatic compensation for file, network, or process side effects.</a:t>
              </a:r>
            </a:p>
          </p:txBody>
        </p:sp>
      </p:grpSp>
      <p:grpSp>
        <p:nvGrpSpPr>
          <p:cNvPr id="75" name="Group 75"/>
          <p:cNvGrpSpPr/>
          <p:nvPr/>
        </p:nvGrpSpPr>
        <p:grpSpPr>
          <a:xfrm>
            <a:off x="602742" y="6293168"/>
            <a:ext cx="10986516" cy="264033"/>
            <a:chOff x="602742" y="6293168"/>
            <a:chExt cx="10986516" cy="264033"/>
          </a:xfrm>
        </p:grpSpPr>
        <p:sp>
          <p:nvSpPr>
            <p:cNvPr id="73" name="TextBox 73"/>
            <p:cNvSpPr txBox="1"/>
            <p:nvPr/>
          </p:nvSpPr>
          <p:spPr>
            <a:xfrm>
              <a:off x="602742" y="6293168"/>
              <a:ext cx="554400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K-003 · K-004 | CONTEXT · SERVICE · EVENT · EFFECT · SCOPE</a:t>
              </a:r>
            </a:p>
          </p:txBody>
        </p:sp>
        <p:sp>
          <p:nvSpPr>
            <p:cNvPr id="74" name="TextBox 74"/>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P06 / 24</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7000"/>
              </a:schemeClr>
            </a:solidFill>
          </a:ln>
        </p:spPr>
      </p:sp>
      <p:grpSp>
        <p:nvGrpSpPr>
          <p:cNvPr id="5" name="Group 5"/>
          <p:cNvGrpSpPr/>
          <p:nvPr/>
        </p:nvGrpSpPr>
        <p:grpSpPr>
          <a:xfrm>
            <a:off x="593598" y="482918"/>
            <a:ext cx="8295877" cy="955167"/>
            <a:chOff x="593598" y="482918"/>
            <a:chExt cx="8295877" cy="955167"/>
          </a:xfrm>
        </p:grpSpPr>
        <p:sp>
          <p:nvSpPr>
            <p:cNvPr id="3" name="TextBox 3"/>
            <p:cNvSpPr txBox="1"/>
            <p:nvPr/>
          </p:nvSpPr>
          <p:spPr>
            <a:xfrm>
              <a:off x="602742" y="482918"/>
              <a:ext cx="3396539"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PLUGIN MODEL / SHARED LIFECYCLE</a:t>
              </a:r>
            </a:p>
          </p:txBody>
        </p:sp>
        <p:sp>
          <p:nvSpPr>
            <p:cNvPr id="4" name="TextBox 4"/>
            <p:cNvSpPr txBox="1"/>
            <p:nvPr/>
          </p:nvSpPr>
          <p:spPr>
            <a:xfrm>
              <a:off x="593598" y="822008"/>
              <a:ext cx="8295877"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Everything is a Plugin unifies lifecycle</a:t>
              </a:r>
            </a:p>
          </p:txBody>
        </p:sp>
      </p:grpSp>
      <p:grpSp>
        <p:nvGrpSpPr>
          <p:cNvPr id="46" name="Group 46"/>
          <p:cNvGrpSpPr/>
          <p:nvPr/>
        </p:nvGrpSpPr>
        <p:grpSpPr>
          <a:xfrm>
            <a:off x="1200150" y="1619250"/>
            <a:ext cx="7810500" cy="3943350"/>
            <a:chOff x="1200150" y="1619250"/>
            <a:chExt cx="7810500" cy="3943350"/>
          </a:xfrm>
        </p:grpSpPr>
        <p:sp>
          <p:nvSpPr>
            <p:cNvPr id="6" name="Rectangle 6"/>
            <p:cNvSpPr/>
            <p:nvPr/>
          </p:nvSpPr>
          <p:spPr>
            <a:xfrm>
              <a:off x="1200150" y="4743450"/>
              <a:ext cx="7810500" cy="819150"/>
            </a:xfrm>
            <a:prstGeom prst="rect">
              <a:avLst/>
            </a:prstGeom>
            <a:solidFill>
              <a:schemeClr val="accent1"/>
            </a:solidFill>
            <a:ln>
              <a:noFill/>
            </a:ln>
          </p:spPr>
        </p:sp>
        <p:sp>
          <p:nvSpPr>
            <p:cNvPr id="7" name="Rectangle 7"/>
            <p:cNvSpPr/>
            <p:nvPr/>
          </p:nvSpPr>
          <p:spPr>
            <a:xfrm>
              <a:off x="1504950" y="3962400"/>
              <a:ext cx="7200900" cy="781050"/>
            </a:xfrm>
            <a:prstGeom prst="rect">
              <a:avLst/>
            </a:prstGeom>
            <a:solidFill>
              <a:srgbClr val="26385E"/>
            </a:solidFill>
            <a:ln>
              <a:noFill/>
            </a:ln>
          </p:spPr>
        </p:sp>
        <p:sp>
          <p:nvSpPr>
            <p:cNvPr id="8" name="Rectangle 8"/>
            <p:cNvSpPr/>
            <p:nvPr/>
          </p:nvSpPr>
          <p:spPr>
            <a:xfrm>
              <a:off x="1809750" y="3181350"/>
              <a:ext cx="6591300" cy="781050"/>
            </a:xfrm>
            <a:prstGeom prst="rect">
              <a:avLst/>
            </a:prstGeom>
            <a:solidFill>
              <a:schemeClr val="accent3"/>
            </a:solidFill>
            <a:ln>
              <a:noFill/>
            </a:ln>
          </p:spPr>
        </p:sp>
        <p:sp>
          <p:nvSpPr>
            <p:cNvPr id="9" name="Rectangle 9"/>
            <p:cNvSpPr/>
            <p:nvPr/>
          </p:nvSpPr>
          <p:spPr>
            <a:xfrm>
              <a:off x="2114550" y="2400300"/>
              <a:ext cx="5981700" cy="781050"/>
            </a:xfrm>
            <a:prstGeom prst="rect">
              <a:avLst/>
            </a:prstGeom>
            <a:solidFill>
              <a:srgbClr val="5668B8"/>
            </a:solidFill>
            <a:ln>
              <a:noFill/>
            </a:ln>
          </p:spPr>
        </p:sp>
        <p:sp>
          <p:nvSpPr>
            <p:cNvPr id="10" name="Rectangle 10"/>
            <p:cNvSpPr/>
            <p:nvPr/>
          </p:nvSpPr>
          <p:spPr>
            <a:xfrm>
              <a:off x="2419350" y="1619250"/>
              <a:ext cx="5372100" cy="781050"/>
            </a:xfrm>
            <a:prstGeom prst="rect">
              <a:avLst/>
            </a:prstGeom>
            <a:solidFill>
              <a:schemeClr val="lt2"/>
            </a:solidFill>
            <a:ln w="19050">
              <a:solidFill>
                <a:schemeClr val="accent3"/>
              </a:solidFill>
            </a:ln>
          </p:spPr>
        </p:sp>
        <p:grpSp>
          <p:nvGrpSpPr>
            <p:cNvPr id="15" name="Group 15"/>
            <p:cNvGrpSpPr/>
            <p:nvPr/>
          </p:nvGrpSpPr>
          <p:grpSpPr>
            <a:xfrm>
              <a:off x="1497806" y="5000625"/>
              <a:ext cx="300038" cy="266700"/>
              <a:chOff x="1497806" y="5000625"/>
              <a:chExt cx="300038" cy="266700"/>
            </a:xfrm>
          </p:grpSpPr>
          <p:sp>
            <p:nvSpPr>
              <p:cNvPr id="11" name="Freeform 11"/>
              <p:cNvSpPr/>
              <p:nvPr/>
            </p:nvSpPr>
            <p:spPr>
              <a:xfrm>
                <a:off x="1497806" y="5000625"/>
                <a:ext cx="300038" cy="133350"/>
              </a:xfrm>
              <a:custGeom>
                <a:avLst/>
                <a:gdLst/>
                <a:ahLst/>
                <a:cxnLst/>
                <a:rect l="l" t="t" r="r" b="b"/>
                <a:pathLst>
                  <a:path w="300038" h="133350">
                    <a:moveTo>
                      <a:pt x="0" y="50006"/>
                    </a:moveTo>
                    <a:cubicBezTo>
                      <a:pt x="0" y="22389"/>
                      <a:pt x="22389" y="0"/>
                      <a:pt x="50006" y="0"/>
                    </a:cubicBezTo>
                    <a:lnTo>
                      <a:pt x="250031" y="0"/>
                    </a:lnTo>
                    <a:cubicBezTo>
                      <a:pt x="277649" y="0"/>
                      <a:pt x="300038" y="22389"/>
                      <a:pt x="300038" y="50006"/>
                    </a:cubicBezTo>
                    <a:lnTo>
                      <a:pt x="300038" y="83344"/>
                    </a:lnTo>
                    <a:cubicBezTo>
                      <a:pt x="300038" y="110961"/>
                      <a:pt x="277649" y="133350"/>
                      <a:pt x="250031" y="133350"/>
                    </a:cubicBezTo>
                    <a:lnTo>
                      <a:pt x="50006" y="133350"/>
                    </a:lnTo>
                    <a:cubicBezTo>
                      <a:pt x="22389" y="133350"/>
                      <a:pt x="0" y="110961"/>
                      <a:pt x="0" y="83344"/>
                    </a:cubicBezTo>
                    <a:lnTo>
                      <a:pt x="0" y="50006"/>
                    </a:lnTo>
                  </a:path>
                </a:pathLst>
              </a:custGeom>
              <a:noFill/>
              <a:ln w="33338">
                <a:solidFill>
                  <a:srgbClr val="F7FAFC"/>
                </a:solidFill>
              </a:ln>
            </p:spPr>
          </p:sp>
          <p:sp>
            <p:nvSpPr>
              <p:cNvPr id="12" name="Freeform 12"/>
              <p:cNvSpPr/>
              <p:nvPr/>
            </p:nvSpPr>
            <p:spPr>
              <a:xfrm>
                <a:off x="1497806" y="5133975"/>
                <a:ext cx="300038" cy="133350"/>
              </a:xfrm>
              <a:custGeom>
                <a:avLst/>
                <a:gdLst/>
                <a:ahLst/>
                <a:cxnLst/>
                <a:rect l="l" t="t" r="r" b="b"/>
                <a:pathLst>
                  <a:path w="300038" h="133350">
                    <a:moveTo>
                      <a:pt x="0" y="50006"/>
                    </a:moveTo>
                    <a:cubicBezTo>
                      <a:pt x="0" y="22389"/>
                      <a:pt x="22389" y="0"/>
                      <a:pt x="50006" y="0"/>
                    </a:cubicBezTo>
                    <a:lnTo>
                      <a:pt x="250031" y="0"/>
                    </a:lnTo>
                    <a:cubicBezTo>
                      <a:pt x="277649" y="0"/>
                      <a:pt x="300038" y="22389"/>
                      <a:pt x="300038" y="50006"/>
                    </a:cubicBezTo>
                    <a:lnTo>
                      <a:pt x="300038" y="83344"/>
                    </a:lnTo>
                    <a:cubicBezTo>
                      <a:pt x="300038" y="110961"/>
                      <a:pt x="277649" y="133350"/>
                      <a:pt x="250031" y="133350"/>
                    </a:cubicBezTo>
                    <a:lnTo>
                      <a:pt x="50006" y="133350"/>
                    </a:lnTo>
                    <a:cubicBezTo>
                      <a:pt x="22389" y="133350"/>
                      <a:pt x="0" y="110961"/>
                      <a:pt x="0" y="83344"/>
                    </a:cubicBezTo>
                    <a:lnTo>
                      <a:pt x="0" y="50006"/>
                    </a:lnTo>
                  </a:path>
                </a:pathLst>
              </a:custGeom>
              <a:noFill/>
              <a:ln w="33338">
                <a:solidFill>
                  <a:srgbClr val="F7FAFC"/>
                </a:solidFill>
              </a:ln>
            </p:spPr>
          </p:sp>
          <p:sp>
            <p:nvSpPr>
              <p:cNvPr id="13" name="Freeform 13"/>
              <p:cNvSpPr/>
              <p:nvPr/>
            </p:nvSpPr>
            <p:spPr>
              <a:xfrm>
                <a:off x="1564481" y="5067300"/>
                <a:ext cx="9525" cy="9525"/>
              </a:xfrm>
              <a:custGeom>
                <a:avLst/>
                <a:gdLst/>
                <a:ahLst/>
                <a:cxnLst/>
                <a:rect l="l" t="t" r="r" b="b"/>
                <a:pathLst>
                  <a:path w="9525" h="9525">
                    <a:moveTo>
                      <a:pt x="0" y="0"/>
                    </a:moveTo>
                    <a:lnTo>
                      <a:pt x="0" y="167"/>
                    </a:lnTo>
                  </a:path>
                </a:pathLst>
              </a:custGeom>
              <a:noFill/>
              <a:ln w="33338">
                <a:solidFill>
                  <a:srgbClr val="F7FAFC"/>
                </a:solidFill>
              </a:ln>
            </p:spPr>
          </p:sp>
          <p:sp>
            <p:nvSpPr>
              <p:cNvPr id="14" name="Freeform 14"/>
              <p:cNvSpPr/>
              <p:nvPr/>
            </p:nvSpPr>
            <p:spPr>
              <a:xfrm>
                <a:off x="1564481" y="5200650"/>
                <a:ext cx="9525" cy="9525"/>
              </a:xfrm>
              <a:custGeom>
                <a:avLst/>
                <a:gdLst/>
                <a:ahLst/>
                <a:cxnLst/>
                <a:rect l="l" t="t" r="r" b="b"/>
                <a:pathLst>
                  <a:path w="9525" h="9525">
                    <a:moveTo>
                      <a:pt x="0" y="0"/>
                    </a:moveTo>
                    <a:lnTo>
                      <a:pt x="0" y="167"/>
                    </a:lnTo>
                  </a:path>
                </a:pathLst>
              </a:custGeom>
              <a:noFill/>
              <a:ln w="33338">
                <a:solidFill>
                  <a:srgbClr val="F7FAFC"/>
                </a:solidFill>
              </a:ln>
            </p:spPr>
          </p:sp>
        </p:grpSp>
        <p:sp>
          <p:nvSpPr>
            <p:cNvPr id="16" name="TextBox 16"/>
            <p:cNvSpPr txBox="1"/>
            <p:nvPr/>
          </p:nvSpPr>
          <p:spPr>
            <a:xfrm>
              <a:off x="2067306" y="4949190"/>
              <a:ext cx="3334412"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Host and startup surfaces</a:t>
              </a:r>
            </a:p>
          </p:txBody>
        </p:sp>
        <p:sp>
          <p:nvSpPr>
            <p:cNvPr id="17" name="TextBox 17"/>
            <p:cNvSpPr txBox="1"/>
            <p:nvPr/>
          </p:nvSpPr>
          <p:spPr>
            <a:xfrm>
              <a:off x="2069592" y="5283518"/>
              <a:ext cx="4947876" cy="264033"/>
            </a:xfrm>
            <a:prstGeom prst="rect">
              <a:avLst/>
            </a:prstGeom>
            <a:noFill/>
            <a:ln>
              <a:noFill/>
            </a:ln>
          </p:spPr>
          <p:txBody>
            <a:bodyPr wrap="none" lIns="0" tIns="0" rIns="0" bIns="0" anchor="t" anchorCtr="0">
              <a:spAutoFit/>
            </a:bodyPr>
            <a:lstStyle/>
            <a:p>
              <a:pPr algn="l"/>
              <a:r>
                <a:rPr lang="en-US" sz="1350" dirty="0">
                  <a:solidFill>
                    <a:srgbClr val="D7E0F1"/>
                  </a:solidFill>
                  <a:latin typeface="+mn-lt"/>
                  <a:ea typeface="+mn-ea"/>
                  <a:cs typeface="+mn-cs"/>
                </a:rPr>
                <a:t>process · configuration · providers · external systems</a:t>
              </a:r>
            </a:p>
          </p:txBody>
        </p:sp>
        <p:grpSp>
          <p:nvGrpSpPr>
            <p:cNvPr id="28" name="Group 28"/>
            <p:cNvGrpSpPr/>
            <p:nvPr/>
          </p:nvGrpSpPr>
          <p:grpSpPr>
            <a:xfrm>
              <a:off x="1802606" y="4202906"/>
              <a:ext cx="300038" cy="300038"/>
              <a:chOff x="1802606" y="4202906"/>
              <a:chExt cx="300038" cy="300038"/>
            </a:xfrm>
          </p:grpSpPr>
          <p:sp>
            <p:nvSpPr>
              <p:cNvPr id="18" name="Freeform 18"/>
              <p:cNvSpPr/>
              <p:nvPr/>
            </p:nvSpPr>
            <p:spPr>
              <a:xfrm>
                <a:off x="1835944" y="4236244"/>
                <a:ext cx="233362" cy="233362"/>
              </a:xfrm>
              <a:custGeom>
                <a:avLst/>
                <a:gdLst/>
                <a:ahLst/>
                <a:cxnLst/>
                <a:rect l="l" t="t" r="r" b="b"/>
                <a:pathLst>
                  <a:path w="233362" h="233362">
                    <a:moveTo>
                      <a:pt x="0" y="16669"/>
                    </a:moveTo>
                    <a:cubicBezTo>
                      <a:pt x="0" y="7463"/>
                      <a:pt x="7463" y="0"/>
                      <a:pt x="16669" y="0"/>
                    </a:cubicBezTo>
                    <a:lnTo>
                      <a:pt x="216694" y="0"/>
                    </a:lnTo>
                    <a:cubicBezTo>
                      <a:pt x="225900" y="0"/>
                      <a:pt x="233362" y="7463"/>
                      <a:pt x="233362" y="16669"/>
                    </a:cubicBezTo>
                    <a:lnTo>
                      <a:pt x="233362" y="216694"/>
                    </a:lnTo>
                    <a:cubicBezTo>
                      <a:pt x="233362" y="225900"/>
                      <a:pt x="225900" y="233362"/>
                      <a:pt x="216694" y="233362"/>
                    </a:cubicBezTo>
                    <a:lnTo>
                      <a:pt x="16669" y="233362"/>
                    </a:lnTo>
                    <a:cubicBezTo>
                      <a:pt x="7463" y="233362"/>
                      <a:pt x="0" y="225900"/>
                      <a:pt x="0" y="216694"/>
                    </a:cubicBezTo>
                    <a:lnTo>
                      <a:pt x="0" y="16669"/>
                    </a:lnTo>
                  </a:path>
                </a:pathLst>
              </a:custGeom>
              <a:noFill/>
              <a:ln w="33338">
                <a:solidFill>
                  <a:srgbClr val="F7FAFC"/>
                </a:solidFill>
              </a:ln>
            </p:spPr>
          </p:sp>
          <p:sp>
            <p:nvSpPr>
              <p:cNvPr id="19" name="Freeform 19"/>
              <p:cNvSpPr/>
              <p:nvPr/>
            </p:nvSpPr>
            <p:spPr>
              <a:xfrm>
                <a:off x="1902619" y="4302919"/>
                <a:ext cx="100012" cy="100012"/>
              </a:xfrm>
              <a:custGeom>
                <a:avLst/>
                <a:gdLst/>
                <a:ahLst/>
                <a:cxnLst/>
                <a:rect l="l" t="t" r="r" b="b"/>
                <a:pathLst>
                  <a:path w="100012" h="100012">
                    <a:moveTo>
                      <a:pt x="0" y="0"/>
                    </a:moveTo>
                    <a:lnTo>
                      <a:pt x="100012" y="0"/>
                    </a:lnTo>
                    <a:lnTo>
                      <a:pt x="100012" y="100012"/>
                    </a:lnTo>
                    <a:lnTo>
                      <a:pt x="0" y="100012"/>
                    </a:lnTo>
                    <a:lnTo>
                      <a:pt x="0" y="0"/>
                    </a:lnTo>
                  </a:path>
                </a:pathLst>
              </a:custGeom>
              <a:noFill/>
              <a:ln w="33338">
                <a:solidFill>
                  <a:srgbClr val="F7FAFC"/>
                </a:solidFill>
              </a:ln>
            </p:spPr>
          </p:sp>
          <p:sp>
            <p:nvSpPr>
              <p:cNvPr id="20" name="Freeform 20"/>
              <p:cNvSpPr/>
              <p:nvPr/>
            </p:nvSpPr>
            <p:spPr>
              <a:xfrm>
                <a:off x="1802606" y="4319588"/>
                <a:ext cx="33338" cy="9525"/>
              </a:xfrm>
              <a:custGeom>
                <a:avLst/>
                <a:gdLst/>
                <a:ahLst/>
                <a:cxnLst/>
                <a:rect l="l" t="t" r="r" b="b"/>
                <a:pathLst>
                  <a:path w="33338" h="9525">
                    <a:moveTo>
                      <a:pt x="0" y="0"/>
                    </a:moveTo>
                    <a:lnTo>
                      <a:pt x="33338" y="0"/>
                    </a:lnTo>
                  </a:path>
                </a:pathLst>
              </a:custGeom>
              <a:noFill/>
              <a:ln w="33338">
                <a:solidFill>
                  <a:srgbClr val="F7FAFC"/>
                </a:solidFill>
              </a:ln>
            </p:spPr>
          </p:sp>
          <p:sp>
            <p:nvSpPr>
              <p:cNvPr id="21" name="Freeform 21"/>
              <p:cNvSpPr/>
              <p:nvPr/>
            </p:nvSpPr>
            <p:spPr>
              <a:xfrm>
                <a:off x="1802606" y="4386262"/>
                <a:ext cx="33338" cy="9525"/>
              </a:xfrm>
              <a:custGeom>
                <a:avLst/>
                <a:gdLst/>
                <a:ahLst/>
                <a:cxnLst/>
                <a:rect l="l" t="t" r="r" b="b"/>
                <a:pathLst>
                  <a:path w="33338" h="9525">
                    <a:moveTo>
                      <a:pt x="0" y="0"/>
                    </a:moveTo>
                    <a:lnTo>
                      <a:pt x="33338" y="0"/>
                    </a:lnTo>
                  </a:path>
                </a:pathLst>
              </a:custGeom>
              <a:noFill/>
              <a:ln w="33338">
                <a:solidFill>
                  <a:srgbClr val="F7FAFC"/>
                </a:solidFill>
              </a:ln>
            </p:spPr>
          </p:sp>
          <p:sp>
            <p:nvSpPr>
              <p:cNvPr id="22" name="Freeform 22"/>
              <p:cNvSpPr/>
              <p:nvPr/>
            </p:nvSpPr>
            <p:spPr>
              <a:xfrm>
                <a:off x="1919288" y="4202906"/>
                <a:ext cx="9525" cy="33338"/>
              </a:xfrm>
              <a:custGeom>
                <a:avLst/>
                <a:gdLst/>
                <a:ahLst/>
                <a:cxnLst/>
                <a:rect l="l" t="t" r="r" b="b"/>
                <a:pathLst>
                  <a:path w="9525" h="33338">
                    <a:moveTo>
                      <a:pt x="0" y="0"/>
                    </a:moveTo>
                    <a:lnTo>
                      <a:pt x="0" y="33338"/>
                    </a:lnTo>
                  </a:path>
                </a:pathLst>
              </a:custGeom>
              <a:noFill/>
              <a:ln w="33338">
                <a:solidFill>
                  <a:srgbClr val="F7FAFC"/>
                </a:solidFill>
              </a:ln>
            </p:spPr>
          </p:sp>
          <p:sp>
            <p:nvSpPr>
              <p:cNvPr id="23" name="Freeform 23"/>
              <p:cNvSpPr/>
              <p:nvPr/>
            </p:nvSpPr>
            <p:spPr>
              <a:xfrm>
                <a:off x="1985962" y="4202906"/>
                <a:ext cx="9525" cy="33338"/>
              </a:xfrm>
              <a:custGeom>
                <a:avLst/>
                <a:gdLst/>
                <a:ahLst/>
                <a:cxnLst/>
                <a:rect l="l" t="t" r="r" b="b"/>
                <a:pathLst>
                  <a:path w="9525" h="33338">
                    <a:moveTo>
                      <a:pt x="0" y="0"/>
                    </a:moveTo>
                    <a:lnTo>
                      <a:pt x="0" y="33338"/>
                    </a:lnTo>
                  </a:path>
                </a:pathLst>
              </a:custGeom>
              <a:noFill/>
              <a:ln w="33338">
                <a:solidFill>
                  <a:srgbClr val="F7FAFC"/>
                </a:solidFill>
              </a:ln>
            </p:spPr>
          </p:sp>
          <p:sp>
            <p:nvSpPr>
              <p:cNvPr id="24" name="Freeform 24"/>
              <p:cNvSpPr/>
              <p:nvPr/>
            </p:nvSpPr>
            <p:spPr>
              <a:xfrm>
                <a:off x="2069306" y="4319588"/>
                <a:ext cx="33338" cy="9525"/>
              </a:xfrm>
              <a:custGeom>
                <a:avLst/>
                <a:gdLst/>
                <a:ahLst/>
                <a:cxnLst/>
                <a:rect l="l" t="t" r="r" b="b"/>
                <a:pathLst>
                  <a:path w="33338" h="9525">
                    <a:moveTo>
                      <a:pt x="33338" y="0"/>
                    </a:moveTo>
                    <a:lnTo>
                      <a:pt x="0" y="0"/>
                    </a:lnTo>
                  </a:path>
                </a:pathLst>
              </a:custGeom>
              <a:noFill/>
              <a:ln w="33338">
                <a:solidFill>
                  <a:srgbClr val="F7FAFC"/>
                </a:solidFill>
              </a:ln>
            </p:spPr>
          </p:sp>
          <p:sp>
            <p:nvSpPr>
              <p:cNvPr id="25" name="Freeform 25"/>
              <p:cNvSpPr/>
              <p:nvPr/>
            </p:nvSpPr>
            <p:spPr>
              <a:xfrm>
                <a:off x="2069306" y="4386262"/>
                <a:ext cx="33338" cy="9525"/>
              </a:xfrm>
              <a:custGeom>
                <a:avLst/>
                <a:gdLst/>
                <a:ahLst/>
                <a:cxnLst/>
                <a:rect l="l" t="t" r="r" b="b"/>
                <a:pathLst>
                  <a:path w="33338" h="9525">
                    <a:moveTo>
                      <a:pt x="33338" y="0"/>
                    </a:moveTo>
                    <a:lnTo>
                      <a:pt x="0" y="0"/>
                    </a:lnTo>
                  </a:path>
                </a:pathLst>
              </a:custGeom>
              <a:noFill/>
              <a:ln w="33338">
                <a:solidFill>
                  <a:srgbClr val="F7FAFC"/>
                </a:solidFill>
              </a:ln>
            </p:spPr>
          </p:sp>
          <p:sp>
            <p:nvSpPr>
              <p:cNvPr id="26" name="Freeform 26"/>
              <p:cNvSpPr/>
              <p:nvPr/>
            </p:nvSpPr>
            <p:spPr>
              <a:xfrm>
                <a:off x="1985962" y="4469606"/>
                <a:ext cx="9525" cy="33338"/>
              </a:xfrm>
              <a:custGeom>
                <a:avLst/>
                <a:gdLst/>
                <a:ahLst/>
                <a:cxnLst/>
                <a:rect l="l" t="t" r="r" b="b"/>
                <a:pathLst>
                  <a:path w="9525" h="33338">
                    <a:moveTo>
                      <a:pt x="0" y="33338"/>
                    </a:moveTo>
                    <a:lnTo>
                      <a:pt x="0" y="0"/>
                    </a:lnTo>
                  </a:path>
                </a:pathLst>
              </a:custGeom>
              <a:noFill/>
              <a:ln w="33338">
                <a:solidFill>
                  <a:srgbClr val="F7FAFC"/>
                </a:solidFill>
              </a:ln>
            </p:spPr>
          </p:sp>
          <p:sp>
            <p:nvSpPr>
              <p:cNvPr id="27" name="Freeform 27"/>
              <p:cNvSpPr/>
              <p:nvPr/>
            </p:nvSpPr>
            <p:spPr>
              <a:xfrm>
                <a:off x="1919288" y="4469606"/>
                <a:ext cx="9525" cy="33338"/>
              </a:xfrm>
              <a:custGeom>
                <a:avLst/>
                <a:gdLst/>
                <a:ahLst/>
                <a:cxnLst/>
                <a:rect l="l" t="t" r="r" b="b"/>
                <a:pathLst>
                  <a:path w="9525" h="33338">
                    <a:moveTo>
                      <a:pt x="0" y="33338"/>
                    </a:moveTo>
                    <a:lnTo>
                      <a:pt x="0" y="0"/>
                    </a:lnTo>
                  </a:path>
                </a:pathLst>
              </a:custGeom>
              <a:noFill/>
              <a:ln w="33338">
                <a:solidFill>
                  <a:srgbClr val="F7FAFC"/>
                </a:solidFill>
              </a:ln>
            </p:spPr>
          </p:sp>
        </p:grpSp>
        <p:sp>
          <p:nvSpPr>
            <p:cNvPr id="29" name="TextBox 29"/>
            <p:cNvSpPr txBox="1"/>
            <p:nvPr/>
          </p:nvSpPr>
          <p:spPr>
            <a:xfrm>
              <a:off x="2372106" y="4168140"/>
              <a:ext cx="2919063"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Agent Preset and Model</a:t>
              </a:r>
            </a:p>
          </p:txBody>
        </p:sp>
        <p:sp>
          <p:nvSpPr>
            <p:cNvPr id="30" name="TextBox 30"/>
            <p:cNvSpPr txBox="1"/>
            <p:nvPr/>
          </p:nvSpPr>
          <p:spPr>
            <a:xfrm>
              <a:off x="2374392" y="4502468"/>
              <a:ext cx="2830640" cy="264033"/>
            </a:xfrm>
            <a:prstGeom prst="rect">
              <a:avLst/>
            </a:prstGeom>
            <a:noFill/>
            <a:ln>
              <a:noFill/>
            </a:ln>
          </p:spPr>
          <p:txBody>
            <a:bodyPr wrap="none" lIns="0" tIns="0" rIns="0" bIns="0" anchor="t" anchorCtr="0">
              <a:spAutoFit/>
            </a:bodyPr>
            <a:lstStyle/>
            <a:p>
              <a:pPr algn="l"/>
              <a:r>
                <a:rPr lang="en-US" sz="1350" dirty="0">
                  <a:solidFill>
                    <a:srgbClr val="D7E0F1"/>
                  </a:solidFill>
                  <a:latin typeface="+mn-lt"/>
                  <a:ea typeface="+mn-ea"/>
                  <a:cs typeface="+mn-cs"/>
                </a:rPr>
                <a:t>standing scope · model provider</a:t>
              </a:r>
            </a:p>
          </p:txBody>
        </p:sp>
        <p:sp>
          <p:nvSpPr>
            <p:cNvPr id="31" name="Freeform 31"/>
            <p:cNvSpPr/>
            <p:nvPr/>
          </p:nvSpPr>
          <p:spPr>
            <a:xfrm>
              <a:off x="2097475" y="3411925"/>
              <a:ext cx="315443" cy="315443"/>
            </a:xfrm>
            <a:custGeom>
              <a:avLst/>
              <a:gdLst/>
              <a:ahLst/>
              <a:cxnLst/>
              <a:rect l="l" t="t" r="r" b="b"/>
              <a:pathLst>
                <a:path w="315443" h="315443">
                  <a:moveTo>
                    <a:pt x="76606" y="126613"/>
                  </a:moveTo>
                  <a:lnTo>
                    <a:pt x="126613" y="126613"/>
                  </a:lnTo>
                  <a:lnTo>
                    <a:pt x="126613" y="76606"/>
                  </a:lnTo>
                  <a:lnTo>
                    <a:pt x="68272" y="18266"/>
                  </a:lnTo>
                  <a:cubicBezTo>
                    <a:pt x="106518" y="0"/>
                    <a:pt x="152124" y="7825"/>
                    <a:pt x="182093" y="37794"/>
                  </a:cubicBezTo>
                  <a:cubicBezTo>
                    <a:pt x="212063" y="67764"/>
                    <a:pt x="219888" y="113370"/>
                    <a:pt x="201622" y="151616"/>
                  </a:cubicBezTo>
                  <a:lnTo>
                    <a:pt x="301635" y="251628"/>
                  </a:lnTo>
                  <a:cubicBezTo>
                    <a:pt x="315443" y="265437"/>
                    <a:pt x="315443" y="287826"/>
                    <a:pt x="301635" y="301635"/>
                  </a:cubicBezTo>
                  <a:cubicBezTo>
                    <a:pt x="287826" y="315443"/>
                    <a:pt x="265437" y="315443"/>
                    <a:pt x="251628" y="301635"/>
                  </a:cubicBezTo>
                  <a:lnTo>
                    <a:pt x="151616" y="201622"/>
                  </a:lnTo>
                  <a:cubicBezTo>
                    <a:pt x="113370" y="219888"/>
                    <a:pt x="67764" y="212063"/>
                    <a:pt x="37794" y="182093"/>
                  </a:cubicBezTo>
                  <a:cubicBezTo>
                    <a:pt x="7825" y="152124"/>
                    <a:pt x="0" y="106518"/>
                    <a:pt x="18266" y="68272"/>
                  </a:cubicBezTo>
                  <a:lnTo>
                    <a:pt x="76606" y="126613"/>
                  </a:lnTo>
                </a:path>
              </a:pathLst>
            </a:custGeom>
            <a:noFill/>
            <a:ln w="33338">
              <a:solidFill>
                <a:srgbClr val="F7FAFC"/>
              </a:solidFill>
            </a:ln>
          </p:spPr>
        </p:sp>
        <p:sp>
          <p:nvSpPr>
            <p:cNvPr id="32" name="TextBox 32"/>
            <p:cNvSpPr txBox="1"/>
            <p:nvPr/>
          </p:nvSpPr>
          <p:spPr>
            <a:xfrm>
              <a:off x="2676906" y="3387090"/>
              <a:ext cx="2819297"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Tool · Policy · Sandbox</a:t>
              </a:r>
            </a:p>
          </p:txBody>
        </p:sp>
        <p:sp>
          <p:nvSpPr>
            <p:cNvPr id="33" name="TextBox 33"/>
            <p:cNvSpPr txBox="1"/>
            <p:nvPr/>
          </p:nvSpPr>
          <p:spPr>
            <a:xfrm>
              <a:off x="2679192" y="3721418"/>
              <a:ext cx="4157320" cy="264033"/>
            </a:xfrm>
            <a:prstGeom prst="rect">
              <a:avLst/>
            </a:prstGeom>
            <a:noFill/>
            <a:ln>
              <a:noFill/>
            </a:ln>
          </p:spPr>
          <p:txBody>
            <a:bodyPr wrap="none" lIns="0" tIns="0" rIns="0" bIns="0" anchor="t" anchorCtr="0">
              <a:spAutoFit/>
            </a:bodyPr>
            <a:lstStyle/>
            <a:p>
              <a:pPr algn="l"/>
              <a:r>
                <a:rPr lang="en-US" sz="1350" dirty="0">
                  <a:solidFill>
                    <a:srgbClr val="D7E0F1"/>
                  </a:solidFill>
                  <a:latin typeface="+mn-lt"/>
                  <a:ea typeface="+mn-ea"/>
                  <a:cs typeface="+mn-cs"/>
                </a:rPr>
                <a:t>execution · approval · limitation · observation</a:t>
              </a:r>
            </a:p>
          </p:txBody>
        </p:sp>
        <p:grpSp>
          <p:nvGrpSpPr>
            <p:cNvPr id="37" name="Group 37"/>
            <p:cNvGrpSpPr/>
            <p:nvPr/>
          </p:nvGrpSpPr>
          <p:grpSpPr>
            <a:xfrm>
              <a:off x="2428875" y="2640806"/>
              <a:ext cx="266700" cy="300038"/>
              <a:chOff x="2428875" y="2640806"/>
              <a:chExt cx="266700" cy="300038"/>
            </a:xfrm>
          </p:grpSpPr>
          <p:sp>
            <p:nvSpPr>
              <p:cNvPr id="34" name="Freeform 34"/>
              <p:cNvSpPr/>
              <p:nvPr/>
            </p:nvSpPr>
            <p:spPr>
              <a:xfrm>
                <a:off x="2428875" y="2640806"/>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33338">
                <a:solidFill>
                  <a:srgbClr val="F7FAFC"/>
                </a:solidFill>
              </a:ln>
            </p:spPr>
          </p:sp>
          <p:sp>
            <p:nvSpPr>
              <p:cNvPr id="35" name="Freeform 35"/>
              <p:cNvSpPr/>
              <p:nvPr/>
            </p:nvSpPr>
            <p:spPr>
              <a:xfrm>
                <a:off x="2428875" y="2690812"/>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rgbClr val="F7FAFC"/>
                </a:solidFill>
              </a:ln>
            </p:spPr>
          </p:sp>
          <p:sp>
            <p:nvSpPr>
              <p:cNvPr id="36" name="Freeform 36"/>
              <p:cNvSpPr/>
              <p:nvPr/>
            </p:nvSpPr>
            <p:spPr>
              <a:xfrm>
                <a:off x="2428875" y="2790825"/>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rgbClr val="F7FAFC"/>
                </a:solidFill>
              </a:ln>
            </p:spPr>
          </p:sp>
        </p:grpSp>
        <p:sp>
          <p:nvSpPr>
            <p:cNvPr id="38" name="TextBox 38"/>
            <p:cNvSpPr txBox="1"/>
            <p:nvPr/>
          </p:nvSpPr>
          <p:spPr>
            <a:xfrm>
              <a:off x="2981706" y="2606040"/>
              <a:ext cx="4293068"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Session · Persistence · Projection</a:t>
              </a:r>
            </a:p>
          </p:txBody>
        </p:sp>
        <p:sp>
          <p:nvSpPr>
            <p:cNvPr id="39" name="TextBox 39"/>
            <p:cNvSpPr txBox="1"/>
            <p:nvPr/>
          </p:nvSpPr>
          <p:spPr>
            <a:xfrm>
              <a:off x="2983992" y="2940368"/>
              <a:ext cx="3030550" cy="264033"/>
            </a:xfrm>
            <a:prstGeom prst="rect">
              <a:avLst/>
            </a:prstGeom>
            <a:noFill/>
            <a:ln>
              <a:noFill/>
            </a:ln>
          </p:spPr>
          <p:txBody>
            <a:bodyPr wrap="none" lIns="0" tIns="0" rIns="0" bIns="0" anchor="t" anchorCtr="0">
              <a:spAutoFit/>
            </a:bodyPr>
            <a:lstStyle/>
            <a:p>
              <a:pPr algn="l"/>
              <a:r>
                <a:rPr lang="en-US" sz="1350" dirty="0">
                  <a:solidFill>
                    <a:srgbClr val="D7E0F1"/>
                  </a:solidFill>
                  <a:latin typeface="+mn-lt"/>
                  <a:ea typeface="+mn-ea"/>
                  <a:cs typeface="+mn-cs"/>
                </a:rPr>
                <a:t>event facts · checkpoints · views</a:t>
              </a:r>
            </a:p>
          </p:txBody>
        </p:sp>
        <p:grpSp>
          <p:nvGrpSpPr>
            <p:cNvPr id="43" name="Group 43"/>
            <p:cNvGrpSpPr/>
            <p:nvPr/>
          </p:nvGrpSpPr>
          <p:grpSpPr>
            <a:xfrm>
              <a:off x="2717006" y="1876425"/>
              <a:ext cx="300038" cy="266700"/>
              <a:chOff x="2717006" y="1876425"/>
              <a:chExt cx="300038" cy="266700"/>
            </a:xfrm>
          </p:grpSpPr>
          <p:sp>
            <p:nvSpPr>
              <p:cNvPr id="40" name="Freeform 40"/>
              <p:cNvSpPr/>
              <p:nvPr/>
            </p:nvSpPr>
            <p:spPr>
              <a:xfrm>
                <a:off x="2800350" y="1959769"/>
                <a:ext cx="50006" cy="100012"/>
              </a:xfrm>
              <a:custGeom>
                <a:avLst/>
                <a:gdLst/>
                <a:ahLst/>
                <a:cxnLst/>
                <a:rect l="l" t="t" r="r" b="b"/>
                <a:pathLst>
                  <a:path w="50006" h="100012">
                    <a:moveTo>
                      <a:pt x="0" y="0"/>
                    </a:moveTo>
                    <a:lnTo>
                      <a:pt x="50006" y="50006"/>
                    </a:lnTo>
                    <a:lnTo>
                      <a:pt x="0" y="100012"/>
                    </a:lnTo>
                  </a:path>
                </a:pathLst>
              </a:custGeom>
              <a:noFill/>
              <a:ln w="33338">
                <a:solidFill>
                  <a:schemeClr val="accent3"/>
                </a:solidFill>
              </a:ln>
            </p:spPr>
          </p:sp>
          <p:sp>
            <p:nvSpPr>
              <p:cNvPr id="41" name="Freeform 41"/>
              <p:cNvSpPr/>
              <p:nvPr/>
            </p:nvSpPr>
            <p:spPr>
              <a:xfrm>
                <a:off x="2883694" y="2059781"/>
                <a:ext cx="50006" cy="9525"/>
              </a:xfrm>
              <a:custGeom>
                <a:avLst/>
                <a:gdLst/>
                <a:ahLst/>
                <a:cxnLst/>
                <a:rect l="l" t="t" r="r" b="b"/>
                <a:pathLst>
                  <a:path w="50006" h="9525">
                    <a:moveTo>
                      <a:pt x="0" y="0"/>
                    </a:moveTo>
                    <a:lnTo>
                      <a:pt x="50006" y="0"/>
                    </a:lnTo>
                  </a:path>
                </a:pathLst>
              </a:custGeom>
              <a:noFill/>
              <a:ln w="33338">
                <a:solidFill>
                  <a:schemeClr val="accent3"/>
                </a:solidFill>
              </a:ln>
            </p:spPr>
          </p:sp>
          <p:sp>
            <p:nvSpPr>
              <p:cNvPr id="42" name="Freeform 42"/>
              <p:cNvSpPr/>
              <p:nvPr/>
            </p:nvSpPr>
            <p:spPr>
              <a:xfrm>
                <a:off x="2717006" y="1876425"/>
                <a:ext cx="300038" cy="266700"/>
              </a:xfrm>
              <a:custGeom>
                <a:avLst/>
                <a:gdLst/>
                <a:ahLst/>
                <a:cxnLst/>
                <a:rect l="l" t="t" r="r" b="b"/>
                <a:pathLst>
                  <a:path w="300038" h="266700">
                    <a:moveTo>
                      <a:pt x="0" y="33338"/>
                    </a:moveTo>
                    <a:cubicBezTo>
                      <a:pt x="0" y="14926"/>
                      <a:pt x="14926" y="0"/>
                      <a:pt x="33338" y="0"/>
                    </a:cubicBezTo>
                    <a:lnTo>
                      <a:pt x="266700" y="0"/>
                    </a:lnTo>
                    <a:cubicBezTo>
                      <a:pt x="285112" y="0"/>
                      <a:pt x="300038" y="14926"/>
                      <a:pt x="300038" y="33338"/>
                    </a:cubicBezTo>
                    <a:lnTo>
                      <a:pt x="300038" y="233362"/>
                    </a:lnTo>
                    <a:cubicBezTo>
                      <a:pt x="300038" y="251774"/>
                      <a:pt x="285112" y="266700"/>
                      <a:pt x="266700" y="266700"/>
                    </a:cubicBezTo>
                    <a:lnTo>
                      <a:pt x="33338" y="266700"/>
                    </a:lnTo>
                    <a:cubicBezTo>
                      <a:pt x="14926" y="266700"/>
                      <a:pt x="0" y="251774"/>
                      <a:pt x="0" y="233362"/>
                    </a:cubicBezTo>
                    <a:lnTo>
                      <a:pt x="0" y="33338"/>
                    </a:lnTo>
                  </a:path>
                </a:pathLst>
              </a:custGeom>
              <a:noFill/>
              <a:ln w="33338">
                <a:solidFill>
                  <a:schemeClr val="accent3"/>
                </a:solidFill>
              </a:ln>
            </p:spPr>
          </p:sp>
        </p:grpSp>
        <p:sp>
          <p:nvSpPr>
            <p:cNvPr id="44" name="TextBox 44"/>
            <p:cNvSpPr txBox="1"/>
            <p:nvPr/>
          </p:nvSpPr>
          <p:spPr>
            <a:xfrm>
              <a:off x="3286506" y="1824990"/>
              <a:ext cx="268262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Web · CLI · ACP · SDK</a:t>
              </a:r>
            </a:p>
          </p:txBody>
        </p:sp>
        <p:sp>
          <p:nvSpPr>
            <p:cNvPr id="45" name="TextBox 45"/>
            <p:cNvSpPr txBox="1"/>
            <p:nvPr/>
          </p:nvSpPr>
          <p:spPr>
            <a:xfrm>
              <a:off x="3288792" y="2159318"/>
              <a:ext cx="313050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interface adapters and transports</a:t>
              </a:r>
            </a:p>
          </p:txBody>
        </p:sp>
      </p:grpSp>
      <p:grpSp>
        <p:nvGrpSpPr>
          <p:cNvPr id="55" name="Group 55"/>
          <p:cNvGrpSpPr/>
          <p:nvPr/>
        </p:nvGrpSpPr>
        <p:grpSpPr>
          <a:xfrm>
            <a:off x="9745313" y="1962150"/>
            <a:ext cx="1788224" cy="3928301"/>
            <a:chOff x="9745313" y="1962150"/>
            <a:chExt cx="1788224" cy="3928301"/>
          </a:xfrm>
        </p:grpSpPr>
        <p:sp>
          <p:nvSpPr>
            <p:cNvPr id="47" name="Line 47"/>
            <p:cNvSpPr/>
            <p:nvPr/>
          </p:nvSpPr>
          <p:spPr>
            <a:xfrm>
              <a:off x="10172700" y="1962150"/>
              <a:ext cx="9525" cy="3295650"/>
            </a:xfrm>
            <a:custGeom>
              <a:avLst/>
              <a:gdLst/>
              <a:ahLst/>
              <a:cxnLst/>
              <a:rect l="l" t="t" r="r" b="b"/>
              <a:pathLst>
                <a:path w="9525" h="3295650">
                  <a:moveTo>
                    <a:pt x="0" y="0"/>
                  </a:moveTo>
                  <a:lnTo>
                    <a:pt x="0" y="3295650"/>
                  </a:lnTo>
                </a:path>
              </a:pathLst>
            </a:custGeom>
            <a:noFill/>
            <a:ln w="47625">
              <a:solidFill>
                <a:schemeClr val="accent2"/>
              </a:solidFill>
            </a:ln>
          </p:spPr>
        </p:sp>
        <p:sp>
          <p:nvSpPr>
            <p:cNvPr id="48" name="Ellipse 48"/>
            <p:cNvSpPr/>
            <p:nvPr/>
          </p:nvSpPr>
          <p:spPr>
            <a:xfrm>
              <a:off x="10001250" y="1981200"/>
              <a:ext cx="342900" cy="342900"/>
            </a:xfrm>
            <a:prstGeom prst="ellipse">
              <a:avLst/>
            </a:prstGeom>
            <a:solidFill>
              <a:schemeClr val="accent1"/>
            </a:solidFill>
            <a:ln w="28575">
              <a:solidFill>
                <a:schemeClr val="accent2"/>
              </a:solidFill>
            </a:ln>
          </p:spPr>
        </p:sp>
        <p:sp>
          <p:nvSpPr>
            <p:cNvPr id="49" name="Ellipse 49"/>
            <p:cNvSpPr/>
            <p:nvPr/>
          </p:nvSpPr>
          <p:spPr>
            <a:xfrm>
              <a:off x="10001250" y="3429000"/>
              <a:ext cx="342900" cy="342900"/>
            </a:xfrm>
            <a:prstGeom prst="ellipse">
              <a:avLst/>
            </a:prstGeom>
            <a:solidFill>
              <a:schemeClr val="accent3"/>
            </a:solidFill>
            <a:ln w="28575">
              <a:solidFill>
                <a:schemeClr val="accent2"/>
              </a:solidFill>
            </a:ln>
          </p:spPr>
        </p:sp>
        <p:sp>
          <p:nvSpPr>
            <p:cNvPr id="50" name="Ellipse 50"/>
            <p:cNvSpPr/>
            <p:nvPr/>
          </p:nvSpPr>
          <p:spPr>
            <a:xfrm>
              <a:off x="10001250" y="4895850"/>
              <a:ext cx="342900" cy="342900"/>
            </a:xfrm>
            <a:prstGeom prst="ellipse">
              <a:avLst/>
            </a:prstGeom>
            <a:solidFill>
              <a:schemeClr val="accent1"/>
            </a:solidFill>
            <a:ln w="28575">
              <a:solidFill>
                <a:schemeClr val="accent2"/>
              </a:solidFill>
            </a:ln>
          </p:spPr>
        </p:sp>
        <p:sp>
          <p:nvSpPr>
            <p:cNvPr id="51" name="TextBox 51"/>
            <p:cNvSpPr txBox="1"/>
            <p:nvPr/>
          </p:nvSpPr>
          <p:spPr>
            <a:xfrm>
              <a:off x="10563606" y="2034540"/>
              <a:ext cx="768862"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mount</a:t>
              </a:r>
            </a:p>
          </p:txBody>
        </p:sp>
        <p:sp>
          <p:nvSpPr>
            <p:cNvPr id="52" name="TextBox 52"/>
            <p:cNvSpPr txBox="1"/>
            <p:nvPr/>
          </p:nvSpPr>
          <p:spPr>
            <a:xfrm>
              <a:off x="10563606" y="3482340"/>
              <a:ext cx="71797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event</a:t>
              </a:r>
            </a:p>
          </p:txBody>
        </p:sp>
        <p:sp>
          <p:nvSpPr>
            <p:cNvPr id="53" name="TextBox 53"/>
            <p:cNvSpPr txBox="1"/>
            <p:nvPr/>
          </p:nvSpPr>
          <p:spPr>
            <a:xfrm>
              <a:off x="10563606" y="4949190"/>
              <a:ext cx="934242"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dispose</a:t>
              </a:r>
            </a:p>
          </p:txBody>
        </p:sp>
        <p:sp>
          <p:nvSpPr>
            <p:cNvPr id="54" name="TextBox 54"/>
            <p:cNvSpPr txBox="1"/>
            <p:nvPr/>
          </p:nvSpPr>
          <p:spPr>
            <a:xfrm>
              <a:off x="9745313" y="5359718"/>
              <a:ext cx="1788224" cy="530733"/>
            </a:xfrm>
            <a:prstGeom prst="rect">
              <a:avLst/>
            </a:prstGeom>
            <a:noFill/>
            <a:ln>
              <a:noFill/>
            </a:ln>
          </p:spPr>
          <p:txBody>
            <a:bodyPr wrap="none" lIns="0" tIns="0" rIns="0" bIns="0" anchor="t" anchorCtr="0">
              <a:spAutoFit/>
            </a:bodyPr>
            <a:lstStyle/>
            <a:p>
              <a:pPr algn="ctr">
                <a:lnSpc>
                  <a:spcPts val="2100"/>
                </a:lnSpc>
              </a:pPr>
              <a:r>
                <a:rPr lang="en-US" sz="1350" dirty="0">
                  <a:solidFill>
                    <a:schemeClr val="accent5"/>
                  </a:solidFill>
                  <a:latin typeface="+mn-lt"/>
                  <a:ea typeface="+mn-ea"/>
                  <a:cs typeface="+mn-cs"/>
                </a:rPr>
                <a:t>one axis unifies</a:t>
              </a:r>
              <a:br/>
              <a:r>
                <a:rPr lang="en-US" sz="1350" dirty="0">
                  <a:solidFill>
                    <a:schemeClr val="accent5"/>
                  </a:solidFill>
                  <a:latin typeface="+mn-lt"/>
                  <a:ea typeface="+mn-ea"/>
                  <a:cs typeface="+mn-cs"/>
                </a:rPr>
                <a:t>five capability layers</a:t>
              </a:r>
            </a:p>
          </p:txBody>
        </p:sp>
      </p:grpSp>
      <p:grpSp>
        <p:nvGrpSpPr>
          <p:cNvPr id="58" name="Group 58"/>
          <p:cNvGrpSpPr/>
          <p:nvPr/>
        </p:nvGrpSpPr>
        <p:grpSpPr>
          <a:xfrm>
            <a:off x="602742" y="6293168"/>
            <a:ext cx="10986516" cy="264033"/>
            <a:chOff x="602742" y="6293168"/>
            <a:chExt cx="10986516" cy="264033"/>
          </a:xfrm>
        </p:grpSpPr>
        <p:sp>
          <p:nvSpPr>
            <p:cNvPr id="56" name="TextBox 56"/>
            <p:cNvSpPr txBox="1"/>
            <p:nvPr/>
          </p:nvSpPr>
          <p:spPr>
            <a:xfrm>
              <a:off x="602742" y="6293168"/>
              <a:ext cx="562081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K-003 · K-005 · K-010 | COMPOSE · DEPEND · EVENT · DISPOSE</a:t>
              </a:r>
            </a:p>
          </p:txBody>
        </p:sp>
        <p:sp>
          <p:nvSpPr>
            <p:cNvPr id="57" name="TextBox 57"/>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P07 / 24</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7000"/>
              </a:schemeClr>
            </a:solidFill>
          </a:ln>
        </p:spPr>
      </p:sp>
      <p:grpSp>
        <p:nvGrpSpPr>
          <p:cNvPr id="5" name="Group 5"/>
          <p:cNvGrpSpPr/>
          <p:nvPr/>
        </p:nvGrpSpPr>
        <p:grpSpPr>
          <a:xfrm>
            <a:off x="593598" y="482918"/>
            <a:ext cx="9568106" cy="955167"/>
            <a:chOff x="593598" y="482918"/>
            <a:chExt cx="9568106" cy="955167"/>
          </a:xfrm>
        </p:grpSpPr>
        <p:sp>
          <p:nvSpPr>
            <p:cNvPr id="3" name="TextBox 3"/>
            <p:cNvSpPr txBox="1"/>
            <p:nvPr/>
          </p:nvSpPr>
          <p:spPr>
            <a:xfrm>
              <a:off x="602742" y="482918"/>
              <a:ext cx="3202381"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OWNERSHIP / PRESET VS SESSION</a:t>
              </a:r>
            </a:p>
          </p:txBody>
        </p:sp>
        <p:sp>
          <p:nvSpPr>
            <p:cNvPr id="4" name="TextBox 4"/>
            <p:cNvSpPr txBox="1"/>
            <p:nvPr/>
          </p:nvSpPr>
          <p:spPr>
            <a:xfrm>
              <a:off x="593598" y="822008"/>
              <a:ext cx="9568106"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Presets are shared; Sessions are instances</a:t>
              </a:r>
            </a:p>
          </p:txBody>
        </p:sp>
      </p:grpSp>
      <p:grpSp>
        <p:nvGrpSpPr>
          <p:cNvPr id="42" name="Group 42"/>
          <p:cNvGrpSpPr/>
          <p:nvPr/>
        </p:nvGrpSpPr>
        <p:grpSpPr>
          <a:xfrm>
            <a:off x="914400" y="1695450"/>
            <a:ext cx="10591343" cy="3981450"/>
            <a:chOff x="914400" y="1695450"/>
            <a:chExt cx="10591343" cy="3981450"/>
          </a:xfrm>
        </p:grpSpPr>
        <p:sp>
          <p:nvSpPr>
            <p:cNvPr id="6" name="Rectangle 6"/>
            <p:cNvSpPr/>
            <p:nvPr/>
          </p:nvSpPr>
          <p:spPr>
            <a:xfrm>
              <a:off x="914400" y="1695450"/>
              <a:ext cx="10363200" cy="990600"/>
            </a:xfrm>
            <a:prstGeom prst="roundRect">
              <a:avLst>
                <a:gd name="adj" fmla="val 7692"/>
              </a:avLst>
            </a:prstGeom>
            <a:solidFill>
              <a:schemeClr val="accent1"/>
            </a:solidFill>
            <a:ln w="19050">
              <a:solidFill>
                <a:schemeClr val="accent3"/>
              </a:solidFill>
            </a:ln>
          </p:spPr>
        </p:sp>
        <p:grpSp>
          <p:nvGrpSpPr>
            <p:cNvPr id="11" name="Group 11"/>
            <p:cNvGrpSpPr/>
            <p:nvPr/>
          </p:nvGrpSpPr>
          <p:grpSpPr>
            <a:xfrm>
              <a:off x="1238250" y="2038350"/>
              <a:ext cx="342900" cy="304800"/>
              <a:chOff x="1238250" y="2038350"/>
              <a:chExt cx="342900" cy="304800"/>
            </a:xfrm>
          </p:grpSpPr>
          <p:sp>
            <p:nvSpPr>
              <p:cNvPr id="7" name="Freeform 7"/>
              <p:cNvSpPr/>
              <p:nvPr/>
            </p:nvSpPr>
            <p:spPr>
              <a:xfrm>
                <a:off x="1238250" y="2038350"/>
                <a:ext cx="342900" cy="152400"/>
              </a:xfrm>
              <a:custGeom>
                <a:avLst/>
                <a:gdLst/>
                <a:ahLst/>
                <a:cxnLst/>
                <a:rect l="l" t="t" r="r" b="b"/>
                <a:pathLst>
                  <a:path w="342900" h="152400">
                    <a:moveTo>
                      <a:pt x="0" y="57150"/>
                    </a:moveTo>
                    <a:cubicBezTo>
                      <a:pt x="0" y="25587"/>
                      <a:pt x="25587" y="0"/>
                      <a:pt x="57150" y="0"/>
                    </a:cubicBezTo>
                    <a:lnTo>
                      <a:pt x="285750" y="0"/>
                    </a:lnTo>
                    <a:cubicBezTo>
                      <a:pt x="317313" y="0"/>
                      <a:pt x="342900" y="25587"/>
                      <a:pt x="342900" y="57150"/>
                    </a:cubicBezTo>
                    <a:lnTo>
                      <a:pt x="342900" y="95250"/>
                    </a:lnTo>
                    <a:cubicBezTo>
                      <a:pt x="342900" y="126813"/>
                      <a:pt x="317313" y="152400"/>
                      <a:pt x="285750" y="152400"/>
                    </a:cubicBezTo>
                    <a:lnTo>
                      <a:pt x="57150" y="152400"/>
                    </a:lnTo>
                    <a:cubicBezTo>
                      <a:pt x="25587" y="152400"/>
                      <a:pt x="0" y="126813"/>
                      <a:pt x="0" y="95250"/>
                    </a:cubicBezTo>
                    <a:lnTo>
                      <a:pt x="0" y="57150"/>
                    </a:lnTo>
                  </a:path>
                </a:pathLst>
              </a:custGeom>
              <a:noFill/>
              <a:ln w="38100">
                <a:solidFill>
                  <a:srgbClr val="F7FAFC"/>
                </a:solidFill>
              </a:ln>
            </p:spPr>
          </p:sp>
          <p:sp>
            <p:nvSpPr>
              <p:cNvPr id="8" name="Freeform 8"/>
              <p:cNvSpPr/>
              <p:nvPr/>
            </p:nvSpPr>
            <p:spPr>
              <a:xfrm>
                <a:off x="1238250" y="2190750"/>
                <a:ext cx="342900" cy="152400"/>
              </a:xfrm>
              <a:custGeom>
                <a:avLst/>
                <a:gdLst/>
                <a:ahLst/>
                <a:cxnLst/>
                <a:rect l="l" t="t" r="r" b="b"/>
                <a:pathLst>
                  <a:path w="342900" h="152400">
                    <a:moveTo>
                      <a:pt x="0" y="57150"/>
                    </a:moveTo>
                    <a:cubicBezTo>
                      <a:pt x="0" y="25587"/>
                      <a:pt x="25587" y="0"/>
                      <a:pt x="57150" y="0"/>
                    </a:cubicBezTo>
                    <a:lnTo>
                      <a:pt x="285750" y="0"/>
                    </a:lnTo>
                    <a:cubicBezTo>
                      <a:pt x="317313" y="0"/>
                      <a:pt x="342900" y="25587"/>
                      <a:pt x="342900" y="57150"/>
                    </a:cubicBezTo>
                    <a:lnTo>
                      <a:pt x="342900" y="95250"/>
                    </a:lnTo>
                    <a:cubicBezTo>
                      <a:pt x="342900" y="126813"/>
                      <a:pt x="317313" y="152400"/>
                      <a:pt x="285750" y="152400"/>
                    </a:cubicBezTo>
                    <a:lnTo>
                      <a:pt x="57150" y="152400"/>
                    </a:lnTo>
                    <a:cubicBezTo>
                      <a:pt x="25587" y="152400"/>
                      <a:pt x="0" y="126813"/>
                      <a:pt x="0" y="95250"/>
                    </a:cubicBezTo>
                    <a:lnTo>
                      <a:pt x="0" y="57150"/>
                    </a:lnTo>
                  </a:path>
                </a:pathLst>
              </a:custGeom>
              <a:noFill/>
              <a:ln w="38100">
                <a:solidFill>
                  <a:srgbClr val="F7FAFC"/>
                </a:solidFill>
              </a:ln>
            </p:spPr>
          </p:sp>
          <p:sp>
            <p:nvSpPr>
              <p:cNvPr id="9" name="Freeform 9"/>
              <p:cNvSpPr/>
              <p:nvPr/>
            </p:nvSpPr>
            <p:spPr>
              <a:xfrm>
                <a:off x="1314450" y="2114550"/>
                <a:ext cx="9525" cy="9525"/>
              </a:xfrm>
              <a:custGeom>
                <a:avLst/>
                <a:gdLst/>
                <a:ahLst/>
                <a:cxnLst/>
                <a:rect l="l" t="t" r="r" b="b"/>
                <a:pathLst>
                  <a:path w="9525" h="9525">
                    <a:moveTo>
                      <a:pt x="0" y="0"/>
                    </a:moveTo>
                    <a:lnTo>
                      <a:pt x="0" y="191"/>
                    </a:lnTo>
                  </a:path>
                </a:pathLst>
              </a:custGeom>
              <a:noFill/>
              <a:ln w="38100">
                <a:solidFill>
                  <a:srgbClr val="F7FAFC"/>
                </a:solidFill>
              </a:ln>
            </p:spPr>
          </p:sp>
          <p:sp>
            <p:nvSpPr>
              <p:cNvPr id="10" name="Freeform 10"/>
              <p:cNvSpPr/>
              <p:nvPr/>
            </p:nvSpPr>
            <p:spPr>
              <a:xfrm>
                <a:off x="1314450" y="2266950"/>
                <a:ext cx="9525" cy="9525"/>
              </a:xfrm>
              <a:custGeom>
                <a:avLst/>
                <a:gdLst/>
                <a:ahLst/>
                <a:cxnLst/>
                <a:rect l="l" t="t" r="r" b="b"/>
                <a:pathLst>
                  <a:path w="9525" h="9525">
                    <a:moveTo>
                      <a:pt x="0" y="0"/>
                    </a:moveTo>
                    <a:lnTo>
                      <a:pt x="0" y="191"/>
                    </a:lnTo>
                  </a:path>
                </a:pathLst>
              </a:custGeom>
              <a:noFill/>
              <a:ln w="38100">
                <a:solidFill>
                  <a:srgbClr val="F7FAFC"/>
                </a:solidFill>
              </a:ln>
            </p:spPr>
          </p:sp>
        </p:grpSp>
        <p:sp>
          <p:nvSpPr>
            <p:cNvPr id="12" name="TextBox 12"/>
            <p:cNvSpPr txBox="1"/>
            <p:nvPr/>
          </p:nvSpPr>
          <p:spPr>
            <a:xfrm>
              <a:off x="1857756" y="1901190"/>
              <a:ext cx="1298448"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Host plane</a:t>
              </a:r>
            </a:p>
          </p:txBody>
        </p:sp>
        <p:sp>
          <p:nvSpPr>
            <p:cNvPr id="13" name="TextBox 13"/>
            <p:cNvSpPr txBox="1"/>
            <p:nvPr/>
          </p:nvSpPr>
          <p:spPr>
            <a:xfrm>
              <a:off x="1860042" y="2273618"/>
              <a:ext cx="4809097" cy="264033"/>
            </a:xfrm>
            <a:prstGeom prst="rect">
              <a:avLst/>
            </a:prstGeom>
            <a:noFill/>
            <a:ln>
              <a:noFill/>
            </a:ln>
          </p:spPr>
          <p:txBody>
            <a:bodyPr wrap="none" lIns="0" tIns="0" rIns="0" bIns="0" anchor="t" anchorCtr="0">
              <a:spAutoFit/>
            </a:bodyPr>
            <a:lstStyle/>
            <a:p>
              <a:pPr algn="l"/>
              <a:r>
                <a:rPr lang="en-US" sz="1350" dirty="0">
                  <a:solidFill>
                    <a:srgbClr val="D7E0F1"/>
                  </a:solidFill>
                  <a:latin typeface="+mn-lt"/>
                  <a:ea typeface="+mn-ea"/>
                  <a:cs typeface="+mn-cs"/>
                </a:rPr>
                <a:t>Web · persistence · credentials · sandbox · providers</a:t>
              </a:r>
            </a:p>
          </p:txBody>
        </p:sp>
        <p:sp>
          <p:nvSpPr>
            <p:cNvPr id="14" name="TextBox 14"/>
            <p:cNvSpPr txBox="1"/>
            <p:nvPr/>
          </p:nvSpPr>
          <p:spPr>
            <a:xfrm>
              <a:off x="9132265" y="2102168"/>
              <a:ext cx="1828343" cy="264033"/>
            </a:xfrm>
            <a:prstGeom prst="rect">
              <a:avLst/>
            </a:prstGeom>
            <a:noFill/>
            <a:ln>
              <a:noFill/>
            </a:ln>
          </p:spPr>
          <p:txBody>
            <a:bodyPr wrap="none" lIns="0" tIns="0" rIns="0" bIns="0" anchor="t" anchorCtr="0">
              <a:spAutoFit/>
            </a:bodyPr>
            <a:lstStyle/>
            <a:p>
              <a:pPr algn="r"/>
              <a:r>
                <a:rPr lang="en-US" sz="1350" dirty="0">
                  <a:solidFill>
                    <a:srgbClr val="B9F4F7"/>
                  </a:solidFill>
                  <a:latin typeface="Cascadia Mono"/>
                  <a:ea typeface="Cascadia Mono"/>
                  <a:cs typeface="Cascadia Mono"/>
                </a:rPr>
                <a:t>PROCESS OWNERSHIP</a:t>
              </a:r>
            </a:p>
          </p:txBody>
        </p:sp>
        <p:sp>
          <p:nvSpPr>
            <p:cNvPr id="15" name="Rectangle 15"/>
            <p:cNvSpPr/>
            <p:nvPr/>
          </p:nvSpPr>
          <p:spPr>
            <a:xfrm>
              <a:off x="3086100" y="3048000"/>
              <a:ext cx="6019800" cy="1066800"/>
            </a:xfrm>
            <a:prstGeom prst="roundRect">
              <a:avLst>
                <a:gd name="adj" fmla="val 8929"/>
              </a:avLst>
            </a:prstGeom>
            <a:solidFill>
              <a:schemeClr val="accent3"/>
            </a:solidFill>
            <a:ln w="28575">
              <a:solidFill>
                <a:schemeClr val="accent2"/>
              </a:solidFill>
            </a:ln>
          </p:spPr>
        </p:sp>
        <p:grpSp>
          <p:nvGrpSpPr>
            <p:cNvPr id="20" name="Group 20"/>
            <p:cNvGrpSpPr/>
            <p:nvPr/>
          </p:nvGrpSpPr>
          <p:grpSpPr>
            <a:xfrm>
              <a:off x="3473450" y="3397250"/>
              <a:ext cx="330200" cy="330200"/>
              <a:chOff x="3473450" y="3397250"/>
              <a:chExt cx="330200" cy="330200"/>
            </a:xfrm>
          </p:grpSpPr>
          <p:sp>
            <p:nvSpPr>
              <p:cNvPr id="16" name="Freeform 16"/>
              <p:cNvSpPr/>
              <p:nvPr/>
            </p:nvSpPr>
            <p:spPr>
              <a:xfrm>
                <a:off x="3506578" y="3438525"/>
                <a:ext cx="255798" cy="255798"/>
              </a:xfrm>
              <a:custGeom>
                <a:avLst/>
                <a:gdLst/>
                <a:ahLst/>
                <a:cxnLst/>
                <a:rect l="l" t="t" r="r" b="b"/>
                <a:pathLst>
                  <a:path w="255798" h="255798">
                    <a:moveTo>
                      <a:pt x="86261" y="0"/>
                    </a:moveTo>
                    <a:lnTo>
                      <a:pt x="255798" y="169537"/>
                    </a:lnTo>
                    <a:lnTo>
                      <a:pt x="213409" y="211927"/>
                    </a:lnTo>
                    <a:cubicBezTo>
                      <a:pt x="183329" y="243210"/>
                      <a:pt x="138693" y="255798"/>
                      <a:pt x="96701" y="244840"/>
                    </a:cubicBezTo>
                    <a:cubicBezTo>
                      <a:pt x="54709" y="233882"/>
                      <a:pt x="21916" y="201089"/>
                      <a:pt x="10958" y="159097"/>
                    </a:cubicBezTo>
                    <a:cubicBezTo>
                      <a:pt x="0" y="117105"/>
                      <a:pt x="12588" y="72469"/>
                      <a:pt x="43871" y="42389"/>
                    </a:cubicBezTo>
                    <a:lnTo>
                      <a:pt x="86261" y="0"/>
                    </a:lnTo>
                  </a:path>
                </a:pathLst>
              </a:custGeom>
              <a:noFill/>
              <a:ln w="41275">
                <a:solidFill>
                  <a:srgbClr val="F7FAFC"/>
                </a:solidFill>
              </a:ln>
            </p:spPr>
          </p:sp>
          <p:sp>
            <p:nvSpPr>
              <p:cNvPr id="17" name="Freeform 17"/>
              <p:cNvSpPr/>
              <p:nvPr/>
            </p:nvSpPr>
            <p:spPr>
              <a:xfrm>
                <a:off x="3473450" y="3655219"/>
                <a:ext cx="72231" cy="72231"/>
              </a:xfrm>
              <a:custGeom>
                <a:avLst/>
                <a:gdLst/>
                <a:ahLst/>
                <a:cxnLst/>
                <a:rect l="l" t="t" r="r" b="b"/>
                <a:pathLst>
                  <a:path w="72231" h="72231">
                    <a:moveTo>
                      <a:pt x="0" y="72231"/>
                    </a:moveTo>
                    <a:lnTo>
                      <a:pt x="72231" y="0"/>
                    </a:lnTo>
                  </a:path>
                </a:pathLst>
              </a:custGeom>
              <a:noFill/>
              <a:ln w="41275">
                <a:solidFill>
                  <a:srgbClr val="F7FAFC"/>
                </a:solidFill>
              </a:ln>
            </p:spPr>
          </p:sp>
          <p:sp>
            <p:nvSpPr>
              <p:cNvPr id="18" name="Freeform 18"/>
              <p:cNvSpPr/>
              <p:nvPr/>
            </p:nvSpPr>
            <p:spPr>
              <a:xfrm>
                <a:off x="3628232" y="3397250"/>
                <a:ext cx="72231" cy="72231"/>
              </a:xfrm>
              <a:custGeom>
                <a:avLst/>
                <a:gdLst/>
                <a:ahLst/>
                <a:cxnLst/>
                <a:rect l="l" t="t" r="r" b="b"/>
                <a:pathLst>
                  <a:path w="72231" h="72231">
                    <a:moveTo>
                      <a:pt x="72231" y="0"/>
                    </a:moveTo>
                    <a:lnTo>
                      <a:pt x="0" y="72231"/>
                    </a:lnTo>
                  </a:path>
                </a:pathLst>
              </a:custGeom>
              <a:noFill/>
              <a:ln w="41275">
                <a:solidFill>
                  <a:srgbClr val="F7FAFC"/>
                </a:solidFill>
              </a:ln>
            </p:spPr>
          </p:sp>
          <p:sp>
            <p:nvSpPr>
              <p:cNvPr id="19" name="Freeform 19"/>
              <p:cNvSpPr/>
              <p:nvPr/>
            </p:nvSpPr>
            <p:spPr>
              <a:xfrm>
                <a:off x="3731419" y="3500438"/>
                <a:ext cx="72231" cy="72231"/>
              </a:xfrm>
              <a:custGeom>
                <a:avLst/>
                <a:gdLst/>
                <a:ahLst/>
                <a:cxnLst/>
                <a:rect l="l" t="t" r="r" b="b"/>
                <a:pathLst>
                  <a:path w="72231" h="72231">
                    <a:moveTo>
                      <a:pt x="72231" y="0"/>
                    </a:moveTo>
                    <a:lnTo>
                      <a:pt x="0" y="72231"/>
                    </a:lnTo>
                  </a:path>
                </a:pathLst>
              </a:custGeom>
              <a:noFill/>
              <a:ln w="41275">
                <a:solidFill>
                  <a:srgbClr val="F7FAFC"/>
                </a:solidFill>
              </a:ln>
            </p:spPr>
          </p:sp>
        </p:grpSp>
        <p:sp>
          <p:nvSpPr>
            <p:cNvPr id="21" name="TextBox 21"/>
            <p:cNvSpPr txBox="1"/>
            <p:nvPr/>
          </p:nvSpPr>
          <p:spPr>
            <a:xfrm>
              <a:off x="4105656" y="3272790"/>
              <a:ext cx="1650557"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Agent Preset</a:t>
              </a:r>
            </a:p>
          </p:txBody>
        </p:sp>
        <p:sp>
          <p:nvSpPr>
            <p:cNvPr id="22" name="TextBox 22"/>
            <p:cNvSpPr txBox="1"/>
            <p:nvPr/>
          </p:nvSpPr>
          <p:spPr>
            <a:xfrm>
              <a:off x="4107942" y="3645218"/>
              <a:ext cx="4702531" cy="264033"/>
            </a:xfrm>
            <a:prstGeom prst="rect">
              <a:avLst/>
            </a:prstGeom>
            <a:noFill/>
            <a:ln>
              <a:noFill/>
            </a:ln>
          </p:spPr>
          <p:txBody>
            <a:bodyPr wrap="none" lIns="0" tIns="0" rIns="0" bIns="0" anchor="t" anchorCtr="0">
              <a:spAutoFit/>
            </a:bodyPr>
            <a:lstStyle/>
            <a:p>
              <a:pPr algn="l"/>
              <a:r>
                <a:rPr lang="en-US" sz="1350" dirty="0">
                  <a:solidFill>
                    <a:srgbClr val="D7E0F1"/>
                  </a:solidFill>
                  <a:latin typeface="+mn-lt"/>
                  <a:ea typeface="+mn-ea"/>
                  <a:cs typeface="+mn-cs"/>
                </a:rPr>
                <a:t>one standing mount per process · shared capabilities</a:t>
              </a:r>
            </a:p>
          </p:txBody>
        </p:sp>
        <p:sp>
          <p:nvSpPr>
            <p:cNvPr id="23" name="TextBox 23"/>
            <p:cNvSpPr txBox="1"/>
            <p:nvPr/>
          </p:nvSpPr>
          <p:spPr>
            <a:xfrm>
              <a:off x="7210196" y="3492818"/>
              <a:ext cx="1578712" cy="264033"/>
            </a:xfrm>
            <a:prstGeom prst="rect">
              <a:avLst/>
            </a:prstGeom>
            <a:noFill/>
            <a:ln>
              <a:noFill/>
            </a:ln>
          </p:spPr>
          <p:txBody>
            <a:bodyPr wrap="none" lIns="0" tIns="0" rIns="0" bIns="0" anchor="t" anchorCtr="0">
              <a:spAutoFit/>
            </a:bodyPr>
            <a:lstStyle/>
            <a:p>
              <a:pPr algn="r"/>
              <a:r>
                <a:rPr lang="en-US" sz="1350" dirty="0">
                  <a:solidFill>
                    <a:srgbClr val="B9F4F7"/>
                  </a:solidFill>
                  <a:latin typeface="Cascadia Mono"/>
                  <a:ea typeface="Cascadia Mono"/>
                  <a:cs typeface="Cascadia Mono"/>
                </a:rPr>
                <a:t>ONE SHARED NODE</a:t>
              </a:r>
            </a:p>
          </p:txBody>
        </p:sp>
        <p:sp>
          <p:nvSpPr>
            <p:cNvPr id="24" name="Line 24"/>
            <p:cNvSpPr/>
            <p:nvPr/>
          </p:nvSpPr>
          <p:spPr>
            <a:xfrm flipH="1">
              <a:off x="3390900" y="4114800"/>
              <a:ext cx="1371600" cy="571500"/>
            </a:xfrm>
            <a:prstGeom prst="line">
              <a:avLst/>
            </a:prstGeom>
            <a:noFill/>
            <a:ln w="28575">
              <a:solidFill>
                <a:schemeClr val="accent2"/>
              </a:solidFill>
              <a:tailEnd type="triangle" w="lg" len="lg"/>
            </a:ln>
          </p:spPr>
        </p:sp>
        <p:sp>
          <p:nvSpPr>
            <p:cNvPr id="25" name="Line 25"/>
            <p:cNvSpPr/>
            <p:nvPr/>
          </p:nvSpPr>
          <p:spPr>
            <a:xfrm>
              <a:off x="7429500" y="4114800"/>
              <a:ext cx="1371600" cy="571500"/>
            </a:xfrm>
            <a:prstGeom prst="line">
              <a:avLst/>
            </a:prstGeom>
            <a:noFill/>
            <a:ln w="28575">
              <a:solidFill>
                <a:schemeClr val="accent2"/>
              </a:solidFill>
              <a:tailEnd type="triangle" w="lg" len="lg"/>
            </a:ln>
          </p:spPr>
        </p:sp>
        <p:sp>
          <p:nvSpPr>
            <p:cNvPr id="26" name="TextBox 26"/>
            <p:cNvSpPr txBox="1"/>
            <p:nvPr/>
          </p:nvSpPr>
          <p:spPr>
            <a:xfrm>
              <a:off x="3750926" y="4292918"/>
              <a:ext cx="613448" cy="264033"/>
            </a:xfrm>
            <a:prstGeom prst="rect">
              <a:avLst/>
            </a:prstGeom>
            <a:noFill/>
            <a:ln>
              <a:noFill/>
            </a:ln>
          </p:spPr>
          <p:txBody>
            <a:bodyPr wrap="none" lIns="0" tIns="0" rIns="0" bIns="0" anchor="t" anchorCtr="0">
              <a:spAutoFit/>
            </a:bodyPr>
            <a:lstStyle/>
            <a:p>
              <a:pPr algn="ctr"/>
              <a:r>
                <a:rPr lang="en-US" sz="1350" dirty="0">
                  <a:solidFill>
                    <a:schemeClr val="accent3"/>
                  </a:solidFill>
                  <a:latin typeface="Cascadia Mono"/>
                  <a:ea typeface="Cascadia Mono"/>
                  <a:cs typeface="Cascadia Mono"/>
                </a:rPr>
                <a:t>parent</a:t>
              </a:r>
            </a:p>
          </p:txBody>
        </p:sp>
        <p:sp>
          <p:nvSpPr>
            <p:cNvPr id="27" name="TextBox 27"/>
            <p:cNvSpPr txBox="1"/>
            <p:nvPr/>
          </p:nvSpPr>
          <p:spPr>
            <a:xfrm>
              <a:off x="7827626" y="4292918"/>
              <a:ext cx="613448" cy="264033"/>
            </a:xfrm>
            <a:prstGeom prst="rect">
              <a:avLst/>
            </a:prstGeom>
            <a:noFill/>
            <a:ln>
              <a:noFill/>
            </a:ln>
          </p:spPr>
          <p:txBody>
            <a:bodyPr wrap="none" lIns="0" tIns="0" rIns="0" bIns="0" anchor="t" anchorCtr="0">
              <a:spAutoFit/>
            </a:bodyPr>
            <a:lstStyle/>
            <a:p>
              <a:pPr algn="ctr"/>
              <a:r>
                <a:rPr lang="en-US" sz="1350" dirty="0">
                  <a:solidFill>
                    <a:schemeClr val="accent3"/>
                  </a:solidFill>
                  <a:latin typeface="Cascadia Mono"/>
                  <a:ea typeface="Cascadia Mono"/>
                  <a:cs typeface="Cascadia Mono"/>
                </a:rPr>
                <a:t>parent</a:t>
              </a:r>
            </a:p>
          </p:txBody>
        </p:sp>
        <p:sp>
          <p:nvSpPr>
            <p:cNvPr id="28" name="Rectangle 28"/>
            <p:cNvSpPr/>
            <p:nvPr/>
          </p:nvSpPr>
          <p:spPr>
            <a:xfrm>
              <a:off x="1485900" y="4686300"/>
              <a:ext cx="3810000" cy="990600"/>
            </a:xfrm>
            <a:prstGeom prst="roundRect">
              <a:avLst>
                <a:gd name="adj" fmla="val 7692"/>
              </a:avLst>
            </a:prstGeom>
            <a:solidFill>
              <a:schemeClr val="lt2"/>
            </a:solidFill>
            <a:ln w="19050">
              <a:solidFill>
                <a:schemeClr val="accent3"/>
              </a:solidFill>
            </a:ln>
          </p:spPr>
        </p:sp>
        <p:sp>
          <p:nvSpPr>
            <p:cNvPr id="29" name="Rectangle 29"/>
            <p:cNvSpPr/>
            <p:nvPr/>
          </p:nvSpPr>
          <p:spPr>
            <a:xfrm>
              <a:off x="6896100" y="4686300"/>
              <a:ext cx="3810000" cy="990600"/>
            </a:xfrm>
            <a:prstGeom prst="roundRect">
              <a:avLst>
                <a:gd name="adj" fmla="val 7692"/>
              </a:avLst>
            </a:prstGeom>
            <a:solidFill>
              <a:schemeClr val="lt2"/>
            </a:solidFill>
            <a:ln w="19050">
              <a:solidFill>
                <a:schemeClr val="accent3"/>
              </a:solidFill>
            </a:ln>
          </p:spPr>
        </p:sp>
        <p:grpSp>
          <p:nvGrpSpPr>
            <p:cNvPr id="33" name="Group 33"/>
            <p:cNvGrpSpPr/>
            <p:nvPr/>
          </p:nvGrpSpPr>
          <p:grpSpPr>
            <a:xfrm>
              <a:off x="1819275" y="5003006"/>
              <a:ext cx="266700" cy="300038"/>
              <a:chOff x="1819275" y="5003006"/>
              <a:chExt cx="266700" cy="300038"/>
            </a:xfrm>
          </p:grpSpPr>
          <p:sp>
            <p:nvSpPr>
              <p:cNvPr id="30" name="Freeform 30"/>
              <p:cNvSpPr/>
              <p:nvPr/>
            </p:nvSpPr>
            <p:spPr>
              <a:xfrm>
                <a:off x="1819275" y="5003006"/>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33338">
                <a:solidFill>
                  <a:schemeClr val="accent3"/>
                </a:solidFill>
              </a:ln>
            </p:spPr>
          </p:sp>
          <p:sp>
            <p:nvSpPr>
              <p:cNvPr id="31" name="Freeform 31"/>
              <p:cNvSpPr/>
              <p:nvPr/>
            </p:nvSpPr>
            <p:spPr>
              <a:xfrm>
                <a:off x="1819275" y="5053012"/>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3"/>
                </a:solidFill>
              </a:ln>
            </p:spPr>
          </p:sp>
          <p:sp>
            <p:nvSpPr>
              <p:cNvPr id="32" name="Freeform 32"/>
              <p:cNvSpPr/>
              <p:nvPr/>
            </p:nvSpPr>
            <p:spPr>
              <a:xfrm>
                <a:off x="1819275" y="5153025"/>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3"/>
                </a:solidFill>
              </a:ln>
            </p:spPr>
          </p:sp>
        </p:grpSp>
        <p:grpSp>
          <p:nvGrpSpPr>
            <p:cNvPr id="37" name="Group 37"/>
            <p:cNvGrpSpPr/>
            <p:nvPr/>
          </p:nvGrpSpPr>
          <p:grpSpPr>
            <a:xfrm>
              <a:off x="7229475" y="5003006"/>
              <a:ext cx="266700" cy="300038"/>
              <a:chOff x="7229475" y="5003006"/>
              <a:chExt cx="266700" cy="300038"/>
            </a:xfrm>
          </p:grpSpPr>
          <p:sp>
            <p:nvSpPr>
              <p:cNvPr id="34" name="Freeform 34"/>
              <p:cNvSpPr/>
              <p:nvPr/>
            </p:nvSpPr>
            <p:spPr>
              <a:xfrm>
                <a:off x="7229475" y="5003006"/>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33338">
                <a:solidFill>
                  <a:schemeClr val="accent3"/>
                </a:solidFill>
              </a:ln>
            </p:spPr>
          </p:sp>
          <p:sp>
            <p:nvSpPr>
              <p:cNvPr id="35" name="Freeform 35"/>
              <p:cNvSpPr/>
              <p:nvPr/>
            </p:nvSpPr>
            <p:spPr>
              <a:xfrm>
                <a:off x="7229475" y="5053012"/>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3"/>
                </a:solidFill>
              </a:ln>
            </p:spPr>
          </p:sp>
          <p:sp>
            <p:nvSpPr>
              <p:cNvPr id="36" name="Freeform 36"/>
              <p:cNvSpPr/>
              <p:nvPr/>
            </p:nvSpPr>
            <p:spPr>
              <a:xfrm>
                <a:off x="7229475" y="5153025"/>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3"/>
                </a:solidFill>
              </a:ln>
            </p:spPr>
          </p:sp>
        </p:grpSp>
        <p:sp>
          <p:nvSpPr>
            <p:cNvPr id="38" name="TextBox 38"/>
            <p:cNvSpPr txBox="1"/>
            <p:nvPr/>
          </p:nvSpPr>
          <p:spPr>
            <a:xfrm>
              <a:off x="2372106" y="4949190"/>
              <a:ext cx="294617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Session A · Agent scope</a:t>
              </a:r>
            </a:p>
          </p:txBody>
        </p:sp>
        <p:sp>
          <p:nvSpPr>
            <p:cNvPr id="39" name="TextBox 39"/>
            <p:cNvSpPr txBox="1"/>
            <p:nvPr/>
          </p:nvSpPr>
          <p:spPr>
            <a:xfrm>
              <a:off x="2374392" y="5302568"/>
              <a:ext cx="372115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agent-preset/selected event · own state</a:t>
              </a:r>
            </a:p>
          </p:txBody>
        </p:sp>
        <p:sp>
          <p:nvSpPr>
            <p:cNvPr id="40" name="TextBox 40"/>
            <p:cNvSpPr txBox="1"/>
            <p:nvPr/>
          </p:nvSpPr>
          <p:spPr>
            <a:xfrm>
              <a:off x="7782306" y="4949190"/>
              <a:ext cx="294617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Session B · Agent scope</a:t>
              </a:r>
            </a:p>
          </p:txBody>
        </p:sp>
        <p:sp>
          <p:nvSpPr>
            <p:cNvPr id="41" name="TextBox 41"/>
            <p:cNvSpPr txBox="1"/>
            <p:nvPr/>
          </p:nvSpPr>
          <p:spPr>
            <a:xfrm>
              <a:off x="7784592" y="5302568"/>
              <a:ext cx="372115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agent-preset/selected event · own state</a:t>
              </a:r>
            </a:p>
          </p:txBody>
        </p:sp>
      </p:grpSp>
      <p:grpSp>
        <p:nvGrpSpPr>
          <p:cNvPr id="45" name="Group 45"/>
          <p:cNvGrpSpPr/>
          <p:nvPr/>
        </p:nvGrpSpPr>
        <p:grpSpPr>
          <a:xfrm>
            <a:off x="609600" y="5778818"/>
            <a:ext cx="8383925" cy="264033"/>
            <a:chOff x="609600" y="5778818"/>
            <a:chExt cx="8383925" cy="264033"/>
          </a:xfrm>
        </p:grpSpPr>
        <p:sp>
          <p:nvSpPr>
            <p:cNvPr id="43" name="Line 43"/>
            <p:cNvSpPr/>
            <p:nvPr/>
          </p:nvSpPr>
          <p:spPr>
            <a:xfrm>
              <a:off x="609600" y="5848350"/>
              <a:ext cx="209550" cy="9525"/>
            </a:xfrm>
            <a:custGeom>
              <a:avLst/>
              <a:gdLst/>
              <a:ahLst/>
              <a:cxnLst/>
              <a:rect l="l" t="t" r="r" b="b"/>
              <a:pathLst>
                <a:path w="209550" h="9525">
                  <a:moveTo>
                    <a:pt x="0" y="0"/>
                  </a:moveTo>
                  <a:lnTo>
                    <a:pt x="209550" y="0"/>
                  </a:lnTo>
                </a:path>
              </a:pathLst>
            </a:custGeom>
            <a:noFill/>
            <a:ln w="47625">
              <a:solidFill>
                <a:schemeClr val="accent6"/>
              </a:solidFill>
            </a:ln>
          </p:spPr>
        </p:sp>
        <p:sp>
          <p:nvSpPr>
            <p:cNvPr id="44" name="TextBox 44"/>
            <p:cNvSpPr txBox="1"/>
            <p:nvPr/>
          </p:nvSpPr>
          <p:spPr>
            <a:xfrm>
              <a:off x="983742" y="5778818"/>
              <a:ext cx="8009783"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Mutable state in a shared Preset must be keyed by Session or another explicit owner.</a:t>
              </a:r>
            </a:p>
          </p:txBody>
        </p:sp>
      </p:grpSp>
      <p:grpSp>
        <p:nvGrpSpPr>
          <p:cNvPr id="48" name="Group 48"/>
          <p:cNvGrpSpPr/>
          <p:nvPr/>
        </p:nvGrpSpPr>
        <p:grpSpPr>
          <a:xfrm>
            <a:off x="602742" y="6293168"/>
            <a:ext cx="10986516" cy="264033"/>
            <a:chOff x="602742" y="6293168"/>
            <a:chExt cx="10986516" cy="264033"/>
          </a:xfrm>
        </p:grpSpPr>
        <p:sp>
          <p:nvSpPr>
            <p:cNvPr id="46" name="TextBox 46"/>
            <p:cNvSpPr txBox="1"/>
            <p:nvPr/>
          </p:nvSpPr>
          <p:spPr>
            <a:xfrm>
              <a:off x="602742" y="6293168"/>
              <a:ext cx="475670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K-005 · K-006 | STANDING PRESET · SESSION INSTANCE</a:t>
              </a:r>
            </a:p>
          </p:txBody>
        </p:sp>
        <p:sp>
          <p:nvSpPr>
            <p:cNvPr id="47" name="TextBox 47"/>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P08 / 24</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7000"/>
              </a:schemeClr>
            </a:solidFill>
          </a:ln>
        </p:spPr>
      </p:sp>
      <p:grpSp>
        <p:nvGrpSpPr>
          <p:cNvPr id="5" name="Group 5"/>
          <p:cNvGrpSpPr/>
          <p:nvPr/>
        </p:nvGrpSpPr>
        <p:grpSpPr>
          <a:xfrm>
            <a:off x="593598" y="482918"/>
            <a:ext cx="8550974" cy="955167"/>
            <a:chOff x="593598" y="482918"/>
            <a:chExt cx="8550974" cy="955167"/>
          </a:xfrm>
        </p:grpSpPr>
        <p:sp>
          <p:nvSpPr>
            <p:cNvPr id="3" name="TextBox 3"/>
            <p:cNvSpPr txBox="1"/>
            <p:nvPr/>
          </p:nvSpPr>
          <p:spPr>
            <a:xfrm>
              <a:off x="602742" y="482918"/>
              <a:ext cx="4209440"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PROFILE RESOLUTION / ORDERED OVERLAYS</a:t>
              </a:r>
            </a:p>
          </p:txBody>
        </p:sp>
        <p:sp>
          <p:nvSpPr>
            <p:cNvPr id="4" name="TextBox 4"/>
            <p:cNvSpPr txBox="1"/>
            <p:nvPr/>
          </p:nvSpPr>
          <p:spPr>
            <a:xfrm>
              <a:off x="593598" y="822008"/>
              <a:ext cx="8550974"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Four ordered layers define the runtime</a:t>
              </a:r>
            </a:p>
          </p:txBody>
        </p:sp>
      </p:grpSp>
      <p:grpSp>
        <p:nvGrpSpPr>
          <p:cNvPr id="26" name="Group 26"/>
          <p:cNvGrpSpPr/>
          <p:nvPr/>
        </p:nvGrpSpPr>
        <p:grpSpPr>
          <a:xfrm>
            <a:off x="1002792" y="1828800"/>
            <a:ext cx="7817358" cy="4061651"/>
            <a:chOff x="1002792" y="1828800"/>
            <a:chExt cx="7817358" cy="4061651"/>
          </a:xfrm>
        </p:grpSpPr>
        <p:sp>
          <p:nvSpPr>
            <p:cNvPr id="6" name="Rectangle 6"/>
            <p:cNvSpPr/>
            <p:nvPr/>
          </p:nvSpPr>
          <p:spPr>
            <a:xfrm>
              <a:off x="1009650" y="4171950"/>
              <a:ext cx="4953000" cy="1181100"/>
            </a:xfrm>
            <a:prstGeom prst="roundRect">
              <a:avLst>
                <a:gd name="adj" fmla="val 6452"/>
              </a:avLst>
            </a:prstGeom>
            <a:solidFill>
              <a:schemeClr val="lt2"/>
            </a:solidFill>
            <a:ln w="19050">
              <a:solidFill>
                <a:schemeClr val="accent3"/>
              </a:solidFill>
            </a:ln>
          </p:spPr>
        </p:sp>
        <p:sp>
          <p:nvSpPr>
            <p:cNvPr id="7" name="Rectangle 7"/>
            <p:cNvSpPr/>
            <p:nvPr/>
          </p:nvSpPr>
          <p:spPr>
            <a:xfrm>
              <a:off x="1962150" y="3390900"/>
              <a:ext cx="4953000" cy="1181100"/>
            </a:xfrm>
            <a:prstGeom prst="roundRect">
              <a:avLst>
                <a:gd name="adj" fmla="val 6452"/>
              </a:avLst>
            </a:prstGeom>
            <a:solidFill>
              <a:srgbClr val="C9D5F0">
                <a:alpha val="90000"/>
              </a:srgbClr>
            </a:solidFill>
            <a:ln w="19050">
              <a:solidFill>
                <a:schemeClr val="accent3"/>
              </a:solidFill>
            </a:ln>
          </p:spPr>
        </p:sp>
        <p:sp>
          <p:nvSpPr>
            <p:cNvPr id="8" name="Rectangle 8"/>
            <p:cNvSpPr/>
            <p:nvPr/>
          </p:nvSpPr>
          <p:spPr>
            <a:xfrm>
              <a:off x="2914650" y="2609850"/>
              <a:ext cx="4953000" cy="1181100"/>
            </a:xfrm>
            <a:prstGeom prst="roundRect">
              <a:avLst>
                <a:gd name="adj" fmla="val 6452"/>
              </a:avLst>
            </a:prstGeom>
            <a:solidFill>
              <a:srgbClr val="AAB9E3">
                <a:alpha val="90000"/>
              </a:srgbClr>
            </a:solidFill>
            <a:ln w="19050">
              <a:solidFill>
                <a:schemeClr val="accent3"/>
              </a:solidFill>
            </a:ln>
          </p:spPr>
        </p:sp>
        <p:sp>
          <p:nvSpPr>
            <p:cNvPr id="9" name="Rectangle 9"/>
            <p:cNvSpPr/>
            <p:nvPr/>
          </p:nvSpPr>
          <p:spPr>
            <a:xfrm>
              <a:off x="3867150" y="1828800"/>
              <a:ext cx="4953000" cy="1181100"/>
            </a:xfrm>
            <a:prstGeom prst="roundRect">
              <a:avLst>
                <a:gd name="adj" fmla="val 6452"/>
              </a:avLst>
            </a:prstGeom>
            <a:solidFill>
              <a:schemeClr val="lt1"/>
            </a:solidFill>
            <a:ln w="38100">
              <a:solidFill>
                <a:schemeClr val="accent2"/>
              </a:solidFill>
            </a:ln>
          </p:spPr>
        </p:sp>
        <p:sp>
          <p:nvSpPr>
            <p:cNvPr id="10" name="TextBox 10"/>
            <p:cNvSpPr txBox="1"/>
            <p:nvPr/>
          </p:nvSpPr>
          <p:spPr>
            <a:xfrm>
              <a:off x="1269492" y="4369118"/>
              <a:ext cx="1243630"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Cascadia Mono"/>
                  <a:ea typeface="Cascadia Mono"/>
                  <a:cs typeface="Cascadia Mono"/>
                </a:rPr>
                <a:t>01 / BUNDLES</a:t>
              </a:r>
            </a:p>
          </p:txBody>
        </p:sp>
        <p:sp>
          <p:nvSpPr>
            <p:cNvPr id="11" name="TextBox 11"/>
            <p:cNvSpPr txBox="1"/>
            <p:nvPr/>
          </p:nvSpPr>
          <p:spPr>
            <a:xfrm>
              <a:off x="1267206" y="4701540"/>
              <a:ext cx="2214142"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Reusable defaults</a:t>
              </a:r>
            </a:p>
          </p:txBody>
        </p:sp>
        <p:sp>
          <p:nvSpPr>
            <p:cNvPr id="12" name="TextBox 12"/>
            <p:cNvSpPr txBox="1"/>
            <p:nvPr/>
          </p:nvSpPr>
          <p:spPr>
            <a:xfrm>
              <a:off x="1269492" y="5035868"/>
              <a:ext cx="315479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baseline model, Tool, and policy set</a:t>
              </a:r>
            </a:p>
          </p:txBody>
        </p:sp>
        <p:sp>
          <p:nvSpPr>
            <p:cNvPr id="13" name="TextBox 13"/>
            <p:cNvSpPr txBox="1"/>
            <p:nvPr/>
          </p:nvSpPr>
          <p:spPr>
            <a:xfrm>
              <a:off x="2221992" y="3588068"/>
              <a:ext cx="184850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Cascadia Mono"/>
                  <a:ea typeface="Cascadia Mono"/>
                  <a:cs typeface="Cascadia Mono"/>
                </a:rPr>
                <a:t>02 / PROFILE PATCH</a:t>
              </a:r>
            </a:p>
          </p:txBody>
        </p:sp>
        <p:sp>
          <p:nvSpPr>
            <p:cNvPr id="14" name="TextBox 14"/>
            <p:cNvSpPr txBox="1"/>
            <p:nvPr/>
          </p:nvSpPr>
          <p:spPr>
            <a:xfrm>
              <a:off x="2219706" y="3920490"/>
              <a:ext cx="314309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Product or role selection</a:t>
              </a:r>
            </a:p>
          </p:txBody>
        </p:sp>
        <p:sp>
          <p:nvSpPr>
            <p:cNvPr id="15" name="TextBox 15"/>
            <p:cNvSpPr txBox="1"/>
            <p:nvPr/>
          </p:nvSpPr>
          <p:spPr>
            <a:xfrm>
              <a:off x="2221992" y="4254818"/>
              <a:ext cx="287607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explicit workflow-level override</a:t>
              </a:r>
            </a:p>
          </p:txBody>
        </p:sp>
        <p:sp>
          <p:nvSpPr>
            <p:cNvPr id="16" name="TextBox 16"/>
            <p:cNvSpPr txBox="1"/>
            <p:nvPr/>
          </p:nvSpPr>
          <p:spPr>
            <a:xfrm>
              <a:off x="3174492" y="2807018"/>
              <a:ext cx="160655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Cascadia Mono"/>
                  <a:ea typeface="Cascadia Mono"/>
                  <a:cs typeface="Cascadia Mono"/>
                </a:rPr>
                <a:t>03 / HOME PATCH</a:t>
              </a:r>
            </a:p>
          </p:txBody>
        </p:sp>
        <p:sp>
          <p:nvSpPr>
            <p:cNvPr id="17" name="TextBox 17"/>
            <p:cNvSpPr txBox="1"/>
            <p:nvPr/>
          </p:nvSpPr>
          <p:spPr>
            <a:xfrm>
              <a:off x="3172206" y="3139440"/>
              <a:ext cx="271054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Durable user override</a:t>
              </a:r>
            </a:p>
          </p:txBody>
        </p:sp>
        <p:sp>
          <p:nvSpPr>
            <p:cNvPr id="18" name="TextBox 18"/>
            <p:cNvSpPr txBox="1"/>
            <p:nvPr/>
          </p:nvSpPr>
          <p:spPr>
            <a:xfrm>
              <a:off x="3174492" y="3473768"/>
              <a:ext cx="293059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personal preference across runs</a:t>
              </a:r>
            </a:p>
          </p:txBody>
        </p:sp>
        <p:grpSp>
          <p:nvGrpSpPr>
            <p:cNvPr id="21" name="Group 21"/>
            <p:cNvGrpSpPr/>
            <p:nvPr/>
          </p:nvGrpSpPr>
          <p:grpSpPr>
            <a:xfrm>
              <a:off x="4174506" y="2079006"/>
              <a:ext cx="299689" cy="299689"/>
              <a:chOff x="4174506" y="2079006"/>
              <a:chExt cx="299689" cy="299689"/>
            </a:xfrm>
          </p:grpSpPr>
          <p:sp>
            <p:nvSpPr>
              <p:cNvPr id="19" name="Freeform 19"/>
              <p:cNvSpPr/>
              <p:nvPr/>
            </p:nvSpPr>
            <p:spPr>
              <a:xfrm>
                <a:off x="4174506" y="2079006"/>
                <a:ext cx="299689" cy="299689"/>
              </a:xfrm>
              <a:custGeom>
                <a:avLst/>
                <a:gdLst/>
                <a:ahLst/>
                <a:cxnLst/>
                <a:rect l="l" t="t" r="r" b="b"/>
                <a:pathLst>
                  <a:path w="299689" h="299689">
                    <a:moveTo>
                      <a:pt x="123254" y="27877"/>
                    </a:moveTo>
                    <a:cubicBezTo>
                      <a:pt x="130017" y="0"/>
                      <a:pt x="169672" y="0"/>
                      <a:pt x="176435" y="27877"/>
                    </a:cubicBezTo>
                    <a:cubicBezTo>
                      <a:pt x="178493" y="36371"/>
                      <a:pt x="184484" y="43371"/>
                      <a:pt x="192559" y="46716"/>
                    </a:cubicBezTo>
                    <a:cubicBezTo>
                      <a:pt x="200633" y="50061"/>
                      <a:pt x="209819" y="49349"/>
                      <a:pt x="217282" y="44799"/>
                    </a:cubicBezTo>
                    <a:cubicBezTo>
                      <a:pt x="241777" y="29877"/>
                      <a:pt x="269828" y="57912"/>
                      <a:pt x="254905" y="82423"/>
                    </a:cubicBezTo>
                    <a:cubicBezTo>
                      <a:pt x="250362" y="89882"/>
                      <a:pt x="249652" y="99061"/>
                      <a:pt x="252993" y="107131"/>
                    </a:cubicBezTo>
                    <a:cubicBezTo>
                      <a:pt x="256334" y="115200"/>
                      <a:pt x="263326" y="121190"/>
                      <a:pt x="271812" y="123254"/>
                    </a:cubicBezTo>
                    <a:cubicBezTo>
                      <a:pt x="299689" y="130017"/>
                      <a:pt x="299689" y="169672"/>
                      <a:pt x="271812" y="176435"/>
                    </a:cubicBezTo>
                    <a:cubicBezTo>
                      <a:pt x="263318" y="178493"/>
                      <a:pt x="256318" y="184484"/>
                      <a:pt x="252973" y="192559"/>
                    </a:cubicBezTo>
                    <a:cubicBezTo>
                      <a:pt x="249627" y="200633"/>
                      <a:pt x="250340" y="209819"/>
                      <a:pt x="254890" y="217282"/>
                    </a:cubicBezTo>
                    <a:cubicBezTo>
                      <a:pt x="269812" y="241777"/>
                      <a:pt x="241777" y="269828"/>
                      <a:pt x="217266" y="254905"/>
                    </a:cubicBezTo>
                    <a:cubicBezTo>
                      <a:pt x="209807" y="250362"/>
                      <a:pt x="200627" y="249652"/>
                      <a:pt x="192558" y="252993"/>
                    </a:cubicBezTo>
                    <a:cubicBezTo>
                      <a:pt x="184489" y="256334"/>
                      <a:pt x="178499" y="263326"/>
                      <a:pt x="176435" y="271812"/>
                    </a:cubicBezTo>
                    <a:cubicBezTo>
                      <a:pt x="169672" y="299689"/>
                      <a:pt x="130017" y="299689"/>
                      <a:pt x="123254" y="271812"/>
                    </a:cubicBezTo>
                    <a:cubicBezTo>
                      <a:pt x="121196" y="263318"/>
                      <a:pt x="115205" y="256318"/>
                      <a:pt x="107130" y="252973"/>
                    </a:cubicBezTo>
                    <a:cubicBezTo>
                      <a:pt x="99056" y="249627"/>
                      <a:pt x="89869" y="250340"/>
                      <a:pt x="82407" y="254890"/>
                    </a:cubicBezTo>
                    <a:cubicBezTo>
                      <a:pt x="57912" y="269812"/>
                      <a:pt x="29861" y="241777"/>
                      <a:pt x="44783" y="217266"/>
                    </a:cubicBezTo>
                    <a:cubicBezTo>
                      <a:pt x="49327" y="209807"/>
                      <a:pt x="50037" y="200627"/>
                      <a:pt x="46696" y="192558"/>
                    </a:cubicBezTo>
                    <a:cubicBezTo>
                      <a:pt x="43355" y="184489"/>
                      <a:pt x="36363" y="178499"/>
                      <a:pt x="27877" y="176435"/>
                    </a:cubicBezTo>
                    <a:cubicBezTo>
                      <a:pt x="0" y="169672"/>
                      <a:pt x="0" y="130017"/>
                      <a:pt x="27877" y="123254"/>
                    </a:cubicBezTo>
                    <a:cubicBezTo>
                      <a:pt x="36371" y="121196"/>
                      <a:pt x="43371" y="115205"/>
                      <a:pt x="46716" y="107130"/>
                    </a:cubicBezTo>
                    <a:cubicBezTo>
                      <a:pt x="50061" y="99056"/>
                      <a:pt x="49349" y="89869"/>
                      <a:pt x="44799" y="82407"/>
                    </a:cubicBezTo>
                    <a:cubicBezTo>
                      <a:pt x="29877" y="57912"/>
                      <a:pt x="57912" y="29861"/>
                      <a:pt x="82423" y="44783"/>
                    </a:cubicBezTo>
                    <a:cubicBezTo>
                      <a:pt x="98298" y="54435"/>
                      <a:pt x="118872" y="45895"/>
                      <a:pt x="123254" y="27877"/>
                    </a:cubicBezTo>
                  </a:path>
                </a:pathLst>
              </a:custGeom>
              <a:noFill/>
              <a:ln w="31750">
                <a:solidFill>
                  <a:schemeClr val="accent2"/>
                </a:solidFill>
              </a:ln>
            </p:spPr>
          </p:sp>
          <p:sp>
            <p:nvSpPr>
              <p:cNvPr id="20" name="Freeform 20"/>
              <p:cNvSpPr/>
              <p:nvPr/>
            </p:nvSpPr>
            <p:spPr>
              <a:xfrm>
                <a:off x="4276725" y="2181225"/>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31750">
                <a:solidFill>
                  <a:schemeClr val="accent2"/>
                </a:solidFill>
              </a:ln>
            </p:spPr>
          </p:sp>
        </p:grpSp>
        <p:sp>
          <p:nvSpPr>
            <p:cNvPr id="22" name="TextBox 22"/>
            <p:cNvSpPr txBox="1"/>
            <p:nvPr/>
          </p:nvSpPr>
          <p:spPr>
            <a:xfrm>
              <a:off x="4660392" y="2102168"/>
              <a:ext cx="1177741"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Cascadia Mono"/>
                  <a:ea typeface="Cascadia Mono"/>
                  <a:cs typeface="Cascadia Mono"/>
                </a:rPr>
                <a:t>04 / --patch</a:t>
              </a:r>
            </a:p>
          </p:txBody>
        </p:sp>
        <p:sp>
          <p:nvSpPr>
            <p:cNvPr id="23" name="TextBox 23"/>
            <p:cNvSpPr txBox="1"/>
            <p:nvPr/>
          </p:nvSpPr>
          <p:spPr>
            <a:xfrm>
              <a:off x="4124706" y="2491740"/>
              <a:ext cx="2965292"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Temporary run override</a:t>
              </a:r>
            </a:p>
          </p:txBody>
        </p:sp>
        <p:sp>
          <p:nvSpPr>
            <p:cNvPr id="24" name="TextBox 24"/>
            <p:cNvSpPr txBox="1"/>
            <p:nvPr/>
          </p:nvSpPr>
          <p:spPr>
            <a:xfrm>
              <a:off x="4126992" y="2807018"/>
              <a:ext cx="300329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closest to this user and this task</a:t>
              </a:r>
            </a:p>
          </p:txBody>
        </p:sp>
        <p:sp>
          <p:nvSpPr>
            <p:cNvPr id="25" name="TextBox 25"/>
            <p:cNvSpPr txBox="1"/>
            <p:nvPr/>
          </p:nvSpPr>
          <p:spPr>
            <a:xfrm>
              <a:off x="1002792" y="5626418"/>
              <a:ext cx="5067356"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Later layers override earlier ones; order is behavior.</a:t>
              </a:r>
            </a:p>
          </p:txBody>
        </p:sp>
      </p:grpSp>
      <p:grpSp>
        <p:nvGrpSpPr>
          <p:cNvPr id="44" name="Group 44"/>
          <p:cNvGrpSpPr/>
          <p:nvPr/>
        </p:nvGrpSpPr>
        <p:grpSpPr>
          <a:xfrm>
            <a:off x="8858250" y="2343150"/>
            <a:ext cx="2718007" cy="2937701"/>
            <a:chOff x="8858250" y="2343150"/>
            <a:chExt cx="2718007" cy="2937701"/>
          </a:xfrm>
        </p:grpSpPr>
        <p:sp>
          <p:nvSpPr>
            <p:cNvPr id="27" name="Freeform 27"/>
            <p:cNvSpPr/>
            <p:nvPr/>
          </p:nvSpPr>
          <p:spPr>
            <a:xfrm>
              <a:off x="8858250" y="3048000"/>
              <a:ext cx="552450" cy="9525"/>
            </a:xfrm>
            <a:custGeom>
              <a:avLst/>
              <a:gdLst/>
              <a:ahLst/>
              <a:cxnLst/>
              <a:rect l="l" t="t" r="r" b="b"/>
              <a:pathLst>
                <a:path w="552450" h="9525">
                  <a:moveTo>
                    <a:pt x="0" y="0"/>
                  </a:moveTo>
                  <a:lnTo>
                    <a:pt x="552450" y="0"/>
                  </a:lnTo>
                </a:path>
              </a:pathLst>
            </a:custGeom>
            <a:noFill/>
            <a:ln w="38100">
              <a:solidFill>
                <a:schemeClr val="accent2"/>
              </a:solidFill>
              <a:tailEnd type="triangle" w="lg" len="lg"/>
            </a:ln>
          </p:spPr>
        </p:sp>
        <p:sp>
          <p:nvSpPr>
            <p:cNvPr id="28" name="Rectangle 28"/>
            <p:cNvSpPr/>
            <p:nvPr/>
          </p:nvSpPr>
          <p:spPr>
            <a:xfrm>
              <a:off x="9410700" y="2343150"/>
              <a:ext cx="2000250" cy="2095500"/>
            </a:xfrm>
            <a:prstGeom prst="roundRect">
              <a:avLst>
                <a:gd name="adj" fmla="val 5714"/>
              </a:avLst>
            </a:prstGeom>
            <a:solidFill>
              <a:schemeClr val="accent1"/>
            </a:solidFill>
            <a:ln w="38100">
              <a:solidFill>
                <a:schemeClr val="accent2"/>
              </a:solidFill>
            </a:ln>
          </p:spPr>
        </p:sp>
        <p:grpSp>
          <p:nvGrpSpPr>
            <p:cNvPr id="39" name="Group 39"/>
            <p:cNvGrpSpPr/>
            <p:nvPr/>
          </p:nvGrpSpPr>
          <p:grpSpPr>
            <a:xfrm>
              <a:off x="10167937" y="2728912"/>
              <a:ext cx="485775" cy="485775"/>
              <a:chOff x="10167937" y="2728912"/>
              <a:chExt cx="485775" cy="485775"/>
            </a:xfrm>
          </p:grpSpPr>
          <p:sp>
            <p:nvSpPr>
              <p:cNvPr id="29" name="Freeform 29"/>
              <p:cNvSpPr/>
              <p:nvPr/>
            </p:nvSpPr>
            <p:spPr>
              <a:xfrm>
                <a:off x="10221912" y="2782887"/>
                <a:ext cx="377825" cy="377825"/>
              </a:xfrm>
              <a:custGeom>
                <a:avLst/>
                <a:gdLst/>
                <a:ahLst/>
                <a:cxnLst/>
                <a:rect l="l" t="t" r="r" b="b"/>
                <a:pathLst>
                  <a:path w="377825" h="377825">
                    <a:moveTo>
                      <a:pt x="0" y="26987"/>
                    </a:moveTo>
                    <a:cubicBezTo>
                      <a:pt x="0" y="12083"/>
                      <a:pt x="12083" y="0"/>
                      <a:pt x="26987" y="0"/>
                    </a:cubicBezTo>
                    <a:lnTo>
                      <a:pt x="350837" y="0"/>
                    </a:lnTo>
                    <a:cubicBezTo>
                      <a:pt x="365742" y="0"/>
                      <a:pt x="377825" y="12083"/>
                      <a:pt x="377825" y="26987"/>
                    </a:cubicBezTo>
                    <a:lnTo>
                      <a:pt x="377825" y="350837"/>
                    </a:lnTo>
                    <a:cubicBezTo>
                      <a:pt x="377825" y="365742"/>
                      <a:pt x="365742" y="377825"/>
                      <a:pt x="350837" y="377825"/>
                    </a:cubicBezTo>
                    <a:lnTo>
                      <a:pt x="26987" y="377825"/>
                    </a:lnTo>
                    <a:cubicBezTo>
                      <a:pt x="12083" y="377825"/>
                      <a:pt x="0" y="365742"/>
                      <a:pt x="0" y="350837"/>
                    </a:cubicBezTo>
                    <a:lnTo>
                      <a:pt x="0" y="26987"/>
                    </a:lnTo>
                  </a:path>
                </a:pathLst>
              </a:custGeom>
              <a:noFill/>
              <a:ln w="53975">
                <a:solidFill>
                  <a:srgbClr val="F7FAFC"/>
                </a:solidFill>
              </a:ln>
            </p:spPr>
          </p:sp>
          <p:sp>
            <p:nvSpPr>
              <p:cNvPr id="30" name="Freeform 30"/>
              <p:cNvSpPr/>
              <p:nvPr/>
            </p:nvSpPr>
            <p:spPr>
              <a:xfrm>
                <a:off x="10329862" y="2890837"/>
                <a:ext cx="161925" cy="161925"/>
              </a:xfrm>
              <a:custGeom>
                <a:avLst/>
                <a:gdLst/>
                <a:ahLst/>
                <a:cxnLst/>
                <a:rect l="l" t="t" r="r" b="b"/>
                <a:pathLst>
                  <a:path w="161925" h="161925">
                    <a:moveTo>
                      <a:pt x="0" y="0"/>
                    </a:moveTo>
                    <a:lnTo>
                      <a:pt x="161925" y="0"/>
                    </a:lnTo>
                    <a:lnTo>
                      <a:pt x="161925" y="161925"/>
                    </a:lnTo>
                    <a:lnTo>
                      <a:pt x="0" y="161925"/>
                    </a:lnTo>
                    <a:lnTo>
                      <a:pt x="0" y="0"/>
                    </a:lnTo>
                  </a:path>
                </a:pathLst>
              </a:custGeom>
              <a:noFill/>
              <a:ln w="53975">
                <a:solidFill>
                  <a:srgbClr val="F7FAFC"/>
                </a:solidFill>
              </a:ln>
            </p:spPr>
          </p:sp>
          <p:sp>
            <p:nvSpPr>
              <p:cNvPr id="31" name="Freeform 31"/>
              <p:cNvSpPr/>
              <p:nvPr/>
            </p:nvSpPr>
            <p:spPr>
              <a:xfrm>
                <a:off x="10167937" y="2917825"/>
                <a:ext cx="53975" cy="9525"/>
              </a:xfrm>
              <a:custGeom>
                <a:avLst/>
                <a:gdLst/>
                <a:ahLst/>
                <a:cxnLst/>
                <a:rect l="l" t="t" r="r" b="b"/>
                <a:pathLst>
                  <a:path w="53975" h="9525">
                    <a:moveTo>
                      <a:pt x="0" y="0"/>
                    </a:moveTo>
                    <a:lnTo>
                      <a:pt x="53975" y="0"/>
                    </a:lnTo>
                  </a:path>
                </a:pathLst>
              </a:custGeom>
              <a:noFill/>
              <a:ln w="53975">
                <a:solidFill>
                  <a:srgbClr val="F7FAFC"/>
                </a:solidFill>
              </a:ln>
            </p:spPr>
          </p:sp>
          <p:sp>
            <p:nvSpPr>
              <p:cNvPr id="32" name="Freeform 32"/>
              <p:cNvSpPr/>
              <p:nvPr/>
            </p:nvSpPr>
            <p:spPr>
              <a:xfrm>
                <a:off x="10167937" y="3025775"/>
                <a:ext cx="53975" cy="9525"/>
              </a:xfrm>
              <a:custGeom>
                <a:avLst/>
                <a:gdLst/>
                <a:ahLst/>
                <a:cxnLst/>
                <a:rect l="l" t="t" r="r" b="b"/>
                <a:pathLst>
                  <a:path w="53975" h="9525">
                    <a:moveTo>
                      <a:pt x="0" y="0"/>
                    </a:moveTo>
                    <a:lnTo>
                      <a:pt x="53975" y="0"/>
                    </a:lnTo>
                  </a:path>
                </a:pathLst>
              </a:custGeom>
              <a:noFill/>
              <a:ln w="53975">
                <a:solidFill>
                  <a:srgbClr val="F7FAFC"/>
                </a:solidFill>
              </a:ln>
            </p:spPr>
          </p:sp>
          <p:sp>
            <p:nvSpPr>
              <p:cNvPr id="33" name="Freeform 33"/>
              <p:cNvSpPr/>
              <p:nvPr/>
            </p:nvSpPr>
            <p:spPr>
              <a:xfrm>
                <a:off x="10356850" y="2728912"/>
                <a:ext cx="9525" cy="53975"/>
              </a:xfrm>
              <a:custGeom>
                <a:avLst/>
                <a:gdLst/>
                <a:ahLst/>
                <a:cxnLst/>
                <a:rect l="l" t="t" r="r" b="b"/>
                <a:pathLst>
                  <a:path w="9525" h="53975">
                    <a:moveTo>
                      <a:pt x="0" y="0"/>
                    </a:moveTo>
                    <a:lnTo>
                      <a:pt x="0" y="53975"/>
                    </a:lnTo>
                  </a:path>
                </a:pathLst>
              </a:custGeom>
              <a:noFill/>
              <a:ln w="53975">
                <a:solidFill>
                  <a:srgbClr val="F7FAFC"/>
                </a:solidFill>
              </a:ln>
            </p:spPr>
          </p:sp>
          <p:sp>
            <p:nvSpPr>
              <p:cNvPr id="34" name="Freeform 34"/>
              <p:cNvSpPr/>
              <p:nvPr/>
            </p:nvSpPr>
            <p:spPr>
              <a:xfrm>
                <a:off x="10464800" y="2728912"/>
                <a:ext cx="9525" cy="53975"/>
              </a:xfrm>
              <a:custGeom>
                <a:avLst/>
                <a:gdLst/>
                <a:ahLst/>
                <a:cxnLst/>
                <a:rect l="l" t="t" r="r" b="b"/>
                <a:pathLst>
                  <a:path w="9525" h="53975">
                    <a:moveTo>
                      <a:pt x="0" y="0"/>
                    </a:moveTo>
                    <a:lnTo>
                      <a:pt x="0" y="53975"/>
                    </a:lnTo>
                  </a:path>
                </a:pathLst>
              </a:custGeom>
              <a:noFill/>
              <a:ln w="53975">
                <a:solidFill>
                  <a:srgbClr val="F7FAFC"/>
                </a:solidFill>
              </a:ln>
            </p:spPr>
          </p:sp>
          <p:sp>
            <p:nvSpPr>
              <p:cNvPr id="35" name="Freeform 35"/>
              <p:cNvSpPr/>
              <p:nvPr/>
            </p:nvSpPr>
            <p:spPr>
              <a:xfrm>
                <a:off x="10599737" y="2917825"/>
                <a:ext cx="53975" cy="9525"/>
              </a:xfrm>
              <a:custGeom>
                <a:avLst/>
                <a:gdLst/>
                <a:ahLst/>
                <a:cxnLst/>
                <a:rect l="l" t="t" r="r" b="b"/>
                <a:pathLst>
                  <a:path w="53975" h="9525">
                    <a:moveTo>
                      <a:pt x="53975" y="0"/>
                    </a:moveTo>
                    <a:lnTo>
                      <a:pt x="0" y="0"/>
                    </a:lnTo>
                  </a:path>
                </a:pathLst>
              </a:custGeom>
              <a:noFill/>
              <a:ln w="53975">
                <a:solidFill>
                  <a:srgbClr val="F7FAFC"/>
                </a:solidFill>
              </a:ln>
            </p:spPr>
          </p:sp>
          <p:sp>
            <p:nvSpPr>
              <p:cNvPr id="36" name="Freeform 36"/>
              <p:cNvSpPr/>
              <p:nvPr/>
            </p:nvSpPr>
            <p:spPr>
              <a:xfrm>
                <a:off x="10599737" y="3025775"/>
                <a:ext cx="53975" cy="9525"/>
              </a:xfrm>
              <a:custGeom>
                <a:avLst/>
                <a:gdLst/>
                <a:ahLst/>
                <a:cxnLst/>
                <a:rect l="l" t="t" r="r" b="b"/>
                <a:pathLst>
                  <a:path w="53975" h="9525">
                    <a:moveTo>
                      <a:pt x="53975" y="0"/>
                    </a:moveTo>
                    <a:lnTo>
                      <a:pt x="0" y="0"/>
                    </a:lnTo>
                  </a:path>
                </a:pathLst>
              </a:custGeom>
              <a:noFill/>
              <a:ln w="53975">
                <a:solidFill>
                  <a:srgbClr val="F7FAFC"/>
                </a:solidFill>
              </a:ln>
            </p:spPr>
          </p:sp>
          <p:sp>
            <p:nvSpPr>
              <p:cNvPr id="37" name="Freeform 37"/>
              <p:cNvSpPr/>
              <p:nvPr/>
            </p:nvSpPr>
            <p:spPr>
              <a:xfrm>
                <a:off x="10464800" y="3160712"/>
                <a:ext cx="9525" cy="53975"/>
              </a:xfrm>
              <a:custGeom>
                <a:avLst/>
                <a:gdLst/>
                <a:ahLst/>
                <a:cxnLst/>
                <a:rect l="l" t="t" r="r" b="b"/>
                <a:pathLst>
                  <a:path w="9525" h="53975">
                    <a:moveTo>
                      <a:pt x="0" y="53975"/>
                    </a:moveTo>
                    <a:lnTo>
                      <a:pt x="0" y="0"/>
                    </a:lnTo>
                  </a:path>
                </a:pathLst>
              </a:custGeom>
              <a:noFill/>
              <a:ln w="53975">
                <a:solidFill>
                  <a:srgbClr val="F7FAFC"/>
                </a:solidFill>
              </a:ln>
            </p:spPr>
          </p:sp>
          <p:sp>
            <p:nvSpPr>
              <p:cNvPr id="38" name="Freeform 38"/>
              <p:cNvSpPr/>
              <p:nvPr/>
            </p:nvSpPr>
            <p:spPr>
              <a:xfrm>
                <a:off x="10356850" y="3160712"/>
                <a:ext cx="9525" cy="53975"/>
              </a:xfrm>
              <a:custGeom>
                <a:avLst/>
                <a:gdLst/>
                <a:ahLst/>
                <a:cxnLst/>
                <a:rect l="l" t="t" r="r" b="b"/>
                <a:pathLst>
                  <a:path w="9525" h="53975">
                    <a:moveTo>
                      <a:pt x="0" y="53975"/>
                    </a:moveTo>
                    <a:lnTo>
                      <a:pt x="0" y="0"/>
                    </a:lnTo>
                  </a:path>
                </a:pathLst>
              </a:custGeom>
              <a:noFill/>
              <a:ln w="53975">
                <a:solidFill>
                  <a:srgbClr val="F7FAFC"/>
                </a:solidFill>
              </a:ln>
            </p:spPr>
          </p:sp>
        </p:grpSp>
        <p:sp>
          <p:nvSpPr>
            <p:cNvPr id="40" name="TextBox 40"/>
            <p:cNvSpPr txBox="1"/>
            <p:nvPr/>
          </p:nvSpPr>
          <p:spPr>
            <a:xfrm>
              <a:off x="9596399" y="3379470"/>
              <a:ext cx="1628851" cy="469392"/>
            </a:xfrm>
            <a:prstGeom prst="rect">
              <a:avLst/>
            </a:prstGeom>
            <a:noFill/>
            <a:ln>
              <a:noFill/>
            </a:ln>
          </p:spPr>
          <p:txBody>
            <a:bodyPr wrap="none" lIns="0" tIns="0" rIns="0" bIns="0" anchor="t" anchorCtr="0">
              <a:spAutoFit/>
            </a:bodyPr>
            <a:lstStyle/>
            <a:p>
              <a:pPr algn="ctr"/>
              <a:r>
                <a:rPr lang="en-US" sz="2400" b="1" dirty="0">
                  <a:solidFill>
                    <a:srgbClr val="F7FAFC"/>
                  </a:solidFill>
                  <a:latin typeface="+mn-lt"/>
                  <a:ea typeface="+mn-ea"/>
                  <a:cs typeface="+mn-cs"/>
                </a:rPr>
                <a:t>Effective</a:t>
              </a:r>
            </a:p>
          </p:txBody>
        </p:sp>
        <p:sp>
          <p:nvSpPr>
            <p:cNvPr id="41" name="TextBox 41"/>
            <p:cNvSpPr txBox="1"/>
            <p:nvPr/>
          </p:nvSpPr>
          <p:spPr>
            <a:xfrm>
              <a:off x="9754072" y="3760470"/>
              <a:ext cx="1313505" cy="469392"/>
            </a:xfrm>
            <a:prstGeom prst="rect">
              <a:avLst/>
            </a:prstGeom>
            <a:noFill/>
            <a:ln>
              <a:noFill/>
            </a:ln>
          </p:spPr>
          <p:txBody>
            <a:bodyPr wrap="none" lIns="0" tIns="0" rIns="0" bIns="0" anchor="t" anchorCtr="0">
              <a:spAutoFit/>
            </a:bodyPr>
            <a:lstStyle/>
            <a:p>
              <a:pPr algn="ctr"/>
              <a:r>
                <a:rPr lang="en-US" sz="2400" b="1" dirty="0">
                  <a:solidFill>
                    <a:srgbClr val="F7FAFC"/>
                  </a:solidFill>
                  <a:latin typeface="+mn-lt"/>
                  <a:ea typeface="+mn-ea"/>
                  <a:cs typeface="+mn-cs"/>
                </a:rPr>
                <a:t>runtime</a:t>
              </a:r>
            </a:p>
          </p:txBody>
        </p:sp>
        <p:sp>
          <p:nvSpPr>
            <p:cNvPr id="42" name="TextBox 42"/>
            <p:cNvSpPr txBox="1"/>
            <p:nvPr/>
          </p:nvSpPr>
          <p:spPr>
            <a:xfrm>
              <a:off x="9352636" y="4673918"/>
              <a:ext cx="2116379" cy="264033"/>
            </a:xfrm>
            <a:prstGeom prst="rect">
              <a:avLst/>
            </a:prstGeom>
            <a:noFill/>
            <a:ln>
              <a:noFill/>
            </a:ln>
          </p:spPr>
          <p:txBody>
            <a:bodyPr wrap="none" lIns="0" tIns="0" rIns="0" bIns="0" anchor="t" anchorCtr="0">
              <a:spAutoFit/>
            </a:bodyPr>
            <a:lstStyle/>
            <a:p>
              <a:pPr algn="ctr"/>
              <a:r>
                <a:rPr lang="en-US" sz="1350" dirty="0">
                  <a:solidFill>
                    <a:schemeClr val="accent3"/>
                  </a:solidFill>
                  <a:latin typeface="Cascadia Mono"/>
                  <a:ea typeface="Cascadia Mono"/>
                  <a:cs typeface="Cascadia Mono"/>
                </a:rPr>
                <a:t>PROVENANCE PRESERVED</a:t>
              </a:r>
            </a:p>
          </p:txBody>
        </p:sp>
        <p:sp>
          <p:nvSpPr>
            <p:cNvPr id="43" name="TextBox 43"/>
            <p:cNvSpPr txBox="1"/>
            <p:nvPr/>
          </p:nvSpPr>
          <p:spPr>
            <a:xfrm>
              <a:off x="9245394" y="5016818"/>
              <a:ext cx="2330863"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one output · four sources</a:t>
              </a:r>
            </a:p>
          </p:txBody>
        </p:sp>
      </p:grpSp>
      <p:grpSp>
        <p:nvGrpSpPr>
          <p:cNvPr id="47" name="Group 47"/>
          <p:cNvGrpSpPr/>
          <p:nvPr/>
        </p:nvGrpSpPr>
        <p:grpSpPr>
          <a:xfrm>
            <a:off x="602742" y="6293168"/>
            <a:ext cx="10986516" cy="264033"/>
            <a:chOff x="602742" y="6293168"/>
            <a:chExt cx="10986516" cy="264033"/>
          </a:xfrm>
        </p:grpSpPr>
        <p:sp>
          <p:nvSpPr>
            <p:cNvPr id="45" name="TextBox 45"/>
            <p:cNvSpPr txBox="1"/>
            <p:nvPr/>
          </p:nvSpPr>
          <p:spPr>
            <a:xfrm>
              <a:off x="602742" y="6293168"/>
              <a:ext cx="393283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K-007 | BUNDLE → PROFILE → HOME → --patch</a:t>
              </a:r>
            </a:p>
          </p:txBody>
        </p:sp>
        <p:sp>
          <p:nvSpPr>
            <p:cNvPr id="46" name="TextBox 46"/>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P09 / 24</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7000"/>
              </a:schemeClr>
            </a:solidFill>
          </a:ln>
        </p:spPr>
      </p:sp>
      <p:grpSp>
        <p:nvGrpSpPr>
          <p:cNvPr id="5" name="Group 5"/>
          <p:cNvGrpSpPr/>
          <p:nvPr/>
        </p:nvGrpSpPr>
        <p:grpSpPr>
          <a:xfrm>
            <a:off x="593598" y="482918"/>
            <a:ext cx="10443813" cy="955167"/>
            <a:chOff x="593598" y="482918"/>
            <a:chExt cx="10443813" cy="955167"/>
          </a:xfrm>
        </p:grpSpPr>
        <p:sp>
          <p:nvSpPr>
            <p:cNvPr id="3" name="TextBox 3"/>
            <p:cNvSpPr txBox="1"/>
            <p:nvPr/>
          </p:nvSpPr>
          <p:spPr>
            <a:xfrm>
              <a:off x="602742" y="482918"/>
              <a:ext cx="4036619"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EVENT FLOW / CHECKPOINT + TAIL REPLAY</a:t>
              </a:r>
            </a:p>
          </p:txBody>
        </p:sp>
        <p:sp>
          <p:nvSpPr>
            <p:cNvPr id="4" name="TextBox 4"/>
            <p:cNvSpPr txBox="1"/>
            <p:nvPr/>
          </p:nvSpPr>
          <p:spPr>
            <a:xfrm>
              <a:off x="593598" y="822008"/>
              <a:ext cx="10443813"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Events are facts; cache is versioned unit state</a:t>
              </a:r>
            </a:p>
          </p:txBody>
        </p:sp>
      </p:grpSp>
      <p:grpSp>
        <p:nvGrpSpPr>
          <p:cNvPr id="43" name="Group 43"/>
          <p:cNvGrpSpPr/>
          <p:nvPr/>
        </p:nvGrpSpPr>
        <p:grpSpPr>
          <a:xfrm>
            <a:off x="869442" y="1664018"/>
            <a:ext cx="10186416" cy="4340733"/>
            <a:chOff x="869442" y="1664018"/>
            <a:chExt cx="10186416" cy="4340733"/>
          </a:xfrm>
        </p:grpSpPr>
        <p:sp>
          <p:nvSpPr>
            <p:cNvPr id="6" name="TextBox 6"/>
            <p:cNvSpPr txBox="1"/>
            <p:nvPr/>
          </p:nvSpPr>
          <p:spPr>
            <a:xfrm>
              <a:off x="869442" y="1664018"/>
              <a:ext cx="312141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request/header · request/context</a:t>
              </a:r>
            </a:p>
          </p:txBody>
        </p:sp>
        <p:sp>
          <p:nvSpPr>
            <p:cNvPr id="7" name="Line 7"/>
            <p:cNvSpPr/>
            <p:nvPr/>
          </p:nvSpPr>
          <p:spPr>
            <a:xfrm>
              <a:off x="914400" y="2324100"/>
              <a:ext cx="10134600" cy="1"/>
            </a:xfrm>
            <a:prstGeom prst="line">
              <a:avLst/>
            </a:prstGeom>
            <a:noFill/>
            <a:ln w="38100">
              <a:solidFill>
                <a:schemeClr val="accent2"/>
              </a:solidFill>
              <a:tailEnd type="triangle" w="lg" len="lg"/>
            </a:ln>
          </p:spPr>
        </p:sp>
        <p:sp>
          <p:nvSpPr>
            <p:cNvPr id="8" name="Ellipse 8"/>
            <p:cNvSpPr/>
            <p:nvPr/>
          </p:nvSpPr>
          <p:spPr>
            <a:xfrm>
              <a:off x="1257300" y="2152650"/>
              <a:ext cx="342900" cy="342900"/>
            </a:xfrm>
            <a:prstGeom prst="ellipse">
              <a:avLst/>
            </a:prstGeom>
            <a:solidFill>
              <a:schemeClr val="accent1"/>
            </a:solidFill>
            <a:ln>
              <a:noFill/>
            </a:ln>
          </p:spPr>
        </p:sp>
        <p:sp>
          <p:nvSpPr>
            <p:cNvPr id="9" name="Ellipse 9"/>
            <p:cNvSpPr/>
            <p:nvPr/>
          </p:nvSpPr>
          <p:spPr>
            <a:xfrm>
              <a:off x="2724150" y="2152650"/>
              <a:ext cx="342900" cy="342900"/>
            </a:xfrm>
            <a:prstGeom prst="ellipse">
              <a:avLst/>
            </a:prstGeom>
            <a:solidFill>
              <a:schemeClr val="accent1"/>
            </a:solidFill>
            <a:ln>
              <a:noFill/>
            </a:ln>
          </p:spPr>
        </p:sp>
        <p:sp>
          <p:nvSpPr>
            <p:cNvPr id="10" name="Ellipse 10"/>
            <p:cNvSpPr/>
            <p:nvPr/>
          </p:nvSpPr>
          <p:spPr>
            <a:xfrm>
              <a:off x="4191000" y="2152650"/>
              <a:ext cx="342900" cy="342900"/>
            </a:xfrm>
            <a:prstGeom prst="ellipse">
              <a:avLst/>
            </a:prstGeom>
            <a:solidFill>
              <a:schemeClr val="accent1"/>
            </a:solidFill>
            <a:ln>
              <a:noFill/>
            </a:ln>
          </p:spPr>
        </p:sp>
        <p:sp>
          <p:nvSpPr>
            <p:cNvPr id="11" name="Ellipse 11"/>
            <p:cNvSpPr/>
            <p:nvPr/>
          </p:nvSpPr>
          <p:spPr>
            <a:xfrm>
              <a:off x="5657850" y="2152650"/>
              <a:ext cx="342900" cy="342900"/>
            </a:xfrm>
            <a:prstGeom prst="ellipse">
              <a:avLst/>
            </a:prstGeom>
            <a:solidFill>
              <a:schemeClr val="accent1"/>
            </a:solidFill>
            <a:ln>
              <a:noFill/>
            </a:ln>
          </p:spPr>
        </p:sp>
        <p:sp>
          <p:nvSpPr>
            <p:cNvPr id="12" name="Ellipse 12"/>
            <p:cNvSpPr/>
            <p:nvPr/>
          </p:nvSpPr>
          <p:spPr>
            <a:xfrm>
              <a:off x="7086600" y="2114550"/>
              <a:ext cx="419100" cy="419100"/>
            </a:xfrm>
            <a:prstGeom prst="ellipse">
              <a:avLst/>
            </a:prstGeom>
            <a:solidFill>
              <a:schemeClr val="accent3"/>
            </a:solidFill>
            <a:ln w="28575">
              <a:solidFill>
                <a:schemeClr val="accent2"/>
              </a:solidFill>
            </a:ln>
          </p:spPr>
        </p:sp>
        <p:sp>
          <p:nvSpPr>
            <p:cNvPr id="13" name="Ellipse 13"/>
            <p:cNvSpPr/>
            <p:nvPr/>
          </p:nvSpPr>
          <p:spPr>
            <a:xfrm>
              <a:off x="8591550" y="2152650"/>
              <a:ext cx="342900" cy="342900"/>
            </a:xfrm>
            <a:prstGeom prst="ellipse">
              <a:avLst/>
            </a:prstGeom>
            <a:solidFill>
              <a:schemeClr val="accent1"/>
            </a:solidFill>
            <a:ln>
              <a:noFill/>
            </a:ln>
          </p:spPr>
        </p:sp>
        <p:sp>
          <p:nvSpPr>
            <p:cNvPr id="14" name="Ellipse 14"/>
            <p:cNvSpPr/>
            <p:nvPr/>
          </p:nvSpPr>
          <p:spPr>
            <a:xfrm>
              <a:off x="10058400" y="2152650"/>
              <a:ext cx="342900" cy="342900"/>
            </a:xfrm>
            <a:prstGeom prst="ellipse">
              <a:avLst/>
            </a:prstGeom>
            <a:solidFill>
              <a:schemeClr val="accent1"/>
            </a:solidFill>
            <a:ln>
              <a:noFill/>
            </a:ln>
          </p:spPr>
        </p:sp>
        <p:sp>
          <p:nvSpPr>
            <p:cNvPr id="15" name="TextBox 15"/>
            <p:cNvSpPr txBox="1"/>
            <p:nvPr/>
          </p:nvSpPr>
          <p:spPr>
            <a:xfrm>
              <a:off x="1221981" y="2635568"/>
              <a:ext cx="413537"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user</a:t>
              </a:r>
            </a:p>
          </p:txBody>
        </p:sp>
        <p:sp>
          <p:nvSpPr>
            <p:cNvPr id="16" name="TextBox 16"/>
            <p:cNvSpPr txBox="1"/>
            <p:nvPr/>
          </p:nvSpPr>
          <p:spPr>
            <a:xfrm>
              <a:off x="2461660" y="2635568"/>
              <a:ext cx="867880"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assistant</a:t>
              </a:r>
            </a:p>
          </p:txBody>
        </p:sp>
        <p:sp>
          <p:nvSpPr>
            <p:cNvPr id="17" name="TextBox 17"/>
            <p:cNvSpPr txBox="1"/>
            <p:nvPr/>
          </p:nvSpPr>
          <p:spPr>
            <a:xfrm>
              <a:off x="4178398" y="2635568"/>
              <a:ext cx="368103"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tool</a:t>
              </a:r>
            </a:p>
          </p:txBody>
        </p:sp>
        <p:sp>
          <p:nvSpPr>
            <p:cNvPr id="18" name="TextBox 18"/>
            <p:cNvSpPr txBox="1"/>
            <p:nvPr/>
          </p:nvSpPr>
          <p:spPr>
            <a:xfrm>
              <a:off x="5445338" y="2635568"/>
              <a:ext cx="767925"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approval</a:t>
              </a:r>
            </a:p>
          </p:txBody>
        </p:sp>
        <p:sp>
          <p:nvSpPr>
            <p:cNvPr id="19" name="TextBox 19"/>
            <p:cNvSpPr txBox="1"/>
            <p:nvPr/>
          </p:nvSpPr>
          <p:spPr>
            <a:xfrm>
              <a:off x="7047387" y="2635568"/>
              <a:ext cx="497526"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seq N</a:t>
              </a:r>
            </a:p>
          </p:txBody>
        </p:sp>
        <p:sp>
          <p:nvSpPr>
            <p:cNvPr id="20" name="TextBox 20"/>
            <p:cNvSpPr txBox="1"/>
            <p:nvPr/>
          </p:nvSpPr>
          <p:spPr>
            <a:xfrm>
              <a:off x="8506254" y="2635568"/>
              <a:ext cx="513493"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error</a:t>
              </a:r>
            </a:p>
          </p:txBody>
        </p:sp>
        <p:sp>
          <p:nvSpPr>
            <p:cNvPr id="21" name="TextBox 21"/>
            <p:cNvSpPr txBox="1"/>
            <p:nvPr/>
          </p:nvSpPr>
          <p:spPr>
            <a:xfrm>
              <a:off x="10068516" y="2635568"/>
              <a:ext cx="322669"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tail</a:t>
              </a:r>
            </a:p>
          </p:txBody>
        </p:sp>
        <p:sp>
          <p:nvSpPr>
            <p:cNvPr id="22" name="Line 22"/>
            <p:cNvSpPr/>
            <p:nvPr/>
          </p:nvSpPr>
          <p:spPr>
            <a:xfrm>
              <a:off x="7296150" y="2533650"/>
              <a:ext cx="9525" cy="609600"/>
            </a:xfrm>
            <a:custGeom>
              <a:avLst/>
              <a:gdLst/>
              <a:ahLst/>
              <a:cxnLst/>
              <a:rect l="l" t="t" r="r" b="b"/>
              <a:pathLst>
                <a:path w="9525" h="609600">
                  <a:moveTo>
                    <a:pt x="0" y="0"/>
                  </a:moveTo>
                  <a:lnTo>
                    <a:pt x="0" y="609600"/>
                  </a:lnTo>
                </a:path>
              </a:pathLst>
            </a:custGeom>
            <a:noFill/>
            <a:ln w="38100">
              <a:solidFill>
                <a:schemeClr val="accent2"/>
              </a:solidFill>
            </a:ln>
          </p:spPr>
        </p:sp>
        <p:sp>
          <p:nvSpPr>
            <p:cNvPr id="23" name="Rectangle 23"/>
            <p:cNvSpPr/>
            <p:nvPr/>
          </p:nvSpPr>
          <p:spPr>
            <a:xfrm>
              <a:off x="5486400" y="3143250"/>
              <a:ext cx="3619500" cy="895350"/>
            </a:xfrm>
            <a:prstGeom prst="roundRect">
              <a:avLst>
                <a:gd name="adj" fmla="val 8511"/>
              </a:avLst>
            </a:prstGeom>
            <a:solidFill>
              <a:schemeClr val="accent1"/>
            </a:solidFill>
            <a:ln w="28575">
              <a:solidFill>
                <a:schemeClr val="accent2"/>
              </a:solidFill>
            </a:ln>
          </p:spPr>
        </p:sp>
        <p:grpSp>
          <p:nvGrpSpPr>
            <p:cNvPr id="27" name="Group 27"/>
            <p:cNvGrpSpPr/>
            <p:nvPr/>
          </p:nvGrpSpPr>
          <p:grpSpPr>
            <a:xfrm>
              <a:off x="5807075" y="3426619"/>
              <a:ext cx="292101" cy="328613"/>
              <a:chOff x="5807075" y="3426619"/>
              <a:chExt cx="292101" cy="328613"/>
            </a:xfrm>
          </p:grpSpPr>
          <p:sp>
            <p:nvSpPr>
              <p:cNvPr id="24" name="Freeform 24"/>
              <p:cNvSpPr/>
              <p:nvPr/>
            </p:nvSpPr>
            <p:spPr>
              <a:xfrm>
                <a:off x="5807075" y="3426619"/>
                <a:ext cx="292101" cy="109538"/>
              </a:xfrm>
              <a:custGeom>
                <a:avLst/>
                <a:gdLst/>
                <a:ahLst/>
                <a:cxnLst/>
                <a:rect l="l" t="t" r="r" b="b"/>
                <a:pathLst>
                  <a:path w="292101" h="109538">
                    <a:moveTo>
                      <a:pt x="0" y="54769"/>
                    </a:moveTo>
                    <a:cubicBezTo>
                      <a:pt x="0" y="85017"/>
                      <a:pt x="65389" y="109538"/>
                      <a:pt x="146050" y="109538"/>
                    </a:cubicBezTo>
                    <a:cubicBezTo>
                      <a:pt x="226712" y="109538"/>
                      <a:pt x="292101" y="85017"/>
                      <a:pt x="292101" y="54769"/>
                    </a:cubicBezTo>
                    <a:cubicBezTo>
                      <a:pt x="292101" y="24521"/>
                      <a:pt x="226712" y="0"/>
                      <a:pt x="146050" y="0"/>
                    </a:cubicBezTo>
                    <a:cubicBezTo>
                      <a:pt x="65389" y="0"/>
                      <a:pt x="0" y="24521"/>
                      <a:pt x="0" y="54769"/>
                    </a:cubicBezTo>
                  </a:path>
                </a:pathLst>
              </a:custGeom>
              <a:noFill/>
              <a:ln w="36513">
                <a:solidFill>
                  <a:srgbClr val="F7FAFC"/>
                </a:solidFill>
              </a:ln>
            </p:spPr>
          </p:sp>
          <p:sp>
            <p:nvSpPr>
              <p:cNvPr id="25" name="Freeform 25"/>
              <p:cNvSpPr/>
              <p:nvPr/>
            </p:nvSpPr>
            <p:spPr>
              <a:xfrm>
                <a:off x="5807075" y="3481388"/>
                <a:ext cx="292101" cy="164307"/>
              </a:xfrm>
              <a:custGeom>
                <a:avLst/>
                <a:gdLst/>
                <a:ahLst/>
                <a:cxnLst/>
                <a:rect l="l" t="t" r="r" b="b"/>
                <a:pathLst>
                  <a:path w="292101" h="164307">
                    <a:moveTo>
                      <a:pt x="0" y="0"/>
                    </a:moveTo>
                    <a:lnTo>
                      <a:pt x="0" y="109538"/>
                    </a:lnTo>
                    <a:cubicBezTo>
                      <a:pt x="0" y="139786"/>
                      <a:pt x="65389" y="164307"/>
                      <a:pt x="146050" y="164307"/>
                    </a:cubicBezTo>
                    <a:cubicBezTo>
                      <a:pt x="226712" y="164307"/>
                      <a:pt x="292101" y="139786"/>
                      <a:pt x="292101" y="109538"/>
                    </a:cubicBezTo>
                    <a:lnTo>
                      <a:pt x="292101" y="0"/>
                    </a:lnTo>
                  </a:path>
                </a:pathLst>
              </a:custGeom>
              <a:noFill/>
              <a:ln w="36513">
                <a:solidFill>
                  <a:srgbClr val="F7FAFC"/>
                </a:solidFill>
              </a:ln>
            </p:spPr>
          </p:sp>
          <p:sp>
            <p:nvSpPr>
              <p:cNvPr id="26" name="Freeform 26"/>
              <p:cNvSpPr/>
              <p:nvPr/>
            </p:nvSpPr>
            <p:spPr>
              <a:xfrm>
                <a:off x="5807075" y="3590925"/>
                <a:ext cx="292101" cy="164307"/>
              </a:xfrm>
              <a:custGeom>
                <a:avLst/>
                <a:gdLst/>
                <a:ahLst/>
                <a:cxnLst/>
                <a:rect l="l" t="t" r="r" b="b"/>
                <a:pathLst>
                  <a:path w="292101" h="164307">
                    <a:moveTo>
                      <a:pt x="0" y="0"/>
                    </a:moveTo>
                    <a:lnTo>
                      <a:pt x="0" y="109538"/>
                    </a:lnTo>
                    <a:cubicBezTo>
                      <a:pt x="0" y="139786"/>
                      <a:pt x="65389" y="164307"/>
                      <a:pt x="146050" y="164307"/>
                    </a:cubicBezTo>
                    <a:cubicBezTo>
                      <a:pt x="226712" y="164307"/>
                      <a:pt x="292101" y="139786"/>
                      <a:pt x="292101" y="109538"/>
                    </a:cubicBezTo>
                    <a:lnTo>
                      <a:pt x="292101" y="0"/>
                    </a:lnTo>
                  </a:path>
                </a:pathLst>
              </a:custGeom>
              <a:noFill/>
              <a:ln w="36513">
                <a:solidFill>
                  <a:srgbClr val="F7FAFC"/>
                </a:solidFill>
              </a:ln>
            </p:spPr>
          </p:sp>
        </p:grpSp>
        <p:sp>
          <p:nvSpPr>
            <p:cNvPr id="28" name="TextBox 28"/>
            <p:cNvSpPr txBox="1"/>
            <p:nvPr/>
          </p:nvSpPr>
          <p:spPr>
            <a:xfrm>
              <a:off x="6410706" y="3329940"/>
              <a:ext cx="2710140"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Projection checkpoint</a:t>
              </a:r>
            </a:p>
          </p:txBody>
        </p:sp>
        <p:sp>
          <p:nvSpPr>
            <p:cNvPr id="29" name="TextBox 29"/>
            <p:cNvSpPr txBox="1"/>
            <p:nvPr/>
          </p:nvSpPr>
          <p:spPr>
            <a:xfrm>
              <a:off x="6412992" y="3702368"/>
              <a:ext cx="1831086" cy="264033"/>
            </a:xfrm>
            <a:prstGeom prst="rect">
              <a:avLst/>
            </a:prstGeom>
            <a:noFill/>
            <a:ln>
              <a:noFill/>
            </a:ln>
          </p:spPr>
          <p:txBody>
            <a:bodyPr wrap="none" lIns="0" tIns="0" rIns="0" bIns="0" anchor="t" anchorCtr="0">
              <a:spAutoFit/>
            </a:bodyPr>
            <a:lstStyle/>
            <a:p>
              <a:pPr algn="l"/>
              <a:r>
                <a:rPr lang="en-US" sz="1350" dirty="0">
                  <a:solidFill>
                    <a:srgbClr val="B9F4F7"/>
                  </a:solidFill>
                  <a:latin typeface="Cascadia Mono"/>
                  <a:ea typeface="Cascadia Mono"/>
                  <a:cs typeface="Cascadia Mono"/>
                </a:rPr>
                <a:t>(key, ver, seq, val)</a:t>
              </a:r>
            </a:p>
          </p:txBody>
        </p:sp>
        <p:sp>
          <p:nvSpPr>
            <p:cNvPr id="30" name="Freeform 30"/>
            <p:cNvSpPr/>
            <p:nvPr/>
          </p:nvSpPr>
          <p:spPr>
            <a:xfrm>
              <a:off x="2819400" y="2781300"/>
              <a:ext cx="5943600" cy="1981200"/>
            </a:xfrm>
            <a:custGeom>
              <a:avLst/>
              <a:gdLst/>
              <a:ahLst/>
              <a:cxnLst/>
              <a:rect l="l" t="t" r="r" b="b"/>
              <a:pathLst>
                <a:path w="5943600" h="1981200">
                  <a:moveTo>
                    <a:pt x="5943600" y="0"/>
                  </a:moveTo>
                  <a:lnTo>
                    <a:pt x="5943600" y="1619250"/>
                  </a:lnTo>
                  <a:lnTo>
                    <a:pt x="0" y="1619250"/>
                  </a:lnTo>
                  <a:lnTo>
                    <a:pt x="0" y="1981200"/>
                  </a:lnTo>
                </a:path>
              </a:pathLst>
            </a:custGeom>
            <a:noFill/>
            <a:ln w="19050">
              <a:solidFill>
                <a:schemeClr val="accent2"/>
              </a:solidFill>
              <a:prstDash val="dash"/>
              <a:tailEnd type="triangle" w="lg" len="lg"/>
            </a:ln>
          </p:spPr>
        </p:sp>
        <p:sp>
          <p:nvSpPr>
            <p:cNvPr id="31" name="Freeform 31"/>
            <p:cNvSpPr/>
            <p:nvPr/>
          </p:nvSpPr>
          <p:spPr>
            <a:xfrm>
              <a:off x="6096000" y="4400550"/>
              <a:ext cx="2667000" cy="361950"/>
            </a:xfrm>
            <a:custGeom>
              <a:avLst/>
              <a:gdLst/>
              <a:ahLst/>
              <a:cxnLst/>
              <a:rect l="l" t="t" r="r" b="b"/>
              <a:pathLst>
                <a:path w="2667000" h="361950">
                  <a:moveTo>
                    <a:pt x="2667000" y="0"/>
                  </a:moveTo>
                  <a:lnTo>
                    <a:pt x="0" y="0"/>
                  </a:lnTo>
                  <a:lnTo>
                    <a:pt x="0" y="361950"/>
                  </a:lnTo>
                </a:path>
              </a:pathLst>
            </a:custGeom>
            <a:noFill/>
            <a:ln w="19050">
              <a:solidFill>
                <a:schemeClr val="accent2"/>
              </a:solidFill>
              <a:prstDash val="dash"/>
              <a:tailEnd type="triangle" w="lg" len="lg"/>
            </a:ln>
          </p:spPr>
        </p:sp>
        <p:sp>
          <p:nvSpPr>
            <p:cNvPr id="32" name="Freeform 32"/>
            <p:cNvSpPr/>
            <p:nvPr/>
          </p:nvSpPr>
          <p:spPr>
            <a:xfrm>
              <a:off x="8763000" y="4400550"/>
              <a:ext cx="609600" cy="361950"/>
            </a:xfrm>
            <a:custGeom>
              <a:avLst/>
              <a:gdLst/>
              <a:ahLst/>
              <a:cxnLst/>
              <a:rect l="l" t="t" r="r" b="b"/>
              <a:pathLst>
                <a:path w="609600" h="361950">
                  <a:moveTo>
                    <a:pt x="0" y="0"/>
                  </a:moveTo>
                  <a:lnTo>
                    <a:pt x="609600" y="0"/>
                  </a:lnTo>
                  <a:lnTo>
                    <a:pt x="609600" y="361950"/>
                  </a:lnTo>
                </a:path>
              </a:pathLst>
            </a:custGeom>
            <a:noFill/>
            <a:ln w="19050">
              <a:solidFill>
                <a:schemeClr val="accent2"/>
              </a:solidFill>
              <a:prstDash val="dash"/>
              <a:tailEnd type="triangle" w="lg" len="lg"/>
            </a:ln>
          </p:spPr>
        </p:sp>
        <p:sp>
          <p:nvSpPr>
            <p:cNvPr id="33" name="Rectangle 33"/>
            <p:cNvSpPr/>
            <p:nvPr/>
          </p:nvSpPr>
          <p:spPr>
            <a:xfrm>
              <a:off x="1295400" y="4762500"/>
              <a:ext cx="3048000" cy="876300"/>
            </a:xfrm>
            <a:prstGeom prst="roundRect">
              <a:avLst>
                <a:gd name="adj" fmla="val 8696"/>
              </a:avLst>
            </a:prstGeom>
            <a:solidFill>
              <a:schemeClr val="lt2"/>
            </a:solidFill>
            <a:ln w="19050">
              <a:solidFill>
                <a:schemeClr val="accent3"/>
              </a:solidFill>
            </a:ln>
          </p:spPr>
        </p:sp>
        <p:sp>
          <p:nvSpPr>
            <p:cNvPr id="34" name="Rectangle 34"/>
            <p:cNvSpPr/>
            <p:nvPr/>
          </p:nvSpPr>
          <p:spPr>
            <a:xfrm>
              <a:off x="4572000" y="4762500"/>
              <a:ext cx="3048000" cy="876300"/>
            </a:xfrm>
            <a:prstGeom prst="roundRect">
              <a:avLst>
                <a:gd name="adj" fmla="val 8696"/>
              </a:avLst>
            </a:prstGeom>
            <a:solidFill>
              <a:schemeClr val="lt2"/>
            </a:solidFill>
            <a:ln w="19050">
              <a:solidFill>
                <a:schemeClr val="accent3"/>
              </a:solidFill>
            </a:ln>
          </p:spPr>
        </p:sp>
        <p:sp>
          <p:nvSpPr>
            <p:cNvPr id="35" name="Rectangle 35"/>
            <p:cNvSpPr/>
            <p:nvPr/>
          </p:nvSpPr>
          <p:spPr>
            <a:xfrm>
              <a:off x="7848600" y="4762500"/>
              <a:ext cx="3048000" cy="876300"/>
            </a:xfrm>
            <a:prstGeom prst="roundRect">
              <a:avLst>
                <a:gd name="adj" fmla="val 8696"/>
              </a:avLst>
            </a:prstGeom>
            <a:solidFill>
              <a:schemeClr val="lt2"/>
            </a:solidFill>
            <a:ln w="19050">
              <a:solidFill>
                <a:schemeClr val="accent3"/>
              </a:solidFill>
            </a:ln>
          </p:spPr>
        </p:sp>
        <p:sp>
          <p:nvSpPr>
            <p:cNvPr id="36" name="TextBox 36"/>
            <p:cNvSpPr txBox="1"/>
            <p:nvPr/>
          </p:nvSpPr>
          <p:spPr>
            <a:xfrm>
              <a:off x="1998625" y="4949190"/>
              <a:ext cx="1641551"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Conversation</a:t>
              </a:r>
            </a:p>
          </p:txBody>
        </p:sp>
        <p:sp>
          <p:nvSpPr>
            <p:cNvPr id="37" name="TextBox 37"/>
            <p:cNvSpPr txBox="1"/>
            <p:nvPr/>
          </p:nvSpPr>
          <p:spPr>
            <a:xfrm>
              <a:off x="1899314" y="5302568"/>
              <a:ext cx="1840173"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restore + replay tail</a:t>
              </a:r>
            </a:p>
          </p:txBody>
        </p:sp>
        <p:sp>
          <p:nvSpPr>
            <p:cNvPr id="38" name="TextBox 38"/>
            <p:cNvSpPr txBox="1"/>
            <p:nvPr/>
          </p:nvSpPr>
          <p:spPr>
            <a:xfrm>
              <a:off x="5733052" y="4949190"/>
              <a:ext cx="725896"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Tasks</a:t>
              </a:r>
            </a:p>
          </p:txBody>
        </p:sp>
        <p:sp>
          <p:nvSpPr>
            <p:cNvPr id="39" name="TextBox 39"/>
            <p:cNvSpPr txBox="1"/>
            <p:nvPr/>
          </p:nvSpPr>
          <p:spPr>
            <a:xfrm>
              <a:off x="5080502" y="5302568"/>
              <a:ext cx="2030997"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independent projection</a:t>
              </a:r>
            </a:p>
          </p:txBody>
        </p:sp>
        <p:sp>
          <p:nvSpPr>
            <p:cNvPr id="40" name="TextBox 40"/>
            <p:cNvSpPr txBox="1"/>
            <p:nvPr/>
          </p:nvSpPr>
          <p:spPr>
            <a:xfrm>
              <a:off x="9009652" y="4949190"/>
              <a:ext cx="725896"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Usage</a:t>
              </a:r>
            </a:p>
          </p:txBody>
        </p:sp>
        <p:sp>
          <p:nvSpPr>
            <p:cNvPr id="41" name="TextBox 41"/>
            <p:cNvSpPr txBox="1"/>
            <p:nvPr/>
          </p:nvSpPr>
          <p:spPr>
            <a:xfrm>
              <a:off x="8357102" y="5302568"/>
              <a:ext cx="2030997"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independent projection</a:t>
              </a:r>
            </a:p>
          </p:txBody>
        </p:sp>
        <p:sp>
          <p:nvSpPr>
            <p:cNvPr id="42" name="TextBox 42"/>
            <p:cNvSpPr txBox="1"/>
            <p:nvPr/>
          </p:nvSpPr>
          <p:spPr>
            <a:xfrm>
              <a:off x="7554026" y="5740718"/>
              <a:ext cx="3501832" cy="264033"/>
            </a:xfrm>
            <a:prstGeom prst="rect">
              <a:avLst/>
            </a:prstGeom>
            <a:noFill/>
            <a:ln>
              <a:noFill/>
            </a:ln>
          </p:spPr>
          <p:txBody>
            <a:bodyPr wrap="none" lIns="0" tIns="0" rIns="0" bIns="0" anchor="t" anchorCtr="0">
              <a:spAutoFit/>
            </a:bodyPr>
            <a:lstStyle/>
            <a:p>
              <a:pPr algn="r"/>
              <a:r>
                <a:rPr lang="en-US" sz="1350" b="1" dirty="0">
                  <a:solidFill>
                    <a:srgbClr val="C2415B"/>
                  </a:solidFill>
                  <a:latin typeface="Cascadia Mono"/>
                  <a:ea typeface="Cascadia Mono"/>
                  <a:cs typeface="Cascadia Mono"/>
                </a:rPr>
                <a:t>INVARIANT / MODEL-VISIBLE ⇒ LOGGED</a:t>
              </a:r>
            </a:p>
          </p:txBody>
        </p:sp>
      </p:grpSp>
      <p:grpSp>
        <p:nvGrpSpPr>
          <p:cNvPr id="46" name="Group 46"/>
          <p:cNvGrpSpPr/>
          <p:nvPr/>
        </p:nvGrpSpPr>
        <p:grpSpPr>
          <a:xfrm>
            <a:off x="602742" y="6293168"/>
            <a:ext cx="10986516" cy="264033"/>
            <a:chOff x="602742" y="6293168"/>
            <a:chExt cx="10986516" cy="264033"/>
          </a:xfrm>
        </p:grpSpPr>
        <p:sp>
          <p:nvSpPr>
            <p:cNvPr id="44" name="TextBox 44"/>
            <p:cNvSpPr txBox="1"/>
            <p:nvPr/>
          </p:nvSpPr>
          <p:spPr>
            <a:xfrm>
              <a:off x="602742" y="6293168"/>
              <a:ext cx="561121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K-008 · K-009 | EVENT FACTS · VERSIONED STATE · TAIL REPLAY</a:t>
              </a:r>
            </a:p>
          </p:txBody>
        </p:sp>
        <p:sp>
          <p:nvSpPr>
            <p:cNvPr id="45" name="TextBox 45"/>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P10 / 24</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7000"/>
              </a:schemeClr>
            </a:solidFill>
          </a:ln>
        </p:spPr>
      </p:sp>
      <p:grpSp>
        <p:nvGrpSpPr>
          <p:cNvPr id="5" name="Group 5"/>
          <p:cNvGrpSpPr/>
          <p:nvPr/>
        </p:nvGrpSpPr>
        <p:grpSpPr>
          <a:xfrm>
            <a:off x="593598" y="482918"/>
            <a:ext cx="10649581" cy="955167"/>
            <a:chOff x="593598" y="482918"/>
            <a:chExt cx="10649581" cy="955167"/>
          </a:xfrm>
        </p:grpSpPr>
        <p:sp>
          <p:nvSpPr>
            <p:cNvPr id="3" name="TextBox 3"/>
            <p:cNvSpPr txBox="1"/>
            <p:nvPr/>
          </p:nvSpPr>
          <p:spPr>
            <a:xfrm>
              <a:off x="602742" y="482918"/>
              <a:ext cx="4579620"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CAPABILITY CONTRACT / DEPENDENCY INVERSION</a:t>
              </a:r>
            </a:p>
          </p:txBody>
        </p:sp>
        <p:sp>
          <p:nvSpPr>
            <p:cNvPr id="4" name="TextBox 4"/>
            <p:cNvSpPr txBox="1"/>
            <p:nvPr/>
          </p:nvSpPr>
          <p:spPr>
            <a:xfrm>
              <a:off x="593598" y="822008"/>
              <a:ext cx="10649581"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Capability seams decouple Agents from Providers</a:t>
              </a:r>
            </a:p>
          </p:txBody>
        </p:sp>
      </p:grpSp>
      <p:grpSp>
        <p:nvGrpSpPr>
          <p:cNvPr id="46" name="Group 46"/>
          <p:cNvGrpSpPr/>
          <p:nvPr/>
        </p:nvGrpSpPr>
        <p:grpSpPr>
          <a:xfrm>
            <a:off x="685800" y="2343150"/>
            <a:ext cx="10832249" cy="1485900"/>
            <a:chOff x="685800" y="2343150"/>
            <a:chExt cx="10832249" cy="1485900"/>
          </a:xfrm>
        </p:grpSpPr>
        <p:sp>
          <p:nvSpPr>
            <p:cNvPr id="6" name="Line 6"/>
            <p:cNvSpPr/>
            <p:nvPr/>
          </p:nvSpPr>
          <p:spPr>
            <a:xfrm>
              <a:off x="2743200" y="3086100"/>
              <a:ext cx="685800" cy="1"/>
            </a:xfrm>
            <a:prstGeom prst="line">
              <a:avLst/>
            </a:prstGeom>
            <a:noFill/>
            <a:ln w="38100">
              <a:solidFill>
                <a:schemeClr val="accent2"/>
              </a:solidFill>
              <a:tailEnd type="triangle" w="lg" len="lg"/>
            </a:ln>
          </p:spPr>
        </p:sp>
        <p:sp>
          <p:nvSpPr>
            <p:cNvPr id="7" name="Line 7"/>
            <p:cNvSpPr/>
            <p:nvPr/>
          </p:nvSpPr>
          <p:spPr>
            <a:xfrm>
              <a:off x="5734050" y="3086100"/>
              <a:ext cx="685800" cy="1"/>
            </a:xfrm>
            <a:prstGeom prst="line">
              <a:avLst/>
            </a:prstGeom>
            <a:noFill/>
            <a:ln w="38100">
              <a:solidFill>
                <a:schemeClr val="accent2"/>
              </a:solidFill>
              <a:tailEnd type="triangle" w="lg" len="lg"/>
            </a:ln>
          </p:spPr>
        </p:sp>
        <p:sp>
          <p:nvSpPr>
            <p:cNvPr id="8" name="Line 8"/>
            <p:cNvSpPr/>
            <p:nvPr/>
          </p:nvSpPr>
          <p:spPr>
            <a:xfrm>
              <a:off x="8724900" y="3086100"/>
              <a:ext cx="685800" cy="1"/>
            </a:xfrm>
            <a:prstGeom prst="line">
              <a:avLst/>
            </a:prstGeom>
            <a:noFill/>
            <a:ln w="38100">
              <a:solidFill>
                <a:schemeClr val="accent2"/>
              </a:solidFill>
              <a:tailEnd type="triangle" w="lg" len="lg"/>
            </a:ln>
          </p:spPr>
        </p:sp>
        <p:sp>
          <p:nvSpPr>
            <p:cNvPr id="9" name="Rectangle 9"/>
            <p:cNvSpPr/>
            <p:nvPr/>
          </p:nvSpPr>
          <p:spPr>
            <a:xfrm>
              <a:off x="685800" y="2343150"/>
              <a:ext cx="2057400" cy="1485900"/>
            </a:xfrm>
            <a:prstGeom prst="roundRect">
              <a:avLst>
                <a:gd name="adj" fmla="val 5128"/>
              </a:avLst>
            </a:prstGeom>
            <a:solidFill>
              <a:schemeClr val="lt2"/>
            </a:solidFill>
            <a:ln w="19050">
              <a:solidFill>
                <a:schemeClr val="accent3"/>
              </a:solidFill>
            </a:ln>
          </p:spPr>
        </p:sp>
        <p:grpSp>
          <p:nvGrpSpPr>
            <p:cNvPr id="13" name="Group 13"/>
            <p:cNvGrpSpPr/>
            <p:nvPr/>
          </p:nvGrpSpPr>
          <p:grpSpPr>
            <a:xfrm>
              <a:off x="962025" y="2635250"/>
              <a:ext cx="285751" cy="254001"/>
              <a:chOff x="962025" y="2635250"/>
              <a:chExt cx="285751" cy="254001"/>
            </a:xfrm>
          </p:grpSpPr>
          <p:sp>
            <p:nvSpPr>
              <p:cNvPr id="10" name="Freeform 10"/>
              <p:cNvSpPr/>
              <p:nvPr/>
            </p:nvSpPr>
            <p:spPr>
              <a:xfrm>
                <a:off x="962025" y="2698750"/>
                <a:ext cx="63500" cy="127000"/>
              </a:xfrm>
              <a:custGeom>
                <a:avLst/>
                <a:gdLst/>
                <a:ahLst/>
                <a:cxnLst/>
                <a:rect l="l" t="t" r="r" b="b"/>
                <a:pathLst>
                  <a:path w="63500" h="127000">
                    <a:moveTo>
                      <a:pt x="63500" y="0"/>
                    </a:moveTo>
                    <a:lnTo>
                      <a:pt x="0" y="63500"/>
                    </a:lnTo>
                    <a:lnTo>
                      <a:pt x="63500" y="127000"/>
                    </a:lnTo>
                  </a:path>
                </a:pathLst>
              </a:custGeom>
              <a:noFill/>
              <a:ln w="31750">
                <a:solidFill>
                  <a:schemeClr val="accent3"/>
                </a:solidFill>
              </a:ln>
            </p:spPr>
          </p:sp>
          <p:sp>
            <p:nvSpPr>
              <p:cNvPr id="11" name="Freeform 11"/>
              <p:cNvSpPr/>
              <p:nvPr/>
            </p:nvSpPr>
            <p:spPr>
              <a:xfrm>
                <a:off x="1184276" y="2698750"/>
                <a:ext cx="63500" cy="127000"/>
              </a:xfrm>
              <a:custGeom>
                <a:avLst/>
                <a:gdLst/>
                <a:ahLst/>
                <a:cxnLst/>
                <a:rect l="l" t="t" r="r" b="b"/>
                <a:pathLst>
                  <a:path w="63500" h="127000">
                    <a:moveTo>
                      <a:pt x="0" y="0"/>
                    </a:moveTo>
                    <a:lnTo>
                      <a:pt x="63500" y="63500"/>
                    </a:lnTo>
                    <a:lnTo>
                      <a:pt x="0" y="127000"/>
                    </a:lnTo>
                  </a:path>
                </a:pathLst>
              </a:custGeom>
              <a:noFill/>
              <a:ln w="31750">
                <a:solidFill>
                  <a:schemeClr val="accent3"/>
                </a:solidFill>
              </a:ln>
            </p:spPr>
          </p:sp>
          <p:sp>
            <p:nvSpPr>
              <p:cNvPr id="12" name="Freeform 12"/>
              <p:cNvSpPr/>
              <p:nvPr/>
            </p:nvSpPr>
            <p:spPr>
              <a:xfrm>
                <a:off x="1073150" y="2635250"/>
                <a:ext cx="63500" cy="254001"/>
              </a:xfrm>
              <a:custGeom>
                <a:avLst/>
                <a:gdLst/>
                <a:ahLst/>
                <a:cxnLst/>
                <a:rect l="l" t="t" r="r" b="b"/>
                <a:pathLst>
                  <a:path w="63500" h="254001">
                    <a:moveTo>
                      <a:pt x="63500" y="0"/>
                    </a:moveTo>
                    <a:lnTo>
                      <a:pt x="0" y="254001"/>
                    </a:lnTo>
                  </a:path>
                </a:pathLst>
              </a:custGeom>
              <a:noFill/>
              <a:ln w="31750">
                <a:solidFill>
                  <a:schemeClr val="accent3"/>
                </a:solidFill>
              </a:ln>
            </p:spPr>
          </p:sp>
        </p:grpSp>
        <p:sp>
          <p:nvSpPr>
            <p:cNvPr id="14" name="TextBox 14"/>
            <p:cNvSpPr txBox="1"/>
            <p:nvPr/>
          </p:nvSpPr>
          <p:spPr>
            <a:xfrm>
              <a:off x="1438656" y="2586990"/>
              <a:ext cx="123368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Definition</a:t>
              </a:r>
            </a:p>
          </p:txBody>
        </p:sp>
        <p:sp>
          <p:nvSpPr>
            <p:cNvPr id="15" name="TextBox 15"/>
            <p:cNvSpPr txBox="1"/>
            <p:nvPr/>
          </p:nvSpPr>
          <p:spPr>
            <a:xfrm>
              <a:off x="907542" y="3073718"/>
              <a:ext cx="287607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stable types · methods · events</a:t>
              </a:r>
            </a:p>
          </p:txBody>
        </p:sp>
        <p:sp>
          <p:nvSpPr>
            <p:cNvPr id="16" name="TextBox 16"/>
            <p:cNvSpPr txBox="1"/>
            <p:nvPr/>
          </p:nvSpPr>
          <p:spPr>
            <a:xfrm>
              <a:off x="907542" y="3378518"/>
              <a:ext cx="285790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contract before implementation</a:t>
              </a:r>
            </a:p>
          </p:txBody>
        </p:sp>
        <p:sp>
          <p:nvSpPr>
            <p:cNvPr id="17" name="Rectangle 17"/>
            <p:cNvSpPr/>
            <p:nvPr/>
          </p:nvSpPr>
          <p:spPr>
            <a:xfrm>
              <a:off x="3429000" y="2343150"/>
              <a:ext cx="2305050" cy="1485900"/>
            </a:xfrm>
            <a:prstGeom prst="roundRect">
              <a:avLst>
                <a:gd name="adj" fmla="val 5128"/>
              </a:avLst>
            </a:prstGeom>
            <a:solidFill>
              <a:schemeClr val="lt2"/>
            </a:solidFill>
            <a:ln w="19050">
              <a:solidFill>
                <a:schemeClr val="accent3"/>
              </a:solidFill>
            </a:ln>
          </p:spPr>
        </p:sp>
        <p:grpSp>
          <p:nvGrpSpPr>
            <p:cNvPr id="22" name="Group 22"/>
            <p:cNvGrpSpPr/>
            <p:nvPr/>
          </p:nvGrpSpPr>
          <p:grpSpPr>
            <a:xfrm>
              <a:off x="3721100" y="2635250"/>
              <a:ext cx="254001" cy="254001"/>
              <a:chOff x="3721100" y="2635250"/>
              <a:chExt cx="254001" cy="254001"/>
            </a:xfrm>
          </p:grpSpPr>
          <p:sp>
            <p:nvSpPr>
              <p:cNvPr id="18" name="Freeform 18"/>
              <p:cNvSpPr/>
              <p:nvPr/>
            </p:nvSpPr>
            <p:spPr>
              <a:xfrm>
                <a:off x="3746583" y="2667000"/>
                <a:ext cx="196768" cy="196768"/>
              </a:xfrm>
              <a:custGeom>
                <a:avLst/>
                <a:gdLst/>
                <a:ahLst/>
                <a:cxnLst/>
                <a:rect l="l" t="t" r="r" b="b"/>
                <a:pathLst>
                  <a:path w="196768" h="196768">
                    <a:moveTo>
                      <a:pt x="66354" y="0"/>
                    </a:moveTo>
                    <a:lnTo>
                      <a:pt x="196768" y="130413"/>
                    </a:lnTo>
                    <a:lnTo>
                      <a:pt x="164160" y="163021"/>
                    </a:lnTo>
                    <a:cubicBezTo>
                      <a:pt x="141022" y="187085"/>
                      <a:pt x="106687" y="196768"/>
                      <a:pt x="74386" y="188339"/>
                    </a:cubicBezTo>
                    <a:cubicBezTo>
                      <a:pt x="42084" y="179909"/>
                      <a:pt x="16858" y="154684"/>
                      <a:pt x="8429" y="122382"/>
                    </a:cubicBezTo>
                    <a:cubicBezTo>
                      <a:pt x="0" y="90081"/>
                      <a:pt x="9683" y="55745"/>
                      <a:pt x="33747" y="32607"/>
                    </a:cubicBezTo>
                    <a:lnTo>
                      <a:pt x="66354" y="0"/>
                    </a:lnTo>
                  </a:path>
                </a:pathLst>
              </a:custGeom>
              <a:noFill/>
              <a:ln w="31750">
                <a:solidFill>
                  <a:schemeClr val="accent3"/>
                </a:solidFill>
              </a:ln>
            </p:spPr>
          </p:sp>
          <p:sp>
            <p:nvSpPr>
              <p:cNvPr id="19" name="Freeform 19"/>
              <p:cNvSpPr/>
              <p:nvPr/>
            </p:nvSpPr>
            <p:spPr>
              <a:xfrm>
                <a:off x="3721100" y="2833688"/>
                <a:ext cx="55563" cy="55563"/>
              </a:xfrm>
              <a:custGeom>
                <a:avLst/>
                <a:gdLst/>
                <a:ahLst/>
                <a:cxnLst/>
                <a:rect l="l" t="t" r="r" b="b"/>
                <a:pathLst>
                  <a:path w="55563" h="55563">
                    <a:moveTo>
                      <a:pt x="0" y="55563"/>
                    </a:moveTo>
                    <a:lnTo>
                      <a:pt x="55563" y="0"/>
                    </a:lnTo>
                  </a:path>
                </a:pathLst>
              </a:custGeom>
              <a:noFill/>
              <a:ln w="31750">
                <a:solidFill>
                  <a:schemeClr val="accent3"/>
                </a:solidFill>
              </a:ln>
            </p:spPr>
          </p:sp>
          <p:sp>
            <p:nvSpPr>
              <p:cNvPr id="20" name="Freeform 20"/>
              <p:cNvSpPr/>
              <p:nvPr/>
            </p:nvSpPr>
            <p:spPr>
              <a:xfrm>
                <a:off x="3840163" y="2635250"/>
                <a:ext cx="55563" cy="55563"/>
              </a:xfrm>
              <a:custGeom>
                <a:avLst/>
                <a:gdLst/>
                <a:ahLst/>
                <a:cxnLst/>
                <a:rect l="l" t="t" r="r" b="b"/>
                <a:pathLst>
                  <a:path w="55563" h="55563">
                    <a:moveTo>
                      <a:pt x="55563" y="0"/>
                    </a:moveTo>
                    <a:lnTo>
                      <a:pt x="0" y="55563"/>
                    </a:lnTo>
                  </a:path>
                </a:pathLst>
              </a:custGeom>
              <a:noFill/>
              <a:ln w="31750">
                <a:solidFill>
                  <a:schemeClr val="accent3"/>
                </a:solidFill>
              </a:ln>
            </p:spPr>
          </p:sp>
          <p:sp>
            <p:nvSpPr>
              <p:cNvPr id="21" name="Freeform 21"/>
              <p:cNvSpPr/>
              <p:nvPr/>
            </p:nvSpPr>
            <p:spPr>
              <a:xfrm>
                <a:off x="3919538" y="2714625"/>
                <a:ext cx="55563" cy="55563"/>
              </a:xfrm>
              <a:custGeom>
                <a:avLst/>
                <a:gdLst/>
                <a:ahLst/>
                <a:cxnLst/>
                <a:rect l="l" t="t" r="r" b="b"/>
                <a:pathLst>
                  <a:path w="55563" h="55563">
                    <a:moveTo>
                      <a:pt x="55563" y="0"/>
                    </a:moveTo>
                    <a:lnTo>
                      <a:pt x="0" y="55563"/>
                    </a:lnTo>
                  </a:path>
                </a:pathLst>
              </a:custGeom>
              <a:noFill/>
              <a:ln w="31750">
                <a:solidFill>
                  <a:schemeClr val="accent3"/>
                </a:solidFill>
              </a:ln>
            </p:spPr>
          </p:sp>
        </p:grpSp>
        <p:sp>
          <p:nvSpPr>
            <p:cNvPr id="23" name="TextBox 23"/>
            <p:cNvSpPr txBox="1"/>
            <p:nvPr/>
          </p:nvSpPr>
          <p:spPr>
            <a:xfrm>
              <a:off x="4181856" y="2586990"/>
              <a:ext cx="2214142"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Provider registry</a:t>
              </a:r>
            </a:p>
          </p:txBody>
        </p:sp>
        <p:sp>
          <p:nvSpPr>
            <p:cNvPr id="24" name="TextBox 24"/>
            <p:cNvSpPr txBox="1"/>
            <p:nvPr/>
          </p:nvSpPr>
          <p:spPr>
            <a:xfrm>
              <a:off x="3650742" y="3073718"/>
              <a:ext cx="290333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one implementation or named set</a:t>
              </a:r>
            </a:p>
          </p:txBody>
        </p:sp>
        <p:sp>
          <p:nvSpPr>
            <p:cNvPr id="25" name="TextBox 25"/>
            <p:cNvSpPr txBox="1"/>
            <p:nvPr/>
          </p:nvSpPr>
          <p:spPr>
            <a:xfrm>
              <a:off x="3650742" y="3378518"/>
              <a:ext cx="183650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replaceable Provider</a:t>
              </a:r>
            </a:p>
          </p:txBody>
        </p:sp>
        <p:sp>
          <p:nvSpPr>
            <p:cNvPr id="26" name="Rectangle 26"/>
            <p:cNvSpPr/>
            <p:nvPr/>
          </p:nvSpPr>
          <p:spPr>
            <a:xfrm>
              <a:off x="6419850" y="2343150"/>
              <a:ext cx="2305050" cy="1485900"/>
            </a:xfrm>
            <a:prstGeom prst="roundRect">
              <a:avLst>
                <a:gd name="adj" fmla="val 5128"/>
              </a:avLst>
            </a:prstGeom>
            <a:solidFill>
              <a:schemeClr val="accent1"/>
            </a:solidFill>
            <a:ln w="28575">
              <a:solidFill>
                <a:schemeClr val="accent2"/>
              </a:solidFill>
            </a:ln>
          </p:spPr>
        </p:sp>
        <p:sp>
          <p:nvSpPr>
            <p:cNvPr id="27" name="Freeform 27"/>
            <p:cNvSpPr/>
            <p:nvPr/>
          </p:nvSpPr>
          <p:spPr>
            <a:xfrm>
              <a:off x="6686617" y="2609917"/>
              <a:ext cx="300423" cy="300423"/>
            </a:xfrm>
            <a:custGeom>
              <a:avLst/>
              <a:gdLst/>
              <a:ahLst/>
              <a:cxnLst/>
              <a:rect l="l" t="t" r="r" b="b"/>
              <a:pathLst>
                <a:path w="300423" h="300423">
                  <a:moveTo>
                    <a:pt x="72959" y="120584"/>
                  </a:moveTo>
                  <a:lnTo>
                    <a:pt x="120584" y="120584"/>
                  </a:lnTo>
                  <a:lnTo>
                    <a:pt x="120584" y="72959"/>
                  </a:lnTo>
                  <a:lnTo>
                    <a:pt x="65021" y="17396"/>
                  </a:lnTo>
                  <a:cubicBezTo>
                    <a:pt x="101446" y="0"/>
                    <a:pt x="144880" y="7452"/>
                    <a:pt x="173423" y="35995"/>
                  </a:cubicBezTo>
                  <a:cubicBezTo>
                    <a:pt x="201965" y="64537"/>
                    <a:pt x="209417" y="107972"/>
                    <a:pt x="192021" y="144396"/>
                  </a:cubicBezTo>
                  <a:lnTo>
                    <a:pt x="287272" y="239646"/>
                  </a:lnTo>
                  <a:cubicBezTo>
                    <a:pt x="300423" y="252798"/>
                    <a:pt x="300423" y="274120"/>
                    <a:pt x="287272" y="287272"/>
                  </a:cubicBezTo>
                  <a:cubicBezTo>
                    <a:pt x="274120" y="300423"/>
                    <a:pt x="252798" y="300423"/>
                    <a:pt x="239646" y="287272"/>
                  </a:cubicBezTo>
                  <a:lnTo>
                    <a:pt x="144396" y="192021"/>
                  </a:lnTo>
                  <a:cubicBezTo>
                    <a:pt x="107972" y="209417"/>
                    <a:pt x="64537" y="201965"/>
                    <a:pt x="35995" y="173423"/>
                  </a:cubicBezTo>
                  <a:cubicBezTo>
                    <a:pt x="7452" y="144880"/>
                    <a:pt x="0" y="101446"/>
                    <a:pt x="17396" y="65021"/>
                  </a:cubicBezTo>
                  <a:lnTo>
                    <a:pt x="72959" y="120584"/>
                  </a:lnTo>
                </a:path>
              </a:pathLst>
            </a:custGeom>
            <a:noFill/>
            <a:ln w="31750">
              <a:solidFill>
                <a:srgbClr val="F7FAFC"/>
              </a:solidFill>
            </a:ln>
          </p:spPr>
        </p:sp>
        <p:sp>
          <p:nvSpPr>
            <p:cNvPr id="28" name="TextBox 28"/>
            <p:cNvSpPr txBox="1"/>
            <p:nvPr/>
          </p:nvSpPr>
          <p:spPr>
            <a:xfrm>
              <a:off x="7172706" y="2586990"/>
              <a:ext cx="1196955"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Consumer</a:t>
              </a:r>
            </a:p>
          </p:txBody>
        </p:sp>
        <p:sp>
          <p:nvSpPr>
            <p:cNvPr id="29" name="TextBox 29"/>
            <p:cNvSpPr txBox="1"/>
            <p:nvPr/>
          </p:nvSpPr>
          <p:spPr>
            <a:xfrm>
              <a:off x="6641592" y="3073718"/>
              <a:ext cx="2747229" cy="264033"/>
            </a:xfrm>
            <a:prstGeom prst="rect">
              <a:avLst/>
            </a:prstGeom>
            <a:noFill/>
            <a:ln>
              <a:noFill/>
            </a:ln>
          </p:spPr>
          <p:txBody>
            <a:bodyPr wrap="none" lIns="0" tIns="0" rIns="0" bIns="0" anchor="t" anchorCtr="0">
              <a:spAutoFit/>
            </a:bodyPr>
            <a:lstStyle/>
            <a:p>
              <a:pPr algn="l"/>
              <a:r>
                <a:rPr lang="en-US" sz="1350" dirty="0">
                  <a:solidFill>
                    <a:srgbClr val="D7E0F1"/>
                  </a:solidFill>
                  <a:latin typeface="+mn-lt"/>
                  <a:ea typeface="+mn-ea"/>
                  <a:cs typeface="+mn-cs"/>
                </a:rPr>
                <a:t>Tool · Agent loop · UI · Service</a:t>
              </a:r>
            </a:p>
          </p:txBody>
        </p:sp>
        <p:sp>
          <p:nvSpPr>
            <p:cNvPr id="30" name="TextBox 30"/>
            <p:cNvSpPr txBox="1"/>
            <p:nvPr/>
          </p:nvSpPr>
          <p:spPr>
            <a:xfrm>
              <a:off x="6641592" y="3378518"/>
              <a:ext cx="2518750" cy="264033"/>
            </a:xfrm>
            <a:prstGeom prst="rect">
              <a:avLst/>
            </a:prstGeom>
            <a:noFill/>
            <a:ln>
              <a:noFill/>
            </a:ln>
          </p:spPr>
          <p:txBody>
            <a:bodyPr wrap="none" lIns="0" tIns="0" rIns="0" bIns="0" anchor="t" anchorCtr="0">
              <a:spAutoFit/>
            </a:bodyPr>
            <a:lstStyle/>
            <a:p>
              <a:pPr algn="l"/>
              <a:r>
                <a:rPr lang="en-US" sz="1350" dirty="0">
                  <a:solidFill>
                    <a:srgbClr val="B9F4F7"/>
                  </a:solidFill>
                  <a:latin typeface="+mn-lt"/>
                  <a:ea typeface="+mn-ea"/>
                  <a:cs typeface="+mn-cs"/>
                </a:rPr>
                <a:t>Policy composes at the seam</a:t>
              </a:r>
            </a:p>
          </p:txBody>
        </p:sp>
        <p:sp>
          <p:nvSpPr>
            <p:cNvPr id="31" name="Rectangle 31"/>
            <p:cNvSpPr/>
            <p:nvPr/>
          </p:nvSpPr>
          <p:spPr>
            <a:xfrm>
              <a:off x="9410700" y="2343150"/>
              <a:ext cx="2095500" cy="1485900"/>
            </a:xfrm>
            <a:prstGeom prst="roundRect">
              <a:avLst>
                <a:gd name="adj" fmla="val 5128"/>
              </a:avLst>
            </a:prstGeom>
            <a:solidFill>
              <a:schemeClr val="lt2"/>
            </a:solidFill>
            <a:ln w="19050">
              <a:solidFill>
                <a:schemeClr val="accent3"/>
              </a:solidFill>
            </a:ln>
          </p:spPr>
        </p:sp>
        <p:grpSp>
          <p:nvGrpSpPr>
            <p:cNvPr id="42" name="Group 42"/>
            <p:cNvGrpSpPr/>
            <p:nvPr/>
          </p:nvGrpSpPr>
          <p:grpSpPr>
            <a:xfrm>
              <a:off x="9686925" y="2619375"/>
              <a:ext cx="285751" cy="285751"/>
              <a:chOff x="9686925" y="2619375"/>
              <a:chExt cx="285751" cy="285751"/>
            </a:xfrm>
          </p:grpSpPr>
          <p:sp>
            <p:nvSpPr>
              <p:cNvPr id="32" name="Freeform 32"/>
              <p:cNvSpPr/>
              <p:nvPr/>
            </p:nvSpPr>
            <p:spPr>
              <a:xfrm>
                <a:off x="9718675" y="2651125"/>
                <a:ext cx="222250" cy="222250"/>
              </a:xfrm>
              <a:custGeom>
                <a:avLst/>
                <a:gdLst/>
                <a:ahLst/>
                <a:cxnLst/>
                <a:rect l="l" t="t" r="r" b="b"/>
                <a:pathLst>
                  <a:path w="222250" h="222250">
                    <a:moveTo>
                      <a:pt x="0" y="15875"/>
                    </a:moveTo>
                    <a:cubicBezTo>
                      <a:pt x="0" y="7107"/>
                      <a:pt x="7107" y="0"/>
                      <a:pt x="15875" y="0"/>
                    </a:cubicBezTo>
                    <a:lnTo>
                      <a:pt x="206375" y="0"/>
                    </a:lnTo>
                    <a:cubicBezTo>
                      <a:pt x="215143" y="0"/>
                      <a:pt x="222250" y="7107"/>
                      <a:pt x="222250" y="15875"/>
                    </a:cubicBezTo>
                    <a:lnTo>
                      <a:pt x="222250" y="206375"/>
                    </a:lnTo>
                    <a:cubicBezTo>
                      <a:pt x="222250" y="215143"/>
                      <a:pt x="215143" y="222250"/>
                      <a:pt x="206375" y="222250"/>
                    </a:cubicBezTo>
                    <a:lnTo>
                      <a:pt x="15875" y="222250"/>
                    </a:lnTo>
                    <a:cubicBezTo>
                      <a:pt x="7107" y="222250"/>
                      <a:pt x="0" y="215143"/>
                      <a:pt x="0" y="206375"/>
                    </a:cubicBezTo>
                    <a:lnTo>
                      <a:pt x="0" y="15875"/>
                    </a:lnTo>
                  </a:path>
                </a:pathLst>
              </a:custGeom>
              <a:noFill/>
              <a:ln w="31750">
                <a:solidFill>
                  <a:schemeClr val="accent3"/>
                </a:solidFill>
              </a:ln>
            </p:spPr>
          </p:sp>
          <p:sp>
            <p:nvSpPr>
              <p:cNvPr id="33" name="Freeform 33"/>
              <p:cNvSpPr/>
              <p:nvPr/>
            </p:nvSpPr>
            <p:spPr>
              <a:xfrm>
                <a:off x="9782175" y="2714625"/>
                <a:ext cx="95250" cy="95250"/>
              </a:xfrm>
              <a:custGeom>
                <a:avLst/>
                <a:gdLst/>
                <a:ahLst/>
                <a:cxnLst/>
                <a:rect l="l" t="t" r="r" b="b"/>
                <a:pathLst>
                  <a:path w="95250" h="95250">
                    <a:moveTo>
                      <a:pt x="0" y="0"/>
                    </a:moveTo>
                    <a:lnTo>
                      <a:pt x="95250" y="0"/>
                    </a:lnTo>
                    <a:lnTo>
                      <a:pt x="95250" y="95250"/>
                    </a:lnTo>
                    <a:lnTo>
                      <a:pt x="0" y="95250"/>
                    </a:lnTo>
                    <a:lnTo>
                      <a:pt x="0" y="0"/>
                    </a:lnTo>
                  </a:path>
                </a:pathLst>
              </a:custGeom>
              <a:noFill/>
              <a:ln w="31750">
                <a:solidFill>
                  <a:schemeClr val="accent3"/>
                </a:solidFill>
              </a:ln>
            </p:spPr>
          </p:sp>
          <p:sp>
            <p:nvSpPr>
              <p:cNvPr id="34" name="Freeform 34"/>
              <p:cNvSpPr/>
              <p:nvPr/>
            </p:nvSpPr>
            <p:spPr>
              <a:xfrm>
                <a:off x="9686925" y="2730500"/>
                <a:ext cx="31750" cy="9525"/>
              </a:xfrm>
              <a:custGeom>
                <a:avLst/>
                <a:gdLst/>
                <a:ahLst/>
                <a:cxnLst/>
                <a:rect l="l" t="t" r="r" b="b"/>
                <a:pathLst>
                  <a:path w="31750" h="9525">
                    <a:moveTo>
                      <a:pt x="0" y="0"/>
                    </a:moveTo>
                    <a:lnTo>
                      <a:pt x="31750" y="0"/>
                    </a:lnTo>
                  </a:path>
                </a:pathLst>
              </a:custGeom>
              <a:noFill/>
              <a:ln w="31750">
                <a:solidFill>
                  <a:schemeClr val="accent3"/>
                </a:solidFill>
              </a:ln>
            </p:spPr>
          </p:sp>
          <p:sp>
            <p:nvSpPr>
              <p:cNvPr id="35" name="Freeform 35"/>
              <p:cNvSpPr/>
              <p:nvPr/>
            </p:nvSpPr>
            <p:spPr>
              <a:xfrm>
                <a:off x="9686925" y="2794000"/>
                <a:ext cx="31750" cy="9525"/>
              </a:xfrm>
              <a:custGeom>
                <a:avLst/>
                <a:gdLst/>
                <a:ahLst/>
                <a:cxnLst/>
                <a:rect l="l" t="t" r="r" b="b"/>
                <a:pathLst>
                  <a:path w="31750" h="9525">
                    <a:moveTo>
                      <a:pt x="0" y="0"/>
                    </a:moveTo>
                    <a:lnTo>
                      <a:pt x="31750" y="0"/>
                    </a:lnTo>
                  </a:path>
                </a:pathLst>
              </a:custGeom>
              <a:noFill/>
              <a:ln w="31750">
                <a:solidFill>
                  <a:schemeClr val="accent3"/>
                </a:solidFill>
              </a:ln>
            </p:spPr>
          </p:sp>
          <p:sp>
            <p:nvSpPr>
              <p:cNvPr id="36" name="Freeform 36"/>
              <p:cNvSpPr/>
              <p:nvPr/>
            </p:nvSpPr>
            <p:spPr>
              <a:xfrm>
                <a:off x="9798050" y="2619375"/>
                <a:ext cx="9525" cy="31750"/>
              </a:xfrm>
              <a:custGeom>
                <a:avLst/>
                <a:gdLst/>
                <a:ahLst/>
                <a:cxnLst/>
                <a:rect l="l" t="t" r="r" b="b"/>
                <a:pathLst>
                  <a:path w="9525" h="31750">
                    <a:moveTo>
                      <a:pt x="0" y="0"/>
                    </a:moveTo>
                    <a:lnTo>
                      <a:pt x="0" y="31750"/>
                    </a:lnTo>
                  </a:path>
                </a:pathLst>
              </a:custGeom>
              <a:noFill/>
              <a:ln w="31750">
                <a:solidFill>
                  <a:schemeClr val="accent3"/>
                </a:solidFill>
              </a:ln>
            </p:spPr>
          </p:sp>
          <p:sp>
            <p:nvSpPr>
              <p:cNvPr id="37" name="Freeform 37"/>
              <p:cNvSpPr/>
              <p:nvPr/>
            </p:nvSpPr>
            <p:spPr>
              <a:xfrm>
                <a:off x="9861550" y="2619375"/>
                <a:ext cx="9525" cy="31750"/>
              </a:xfrm>
              <a:custGeom>
                <a:avLst/>
                <a:gdLst/>
                <a:ahLst/>
                <a:cxnLst/>
                <a:rect l="l" t="t" r="r" b="b"/>
                <a:pathLst>
                  <a:path w="9525" h="31750">
                    <a:moveTo>
                      <a:pt x="0" y="0"/>
                    </a:moveTo>
                    <a:lnTo>
                      <a:pt x="0" y="31750"/>
                    </a:lnTo>
                  </a:path>
                </a:pathLst>
              </a:custGeom>
              <a:noFill/>
              <a:ln w="31750">
                <a:solidFill>
                  <a:schemeClr val="accent3"/>
                </a:solidFill>
              </a:ln>
            </p:spPr>
          </p:sp>
          <p:sp>
            <p:nvSpPr>
              <p:cNvPr id="38" name="Freeform 38"/>
              <p:cNvSpPr/>
              <p:nvPr/>
            </p:nvSpPr>
            <p:spPr>
              <a:xfrm>
                <a:off x="9940926" y="2730500"/>
                <a:ext cx="31750" cy="9525"/>
              </a:xfrm>
              <a:custGeom>
                <a:avLst/>
                <a:gdLst/>
                <a:ahLst/>
                <a:cxnLst/>
                <a:rect l="l" t="t" r="r" b="b"/>
                <a:pathLst>
                  <a:path w="31750" h="9525">
                    <a:moveTo>
                      <a:pt x="31750" y="0"/>
                    </a:moveTo>
                    <a:lnTo>
                      <a:pt x="0" y="0"/>
                    </a:lnTo>
                  </a:path>
                </a:pathLst>
              </a:custGeom>
              <a:noFill/>
              <a:ln w="31750">
                <a:solidFill>
                  <a:schemeClr val="accent3"/>
                </a:solidFill>
              </a:ln>
            </p:spPr>
          </p:sp>
          <p:sp>
            <p:nvSpPr>
              <p:cNvPr id="39" name="Freeform 39"/>
              <p:cNvSpPr/>
              <p:nvPr/>
            </p:nvSpPr>
            <p:spPr>
              <a:xfrm>
                <a:off x="9940926" y="2794000"/>
                <a:ext cx="31750" cy="9525"/>
              </a:xfrm>
              <a:custGeom>
                <a:avLst/>
                <a:gdLst/>
                <a:ahLst/>
                <a:cxnLst/>
                <a:rect l="l" t="t" r="r" b="b"/>
                <a:pathLst>
                  <a:path w="31750" h="9525">
                    <a:moveTo>
                      <a:pt x="31750" y="0"/>
                    </a:moveTo>
                    <a:lnTo>
                      <a:pt x="0" y="0"/>
                    </a:lnTo>
                  </a:path>
                </a:pathLst>
              </a:custGeom>
              <a:noFill/>
              <a:ln w="31750">
                <a:solidFill>
                  <a:schemeClr val="accent3"/>
                </a:solidFill>
              </a:ln>
            </p:spPr>
          </p:sp>
          <p:sp>
            <p:nvSpPr>
              <p:cNvPr id="40" name="Freeform 40"/>
              <p:cNvSpPr/>
              <p:nvPr/>
            </p:nvSpPr>
            <p:spPr>
              <a:xfrm>
                <a:off x="9861550" y="2873376"/>
                <a:ext cx="9525" cy="31750"/>
              </a:xfrm>
              <a:custGeom>
                <a:avLst/>
                <a:gdLst/>
                <a:ahLst/>
                <a:cxnLst/>
                <a:rect l="l" t="t" r="r" b="b"/>
                <a:pathLst>
                  <a:path w="9525" h="31750">
                    <a:moveTo>
                      <a:pt x="0" y="31750"/>
                    </a:moveTo>
                    <a:lnTo>
                      <a:pt x="0" y="0"/>
                    </a:lnTo>
                  </a:path>
                </a:pathLst>
              </a:custGeom>
              <a:noFill/>
              <a:ln w="31750">
                <a:solidFill>
                  <a:schemeClr val="accent3"/>
                </a:solidFill>
              </a:ln>
            </p:spPr>
          </p:sp>
          <p:sp>
            <p:nvSpPr>
              <p:cNvPr id="41" name="Freeform 41"/>
              <p:cNvSpPr/>
              <p:nvPr/>
            </p:nvSpPr>
            <p:spPr>
              <a:xfrm>
                <a:off x="9798050" y="2873376"/>
                <a:ext cx="9525" cy="31750"/>
              </a:xfrm>
              <a:custGeom>
                <a:avLst/>
                <a:gdLst/>
                <a:ahLst/>
                <a:cxnLst/>
                <a:rect l="l" t="t" r="r" b="b"/>
                <a:pathLst>
                  <a:path w="9525" h="31750">
                    <a:moveTo>
                      <a:pt x="0" y="31750"/>
                    </a:moveTo>
                    <a:lnTo>
                      <a:pt x="0" y="0"/>
                    </a:lnTo>
                  </a:path>
                </a:pathLst>
              </a:custGeom>
              <a:noFill/>
              <a:ln w="31750">
                <a:solidFill>
                  <a:schemeClr val="accent3"/>
                </a:solidFill>
              </a:ln>
            </p:spPr>
          </p:sp>
        </p:grpSp>
        <p:sp>
          <p:nvSpPr>
            <p:cNvPr id="43" name="TextBox 43"/>
            <p:cNvSpPr txBox="1"/>
            <p:nvPr/>
          </p:nvSpPr>
          <p:spPr>
            <a:xfrm>
              <a:off x="10163556" y="2586990"/>
              <a:ext cx="725896"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Agent</a:t>
              </a:r>
            </a:p>
          </p:txBody>
        </p:sp>
        <p:sp>
          <p:nvSpPr>
            <p:cNvPr id="44" name="TextBox 44"/>
            <p:cNvSpPr txBox="1"/>
            <p:nvPr/>
          </p:nvSpPr>
          <p:spPr>
            <a:xfrm>
              <a:off x="9632442" y="3073718"/>
              <a:ext cx="188560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depends on capability</a:t>
              </a:r>
            </a:p>
          </p:txBody>
        </p:sp>
        <p:sp>
          <p:nvSpPr>
            <p:cNvPr id="45" name="TextBox 45"/>
            <p:cNvSpPr txBox="1"/>
            <p:nvPr/>
          </p:nvSpPr>
          <p:spPr>
            <a:xfrm>
              <a:off x="9632442" y="3378518"/>
              <a:ext cx="170387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not implementation</a:t>
              </a:r>
            </a:p>
          </p:txBody>
        </p:sp>
      </p:grpSp>
      <p:grpSp>
        <p:nvGrpSpPr>
          <p:cNvPr id="50" name="Group 50"/>
          <p:cNvGrpSpPr/>
          <p:nvPr/>
        </p:nvGrpSpPr>
        <p:grpSpPr>
          <a:xfrm>
            <a:off x="4953000" y="1619250"/>
            <a:ext cx="5238750" cy="723900"/>
            <a:chOff x="4953000" y="1619250"/>
            <a:chExt cx="5238750" cy="723900"/>
          </a:xfrm>
        </p:grpSpPr>
        <p:sp>
          <p:nvSpPr>
            <p:cNvPr id="47" name="Line 47"/>
            <p:cNvSpPr/>
            <p:nvPr/>
          </p:nvSpPr>
          <p:spPr>
            <a:xfrm>
              <a:off x="7572375" y="2152650"/>
              <a:ext cx="9525" cy="190500"/>
            </a:xfrm>
            <a:custGeom>
              <a:avLst/>
              <a:gdLst/>
              <a:ahLst/>
              <a:cxnLst/>
              <a:rect l="l" t="t" r="r" b="b"/>
              <a:pathLst>
                <a:path w="9525" h="190500">
                  <a:moveTo>
                    <a:pt x="0" y="0"/>
                  </a:moveTo>
                  <a:lnTo>
                    <a:pt x="0" y="190500"/>
                  </a:lnTo>
                </a:path>
              </a:pathLst>
            </a:custGeom>
            <a:noFill/>
            <a:ln w="38100">
              <a:solidFill>
                <a:schemeClr val="accent6"/>
              </a:solidFill>
            </a:ln>
          </p:spPr>
        </p:sp>
        <p:sp>
          <p:nvSpPr>
            <p:cNvPr id="48" name="Rectangle 48"/>
            <p:cNvSpPr/>
            <p:nvPr/>
          </p:nvSpPr>
          <p:spPr>
            <a:xfrm>
              <a:off x="4953000" y="1619250"/>
              <a:ext cx="5238750" cy="533400"/>
            </a:xfrm>
            <a:prstGeom prst="roundRect">
              <a:avLst>
                <a:gd name="adj" fmla="val 10714"/>
              </a:avLst>
            </a:prstGeom>
            <a:solidFill>
              <a:srgbClr val="FFF3E0"/>
            </a:solidFill>
            <a:ln w="19050">
              <a:solidFill>
                <a:schemeClr val="accent6"/>
              </a:solidFill>
            </a:ln>
          </p:spPr>
        </p:sp>
        <p:sp>
          <p:nvSpPr>
            <p:cNvPr id="49" name="TextBox 49"/>
            <p:cNvSpPr txBox="1"/>
            <p:nvPr/>
          </p:nvSpPr>
          <p:spPr>
            <a:xfrm>
              <a:off x="5220911" y="1806892"/>
              <a:ext cx="4702927" cy="264033"/>
            </a:xfrm>
            <a:prstGeom prst="rect">
              <a:avLst/>
            </a:prstGeom>
            <a:noFill/>
            <a:ln>
              <a:noFill/>
            </a:ln>
          </p:spPr>
          <p:txBody>
            <a:bodyPr wrap="none" lIns="0" tIns="0" rIns="0" bIns="0" anchor="t" anchorCtr="0">
              <a:spAutoFit/>
            </a:bodyPr>
            <a:lstStyle/>
            <a:p>
              <a:pPr algn="ctr"/>
              <a:r>
                <a:rPr lang="en-US" sz="1350" b="1" dirty="0">
                  <a:solidFill>
                    <a:schemeClr val="accent6"/>
                  </a:solidFill>
                  <a:latin typeface="+mn-lt"/>
                  <a:ea typeface="+mn-ea"/>
                  <a:cs typeface="+mn-cs"/>
                </a:rPr>
                <a:t>POLICY · approval · retry · timeout · observation</a:t>
              </a:r>
            </a:p>
          </p:txBody>
        </p:sp>
      </p:grpSp>
      <p:grpSp>
        <p:nvGrpSpPr>
          <p:cNvPr id="59" name="Group 59"/>
          <p:cNvGrpSpPr/>
          <p:nvPr/>
        </p:nvGrpSpPr>
        <p:grpSpPr>
          <a:xfrm>
            <a:off x="2038350" y="4959350"/>
            <a:ext cx="8115300" cy="703834"/>
            <a:chOff x="2038350" y="4959350"/>
            <a:chExt cx="8115300" cy="703834"/>
          </a:xfrm>
        </p:grpSpPr>
        <p:sp>
          <p:nvSpPr>
            <p:cNvPr id="51" name="Freeform 51"/>
            <p:cNvSpPr/>
            <p:nvPr/>
          </p:nvSpPr>
          <p:spPr>
            <a:xfrm>
              <a:off x="2038350" y="5181600"/>
              <a:ext cx="8115300" cy="9525"/>
            </a:xfrm>
            <a:custGeom>
              <a:avLst/>
              <a:gdLst/>
              <a:ahLst/>
              <a:cxnLst/>
              <a:rect l="l" t="t" r="r" b="b"/>
              <a:pathLst>
                <a:path w="8115300" h="9525">
                  <a:moveTo>
                    <a:pt x="0" y="0"/>
                  </a:moveTo>
                  <a:lnTo>
                    <a:pt x="8115300" y="0"/>
                  </a:lnTo>
                </a:path>
              </a:pathLst>
            </a:custGeom>
            <a:noFill/>
            <a:ln w="28575">
              <a:solidFill>
                <a:srgbClr val="C2415B"/>
              </a:solidFill>
              <a:prstDash val="lgDash"/>
            </a:ln>
          </p:spPr>
        </p:sp>
        <p:grpSp>
          <p:nvGrpSpPr>
            <p:cNvPr id="55" name="Group 55"/>
            <p:cNvGrpSpPr/>
            <p:nvPr/>
          </p:nvGrpSpPr>
          <p:grpSpPr>
            <a:xfrm>
              <a:off x="2085975" y="4959350"/>
              <a:ext cx="285751" cy="254001"/>
              <a:chOff x="2085975" y="4959350"/>
              <a:chExt cx="285751" cy="254001"/>
            </a:xfrm>
          </p:grpSpPr>
          <p:sp>
            <p:nvSpPr>
              <p:cNvPr id="52" name="Freeform 52"/>
              <p:cNvSpPr/>
              <p:nvPr/>
            </p:nvSpPr>
            <p:spPr>
              <a:xfrm>
                <a:off x="2165350" y="5038725"/>
                <a:ext cx="47625" cy="95250"/>
              </a:xfrm>
              <a:custGeom>
                <a:avLst/>
                <a:gdLst/>
                <a:ahLst/>
                <a:cxnLst/>
                <a:rect l="l" t="t" r="r" b="b"/>
                <a:pathLst>
                  <a:path w="47625" h="95250">
                    <a:moveTo>
                      <a:pt x="0" y="0"/>
                    </a:moveTo>
                    <a:lnTo>
                      <a:pt x="47625" y="47625"/>
                    </a:lnTo>
                    <a:lnTo>
                      <a:pt x="0" y="95250"/>
                    </a:lnTo>
                  </a:path>
                </a:pathLst>
              </a:custGeom>
              <a:noFill/>
              <a:ln w="31750">
                <a:solidFill>
                  <a:srgbClr val="C2415B"/>
                </a:solidFill>
              </a:ln>
            </p:spPr>
          </p:sp>
          <p:sp>
            <p:nvSpPr>
              <p:cNvPr id="53" name="Freeform 53"/>
              <p:cNvSpPr/>
              <p:nvPr/>
            </p:nvSpPr>
            <p:spPr>
              <a:xfrm>
                <a:off x="2244725" y="5133975"/>
                <a:ext cx="47625" cy="9525"/>
              </a:xfrm>
              <a:custGeom>
                <a:avLst/>
                <a:gdLst/>
                <a:ahLst/>
                <a:cxnLst/>
                <a:rect l="l" t="t" r="r" b="b"/>
                <a:pathLst>
                  <a:path w="47625" h="9525">
                    <a:moveTo>
                      <a:pt x="0" y="0"/>
                    </a:moveTo>
                    <a:lnTo>
                      <a:pt x="47625" y="0"/>
                    </a:lnTo>
                  </a:path>
                </a:pathLst>
              </a:custGeom>
              <a:noFill/>
              <a:ln w="31750">
                <a:solidFill>
                  <a:srgbClr val="C2415B"/>
                </a:solidFill>
              </a:ln>
            </p:spPr>
          </p:sp>
          <p:sp>
            <p:nvSpPr>
              <p:cNvPr id="54" name="Freeform 54"/>
              <p:cNvSpPr/>
              <p:nvPr/>
            </p:nvSpPr>
            <p:spPr>
              <a:xfrm>
                <a:off x="2085975" y="4959350"/>
                <a:ext cx="285751" cy="254001"/>
              </a:xfrm>
              <a:custGeom>
                <a:avLst/>
                <a:gdLst/>
                <a:ahLst/>
                <a:cxnLst/>
                <a:rect l="l" t="t" r="r" b="b"/>
                <a:pathLst>
                  <a:path w="285751" h="254001">
                    <a:moveTo>
                      <a:pt x="0" y="31750"/>
                    </a:moveTo>
                    <a:cubicBezTo>
                      <a:pt x="0" y="14215"/>
                      <a:pt x="14215" y="0"/>
                      <a:pt x="31750" y="0"/>
                    </a:cubicBezTo>
                    <a:lnTo>
                      <a:pt x="254001" y="0"/>
                    </a:lnTo>
                    <a:cubicBezTo>
                      <a:pt x="271536" y="0"/>
                      <a:pt x="285751" y="14215"/>
                      <a:pt x="285751" y="31750"/>
                    </a:cubicBezTo>
                    <a:lnTo>
                      <a:pt x="285751" y="222250"/>
                    </a:lnTo>
                    <a:cubicBezTo>
                      <a:pt x="285751" y="239786"/>
                      <a:pt x="271536" y="254001"/>
                      <a:pt x="254001" y="254001"/>
                    </a:cubicBezTo>
                    <a:lnTo>
                      <a:pt x="31750" y="254001"/>
                    </a:lnTo>
                    <a:cubicBezTo>
                      <a:pt x="14215" y="254001"/>
                      <a:pt x="0" y="239786"/>
                      <a:pt x="0" y="222250"/>
                    </a:cubicBezTo>
                    <a:lnTo>
                      <a:pt x="0" y="31750"/>
                    </a:lnTo>
                  </a:path>
                </a:pathLst>
              </a:custGeom>
              <a:noFill/>
              <a:ln w="31750">
                <a:solidFill>
                  <a:srgbClr val="C2415B"/>
                </a:solidFill>
              </a:ln>
            </p:spPr>
          </p:sp>
        </p:grpSp>
        <p:sp>
          <p:nvSpPr>
            <p:cNvPr id="56" name="TextBox 56"/>
            <p:cNvSpPr txBox="1"/>
            <p:nvPr/>
          </p:nvSpPr>
          <p:spPr>
            <a:xfrm>
              <a:off x="2622042" y="4997768"/>
              <a:ext cx="1989643" cy="264033"/>
            </a:xfrm>
            <a:prstGeom prst="rect">
              <a:avLst/>
            </a:prstGeom>
            <a:noFill/>
            <a:ln>
              <a:noFill/>
            </a:ln>
          </p:spPr>
          <p:txBody>
            <a:bodyPr wrap="none" lIns="0" tIns="0" rIns="0" bIns="0" anchor="t" anchorCtr="0">
              <a:spAutoFit/>
            </a:bodyPr>
            <a:lstStyle/>
            <a:p>
              <a:pPr algn="l"/>
              <a:r>
                <a:rPr lang="en-US" sz="1350" b="1" dirty="0">
                  <a:solidFill>
                    <a:srgbClr val="C2415B"/>
                  </a:solidFill>
                  <a:latin typeface="Cascadia Mono"/>
                  <a:ea typeface="Cascadia Mono"/>
                  <a:cs typeface="Cascadia Mono"/>
                </a:rPr>
                <a:t>BOUNDARY EXCEPTION</a:t>
              </a:r>
            </a:p>
          </p:txBody>
        </p:sp>
        <p:sp>
          <p:nvSpPr>
            <p:cNvPr id="57" name="TextBox 57"/>
            <p:cNvSpPr txBox="1"/>
            <p:nvPr/>
          </p:nvSpPr>
          <p:spPr>
            <a:xfrm>
              <a:off x="2619756" y="5311140"/>
              <a:ext cx="481432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tool-fs-search → subprocess / ripgrep</a:t>
              </a:r>
            </a:p>
          </p:txBody>
        </p:sp>
        <p:sp>
          <p:nvSpPr>
            <p:cNvPr id="58" name="TextBox 58"/>
            <p:cNvSpPr txBox="1"/>
            <p:nvPr/>
          </p:nvSpPr>
          <p:spPr>
            <a:xfrm>
              <a:off x="7194042" y="5359718"/>
              <a:ext cx="146761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bypasses ctx.fs</a:t>
              </a:r>
            </a:p>
          </p:txBody>
        </p:sp>
      </p:grpSp>
      <p:grpSp>
        <p:nvGrpSpPr>
          <p:cNvPr id="62" name="Group 62"/>
          <p:cNvGrpSpPr/>
          <p:nvPr/>
        </p:nvGrpSpPr>
        <p:grpSpPr>
          <a:xfrm>
            <a:off x="602742" y="6293168"/>
            <a:ext cx="10986516" cy="264033"/>
            <a:chOff x="602742" y="6293168"/>
            <a:chExt cx="10986516" cy="264033"/>
          </a:xfrm>
        </p:grpSpPr>
        <p:sp>
          <p:nvSpPr>
            <p:cNvPr id="60" name="TextBox 60"/>
            <p:cNvSpPr txBox="1"/>
            <p:nvPr/>
          </p:nvSpPr>
          <p:spPr>
            <a:xfrm>
              <a:off x="602742" y="6293168"/>
              <a:ext cx="536158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K-005 · K-010 | DEFINITION → PROVIDER → CONSUMER → AGENT</a:t>
              </a:r>
            </a:p>
          </p:txBody>
        </p:sp>
        <p:sp>
          <p:nvSpPr>
            <p:cNvPr id="61" name="TextBox 61"/>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P11 / 24</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219200" y="0"/>
                </a:moveTo>
                <a:lnTo>
                  <a:pt x="1219200" y="6858000"/>
                </a:lnTo>
                <a:moveTo>
                  <a:pt x="2438400" y="0"/>
                </a:moveTo>
                <a:lnTo>
                  <a:pt x="2438400" y="6858000"/>
                </a:lnTo>
                <a:moveTo>
                  <a:pt x="3657600" y="0"/>
                </a:moveTo>
                <a:lnTo>
                  <a:pt x="3657600" y="6858000"/>
                </a:lnTo>
                <a:moveTo>
                  <a:pt x="4876800" y="0"/>
                </a:moveTo>
                <a:lnTo>
                  <a:pt x="4876800" y="6858000"/>
                </a:lnTo>
                <a:moveTo>
                  <a:pt x="6096000" y="0"/>
                </a:moveTo>
                <a:lnTo>
                  <a:pt x="6096000" y="6858000"/>
                </a:lnTo>
                <a:moveTo>
                  <a:pt x="7315200" y="0"/>
                </a:moveTo>
                <a:lnTo>
                  <a:pt x="7315200" y="6858000"/>
                </a:lnTo>
                <a:moveTo>
                  <a:pt x="8534400" y="0"/>
                </a:moveTo>
                <a:lnTo>
                  <a:pt x="8534400" y="6858000"/>
                </a:lnTo>
                <a:moveTo>
                  <a:pt x="9753600" y="0"/>
                </a:moveTo>
                <a:lnTo>
                  <a:pt x="9753600" y="6858000"/>
                </a:lnTo>
                <a:moveTo>
                  <a:pt x="10972800" y="0"/>
                </a:moveTo>
                <a:lnTo>
                  <a:pt x="109728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16000"/>
              </a:schemeClr>
            </a:solidFill>
          </a:ln>
        </p:spPr>
      </p:sp>
      <p:grpSp>
        <p:nvGrpSpPr>
          <p:cNvPr id="7" name="Group 7"/>
          <p:cNvGrpSpPr/>
          <p:nvPr/>
        </p:nvGrpSpPr>
        <p:grpSpPr>
          <a:xfrm>
            <a:off x="593598" y="882968"/>
            <a:ext cx="3945636" cy="3732466"/>
            <a:chOff x="593598" y="882968"/>
            <a:chExt cx="3945636" cy="3732466"/>
          </a:xfrm>
        </p:grpSpPr>
        <p:sp>
          <p:nvSpPr>
            <p:cNvPr id="3" name="TextBox 3"/>
            <p:cNvSpPr txBox="1"/>
            <p:nvPr/>
          </p:nvSpPr>
          <p:spPr>
            <a:xfrm>
              <a:off x="602742" y="882968"/>
              <a:ext cx="2631643" cy="264033"/>
            </a:xfrm>
            <a:prstGeom prst="rect">
              <a:avLst/>
            </a:prstGeom>
            <a:noFill/>
            <a:ln>
              <a:noFill/>
            </a:ln>
          </p:spPr>
          <p:txBody>
            <a:bodyPr wrap="none" lIns="0" tIns="0" rIns="0" bIns="0" anchor="t" anchorCtr="0">
              <a:spAutoFit/>
            </a:bodyPr>
            <a:lstStyle/>
            <a:p>
              <a:pPr algn="l"/>
              <a:r>
                <a:rPr lang="en-US" sz="1350" spc="150" dirty="0">
                  <a:solidFill>
                    <a:schemeClr val="accent2"/>
                  </a:solidFill>
                  <a:latin typeface="Cascadia Mono"/>
                  <a:ea typeface="Cascadia Mono"/>
                  <a:cs typeface="Cascadia Mono"/>
                </a:rPr>
                <a:t>CHAPTER 02 / EXTENSION</a:t>
              </a:r>
            </a:p>
          </p:txBody>
        </p:sp>
        <p:sp>
          <p:nvSpPr>
            <p:cNvPr id="4" name="TextBox 4"/>
            <p:cNvSpPr txBox="1"/>
            <p:nvPr/>
          </p:nvSpPr>
          <p:spPr>
            <a:xfrm>
              <a:off x="593598" y="1450658"/>
              <a:ext cx="3371421" cy="1130427"/>
            </a:xfrm>
            <a:prstGeom prst="rect">
              <a:avLst/>
            </a:prstGeom>
            <a:noFill/>
            <a:ln>
              <a:noFill/>
            </a:ln>
          </p:spPr>
          <p:txBody>
            <a:bodyPr wrap="none" lIns="0" tIns="0" rIns="0" bIns="0" anchor="t" anchorCtr="0">
              <a:spAutoFit/>
            </a:bodyPr>
            <a:lstStyle/>
            <a:p>
              <a:pPr algn="l">
                <a:lnSpc>
                  <a:spcPts val="4050"/>
                </a:lnSpc>
              </a:pPr>
              <a:r>
                <a:rPr lang="en-US" sz="3150" b="1" dirty="0">
                  <a:solidFill>
                    <a:srgbClr val="F7FAFC"/>
                  </a:solidFill>
                  <a:latin typeface="+mj-lt"/>
                  <a:ea typeface="+mj-ea"/>
                  <a:cs typeface="+mj-cs"/>
                </a:rPr>
                <a:t>One Core</a:t>
              </a:r>
              <a:br/>
              <a:r>
                <a:rPr lang="en-US" sz="3150" b="1" dirty="0">
                  <a:solidFill>
                    <a:srgbClr val="F7FAFC"/>
                  </a:solidFill>
                  <a:latin typeface="+mj-lt"/>
                  <a:ea typeface="+mj-ea"/>
                  <a:cs typeface="+mj-cs"/>
                </a:rPr>
                <a:t>many interfaces</a:t>
              </a:r>
            </a:p>
          </p:txBody>
        </p:sp>
        <p:sp>
          <p:nvSpPr>
            <p:cNvPr id="5" name="TextBox 5"/>
            <p:cNvSpPr txBox="1"/>
            <p:nvPr/>
          </p:nvSpPr>
          <p:spPr>
            <a:xfrm>
              <a:off x="597408" y="2941320"/>
              <a:ext cx="3422324" cy="469392"/>
            </a:xfrm>
            <a:prstGeom prst="rect">
              <a:avLst/>
            </a:prstGeom>
            <a:noFill/>
            <a:ln>
              <a:noFill/>
            </a:ln>
          </p:spPr>
          <p:txBody>
            <a:bodyPr wrap="none" lIns="0" tIns="0" rIns="0" bIns="0" anchor="t" anchorCtr="0">
              <a:spAutoFit/>
            </a:bodyPr>
            <a:lstStyle/>
            <a:p>
              <a:pPr algn="l"/>
              <a:r>
                <a:rPr lang="en-US" sz="2400" b="1" dirty="0">
                  <a:solidFill>
                    <a:srgbClr val="B9F4F7"/>
                  </a:solidFill>
                  <a:latin typeface="+mj-lt"/>
                  <a:ea typeface="+mj-ea"/>
                  <a:cs typeface="+mj-cs"/>
                </a:rPr>
                <a:t>Adapters share Core</a:t>
              </a:r>
            </a:p>
          </p:txBody>
        </p:sp>
        <p:sp>
          <p:nvSpPr>
            <p:cNvPr id="6" name="TextBox 6"/>
            <p:cNvSpPr txBox="1"/>
            <p:nvPr/>
          </p:nvSpPr>
          <p:spPr>
            <a:xfrm>
              <a:off x="600456" y="3539490"/>
              <a:ext cx="3938778" cy="1075944"/>
            </a:xfrm>
            <a:prstGeom prst="rect">
              <a:avLst/>
            </a:prstGeom>
            <a:noFill/>
            <a:ln>
              <a:noFill/>
            </a:ln>
          </p:spPr>
          <p:txBody>
            <a:bodyPr wrap="none" lIns="0" tIns="0" rIns="0" bIns="0" anchor="t" anchorCtr="0">
              <a:spAutoFit/>
            </a:bodyPr>
            <a:lstStyle/>
            <a:p>
              <a:pPr algn="l">
                <a:lnSpc>
                  <a:spcPts val="2850"/>
                </a:lnSpc>
              </a:pPr>
              <a:r>
                <a:rPr lang="en-US" sz="1800" dirty="0">
                  <a:solidFill>
                    <a:srgbClr val="D7E0F1"/>
                  </a:solidFill>
                  <a:latin typeface="+mn-lt"/>
                  <a:ea typeface="+mn-ea"/>
                  <a:cs typeface="+mn-cs"/>
                </a:rPr>
                <a:t>Share Agent + Session.</a:t>
              </a:r>
              <a:br/>
              <a:r>
                <a:rPr lang="en-US" sz="1800" dirty="0">
                  <a:solidFill>
                    <a:srgbClr val="D7E0F1"/>
                  </a:solidFill>
                  <a:latin typeface="+mn-lt"/>
                  <a:ea typeface="+mn-ea"/>
                  <a:cs typeface="+mn-cs"/>
                </a:rPr>
                <a:t>Keep transport ownership explicit.</a:t>
              </a:r>
              <a:br/>
              <a:r>
                <a:rPr lang="en-US" sz="1800" dirty="0">
                  <a:solidFill>
                    <a:srgbClr val="D7E0F1"/>
                  </a:solidFill>
                  <a:latin typeface="+mn-lt"/>
                  <a:ea typeface="+mn-ea"/>
                  <a:cs typeface="+mn-cs"/>
                </a:rPr>
                <a:t>Keep Plugin lifecycle inspectable.</a:t>
              </a:r>
            </a:p>
          </p:txBody>
        </p:sp>
      </p:grpSp>
      <p:grpSp>
        <p:nvGrpSpPr>
          <p:cNvPr id="40" name="Group 40"/>
          <p:cNvGrpSpPr/>
          <p:nvPr/>
        </p:nvGrpSpPr>
        <p:grpSpPr>
          <a:xfrm>
            <a:off x="5364675" y="952500"/>
            <a:ext cx="5368008" cy="3524250"/>
            <a:chOff x="5364675" y="952500"/>
            <a:chExt cx="5368008" cy="3524250"/>
          </a:xfrm>
        </p:grpSpPr>
        <p:sp>
          <p:nvSpPr>
            <p:cNvPr id="8" name="Line 8"/>
            <p:cNvSpPr/>
            <p:nvPr/>
          </p:nvSpPr>
          <p:spPr>
            <a:xfrm>
              <a:off x="8058150" y="1466850"/>
              <a:ext cx="9525" cy="1504950"/>
            </a:xfrm>
            <a:custGeom>
              <a:avLst/>
              <a:gdLst/>
              <a:ahLst/>
              <a:cxnLst/>
              <a:rect l="l" t="t" r="r" b="b"/>
              <a:pathLst>
                <a:path w="9525" h="1504950">
                  <a:moveTo>
                    <a:pt x="0" y="1504950"/>
                  </a:moveTo>
                  <a:lnTo>
                    <a:pt x="0" y="0"/>
                  </a:lnTo>
                </a:path>
              </a:pathLst>
            </a:custGeom>
            <a:noFill/>
            <a:ln w="19050">
              <a:solidFill>
                <a:schemeClr val="accent3"/>
              </a:solidFill>
            </a:ln>
          </p:spPr>
        </p:sp>
        <p:sp>
          <p:nvSpPr>
            <p:cNvPr id="9" name="Line 9"/>
            <p:cNvSpPr/>
            <p:nvPr/>
          </p:nvSpPr>
          <p:spPr>
            <a:xfrm>
              <a:off x="8058150" y="2152650"/>
              <a:ext cx="2152650" cy="819150"/>
            </a:xfrm>
            <a:custGeom>
              <a:avLst/>
              <a:gdLst/>
              <a:ahLst/>
              <a:cxnLst/>
              <a:rect l="l" t="t" r="r" b="b"/>
              <a:pathLst>
                <a:path w="2152650" h="819150">
                  <a:moveTo>
                    <a:pt x="0" y="819150"/>
                  </a:moveTo>
                  <a:lnTo>
                    <a:pt x="2152650" y="0"/>
                  </a:lnTo>
                </a:path>
              </a:pathLst>
            </a:custGeom>
            <a:noFill/>
            <a:ln w="19050">
              <a:solidFill>
                <a:schemeClr val="accent3"/>
              </a:solidFill>
            </a:ln>
          </p:spPr>
        </p:sp>
        <p:sp>
          <p:nvSpPr>
            <p:cNvPr id="10" name="Line 10"/>
            <p:cNvSpPr/>
            <p:nvPr/>
          </p:nvSpPr>
          <p:spPr>
            <a:xfrm>
              <a:off x="8058150" y="2971800"/>
              <a:ext cx="2152650" cy="990600"/>
            </a:xfrm>
            <a:custGeom>
              <a:avLst/>
              <a:gdLst/>
              <a:ahLst/>
              <a:cxnLst/>
              <a:rect l="l" t="t" r="r" b="b"/>
              <a:pathLst>
                <a:path w="2152650" h="990600">
                  <a:moveTo>
                    <a:pt x="0" y="0"/>
                  </a:moveTo>
                  <a:lnTo>
                    <a:pt x="2152650" y="990600"/>
                  </a:lnTo>
                </a:path>
              </a:pathLst>
            </a:custGeom>
            <a:noFill/>
            <a:ln w="19050">
              <a:solidFill>
                <a:schemeClr val="accent3"/>
              </a:solidFill>
            </a:ln>
          </p:spPr>
        </p:sp>
        <p:sp>
          <p:nvSpPr>
            <p:cNvPr id="11" name="Line 11"/>
            <p:cNvSpPr/>
            <p:nvPr/>
          </p:nvSpPr>
          <p:spPr>
            <a:xfrm>
              <a:off x="5905500" y="2971800"/>
              <a:ext cx="2152650" cy="990600"/>
            </a:xfrm>
            <a:custGeom>
              <a:avLst/>
              <a:gdLst/>
              <a:ahLst/>
              <a:cxnLst/>
              <a:rect l="l" t="t" r="r" b="b"/>
              <a:pathLst>
                <a:path w="2152650" h="990600">
                  <a:moveTo>
                    <a:pt x="2152650" y="0"/>
                  </a:moveTo>
                  <a:lnTo>
                    <a:pt x="0" y="990600"/>
                  </a:lnTo>
                </a:path>
              </a:pathLst>
            </a:custGeom>
            <a:noFill/>
            <a:ln w="19050">
              <a:solidFill>
                <a:schemeClr val="accent3"/>
              </a:solidFill>
            </a:ln>
          </p:spPr>
        </p:sp>
        <p:sp>
          <p:nvSpPr>
            <p:cNvPr id="12" name="Line 12"/>
            <p:cNvSpPr/>
            <p:nvPr/>
          </p:nvSpPr>
          <p:spPr>
            <a:xfrm>
              <a:off x="5905500" y="2152650"/>
              <a:ext cx="2152650" cy="819150"/>
            </a:xfrm>
            <a:custGeom>
              <a:avLst/>
              <a:gdLst/>
              <a:ahLst/>
              <a:cxnLst/>
              <a:rect l="l" t="t" r="r" b="b"/>
              <a:pathLst>
                <a:path w="2152650" h="819150">
                  <a:moveTo>
                    <a:pt x="2152650" y="819150"/>
                  </a:moveTo>
                  <a:lnTo>
                    <a:pt x="0" y="0"/>
                  </a:lnTo>
                </a:path>
              </a:pathLst>
            </a:custGeom>
            <a:noFill/>
            <a:ln w="19050">
              <a:solidFill>
                <a:schemeClr val="accent3"/>
              </a:solidFill>
            </a:ln>
          </p:spPr>
        </p:sp>
        <p:sp>
          <p:nvSpPr>
            <p:cNvPr id="13" name="Ellipse 13"/>
            <p:cNvSpPr/>
            <p:nvPr/>
          </p:nvSpPr>
          <p:spPr>
            <a:xfrm>
              <a:off x="7181850" y="2095500"/>
              <a:ext cx="1752600" cy="1752600"/>
            </a:xfrm>
            <a:prstGeom prst="ellipse">
              <a:avLst/>
            </a:prstGeom>
            <a:solidFill>
              <a:schemeClr val="accent3"/>
            </a:solidFill>
            <a:ln w="38100">
              <a:solidFill>
                <a:schemeClr val="accent2"/>
              </a:solidFill>
            </a:ln>
          </p:spPr>
        </p:sp>
        <p:grpSp>
          <p:nvGrpSpPr>
            <p:cNvPr id="24" name="Group 24"/>
            <p:cNvGrpSpPr/>
            <p:nvPr/>
          </p:nvGrpSpPr>
          <p:grpSpPr>
            <a:xfrm>
              <a:off x="7872413" y="2405063"/>
              <a:ext cx="371475" cy="371475"/>
              <a:chOff x="7872413" y="2405063"/>
              <a:chExt cx="371475" cy="371475"/>
            </a:xfrm>
          </p:grpSpPr>
          <p:sp>
            <p:nvSpPr>
              <p:cNvPr id="14" name="Freeform 14"/>
              <p:cNvSpPr/>
              <p:nvPr/>
            </p:nvSpPr>
            <p:spPr>
              <a:xfrm>
                <a:off x="7913688" y="2446338"/>
                <a:ext cx="288925" cy="288925"/>
              </a:xfrm>
              <a:custGeom>
                <a:avLst/>
                <a:gdLst/>
                <a:ahLst/>
                <a:cxnLst/>
                <a:rect l="l" t="t" r="r" b="b"/>
                <a:pathLst>
                  <a:path w="288925" h="288925">
                    <a:moveTo>
                      <a:pt x="0" y="20638"/>
                    </a:moveTo>
                    <a:cubicBezTo>
                      <a:pt x="0" y="9240"/>
                      <a:pt x="9240" y="0"/>
                      <a:pt x="20638" y="0"/>
                    </a:cubicBezTo>
                    <a:lnTo>
                      <a:pt x="268288" y="0"/>
                    </a:lnTo>
                    <a:cubicBezTo>
                      <a:pt x="279686" y="0"/>
                      <a:pt x="288925" y="9240"/>
                      <a:pt x="288925" y="20638"/>
                    </a:cubicBezTo>
                    <a:lnTo>
                      <a:pt x="288925" y="268288"/>
                    </a:lnTo>
                    <a:cubicBezTo>
                      <a:pt x="288925" y="279686"/>
                      <a:pt x="279686" y="288925"/>
                      <a:pt x="268288" y="288925"/>
                    </a:cubicBezTo>
                    <a:lnTo>
                      <a:pt x="20638" y="288925"/>
                    </a:lnTo>
                    <a:cubicBezTo>
                      <a:pt x="9240" y="288925"/>
                      <a:pt x="0" y="279686"/>
                      <a:pt x="0" y="268288"/>
                    </a:cubicBezTo>
                    <a:lnTo>
                      <a:pt x="0" y="20638"/>
                    </a:lnTo>
                  </a:path>
                </a:pathLst>
              </a:custGeom>
              <a:noFill/>
              <a:ln w="41275">
                <a:solidFill>
                  <a:srgbClr val="F7FAFC"/>
                </a:solidFill>
              </a:ln>
            </p:spPr>
          </p:sp>
          <p:sp>
            <p:nvSpPr>
              <p:cNvPr id="15" name="Freeform 15"/>
              <p:cNvSpPr/>
              <p:nvPr/>
            </p:nvSpPr>
            <p:spPr>
              <a:xfrm>
                <a:off x="7996238" y="2528888"/>
                <a:ext cx="123825" cy="123825"/>
              </a:xfrm>
              <a:custGeom>
                <a:avLst/>
                <a:gdLst/>
                <a:ahLst/>
                <a:cxnLst/>
                <a:rect l="l" t="t" r="r" b="b"/>
                <a:pathLst>
                  <a:path w="123825" h="123825">
                    <a:moveTo>
                      <a:pt x="0" y="0"/>
                    </a:moveTo>
                    <a:lnTo>
                      <a:pt x="123825" y="0"/>
                    </a:lnTo>
                    <a:lnTo>
                      <a:pt x="123825" y="123825"/>
                    </a:lnTo>
                    <a:lnTo>
                      <a:pt x="0" y="123825"/>
                    </a:lnTo>
                    <a:lnTo>
                      <a:pt x="0" y="0"/>
                    </a:lnTo>
                  </a:path>
                </a:pathLst>
              </a:custGeom>
              <a:noFill/>
              <a:ln w="41275">
                <a:solidFill>
                  <a:srgbClr val="F7FAFC"/>
                </a:solidFill>
              </a:ln>
            </p:spPr>
          </p:sp>
          <p:sp>
            <p:nvSpPr>
              <p:cNvPr id="16" name="Freeform 16"/>
              <p:cNvSpPr/>
              <p:nvPr/>
            </p:nvSpPr>
            <p:spPr>
              <a:xfrm>
                <a:off x="7872413" y="2549525"/>
                <a:ext cx="41275" cy="9525"/>
              </a:xfrm>
              <a:custGeom>
                <a:avLst/>
                <a:gdLst/>
                <a:ahLst/>
                <a:cxnLst/>
                <a:rect l="l" t="t" r="r" b="b"/>
                <a:pathLst>
                  <a:path w="41275" h="9525">
                    <a:moveTo>
                      <a:pt x="0" y="0"/>
                    </a:moveTo>
                    <a:lnTo>
                      <a:pt x="41275" y="0"/>
                    </a:lnTo>
                  </a:path>
                </a:pathLst>
              </a:custGeom>
              <a:noFill/>
              <a:ln w="41275">
                <a:solidFill>
                  <a:srgbClr val="F7FAFC"/>
                </a:solidFill>
              </a:ln>
            </p:spPr>
          </p:sp>
          <p:sp>
            <p:nvSpPr>
              <p:cNvPr id="17" name="Freeform 17"/>
              <p:cNvSpPr/>
              <p:nvPr/>
            </p:nvSpPr>
            <p:spPr>
              <a:xfrm>
                <a:off x="7872413" y="2632075"/>
                <a:ext cx="41275" cy="9525"/>
              </a:xfrm>
              <a:custGeom>
                <a:avLst/>
                <a:gdLst/>
                <a:ahLst/>
                <a:cxnLst/>
                <a:rect l="l" t="t" r="r" b="b"/>
                <a:pathLst>
                  <a:path w="41275" h="9525">
                    <a:moveTo>
                      <a:pt x="0" y="0"/>
                    </a:moveTo>
                    <a:lnTo>
                      <a:pt x="41275" y="0"/>
                    </a:lnTo>
                  </a:path>
                </a:pathLst>
              </a:custGeom>
              <a:noFill/>
              <a:ln w="41275">
                <a:solidFill>
                  <a:srgbClr val="F7FAFC"/>
                </a:solidFill>
              </a:ln>
            </p:spPr>
          </p:sp>
          <p:sp>
            <p:nvSpPr>
              <p:cNvPr id="18" name="Freeform 18"/>
              <p:cNvSpPr/>
              <p:nvPr/>
            </p:nvSpPr>
            <p:spPr>
              <a:xfrm>
                <a:off x="8016875" y="2405063"/>
                <a:ext cx="9525" cy="41275"/>
              </a:xfrm>
              <a:custGeom>
                <a:avLst/>
                <a:gdLst/>
                <a:ahLst/>
                <a:cxnLst/>
                <a:rect l="l" t="t" r="r" b="b"/>
                <a:pathLst>
                  <a:path w="9525" h="41275">
                    <a:moveTo>
                      <a:pt x="0" y="0"/>
                    </a:moveTo>
                    <a:lnTo>
                      <a:pt x="0" y="41275"/>
                    </a:lnTo>
                  </a:path>
                </a:pathLst>
              </a:custGeom>
              <a:noFill/>
              <a:ln w="41275">
                <a:solidFill>
                  <a:srgbClr val="F7FAFC"/>
                </a:solidFill>
              </a:ln>
            </p:spPr>
          </p:sp>
          <p:sp>
            <p:nvSpPr>
              <p:cNvPr id="19" name="Freeform 19"/>
              <p:cNvSpPr/>
              <p:nvPr/>
            </p:nvSpPr>
            <p:spPr>
              <a:xfrm>
                <a:off x="8099425" y="2405063"/>
                <a:ext cx="9525" cy="41275"/>
              </a:xfrm>
              <a:custGeom>
                <a:avLst/>
                <a:gdLst/>
                <a:ahLst/>
                <a:cxnLst/>
                <a:rect l="l" t="t" r="r" b="b"/>
                <a:pathLst>
                  <a:path w="9525" h="41275">
                    <a:moveTo>
                      <a:pt x="0" y="0"/>
                    </a:moveTo>
                    <a:lnTo>
                      <a:pt x="0" y="41275"/>
                    </a:lnTo>
                  </a:path>
                </a:pathLst>
              </a:custGeom>
              <a:noFill/>
              <a:ln w="41275">
                <a:solidFill>
                  <a:srgbClr val="F7FAFC"/>
                </a:solidFill>
              </a:ln>
            </p:spPr>
          </p:sp>
          <p:sp>
            <p:nvSpPr>
              <p:cNvPr id="20" name="Freeform 20"/>
              <p:cNvSpPr/>
              <p:nvPr/>
            </p:nvSpPr>
            <p:spPr>
              <a:xfrm>
                <a:off x="8202613" y="2549525"/>
                <a:ext cx="41275" cy="9525"/>
              </a:xfrm>
              <a:custGeom>
                <a:avLst/>
                <a:gdLst/>
                <a:ahLst/>
                <a:cxnLst/>
                <a:rect l="l" t="t" r="r" b="b"/>
                <a:pathLst>
                  <a:path w="41275" h="9525">
                    <a:moveTo>
                      <a:pt x="41275" y="0"/>
                    </a:moveTo>
                    <a:lnTo>
                      <a:pt x="0" y="0"/>
                    </a:lnTo>
                  </a:path>
                </a:pathLst>
              </a:custGeom>
              <a:noFill/>
              <a:ln w="41275">
                <a:solidFill>
                  <a:srgbClr val="F7FAFC"/>
                </a:solidFill>
              </a:ln>
            </p:spPr>
          </p:sp>
          <p:sp>
            <p:nvSpPr>
              <p:cNvPr id="21" name="Freeform 21"/>
              <p:cNvSpPr/>
              <p:nvPr/>
            </p:nvSpPr>
            <p:spPr>
              <a:xfrm>
                <a:off x="8202613" y="2632075"/>
                <a:ext cx="41275" cy="9525"/>
              </a:xfrm>
              <a:custGeom>
                <a:avLst/>
                <a:gdLst/>
                <a:ahLst/>
                <a:cxnLst/>
                <a:rect l="l" t="t" r="r" b="b"/>
                <a:pathLst>
                  <a:path w="41275" h="9525">
                    <a:moveTo>
                      <a:pt x="41275" y="0"/>
                    </a:moveTo>
                    <a:lnTo>
                      <a:pt x="0" y="0"/>
                    </a:lnTo>
                  </a:path>
                </a:pathLst>
              </a:custGeom>
              <a:noFill/>
              <a:ln w="41275">
                <a:solidFill>
                  <a:srgbClr val="F7FAFC"/>
                </a:solidFill>
              </a:ln>
            </p:spPr>
          </p:sp>
          <p:sp>
            <p:nvSpPr>
              <p:cNvPr id="22" name="Freeform 22"/>
              <p:cNvSpPr/>
              <p:nvPr/>
            </p:nvSpPr>
            <p:spPr>
              <a:xfrm>
                <a:off x="8099425" y="2735263"/>
                <a:ext cx="9525" cy="41275"/>
              </a:xfrm>
              <a:custGeom>
                <a:avLst/>
                <a:gdLst/>
                <a:ahLst/>
                <a:cxnLst/>
                <a:rect l="l" t="t" r="r" b="b"/>
                <a:pathLst>
                  <a:path w="9525" h="41275">
                    <a:moveTo>
                      <a:pt x="0" y="41275"/>
                    </a:moveTo>
                    <a:lnTo>
                      <a:pt x="0" y="0"/>
                    </a:lnTo>
                  </a:path>
                </a:pathLst>
              </a:custGeom>
              <a:noFill/>
              <a:ln w="41275">
                <a:solidFill>
                  <a:srgbClr val="F7FAFC"/>
                </a:solidFill>
              </a:ln>
            </p:spPr>
          </p:sp>
          <p:sp>
            <p:nvSpPr>
              <p:cNvPr id="23" name="Freeform 23"/>
              <p:cNvSpPr/>
              <p:nvPr/>
            </p:nvSpPr>
            <p:spPr>
              <a:xfrm>
                <a:off x="8016875" y="2735263"/>
                <a:ext cx="9525" cy="41275"/>
              </a:xfrm>
              <a:custGeom>
                <a:avLst/>
                <a:gdLst/>
                <a:ahLst/>
                <a:cxnLst/>
                <a:rect l="l" t="t" r="r" b="b"/>
                <a:pathLst>
                  <a:path w="9525" h="41275">
                    <a:moveTo>
                      <a:pt x="0" y="41275"/>
                    </a:moveTo>
                    <a:lnTo>
                      <a:pt x="0" y="0"/>
                    </a:lnTo>
                  </a:path>
                </a:pathLst>
              </a:custGeom>
              <a:noFill/>
              <a:ln w="41275">
                <a:solidFill>
                  <a:srgbClr val="F7FAFC"/>
                </a:solidFill>
              </a:ln>
            </p:spPr>
          </p:sp>
        </p:grpSp>
        <p:sp>
          <p:nvSpPr>
            <p:cNvPr id="25" name="TextBox 25"/>
            <p:cNvSpPr txBox="1"/>
            <p:nvPr/>
          </p:nvSpPr>
          <p:spPr>
            <a:xfrm>
              <a:off x="7615824" y="2922270"/>
              <a:ext cx="884652" cy="469392"/>
            </a:xfrm>
            <a:prstGeom prst="rect">
              <a:avLst/>
            </a:prstGeom>
            <a:noFill/>
            <a:ln>
              <a:noFill/>
            </a:ln>
          </p:spPr>
          <p:txBody>
            <a:bodyPr wrap="none" lIns="0" tIns="0" rIns="0" bIns="0" anchor="t" anchorCtr="0">
              <a:spAutoFit/>
            </a:bodyPr>
            <a:lstStyle/>
            <a:p>
              <a:pPr algn="ctr"/>
              <a:r>
                <a:rPr lang="en-US" sz="2400" b="1" dirty="0">
                  <a:solidFill>
                    <a:srgbClr val="F7FAFC"/>
                  </a:solidFill>
                  <a:latin typeface="+mn-lt"/>
                  <a:ea typeface="+mn-ea"/>
                  <a:cs typeface="+mn-cs"/>
                </a:rPr>
                <a:t>CORE</a:t>
              </a:r>
            </a:p>
          </p:txBody>
        </p:sp>
        <p:sp>
          <p:nvSpPr>
            <p:cNvPr id="26" name="TextBox 26"/>
            <p:cNvSpPr txBox="1"/>
            <p:nvPr/>
          </p:nvSpPr>
          <p:spPr>
            <a:xfrm>
              <a:off x="7027988" y="3340418"/>
              <a:ext cx="2060325" cy="264033"/>
            </a:xfrm>
            <a:prstGeom prst="rect">
              <a:avLst/>
            </a:prstGeom>
            <a:noFill/>
            <a:ln>
              <a:noFill/>
            </a:ln>
          </p:spPr>
          <p:txBody>
            <a:bodyPr wrap="none" lIns="0" tIns="0" rIns="0" bIns="0" anchor="t" anchorCtr="0">
              <a:spAutoFit/>
            </a:bodyPr>
            <a:lstStyle/>
            <a:p>
              <a:pPr algn="ctr"/>
              <a:r>
                <a:rPr lang="en-US" sz="1350" dirty="0">
                  <a:solidFill>
                    <a:srgbClr val="B9F4F7"/>
                  </a:solidFill>
                  <a:latin typeface="+mn-lt"/>
                  <a:ea typeface="+mn-ea"/>
                  <a:cs typeface="+mn-cs"/>
                </a:rPr>
                <a:t>Agent · Session · Tools</a:t>
              </a:r>
            </a:p>
          </p:txBody>
        </p:sp>
        <p:sp>
          <p:nvSpPr>
            <p:cNvPr id="27" name="Ellipse 27"/>
            <p:cNvSpPr/>
            <p:nvPr/>
          </p:nvSpPr>
          <p:spPr>
            <a:xfrm>
              <a:off x="7543800" y="952500"/>
              <a:ext cx="1028700" cy="1028700"/>
            </a:xfrm>
            <a:prstGeom prst="ellipse">
              <a:avLst/>
            </a:prstGeom>
            <a:solidFill>
              <a:schemeClr val="accent1"/>
            </a:solidFill>
            <a:ln w="19050">
              <a:solidFill>
                <a:schemeClr val="accent3"/>
              </a:solidFill>
            </a:ln>
          </p:spPr>
        </p:sp>
        <p:sp>
          <p:nvSpPr>
            <p:cNvPr id="28" name="TextBox 28"/>
            <p:cNvSpPr txBox="1"/>
            <p:nvPr/>
          </p:nvSpPr>
          <p:spPr>
            <a:xfrm>
              <a:off x="7860822" y="1348740"/>
              <a:ext cx="394655"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CLI</a:t>
              </a:r>
            </a:p>
          </p:txBody>
        </p:sp>
        <p:sp>
          <p:nvSpPr>
            <p:cNvPr id="29" name="Ellipse 29"/>
            <p:cNvSpPr/>
            <p:nvPr/>
          </p:nvSpPr>
          <p:spPr>
            <a:xfrm>
              <a:off x="9696450" y="1638300"/>
              <a:ext cx="1028700" cy="1028700"/>
            </a:xfrm>
            <a:prstGeom prst="ellipse">
              <a:avLst/>
            </a:prstGeom>
            <a:solidFill>
              <a:schemeClr val="accent1"/>
            </a:solidFill>
            <a:ln w="19050">
              <a:solidFill>
                <a:schemeClr val="accent3"/>
              </a:solidFill>
            </a:ln>
          </p:spPr>
        </p:sp>
        <p:sp>
          <p:nvSpPr>
            <p:cNvPr id="30" name="TextBox 30"/>
            <p:cNvSpPr txBox="1"/>
            <p:nvPr/>
          </p:nvSpPr>
          <p:spPr>
            <a:xfrm>
              <a:off x="9961866" y="2034540"/>
              <a:ext cx="497868"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Web</a:t>
              </a:r>
            </a:p>
          </p:txBody>
        </p:sp>
        <p:sp>
          <p:nvSpPr>
            <p:cNvPr id="31" name="Ellipse 31"/>
            <p:cNvSpPr/>
            <p:nvPr/>
          </p:nvSpPr>
          <p:spPr>
            <a:xfrm>
              <a:off x="9696450" y="3448050"/>
              <a:ext cx="1028700" cy="1028700"/>
            </a:xfrm>
            <a:prstGeom prst="ellipse">
              <a:avLst/>
            </a:prstGeom>
            <a:solidFill>
              <a:schemeClr val="accent1"/>
            </a:solidFill>
            <a:ln w="19050">
              <a:solidFill>
                <a:schemeClr val="accent3"/>
              </a:solidFill>
            </a:ln>
          </p:spPr>
        </p:sp>
        <p:sp>
          <p:nvSpPr>
            <p:cNvPr id="32" name="TextBox 32"/>
            <p:cNvSpPr txBox="1"/>
            <p:nvPr/>
          </p:nvSpPr>
          <p:spPr>
            <a:xfrm>
              <a:off x="9979868" y="3710940"/>
              <a:ext cx="461863"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SDK</a:t>
              </a:r>
            </a:p>
          </p:txBody>
        </p:sp>
        <p:sp>
          <p:nvSpPr>
            <p:cNvPr id="33" name="TextBox 33"/>
            <p:cNvSpPr txBox="1"/>
            <p:nvPr/>
          </p:nvSpPr>
          <p:spPr>
            <a:xfrm>
              <a:off x="9688917" y="4026218"/>
              <a:ext cx="1043766" cy="264033"/>
            </a:xfrm>
            <a:prstGeom prst="rect">
              <a:avLst/>
            </a:prstGeom>
            <a:noFill/>
            <a:ln>
              <a:noFill/>
            </a:ln>
          </p:spPr>
          <p:txBody>
            <a:bodyPr wrap="none" lIns="0" tIns="0" rIns="0" bIns="0" anchor="t" anchorCtr="0">
              <a:spAutoFit/>
            </a:bodyPr>
            <a:lstStyle/>
            <a:p>
              <a:pPr algn="ctr"/>
              <a:r>
                <a:rPr lang="en-US" sz="1350" dirty="0">
                  <a:solidFill>
                    <a:srgbClr val="A9B7D5"/>
                  </a:solidFill>
                  <a:latin typeface="+mn-lt"/>
                  <a:ea typeface="+mn-ea"/>
                  <a:cs typeface="+mn-cs"/>
                </a:rPr>
                <a:t>TS · Python</a:t>
              </a:r>
            </a:p>
          </p:txBody>
        </p:sp>
        <p:sp>
          <p:nvSpPr>
            <p:cNvPr id="34" name="Ellipse 34"/>
            <p:cNvSpPr/>
            <p:nvPr/>
          </p:nvSpPr>
          <p:spPr>
            <a:xfrm>
              <a:off x="5391150" y="3448050"/>
              <a:ext cx="1028700" cy="1028700"/>
            </a:xfrm>
            <a:prstGeom prst="ellipse">
              <a:avLst/>
            </a:prstGeom>
            <a:solidFill>
              <a:schemeClr val="accent1"/>
            </a:solidFill>
            <a:ln w="19050">
              <a:solidFill>
                <a:schemeClr val="accent3"/>
              </a:solidFill>
            </a:ln>
          </p:spPr>
        </p:sp>
        <p:sp>
          <p:nvSpPr>
            <p:cNvPr id="35" name="TextBox 35"/>
            <p:cNvSpPr txBox="1"/>
            <p:nvPr/>
          </p:nvSpPr>
          <p:spPr>
            <a:xfrm>
              <a:off x="5364675" y="3710940"/>
              <a:ext cx="1081651"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Headless</a:t>
              </a:r>
            </a:p>
          </p:txBody>
        </p:sp>
        <p:sp>
          <p:nvSpPr>
            <p:cNvPr id="36" name="TextBox 36"/>
            <p:cNvSpPr txBox="1"/>
            <p:nvPr/>
          </p:nvSpPr>
          <p:spPr>
            <a:xfrm>
              <a:off x="5740222" y="4026218"/>
              <a:ext cx="330556" cy="264033"/>
            </a:xfrm>
            <a:prstGeom prst="rect">
              <a:avLst/>
            </a:prstGeom>
            <a:noFill/>
            <a:ln>
              <a:noFill/>
            </a:ln>
          </p:spPr>
          <p:txBody>
            <a:bodyPr wrap="none" lIns="0" tIns="0" rIns="0" bIns="0" anchor="t" anchorCtr="0">
              <a:spAutoFit/>
            </a:bodyPr>
            <a:lstStyle/>
            <a:p>
              <a:pPr algn="ctr"/>
              <a:r>
                <a:rPr lang="en-US" sz="1350" dirty="0">
                  <a:solidFill>
                    <a:srgbClr val="A9B7D5"/>
                  </a:solidFill>
                  <a:latin typeface="+mn-lt"/>
                  <a:ea typeface="+mn-ea"/>
                  <a:cs typeface="+mn-cs"/>
                </a:rPr>
                <a:t>ACP</a:t>
              </a:r>
            </a:p>
          </p:txBody>
        </p:sp>
        <p:sp>
          <p:nvSpPr>
            <p:cNvPr id="37" name="Ellipse 37"/>
            <p:cNvSpPr/>
            <p:nvPr/>
          </p:nvSpPr>
          <p:spPr>
            <a:xfrm>
              <a:off x="5391150" y="1638300"/>
              <a:ext cx="1028700" cy="1028700"/>
            </a:xfrm>
            <a:prstGeom prst="ellipse">
              <a:avLst/>
            </a:prstGeom>
            <a:solidFill>
              <a:schemeClr val="accent1"/>
            </a:solidFill>
            <a:ln w="19050">
              <a:solidFill>
                <a:schemeClr val="accent3"/>
              </a:solidFill>
            </a:ln>
          </p:spPr>
        </p:sp>
        <p:sp>
          <p:nvSpPr>
            <p:cNvPr id="38" name="TextBox 38"/>
            <p:cNvSpPr txBox="1"/>
            <p:nvPr/>
          </p:nvSpPr>
          <p:spPr>
            <a:xfrm>
              <a:off x="5409027" y="1901190"/>
              <a:ext cx="992947"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Dynamic</a:t>
              </a:r>
            </a:p>
          </p:txBody>
        </p:sp>
        <p:sp>
          <p:nvSpPr>
            <p:cNvPr id="39" name="TextBox 39"/>
            <p:cNvSpPr txBox="1"/>
            <p:nvPr/>
          </p:nvSpPr>
          <p:spPr>
            <a:xfrm>
              <a:off x="5641810" y="2216468"/>
              <a:ext cx="527380" cy="264033"/>
            </a:xfrm>
            <a:prstGeom prst="rect">
              <a:avLst/>
            </a:prstGeom>
            <a:noFill/>
            <a:ln>
              <a:noFill/>
            </a:ln>
          </p:spPr>
          <p:txBody>
            <a:bodyPr wrap="none" lIns="0" tIns="0" rIns="0" bIns="0" anchor="t" anchorCtr="0">
              <a:spAutoFit/>
            </a:bodyPr>
            <a:lstStyle/>
            <a:p>
              <a:pPr algn="ctr"/>
              <a:r>
                <a:rPr lang="en-US" sz="1350" dirty="0">
                  <a:solidFill>
                    <a:srgbClr val="A9B7D5"/>
                  </a:solidFill>
                  <a:latin typeface="+mn-lt"/>
                  <a:ea typeface="+mn-ea"/>
                  <a:cs typeface="+mn-cs"/>
                </a:rPr>
                <a:t>Plugin</a:t>
              </a:r>
            </a:p>
          </p:txBody>
        </p:sp>
      </p:grpSp>
      <p:grpSp>
        <p:nvGrpSpPr>
          <p:cNvPr id="43" name="Group 43"/>
          <p:cNvGrpSpPr/>
          <p:nvPr/>
        </p:nvGrpSpPr>
        <p:grpSpPr>
          <a:xfrm>
            <a:off x="5250942" y="5486400"/>
            <a:ext cx="5817108" cy="480251"/>
            <a:chOff x="5250942" y="5486400"/>
            <a:chExt cx="5817108" cy="480251"/>
          </a:xfrm>
        </p:grpSpPr>
        <p:sp>
          <p:nvSpPr>
            <p:cNvPr id="41" name="Line 41"/>
            <p:cNvSpPr/>
            <p:nvPr/>
          </p:nvSpPr>
          <p:spPr>
            <a:xfrm>
              <a:off x="5257800" y="5486400"/>
              <a:ext cx="5810250" cy="1"/>
            </a:xfrm>
            <a:prstGeom prst="line">
              <a:avLst/>
            </a:prstGeom>
            <a:noFill/>
            <a:ln w="38100">
              <a:solidFill>
                <a:schemeClr val="accent2"/>
              </a:solidFill>
              <a:tailEnd type="triangle" w="lg" len="lg"/>
            </a:ln>
          </p:spPr>
        </p:sp>
        <p:sp>
          <p:nvSpPr>
            <p:cNvPr id="42" name="TextBox 42"/>
            <p:cNvSpPr txBox="1"/>
            <p:nvPr/>
          </p:nvSpPr>
          <p:spPr>
            <a:xfrm>
              <a:off x="5250942" y="5702618"/>
              <a:ext cx="3666630" cy="264033"/>
            </a:xfrm>
            <a:prstGeom prst="rect">
              <a:avLst/>
            </a:prstGeom>
            <a:noFill/>
            <a:ln>
              <a:noFill/>
            </a:ln>
          </p:spPr>
          <p:txBody>
            <a:bodyPr wrap="none" lIns="0" tIns="0" rIns="0" bIns="0" anchor="t" anchorCtr="0">
              <a:spAutoFit/>
            </a:bodyPr>
            <a:lstStyle/>
            <a:p>
              <a:pPr algn="l"/>
              <a:r>
                <a:rPr lang="en-US" sz="1350" dirty="0">
                  <a:solidFill>
                    <a:srgbClr val="B9F4F7"/>
                  </a:solidFill>
                  <a:latin typeface="Cascadia Mono"/>
                  <a:ea typeface="Cascadia Mono"/>
                  <a:cs typeface="Cascadia Mono"/>
                </a:rPr>
                <a:t>inspect → define → run → diagnose → repair</a:t>
              </a:r>
            </a:p>
          </p:txBody>
        </p:sp>
      </p:grpSp>
      <p:grpSp>
        <p:nvGrpSpPr>
          <p:cNvPr id="46" name="Group 46"/>
          <p:cNvGrpSpPr/>
          <p:nvPr/>
        </p:nvGrpSpPr>
        <p:grpSpPr>
          <a:xfrm>
            <a:off x="602742" y="6293168"/>
            <a:ext cx="10986516" cy="264033"/>
            <a:chOff x="602742" y="6293168"/>
            <a:chExt cx="10986516" cy="264033"/>
          </a:xfrm>
        </p:grpSpPr>
        <p:sp>
          <p:nvSpPr>
            <p:cNvPr id="44" name="TextBox 44"/>
            <p:cNvSpPr txBox="1"/>
            <p:nvPr/>
          </p:nvSpPr>
          <p:spPr>
            <a:xfrm>
              <a:off x="602742" y="6293168"/>
              <a:ext cx="3921404" cy="264033"/>
            </a:xfrm>
            <a:prstGeom prst="rect">
              <a:avLst/>
            </a:prstGeom>
            <a:noFill/>
            <a:ln>
              <a:noFill/>
            </a:ln>
          </p:spPr>
          <p:txBody>
            <a:bodyPr wrap="none" lIns="0" tIns="0" rIns="0" bIns="0" anchor="t" anchorCtr="0">
              <a:spAutoFit/>
            </a:bodyPr>
            <a:lstStyle/>
            <a:p>
              <a:pPr algn="l"/>
              <a:r>
                <a:rPr lang="en-US" sz="1350" dirty="0">
                  <a:solidFill>
                    <a:srgbClr val="A9B7D5"/>
                  </a:solidFill>
                  <a:latin typeface="Cascadia Mono"/>
                  <a:ea typeface="Cascadia Mono"/>
                  <a:cs typeface="Cascadia Mono"/>
                </a:rPr>
                <a:t>K-011 · K-014 | ONE CORE · MANY ADAPTERS</a:t>
              </a:r>
            </a:p>
          </p:txBody>
        </p:sp>
        <p:sp>
          <p:nvSpPr>
            <p:cNvPr id="45" name="TextBox 45"/>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2"/>
                  </a:solidFill>
                  <a:latin typeface="Cascadia Mono"/>
                  <a:ea typeface="Cascadia Mono"/>
                  <a:cs typeface="Cascadia Mono"/>
                </a:rPr>
                <a:t>P12 / 24</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7000"/>
              </a:schemeClr>
            </a:solidFill>
          </a:ln>
        </p:spPr>
      </p:sp>
      <p:grpSp>
        <p:nvGrpSpPr>
          <p:cNvPr id="5" name="Group 5"/>
          <p:cNvGrpSpPr/>
          <p:nvPr/>
        </p:nvGrpSpPr>
        <p:grpSpPr>
          <a:xfrm>
            <a:off x="593598" y="482918"/>
            <a:ext cx="11148753" cy="955167"/>
            <a:chOff x="593598" y="482918"/>
            <a:chExt cx="11148753" cy="955167"/>
          </a:xfrm>
        </p:grpSpPr>
        <p:sp>
          <p:nvSpPr>
            <p:cNvPr id="3" name="TextBox 3"/>
            <p:cNvSpPr txBox="1"/>
            <p:nvPr/>
          </p:nvSpPr>
          <p:spPr>
            <a:xfrm>
              <a:off x="602742" y="482918"/>
              <a:ext cx="4666031"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INTERFACE ADAPTERS / TRANSPORT + OWNERSHIP</a:t>
              </a:r>
            </a:p>
          </p:txBody>
        </p:sp>
        <p:sp>
          <p:nvSpPr>
            <p:cNvPr id="4" name="TextBox 4"/>
            <p:cNvSpPr txBox="1"/>
            <p:nvPr/>
          </p:nvSpPr>
          <p:spPr>
            <a:xfrm>
              <a:off x="593598" y="822008"/>
              <a:ext cx="11148753"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Five interfaces share Core, not process ownership</a:t>
              </a:r>
            </a:p>
          </p:txBody>
        </p:sp>
      </p:grpSp>
      <p:grpSp>
        <p:nvGrpSpPr>
          <p:cNvPr id="20" name="Group 20"/>
          <p:cNvGrpSpPr/>
          <p:nvPr/>
        </p:nvGrpSpPr>
        <p:grpSpPr>
          <a:xfrm>
            <a:off x="4552950" y="2476500"/>
            <a:ext cx="3086100" cy="1828800"/>
            <a:chOff x="4552950" y="2476500"/>
            <a:chExt cx="3086100" cy="1828800"/>
          </a:xfrm>
        </p:grpSpPr>
        <p:sp>
          <p:nvSpPr>
            <p:cNvPr id="6" name="Rectangle 6"/>
            <p:cNvSpPr/>
            <p:nvPr/>
          </p:nvSpPr>
          <p:spPr>
            <a:xfrm>
              <a:off x="4552950" y="2476500"/>
              <a:ext cx="3086100" cy="1828800"/>
            </a:xfrm>
            <a:prstGeom prst="roundRect">
              <a:avLst>
                <a:gd name="adj" fmla="val 6250"/>
              </a:avLst>
            </a:prstGeom>
            <a:solidFill>
              <a:schemeClr val="accent1"/>
            </a:solidFill>
            <a:ln w="38100">
              <a:solidFill>
                <a:schemeClr val="accent2"/>
              </a:solidFill>
            </a:ln>
          </p:spPr>
        </p:sp>
        <p:grpSp>
          <p:nvGrpSpPr>
            <p:cNvPr id="17" name="Group 17"/>
            <p:cNvGrpSpPr/>
            <p:nvPr/>
          </p:nvGrpSpPr>
          <p:grpSpPr>
            <a:xfrm>
              <a:off x="5881688" y="2795588"/>
              <a:ext cx="428625" cy="428625"/>
              <a:chOff x="5881688" y="2795588"/>
              <a:chExt cx="428625" cy="428625"/>
            </a:xfrm>
          </p:grpSpPr>
          <p:sp>
            <p:nvSpPr>
              <p:cNvPr id="7" name="Freeform 7"/>
              <p:cNvSpPr/>
              <p:nvPr/>
            </p:nvSpPr>
            <p:spPr>
              <a:xfrm>
                <a:off x="5929312" y="2843212"/>
                <a:ext cx="333375" cy="333375"/>
              </a:xfrm>
              <a:custGeom>
                <a:avLst/>
                <a:gdLst/>
                <a:ahLst/>
                <a:cxnLst/>
                <a:rect l="l" t="t" r="r" b="b"/>
                <a:pathLst>
                  <a:path w="333375" h="333375">
                    <a:moveTo>
                      <a:pt x="0" y="23812"/>
                    </a:moveTo>
                    <a:cubicBezTo>
                      <a:pt x="0" y="10661"/>
                      <a:pt x="10661" y="0"/>
                      <a:pt x="23812" y="0"/>
                    </a:cubicBezTo>
                    <a:lnTo>
                      <a:pt x="309562" y="0"/>
                    </a:lnTo>
                    <a:cubicBezTo>
                      <a:pt x="322714" y="0"/>
                      <a:pt x="333375" y="10661"/>
                      <a:pt x="333375" y="23812"/>
                    </a:cubicBezTo>
                    <a:lnTo>
                      <a:pt x="333375" y="309562"/>
                    </a:lnTo>
                    <a:cubicBezTo>
                      <a:pt x="333375" y="322714"/>
                      <a:pt x="322714" y="333375"/>
                      <a:pt x="309562" y="333375"/>
                    </a:cubicBezTo>
                    <a:lnTo>
                      <a:pt x="23812" y="333375"/>
                    </a:lnTo>
                    <a:cubicBezTo>
                      <a:pt x="10661" y="333375"/>
                      <a:pt x="0" y="322714"/>
                      <a:pt x="0" y="309562"/>
                    </a:cubicBezTo>
                    <a:lnTo>
                      <a:pt x="0" y="23812"/>
                    </a:lnTo>
                  </a:path>
                </a:pathLst>
              </a:custGeom>
              <a:noFill/>
              <a:ln w="47625">
                <a:solidFill>
                  <a:srgbClr val="F7FAFC"/>
                </a:solidFill>
              </a:ln>
            </p:spPr>
          </p:sp>
          <p:sp>
            <p:nvSpPr>
              <p:cNvPr id="8" name="Freeform 8"/>
              <p:cNvSpPr/>
              <p:nvPr/>
            </p:nvSpPr>
            <p:spPr>
              <a:xfrm>
                <a:off x="6024562" y="2938462"/>
                <a:ext cx="142875" cy="142875"/>
              </a:xfrm>
              <a:custGeom>
                <a:avLst/>
                <a:gdLst/>
                <a:ahLst/>
                <a:cxnLst/>
                <a:rect l="l" t="t" r="r" b="b"/>
                <a:pathLst>
                  <a:path w="142875" h="142875">
                    <a:moveTo>
                      <a:pt x="0" y="0"/>
                    </a:moveTo>
                    <a:lnTo>
                      <a:pt x="142875" y="0"/>
                    </a:lnTo>
                    <a:lnTo>
                      <a:pt x="142875" y="142875"/>
                    </a:lnTo>
                    <a:lnTo>
                      <a:pt x="0" y="142875"/>
                    </a:lnTo>
                    <a:lnTo>
                      <a:pt x="0" y="0"/>
                    </a:lnTo>
                  </a:path>
                </a:pathLst>
              </a:custGeom>
              <a:noFill/>
              <a:ln w="47625">
                <a:solidFill>
                  <a:srgbClr val="F7FAFC"/>
                </a:solidFill>
              </a:ln>
            </p:spPr>
          </p:sp>
          <p:sp>
            <p:nvSpPr>
              <p:cNvPr id="9" name="Freeform 9"/>
              <p:cNvSpPr/>
              <p:nvPr/>
            </p:nvSpPr>
            <p:spPr>
              <a:xfrm>
                <a:off x="5881688" y="2962275"/>
                <a:ext cx="47625" cy="9525"/>
              </a:xfrm>
              <a:custGeom>
                <a:avLst/>
                <a:gdLst/>
                <a:ahLst/>
                <a:cxnLst/>
                <a:rect l="l" t="t" r="r" b="b"/>
                <a:pathLst>
                  <a:path w="47625" h="9525">
                    <a:moveTo>
                      <a:pt x="0" y="0"/>
                    </a:moveTo>
                    <a:lnTo>
                      <a:pt x="47625" y="0"/>
                    </a:lnTo>
                  </a:path>
                </a:pathLst>
              </a:custGeom>
              <a:noFill/>
              <a:ln w="47625">
                <a:solidFill>
                  <a:srgbClr val="F7FAFC"/>
                </a:solidFill>
              </a:ln>
            </p:spPr>
          </p:sp>
          <p:sp>
            <p:nvSpPr>
              <p:cNvPr id="10" name="Freeform 10"/>
              <p:cNvSpPr/>
              <p:nvPr/>
            </p:nvSpPr>
            <p:spPr>
              <a:xfrm>
                <a:off x="5881688" y="3057525"/>
                <a:ext cx="47625" cy="9525"/>
              </a:xfrm>
              <a:custGeom>
                <a:avLst/>
                <a:gdLst/>
                <a:ahLst/>
                <a:cxnLst/>
                <a:rect l="l" t="t" r="r" b="b"/>
                <a:pathLst>
                  <a:path w="47625" h="9525">
                    <a:moveTo>
                      <a:pt x="0" y="0"/>
                    </a:moveTo>
                    <a:lnTo>
                      <a:pt x="47625" y="0"/>
                    </a:lnTo>
                  </a:path>
                </a:pathLst>
              </a:custGeom>
              <a:noFill/>
              <a:ln w="47625">
                <a:solidFill>
                  <a:srgbClr val="F7FAFC"/>
                </a:solidFill>
              </a:ln>
            </p:spPr>
          </p:sp>
          <p:sp>
            <p:nvSpPr>
              <p:cNvPr id="11" name="Freeform 11"/>
              <p:cNvSpPr/>
              <p:nvPr/>
            </p:nvSpPr>
            <p:spPr>
              <a:xfrm>
                <a:off x="6048375" y="2795588"/>
                <a:ext cx="9525" cy="47625"/>
              </a:xfrm>
              <a:custGeom>
                <a:avLst/>
                <a:gdLst/>
                <a:ahLst/>
                <a:cxnLst/>
                <a:rect l="l" t="t" r="r" b="b"/>
                <a:pathLst>
                  <a:path w="9525" h="47625">
                    <a:moveTo>
                      <a:pt x="0" y="0"/>
                    </a:moveTo>
                    <a:lnTo>
                      <a:pt x="0" y="47625"/>
                    </a:lnTo>
                  </a:path>
                </a:pathLst>
              </a:custGeom>
              <a:noFill/>
              <a:ln w="47625">
                <a:solidFill>
                  <a:srgbClr val="F7FAFC"/>
                </a:solidFill>
              </a:ln>
            </p:spPr>
          </p:sp>
          <p:sp>
            <p:nvSpPr>
              <p:cNvPr id="12" name="Freeform 12"/>
              <p:cNvSpPr/>
              <p:nvPr/>
            </p:nvSpPr>
            <p:spPr>
              <a:xfrm>
                <a:off x="6143625" y="2795588"/>
                <a:ext cx="9525" cy="47625"/>
              </a:xfrm>
              <a:custGeom>
                <a:avLst/>
                <a:gdLst/>
                <a:ahLst/>
                <a:cxnLst/>
                <a:rect l="l" t="t" r="r" b="b"/>
                <a:pathLst>
                  <a:path w="9525" h="47625">
                    <a:moveTo>
                      <a:pt x="0" y="0"/>
                    </a:moveTo>
                    <a:lnTo>
                      <a:pt x="0" y="47625"/>
                    </a:lnTo>
                  </a:path>
                </a:pathLst>
              </a:custGeom>
              <a:noFill/>
              <a:ln w="47625">
                <a:solidFill>
                  <a:srgbClr val="F7FAFC"/>
                </a:solidFill>
              </a:ln>
            </p:spPr>
          </p:sp>
          <p:sp>
            <p:nvSpPr>
              <p:cNvPr id="13" name="Freeform 13"/>
              <p:cNvSpPr/>
              <p:nvPr/>
            </p:nvSpPr>
            <p:spPr>
              <a:xfrm>
                <a:off x="6262688" y="2962275"/>
                <a:ext cx="47625" cy="9525"/>
              </a:xfrm>
              <a:custGeom>
                <a:avLst/>
                <a:gdLst/>
                <a:ahLst/>
                <a:cxnLst/>
                <a:rect l="l" t="t" r="r" b="b"/>
                <a:pathLst>
                  <a:path w="47625" h="9525">
                    <a:moveTo>
                      <a:pt x="47625" y="0"/>
                    </a:moveTo>
                    <a:lnTo>
                      <a:pt x="0" y="0"/>
                    </a:lnTo>
                  </a:path>
                </a:pathLst>
              </a:custGeom>
              <a:noFill/>
              <a:ln w="47625">
                <a:solidFill>
                  <a:srgbClr val="F7FAFC"/>
                </a:solidFill>
              </a:ln>
            </p:spPr>
          </p:sp>
          <p:sp>
            <p:nvSpPr>
              <p:cNvPr id="14" name="Freeform 14"/>
              <p:cNvSpPr/>
              <p:nvPr/>
            </p:nvSpPr>
            <p:spPr>
              <a:xfrm>
                <a:off x="6262688" y="3057525"/>
                <a:ext cx="47625" cy="9525"/>
              </a:xfrm>
              <a:custGeom>
                <a:avLst/>
                <a:gdLst/>
                <a:ahLst/>
                <a:cxnLst/>
                <a:rect l="l" t="t" r="r" b="b"/>
                <a:pathLst>
                  <a:path w="47625" h="9525">
                    <a:moveTo>
                      <a:pt x="47625" y="0"/>
                    </a:moveTo>
                    <a:lnTo>
                      <a:pt x="0" y="0"/>
                    </a:lnTo>
                  </a:path>
                </a:pathLst>
              </a:custGeom>
              <a:noFill/>
              <a:ln w="47625">
                <a:solidFill>
                  <a:srgbClr val="F7FAFC"/>
                </a:solidFill>
              </a:ln>
            </p:spPr>
          </p:sp>
          <p:sp>
            <p:nvSpPr>
              <p:cNvPr id="15" name="Freeform 15"/>
              <p:cNvSpPr/>
              <p:nvPr/>
            </p:nvSpPr>
            <p:spPr>
              <a:xfrm>
                <a:off x="6143625" y="3176588"/>
                <a:ext cx="9525" cy="47625"/>
              </a:xfrm>
              <a:custGeom>
                <a:avLst/>
                <a:gdLst/>
                <a:ahLst/>
                <a:cxnLst/>
                <a:rect l="l" t="t" r="r" b="b"/>
                <a:pathLst>
                  <a:path w="9525" h="47625">
                    <a:moveTo>
                      <a:pt x="0" y="47625"/>
                    </a:moveTo>
                    <a:lnTo>
                      <a:pt x="0" y="0"/>
                    </a:lnTo>
                  </a:path>
                </a:pathLst>
              </a:custGeom>
              <a:noFill/>
              <a:ln w="47625">
                <a:solidFill>
                  <a:srgbClr val="F7FAFC"/>
                </a:solidFill>
              </a:ln>
            </p:spPr>
          </p:sp>
          <p:sp>
            <p:nvSpPr>
              <p:cNvPr id="16" name="Freeform 16"/>
              <p:cNvSpPr/>
              <p:nvPr/>
            </p:nvSpPr>
            <p:spPr>
              <a:xfrm>
                <a:off x="6048375" y="3176588"/>
                <a:ext cx="9525" cy="47625"/>
              </a:xfrm>
              <a:custGeom>
                <a:avLst/>
                <a:gdLst/>
                <a:ahLst/>
                <a:cxnLst/>
                <a:rect l="l" t="t" r="r" b="b"/>
                <a:pathLst>
                  <a:path w="9525" h="47625">
                    <a:moveTo>
                      <a:pt x="0" y="47625"/>
                    </a:moveTo>
                    <a:lnTo>
                      <a:pt x="0" y="0"/>
                    </a:lnTo>
                  </a:path>
                </a:pathLst>
              </a:custGeom>
              <a:noFill/>
              <a:ln w="47625">
                <a:solidFill>
                  <a:srgbClr val="F7FAFC"/>
                </a:solidFill>
              </a:ln>
            </p:spPr>
          </p:sp>
        </p:grpSp>
        <p:sp>
          <p:nvSpPr>
            <p:cNvPr id="18" name="TextBox 18"/>
            <p:cNvSpPr txBox="1"/>
            <p:nvPr/>
          </p:nvSpPr>
          <p:spPr>
            <a:xfrm>
              <a:off x="4654230" y="3444240"/>
              <a:ext cx="2883540"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Agent · Session · Tools</a:t>
              </a:r>
            </a:p>
          </p:txBody>
        </p:sp>
        <p:sp>
          <p:nvSpPr>
            <p:cNvPr id="19" name="TextBox 19"/>
            <p:cNvSpPr txBox="1"/>
            <p:nvPr/>
          </p:nvSpPr>
          <p:spPr>
            <a:xfrm>
              <a:off x="5013808" y="3873818"/>
              <a:ext cx="2164385" cy="264033"/>
            </a:xfrm>
            <a:prstGeom prst="rect">
              <a:avLst/>
            </a:prstGeom>
            <a:noFill/>
            <a:ln>
              <a:noFill/>
            </a:ln>
          </p:spPr>
          <p:txBody>
            <a:bodyPr wrap="none" lIns="0" tIns="0" rIns="0" bIns="0" anchor="t" anchorCtr="0">
              <a:spAutoFit/>
            </a:bodyPr>
            <a:lstStyle/>
            <a:p>
              <a:pPr algn="ctr"/>
              <a:r>
                <a:rPr lang="en-US" sz="1350" dirty="0">
                  <a:solidFill>
                    <a:srgbClr val="B9F4F7"/>
                  </a:solidFill>
                  <a:latin typeface="Cascadia Mono"/>
                  <a:ea typeface="Cascadia Mono"/>
                  <a:cs typeface="Cascadia Mono"/>
                </a:rPr>
                <a:t>SHARED CORE SEMANTICS</a:t>
              </a:r>
            </a:p>
          </p:txBody>
        </p:sp>
      </p:grpSp>
      <p:grpSp>
        <p:nvGrpSpPr>
          <p:cNvPr id="38" name="Group 38"/>
          <p:cNvGrpSpPr/>
          <p:nvPr/>
        </p:nvGrpSpPr>
        <p:grpSpPr>
          <a:xfrm>
            <a:off x="819150" y="1866900"/>
            <a:ext cx="3733800" cy="3509201"/>
            <a:chOff x="819150" y="1866900"/>
            <a:chExt cx="3733800" cy="3509201"/>
          </a:xfrm>
        </p:grpSpPr>
        <p:sp>
          <p:nvSpPr>
            <p:cNvPr id="21" name="Line 21"/>
            <p:cNvSpPr/>
            <p:nvPr/>
          </p:nvSpPr>
          <p:spPr>
            <a:xfrm>
              <a:off x="3848100" y="2476500"/>
              <a:ext cx="704850" cy="571500"/>
            </a:xfrm>
            <a:custGeom>
              <a:avLst/>
              <a:gdLst/>
              <a:ahLst/>
              <a:cxnLst/>
              <a:rect l="l" t="t" r="r" b="b"/>
              <a:pathLst>
                <a:path w="704850" h="571500">
                  <a:moveTo>
                    <a:pt x="0" y="0"/>
                  </a:moveTo>
                  <a:lnTo>
                    <a:pt x="704850" y="571500"/>
                  </a:lnTo>
                </a:path>
              </a:pathLst>
            </a:custGeom>
            <a:noFill/>
            <a:ln w="19050">
              <a:solidFill>
                <a:schemeClr val="accent3"/>
              </a:solidFill>
            </a:ln>
          </p:spPr>
        </p:sp>
        <p:sp>
          <p:nvSpPr>
            <p:cNvPr id="22" name="Line 22"/>
            <p:cNvSpPr/>
            <p:nvPr/>
          </p:nvSpPr>
          <p:spPr>
            <a:xfrm>
              <a:off x="3848100" y="3733800"/>
              <a:ext cx="704850" cy="838200"/>
            </a:xfrm>
            <a:custGeom>
              <a:avLst/>
              <a:gdLst/>
              <a:ahLst/>
              <a:cxnLst/>
              <a:rect l="l" t="t" r="r" b="b"/>
              <a:pathLst>
                <a:path w="704850" h="838200">
                  <a:moveTo>
                    <a:pt x="0" y="838200"/>
                  </a:moveTo>
                  <a:lnTo>
                    <a:pt x="704850" y="0"/>
                  </a:lnTo>
                </a:path>
              </a:pathLst>
            </a:custGeom>
            <a:noFill/>
            <a:ln w="19050">
              <a:solidFill>
                <a:schemeClr val="accent3"/>
              </a:solidFill>
            </a:ln>
          </p:spPr>
        </p:sp>
        <p:sp>
          <p:nvSpPr>
            <p:cNvPr id="23" name="Rectangle 23"/>
            <p:cNvSpPr/>
            <p:nvPr/>
          </p:nvSpPr>
          <p:spPr>
            <a:xfrm>
              <a:off x="819150" y="1866900"/>
              <a:ext cx="3028950" cy="1219200"/>
            </a:xfrm>
            <a:prstGeom prst="roundRect">
              <a:avLst>
                <a:gd name="adj" fmla="val 6250"/>
              </a:avLst>
            </a:prstGeom>
            <a:solidFill>
              <a:schemeClr val="lt2"/>
            </a:solidFill>
            <a:ln w="19050">
              <a:solidFill>
                <a:schemeClr val="accent3"/>
              </a:solidFill>
            </a:ln>
          </p:spPr>
        </p:sp>
        <p:grpSp>
          <p:nvGrpSpPr>
            <p:cNvPr id="27" name="Group 27"/>
            <p:cNvGrpSpPr/>
            <p:nvPr/>
          </p:nvGrpSpPr>
          <p:grpSpPr>
            <a:xfrm>
              <a:off x="1097756" y="2162175"/>
              <a:ext cx="300038" cy="266700"/>
              <a:chOff x="1097756" y="2162175"/>
              <a:chExt cx="300038" cy="266700"/>
            </a:xfrm>
          </p:grpSpPr>
          <p:sp>
            <p:nvSpPr>
              <p:cNvPr id="24" name="Freeform 24"/>
              <p:cNvSpPr/>
              <p:nvPr/>
            </p:nvSpPr>
            <p:spPr>
              <a:xfrm>
                <a:off x="1181100" y="2245519"/>
                <a:ext cx="50006" cy="100012"/>
              </a:xfrm>
              <a:custGeom>
                <a:avLst/>
                <a:gdLst/>
                <a:ahLst/>
                <a:cxnLst/>
                <a:rect l="l" t="t" r="r" b="b"/>
                <a:pathLst>
                  <a:path w="50006" h="100012">
                    <a:moveTo>
                      <a:pt x="0" y="0"/>
                    </a:moveTo>
                    <a:lnTo>
                      <a:pt x="50006" y="50006"/>
                    </a:lnTo>
                    <a:lnTo>
                      <a:pt x="0" y="100012"/>
                    </a:lnTo>
                  </a:path>
                </a:pathLst>
              </a:custGeom>
              <a:noFill/>
              <a:ln w="33338">
                <a:solidFill>
                  <a:schemeClr val="accent3"/>
                </a:solidFill>
              </a:ln>
            </p:spPr>
          </p:sp>
          <p:sp>
            <p:nvSpPr>
              <p:cNvPr id="25" name="Freeform 25"/>
              <p:cNvSpPr/>
              <p:nvPr/>
            </p:nvSpPr>
            <p:spPr>
              <a:xfrm>
                <a:off x="1264444" y="2345531"/>
                <a:ext cx="50006" cy="9525"/>
              </a:xfrm>
              <a:custGeom>
                <a:avLst/>
                <a:gdLst/>
                <a:ahLst/>
                <a:cxnLst/>
                <a:rect l="l" t="t" r="r" b="b"/>
                <a:pathLst>
                  <a:path w="50006" h="9525">
                    <a:moveTo>
                      <a:pt x="0" y="0"/>
                    </a:moveTo>
                    <a:lnTo>
                      <a:pt x="50006" y="0"/>
                    </a:lnTo>
                  </a:path>
                </a:pathLst>
              </a:custGeom>
              <a:noFill/>
              <a:ln w="33338">
                <a:solidFill>
                  <a:schemeClr val="accent3"/>
                </a:solidFill>
              </a:ln>
            </p:spPr>
          </p:sp>
          <p:sp>
            <p:nvSpPr>
              <p:cNvPr id="26" name="Freeform 26"/>
              <p:cNvSpPr/>
              <p:nvPr/>
            </p:nvSpPr>
            <p:spPr>
              <a:xfrm>
                <a:off x="1097756" y="2162175"/>
                <a:ext cx="300038" cy="266700"/>
              </a:xfrm>
              <a:custGeom>
                <a:avLst/>
                <a:gdLst/>
                <a:ahLst/>
                <a:cxnLst/>
                <a:rect l="l" t="t" r="r" b="b"/>
                <a:pathLst>
                  <a:path w="300038" h="266700">
                    <a:moveTo>
                      <a:pt x="0" y="33338"/>
                    </a:moveTo>
                    <a:cubicBezTo>
                      <a:pt x="0" y="14926"/>
                      <a:pt x="14926" y="0"/>
                      <a:pt x="33338" y="0"/>
                    </a:cubicBezTo>
                    <a:lnTo>
                      <a:pt x="266700" y="0"/>
                    </a:lnTo>
                    <a:cubicBezTo>
                      <a:pt x="285112" y="0"/>
                      <a:pt x="300038" y="14926"/>
                      <a:pt x="300038" y="33338"/>
                    </a:cubicBezTo>
                    <a:lnTo>
                      <a:pt x="300038" y="233362"/>
                    </a:lnTo>
                    <a:cubicBezTo>
                      <a:pt x="300038" y="251774"/>
                      <a:pt x="285112" y="266700"/>
                      <a:pt x="266700" y="266700"/>
                    </a:cubicBezTo>
                    <a:lnTo>
                      <a:pt x="33338" y="266700"/>
                    </a:lnTo>
                    <a:cubicBezTo>
                      <a:pt x="14926" y="266700"/>
                      <a:pt x="0" y="251774"/>
                      <a:pt x="0" y="233362"/>
                    </a:cubicBezTo>
                    <a:lnTo>
                      <a:pt x="0" y="33338"/>
                    </a:lnTo>
                  </a:path>
                </a:pathLst>
              </a:custGeom>
              <a:noFill/>
              <a:ln w="33338">
                <a:solidFill>
                  <a:schemeClr val="accent3"/>
                </a:solidFill>
              </a:ln>
            </p:spPr>
          </p:sp>
        </p:grpSp>
        <p:sp>
          <p:nvSpPr>
            <p:cNvPr id="28" name="TextBox 28"/>
            <p:cNvSpPr txBox="1"/>
            <p:nvPr/>
          </p:nvSpPr>
          <p:spPr>
            <a:xfrm>
              <a:off x="1648206" y="2110740"/>
              <a:ext cx="39465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CLI</a:t>
              </a:r>
            </a:p>
          </p:txBody>
        </p:sp>
        <p:sp>
          <p:nvSpPr>
            <p:cNvPr id="29" name="TextBox 29"/>
            <p:cNvSpPr txBox="1"/>
            <p:nvPr/>
          </p:nvSpPr>
          <p:spPr>
            <a:xfrm>
              <a:off x="1040892" y="2502218"/>
              <a:ext cx="1488186"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interactive entry</a:t>
              </a:r>
              <a:br/>
              <a:r>
                <a:rPr lang="en-US" sz="1350" dirty="0">
                  <a:solidFill>
                    <a:schemeClr val="accent5"/>
                  </a:solidFill>
                  <a:latin typeface="+mn-lt"/>
                  <a:ea typeface="+mn-ea"/>
                  <a:cs typeface="+mn-cs"/>
                </a:rPr>
                <a:t>local process</a:t>
              </a:r>
            </a:p>
          </p:txBody>
        </p:sp>
        <p:sp>
          <p:nvSpPr>
            <p:cNvPr id="30" name="Rectangle 30"/>
            <p:cNvSpPr/>
            <p:nvPr/>
          </p:nvSpPr>
          <p:spPr>
            <a:xfrm>
              <a:off x="819150" y="3962400"/>
              <a:ext cx="3028950" cy="1409700"/>
            </a:xfrm>
            <a:prstGeom prst="roundRect">
              <a:avLst>
                <a:gd name="adj" fmla="val 5405"/>
              </a:avLst>
            </a:prstGeom>
            <a:solidFill>
              <a:schemeClr val="lt2"/>
            </a:solidFill>
            <a:ln w="19050">
              <a:solidFill>
                <a:schemeClr val="accent3"/>
              </a:solidFill>
            </a:ln>
          </p:spPr>
        </p:sp>
        <p:grpSp>
          <p:nvGrpSpPr>
            <p:cNvPr id="34" name="Group 34"/>
            <p:cNvGrpSpPr/>
            <p:nvPr/>
          </p:nvGrpSpPr>
          <p:grpSpPr>
            <a:xfrm>
              <a:off x="1097756" y="4257675"/>
              <a:ext cx="300038" cy="266700"/>
              <a:chOff x="1097756" y="4257675"/>
              <a:chExt cx="300038" cy="266700"/>
            </a:xfrm>
          </p:grpSpPr>
          <p:sp>
            <p:nvSpPr>
              <p:cNvPr id="31" name="Freeform 31"/>
              <p:cNvSpPr/>
              <p:nvPr/>
            </p:nvSpPr>
            <p:spPr>
              <a:xfrm>
                <a:off x="1097756" y="4324350"/>
                <a:ext cx="66675" cy="133350"/>
              </a:xfrm>
              <a:custGeom>
                <a:avLst/>
                <a:gdLst/>
                <a:ahLst/>
                <a:cxnLst/>
                <a:rect l="l" t="t" r="r" b="b"/>
                <a:pathLst>
                  <a:path w="66675" h="133350">
                    <a:moveTo>
                      <a:pt x="66675" y="0"/>
                    </a:moveTo>
                    <a:lnTo>
                      <a:pt x="0" y="66675"/>
                    </a:lnTo>
                    <a:lnTo>
                      <a:pt x="66675" y="133350"/>
                    </a:lnTo>
                  </a:path>
                </a:pathLst>
              </a:custGeom>
              <a:noFill/>
              <a:ln w="33338">
                <a:solidFill>
                  <a:schemeClr val="accent3"/>
                </a:solidFill>
              </a:ln>
            </p:spPr>
          </p:sp>
          <p:sp>
            <p:nvSpPr>
              <p:cNvPr id="32" name="Freeform 32"/>
              <p:cNvSpPr/>
              <p:nvPr/>
            </p:nvSpPr>
            <p:spPr>
              <a:xfrm>
                <a:off x="1331119" y="4324350"/>
                <a:ext cx="66675" cy="133350"/>
              </a:xfrm>
              <a:custGeom>
                <a:avLst/>
                <a:gdLst/>
                <a:ahLst/>
                <a:cxnLst/>
                <a:rect l="l" t="t" r="r" b="b"/>
                <a:pathLst>
                  <a:path w="66675" h="133350">
                    <a:moveTo>
                      <a:pt x="0" y="0"/>
                    </a:moveTo>
                    <a:lnTo>
                      <a:pt x="66675" y="66675"/>
                    </a:lnTo>
                    <a:lnTo>
                      <a:pt x="0" y="133350"/>
                    </a:lnTo>
                  </a:path>
                </a:pathLst>
              </a:custGeom>
              <a:noFill/>
              <a:ln w="33338">
                <a:solidFill>
                  <a:schemeClr val="accent3"/>
                </a:solidFill>
              </a:ln>
            </p:spPr>
          </p:sp>
          <p:sp>
            <p:nvSpPr>
              <p:cNvPr id="33" name="Freeform 33"/>
              <p:cNvSpPr/>
              <p:nvPr/>
            </p:nvSpPr>
            <p:spPr>
              <a:xfrm>
                <a:off x="1214438" y="4257675"/>
                <a:ext cx="66675" cy="266700"/>
              </a:xfrm>
              <a:custGeom>
                <a:avLst/>
                <a:gdLst/>
                <a:ahLst/>
                <a:cxnLst/>
                <a:rect l="l" t="t" r="r" b="b"/>
                <a:pathLst>
                  <a:path w="66675" h="266700">
                    <a:moveTo>
                      <a:pt x="66675" y="0"/>
                    </a:moveTo>
                    <a:lnTo>
                      <a:pt x="0" y="266700"/>
                    </a:lnTo>
                  </a:path>
                </a:pathLst>
              </a:custGeom>
              <a:noFill/>
              <a:ln w="33338">
                <a:solidFill>
                  <a:schemeClr val="accent3"/>
                </a:solidFill>
              </a:ln>
            </p:spPr>
          </p:sp>
        </p:grpSp>
        <p:sp>
          <p:nvSpPr>
            <p:cNvPr id="35" name="TextBox 35"/>
            <p:cNvSpPr txBox="1"/>
            <p:nvPr/>
          </p:nvSpPr>
          <p:spPr>
            <a:xfrm>
              <a:off x="1648206" y="4206240"/>
              <a:ext cx="1822986"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Headless / ACP</a:t>
              </a:r>
            </a:p>
          </p:txBody>
        </p:sp>
        <p:sp>
          <p:nvSpPr>
            <p:cNvPr id="36" name="TextBox 36"/>
            <p:cNvSpPr txBox="1"/>
            <p:nvPr/>
          </p:nvSpPr>
          <p:spPr>
            <a:xfrm>
              <a:off x="1040892" y="4673918"/>
              <a:ext cx="260385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automation · stdio JSON-RPC</a:t>
              </a:r>
            </a:p>
          </p:txBody>
        </p:sp>
        <p:sp>
          <p:nvSpPr>
            <p:cNvPr id="37" name="TextBox 37"/>
            <p:cNvSpPr txBox="1"/>
            <p:nvPr/>
          </p:nvSpPr>
          <p:spPr>
            <a:xfrm>
              <a:off x="1040892" y="4864418"/>
              <a:ext cx="1831086"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caller manages</a:t>
              </a:r>
              <a:br/>
              <a:r>
                <a:rPr lang="en-US" sz="1350" dirty="0">
                  <a:solidFill>
                    <a:schemeClr val="accent5"/>
                  </a:solidFill>
                  <a:latin typeface="+mn-lt"/>
                  <a:ea typeface="+mn-ea"/>
                  <a:cs typeface="+mn-cs"/>
                </a:rPr>
                <a:t>connection + lifecycle</a:t>
              </a:r>
            </a:p>
          </p:txBody>
        </p:sp>
      </p:grpSp>
      <p:grpSp>
        <p:nvGrpSpPr>
          <p:cNvPr id="54" name="Group 54"/>
          <p:cNvGrpSpPr/>
          <p:nvPr/>
        </p:nvGrpSpPr>
        <p:grpSpPr>
          <a:xfrm>
            <a:off x="7639050" y="1790700"/>
            <a:ext cx="3752850" cy="1657350"/>
            <a:chOff x="7639050" y="1790700"/>
            <a:chExt cx="3752850" cy="1657350"/>
          </a:xfrm>
        </p:grpSpPr>
        <p:sp>
          <p:nvSpPr>
            <p:cNvPr id="39" name="Line 39"/>
            <p:cNvSpPr/>
            <p:nvPr/>
          </p:nvSpPr>
          <p:spPr>
            <a:xfrm>
              <a:off x="7639050" y="2628900"/>
              <a:ext cx="704850" cy="419100"/>
            </a:xfrm>
            <a:custGeom>
              <a:avLst/>
              <a:gdLst/>
              <a:ahLst/>
              <a:cxnLst/>
              <a:rect l="l" t="t" r="r" b="b"/>
              <a:pathLst>
                <a:path w="704850" h="419100">
                  <a:moveTo>
                    <a:pt x="0" y="419100"/>
                  </a:moveTo>
                  <a:lnTo>
                    <a:pt x="704850" y="0"/>
                  </a:lnTo>
                </a:path>
              </a:pathLst>
            </a:custGeom>
            <a:noFill/>
            <a:ln w="19050">
              <a:solidFill>
                <a:schemeClr val="accent3"/>
              </a:solidFill>
            </a:ln>
          </p:spPr>
        </p:sp>
        <p:sp>
          <p:nvSpPr>
            <p:cNvPr id="40" name="Rectangle 40"/>
            <p:cNvSpPr/>
            <p:nvPr/>
          </p:nvSpPr>
          <p:spPr>
            <a:xfrm>
              <a:off x="8343900" y="1790700"/>
              <a:ext cx="3048000" cy="1657350"/>
            </a:xfrm>
            <a:prstGeom prst="roundRect">
              <a:avLst>
                <a:gd name="adj" fmla="val 4598"/>
              </a:avLst>
            </a:prstGeom>
            <a:solidFill>
              <a:schemeClr val="lt2"/>
            </a:solidFill>
            <a:ln w="19050">
              <a:solidFill>
                <a:schemeClr val="accent3"/>
              </a:solidFill>
            </a:ln>
          </p:spPr>
        </p:sp>
        <p:grpSp>
          <p:nvGrpSpPr>
            <p:cNvPr id="49" name="Group 49"/>
            <p:cNvGrpSpPr/>
            <p:nvPr/>
          </p:nvGrpSpPr>
          <p:grpSpPr>
            <a:xfrm>
              <a:off x="8622506" y="2069306"/>
              <a:ext cx="300037" cy="316707"/>
              <a:chOff x="8622506" y="2069306"/>
              <a:chExt cx="300037" cy="316707"/>
            </a:xfrm>
          </p:grpSpPr>
          <p:sp>
            <p:nvSpPr>
              <p:cNvPr id="41" name="Freeform 41"/>
              <p:cNvSpPr/>
              <p:nvPr/>
            </p:nvSpPr>
            <p:spPr>
              <a:xfrm>
                <a:off x="8672512" y="2069306"/>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33338">
                <a:solidFill>
                  <a:schemeClr val="accent3"/>
                </a:solidFill>
              </a:ln>
            </p:spPr>
          </p:sp>
          <p:sp>
            <p:nvSpPr>
              <p:cNvPr id="42" name="Freeform 42"/>
              <p:cNvSpPr/>
              <p:nvPr/>
            </p:nvSpPr>
            <p:spPr>
              <a:xfrm>
                <a:off x="8772525" y="2069306"/>
                <a:ext cx="33338" cy="200025"/>
              </a:xfrm>
              <a:custGeom>
                <a:avLst/>
                <a:gdLst/>
                <a:ahLst/>
                <a:cxnLst/>
                <a:rect l="l" t="t" r="r" b="b"/>
                <a:pathLst>
                  <a:path w="33338" h="200025">
                    <a:moveTo>
                      <a:pt x="0" y="0"/>
                    </a:moveTo>
                    <a:cubicBezTo>
                      <a:pt x="22219" y="5551"/>
                      <a:pt x="33338" y="38888"/>
                      <a:pt x="33338" y="100012"/>
                    </a:cubicBezTo>
                    <a:cubicBezTo>
                      <a:pt x="33338" y="161137"/>
                      <a:pt x="22219" y="194474"/>
                      <a:pt x="0" y="200025"/>
                    </a:cubicBezTo>
                  </a:path>
                </a:pathLst>
              </a:custGeom>
              <a:noFill/>
              <a:ln w="33338">
                <a:solidFill>
                  <a:schemeClr val="accent3"/>
                </a:solidFill>
              </a:ln>
            </p:spPr>
          </p:sp>
          <p:sp>
            <p:nvSpPr>
              <p:cNvPr id="43" name="Freeform 43"/>
              <p:cNvSpPr/>
              <p:nvPr/>
            </p:nvSpPr>
            <p:spPr>
              <a:xfrm>
                <a:off x="8739188" y="2069306"/>
                <a:ext cx="33338" cy="200025"/>
              </a:xfrm>
              <a:custGeom>
                <a:avLst/>
                <a:gdLst/>
                <a:ahLst/>
                <a:cxnLst/>
                <a:rect l="l" t="t" r="r" b="b"/>
                <a:pathLst>
                  <a:path w="33338" h="200025">
                    <a:moveTo>
                      <a:pt x="33338" y="0"/>
                    </a:moveTo>
                    <a:cubicBezTo>
                      <a:pt x="11118" y="5551"/>
                      <a:pt x="0" y="38888"/>
                      <a:pt x="0" y="100012"/>
                    </a:cubicBezTo>
                    <a:cubicBezTo>
                      <a:pt x="0" y="161137"/>
                      <a:pt x="11118" y="194474"/>
                      <a:pt x="33338" y="200025"/>
                    </a:cubicBezTo>
                  </a:path>
                </a:pathLst>
              </a:custGeom>
              <a:noFill/>
              <a:ln w="33338">
                <a:solidFill>
                  <a:schemeClr val="accent3"/>
                </a:solidFill>
              </a:ln>
            </p:spPr>
          </p:sp>
          <p:sp>
            <p:nvSpPr>
              <p:cNvPr id="44" name="Freeform 44"/>
              <p:cNvSpPr/>
              <p:nvPr/>
            </p:nvSpPr>
            <p:spPr>
              <a:xfrm>
                <a:off x="8672512" y="2169319"/>
                <a:ext cx="200025" cy="9525"/>
              </a:xfrm>
              <a:custGeom>
                <a:avLst/>
                <a:gdLst/>
                <a:ahLst/>
                <a:cxnLst/>
                <a:rect l="l" t="t" r="r" b="b"/>
                <a:pathLst>
                  <a:path w="200025" h="9525">
                    <a:moveTo>
                      <a:pt x="0" y="0"/>
                    </a:moveTo>
                    <a:lnTo>
                      <a:pt x="200025" y="0"/>
                    </a:lnTo>
                  </a:path>
                </a:pathLst>
              </a:custGeom>
              <a:noFill/>
              <a:ln w="33338">
                <a:solidFill>
                  <a:schemeClr val="accent3"/>
                </a:solidFill>
              </a:ln>
            </p:spPr>
          </p:sp>
          <p:sp>
            <p:nvSpPr>
              <p:cNvPr id="45" name="Freeform 45"/>
              <p:cNvSpPr/>
              <p:nvPr/>
            </p:nvSpPr>
            <p:spPr>
              <a:xfrm>
                <a:off x="8622506" y="2352675"/>
                <a:ext cx="116681" cy="9525"/>
              </a:xfrm>
              <a:custGeom>
                <a:avLst/>
                <a:gdLst/>
                <a:ahLst/>
                <a:cxnLst/>
                <a:rect l="l" t="t" r="r" b="b"/>
                <a:pathLst>
                  <a:path w="116681" h="9525">
                    <a:moveTo>
                      <a:pt x="0" y="0"/>
                    </a:moveTo>
                    <a:lnTo>
                      <a:pt x="116681" y="0"/>
                    </a:lnTo>
                  </a:path>
                </a:pathLst>
              </a:custGeom>
              <a:noFill/>
              <a:ln w="33338">
                <a:solidFill>
                  <a:schemeClr val="accent3"/>
                </a:solidFill>
              </a:ln>
            </p:spPr>
          </p:sp>
          <p:sp>
            <p:nvSpPr>
              <p:cNvPr id="46" name="Freeform 46"/>
              <p:cNvSpPr/>
              <p:nvPr/>
            </p:nvSpPr>
            <p:spPr>
              <a:xfrm>
                <a:off x="8805862" y="2352675"/>
                <a:ext cx="116681" cy="9525"/>
              </a:xfrm>
              <a:custGeom>
                <a:avLst/>
                <a:gdLst/>
                <a:ahLst/>
                <a:cxnLst/>
                <a:rect l="l" t="t" r="r" b="b"/>
                <a:pathLst>
                  <a:path w="116681" h="9525">
                    <a:moveTo>
                      <a:pt x="0" y="0"/>
                    </a:moveTo>
                    <a:lnTo>
                      <a:pt x="116681" y="0"/>
                    </a:lnTo>
                  </a:path>
                </a:pathLst>
              </a:custGeom>
              <a:noFill/>
              <a:ln w="33338">
                <a:solidFill>
                  <a:schemeClr val="accent3"/>
                </a:solidFill>
              </a:ln>
            </p:spPr>
          </p:sp>
          <p:sp>
            <p:nvSpPr>
              <p:cNvPr id="47" name="Freeform 47"/>
              <p:cNvSpPr/>
              <p:nvPr/>
            </p:nvSpPr>
            <p:spPr>
              <a:xfrm>
                <a:off x="8739188" y="2319338"/>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33338">
                <a:solidFill>
                  <a:schemeClr val="accent3"/>
                </a:solidFill>
              </a:ln>
            </p:spPr>
          </p:sp>
          <p:sp>
            <p:nvSpPr>
              <p:cNvPr id="48" name="Freeform 48"/>
              <p:cNvSpPr/>
              <p:nvPr/>
            </p:nvSpPr>
            <p:spPr>
              <a:xfrm>
                <a:off x="8772525" y="2269331"/>
                <a:ext cx="9525" cy="50006"/>
              </a:xfrm>
              <a:custGeom>
                <a:avLst/>
                <a:gdLst/>
                <a:ahLst/>
                <a:cxnLst/>
                <a:rect l="l" t="t" r="r" b="b"/>
                <a:pathLst>
                  <a:path w="9525" h="50006">
                    <a:moveTo>
                      <a:pt x="0" y="0"/>
                    </a:moveTo>
                    <a:lnTo>
                      <a:pt x="0" y="50006"/>
                    </a:lnTo>
                  </a:path>
                </a:pathLst>
              </a:custGeom>
              <a:noFill/>
              <a:ln w="33338">
                <a:solidFill>
                  <a:schemeClr val="accent3"/>
                </a:solidFill>
              </a:ln>
            </p:spPr>
          </p:sp>
        </p:grpSp>
        <p:sp>
          <p:nvSpPr>
            <p:cNvPr id="50" name="TextBox 50"/>
            <p:cNvSpPr txBox="1"/>
            <p:nvPr/>
          </p:nvSpPr>
          <p:spPr>
            <a:xfrm>
              <a:off x="9172956" y="2034540"/>
              <a:ext cx="497868"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Web</a:t>
              </a:r>
            </a:p>
          </p:txBody>
        </p:sp>
        <p:sp>
          <p:nvSpPr>
            <p:cNvPr id="51" name="TextBox 51"/>
            <p:cNvSpPr txBox="1"/>
            <p:nvPr/>
          </p:nvSpPr>
          <p:spPr>
            <a:xfrm>
              <a:off x="8565642" y="2502218"/>
              <a:ext cx="1117854"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scadia Mono"/>
                  <a:ea typeface="Cascadia Mono"/>
                  <a:cs typeface="Cascadia Mono"/>
                </a:rPr>
                <a:t>HTTP POST ↑</a:t>
              </a:r>
            </a:p>
          </p:txBody>
        </p:sp>
        <p:sp>
          <p:nvSpPr>
            <p:cNvPr id="52" name="TextBox 52"/>
            <p:cNvSpPr txBox="1"/>
            <p:nvPr/>
          </p:nvSpPr>
          <p:spPr>
            <a:xfrm>
              <a:off x="8565642" y="2826068"/>
              <a:ext cx="1510116"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scadia Mono"/>
                  <a:ea typeface="Cascadia Mono"/>
                  <a:cs typeface="Cascadia Mono"/>
                </a:rPr>
                <a:t>events.mux WS ↓</a:t>
              </a:r>
            </a:p>
          </p:txBody>
        </p:sp>
        <p:sp>
          <p:nvSpPr>
            <p:cNvPr id="53" name="TextBox 53"/>
            <p:cNvSpPr txBox="1"/>
            <p:nvPr/>
          </p:nvSpPr>
          <p:spPr>
            <a:xfrm>
              <a:off x="8565642" y="3130868"/>
              <a:ext cx="1573054"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scadia Mono"/>
                  <a:ea typeface="Cascadia Mono"/>
                  <a:cs typeface="Cascadia Mono"/>
                </a:rPr>
                <a:t>events.host WS ↓</a:t>
              </a:r>
            </a:p>
          </p:txBody>
        </p:sp>
      </p:grpSp>
      <p:grpSp>
        <p:nvGrpSpPr>
          <p:cNvPr id="67" name="Group 67"/>
          <p:cNvGrpSpPr/>
          <p:nvPr/>
        </p:nvGrpSpPr>
        <p:grpSpPr>
          <a:xfrm>
            <a:off x="7639050" y="3733800"/>
            <a:ext cx="3948970" cy="1885950"/>
            <a:chOff x="7639050" y="3733800"/>
            <a:chExt cx="3948970" cy="1885950"/>
          </a:xfrm>
        </p:grpSpPr>
        <p:sp>
          <p:nvSpPr>
            <p:cNvPr id="55" name="Line 55"/>
            <p:cNvSpPr/>
            <p:nvPr/>
          </p:nvSpPr>
          <p:spPr>
            <a:xfrm>
              <a:off x="7639050" y="3733800"/>
              <a:ext cx="704850" cy="723900"/>
            </a:xfrm>
            <a:custGeom>
              <a:avLst/>
              <a:gdLst/>
              <a:ahLst/>
              <a:cxnLst/>
              <a:rect l="l" t="t" r="r" b="b"/>
              <a:pathLst>
                <a:path w="704850" h="723900">
                  <a:moveTo>
                    <a:pt x="0" y="0"/>
                  </a:moveTo>
                  <a:lnTo>
                    <a:pt x="704850" y="723900"/>
                  </a:lnTo>
                </a:path>
              </a:pathLst>
            </a:custGeom>
            <a:noFill/>
            <a:ln w="19050">
              <a:solidFill>
                <a:schemeClr val="accent3"/>
              </a:solidFill>
            </a:ln>
          </p:spPr>
        </p:sp>
        <p:sp>
          <p:nvSpPr>
            <p:cNvPr id="56" name="Rectangle 56"/>
            <p:cNvSpPr/>
            <p:nvPr/>
          </p:nvSpPr>
          <p:spPr>
            <a:xfrm>
              <a:off x="8343900" y="3867150"/>
              <a:ext cx="3048000" cy="1752600"/>
            </a:xfrm>
            <a:prstGeom prst="roundRect">
              <a:avLst>
                <a:gd name="adj" fmla="val 4348"/>
              </a:avLst>
            </a:prstGeom>
            <a:solidFill>
              <a:schemeClr val="lt2"/>
            </a:solidFill>
            <a:ln w="19050">
              <a:solidFill>
                <a:schemeClr val="accent3"/>
              </a:solidFill>
            </a:ln>
          </p:spPr>
        </p:sp>
        <p:grpSp>
          <p:nvGrpSpPr>
            <p:cNvPr id="60" name="Group 60"/>
            <p:cNvGrpSpPr/>
            <p:nvPr/>
          </p:nvGrpSpPr>
          <p:grpSpPr>
            <a:xfrm>
              <a:off x="8622506" y="4162425"/>
              <a:ext cx="300038" cy="266700"/>
              <a:chOff x="8622506" y="4162425"/>
              <a:chExt cx="300038" cy="266700"/>
            </a:xfrm>
          </p:grpSpPr>
          <p:sp>
            <p:nvSpPr>
              <p:cNvPr id="57" name="Freeform 57"/>
              <p:cNvSpPr/>
              <p:nvPr/>
            </p:nvSpPr>
            <p:spPr>
              <a:xfrm>
                <a:off x="8622506" y="4229100"/>
                <a:ext cx="66675" cy="133350"/>
              </a:xfrm>
              <a:custGeom>
                <a:avLst/>
                <a:gdLst/>
                <a:ahLst/>
                <a:cxnLst/>
                <a:rect l="l" t="t" r="r" b="b"/>
                <a:pathLst>
                  <a:path w="66675" h="133350">
                    <a:moveTo>
                      <a:pt x="66675" y="0"/>
                    </a:moveTo>
                    <a:lnTo>
                      <a:pt x="0" y="66675"/>
                    </a:lnTo>
                    <a:lnTo>
                      <a:pt x="66675" y="133350"/>
                    </a:lnTo>
                  </a:path>
                </a:pathLst>
              </a:custGeom>
              <a:noFill/>
              <a:ln w="33338">
                <a:solidFill>
                  <a:schemeClr val="accent3"/>
                </a:solidFill>
              </a:ln>
            </p:spPr>
          </p:sp>
          <p:sp>
            <p:nvSpPr>
              <p:cNvPr id="58" name="Freeform 58"/>
              <p:cNvSpPr/>
              <p:nvPr/>
            </p:nvSpPr>
            <p:spPr>
              <a:xfrm>
                <a:off x="8855869" y="4229100"/>
                <a:ext cx="66675" cy="133350"/>
              </a:xfrm>
              <a:custGeom>
                <a:avLst/>
                <a:gdLst/>
                <a:ahLst/>
                <a:cxnLst/>
                <a:rect l="l" t="t" r="r" b="b"/>
                <a:pathLst>
                  <a:path w="66675" h="133350">
                    <a:moveTo>
                      <a:pt x="0" y="0"/>
                    </a:moveTo>
                    <a:lnTo>
                      <a:pt x="66675" y="66675"/>
                    </a:lnTo>
                    <a:lnTo>
                      <a:pt x="0" y="133350"/>
                    </a:lnTo>
                  </a:path>
                </a:pathLst>
              </a:custGeom>
              <a:noFill/>
              <a:ln w="33338">
                <a:solidFill>
                  <a:schemeClr val="accent3"/>
                </a:solidFill>
              </a:ln>
            </p:spPr>
          </p:sp>
          <p:sp>
            <p:nvSpPr>
              <p:cNvPr id="59" name="Freeform 59"/>
              <p:cNvSpPr/>
              <p:nvPr/>
            </p:nvSpPr>
            <p:spPr>
              <a:xfrm>
                <a:off x="8739188" y="4162425"/>
                <a:ext cx="66675" cy="266700"/>
              </a:xfrm>
              <a:custGeom>
                <a:avLst/>
                <a:gdLst/>
                <a:ahLst/>
                <a:cxnLst/>
                <a:rect l="l" t="t" r="r" b="b"/>
                <a:pathLst>
                  <a:path w="66675" h="266700">
                    <a:moveTo>
                      <a:pt x="66675" y="0"/>
                    </a:moveTo>
                    <a:lnTo>
                      <a:pt x="0" y="266700"/>
                    </a:lnTo>
                  </a:path>
                </a:pathLst>
              </a:custGeom>
              <a:noFill/>
              <a:ln w="33338">
                <a:solidFill>
                  <a:schemeClr val="accent3"/>
                </a:solidFill>
              </a:ln>
            </p:spPr>
          </p:sp>
        </p:grpSp>
        <p:sp>
          <p:nvSpPr>
            <p:cNvPr id="61" name="TextBox 61"/>
            <p:cNvSpPr txBox="1"/>
            <p:nvPr/>
          </p:nvSpPr>
          <p:spPr>
            <a:xfrm>
              <a:off x="9172956" y="4110990"/>
              <a:ext cx="1785809"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SDK ownership</a:t>
              </a:r>
            </a:p>
          </p:txBody>
        </p:sp>
        <p:sp>
          <p:nvSpPr>
            <p:cNvPr id="62" name="Line 62"/>
            <p:cNvSpPr/>
            <p:nvPr/>
          </p:nvSpPr>
          <p:spPr>
            <a:xfrm>
              <a:off x="8572500" y="4629150"/>
              <a:ext cx="2590800" cy="9525"/>
            </a:xfrm>
            <a:custGeom>
              <a:avLst/>
              <a:gdLst/>
              <a:ahLst/>
              <a:cxnLst/>
              <a:rect l="l" t="t" r="r" b="b"/>
              <a:pathLst>
                <a:path w="2590800" h="9525">
                  <a:moveTo>
                    <a:pt x="0" y="0"/>
                  </a:moveTo>
                  <a:lnTo>
                    <a:pt x="2590800" y="0"/>
                  </a:lnTo>
                </a:path>
              </a:pathLst>
            </a:custGeom>
            <a:noFill/>
            <a:ln w="9525">
              <a:solidFill>
                <a:schemeClr val="accent3"/>
              </a:solidFill>
            </a:ln>
          </p:spPr>
        </p:sp>
        <p:sp>
          <p:nvSpPr>
            <p:cNvPr id="63" name="TextBox 63"/>
            <p:cNvSpPr txBox="1"/>
            <p:nvPr/>
          </p:nvSpPr>
          <p:spPr>
            <a:xfrm>
              <a:off x="8565642" y="4826318"/>
              <a:ext cx="1417559"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TypeScript SDK</a:t>
              </a:r>
            </a:p>
          </p:txBody>
        </p:sp>
        <p:sp>
          <p:nvSpPr>
            <p:cNvPr id="64" name="TextBox 64"/>
            <p:cNvSpPr txBox="1"/>
            <p:nvPr/>
          </p:nvSpPr>
          <p:spPr>
            <a:xfrm>
              <a:off x="10165842" y="4826318"/>
              <a:ext cx="126770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caller runtime</a:t>
              </a:r>
            </a:p>
          </p:txBody>
        </p:sp>
        <p:sp>
          <p:nvSpPr>
            <p:cNvPr id="65" name="TextBox 65"/>
            <p:cNvSpPr txBox="1"/>
            <p:nvPr/>
          </p:nvSpPr>
          <p:spPr>
            <a:xfrm>
              <a:off x="8565642" y="5188268"/>
              <a:ext cx="1040744"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Python SDK</a:t>
              </a:r>
            </a:p>
          </p:txBody>
        </p:sp>
        <p:sp>
          <p:nvSpPr>
            <p:cNvPr id="66" name="TextBox 66"/>
            <p:cNvSpPr txBox="1"/>
            <p:nvPr/>
          </p:nvSpPr>
          <p:spPr>
            <a:xfrm>
              <a:off x="10165842" y="5188268"/>
              <a:ext cx="142217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bundled process</a:t>
              </a:r>
            </a:p>
          </p:txBody>
        </p:sp>
      </p:grpSp>
      <p:grpSp>
        <p:nvGrpSpPr>
          <p:cNvPr id="70" name="Group 70"/>
          <p:cNvGrpSpPr/>
          <p:nvPr/>
        </p:nvGrpSpPr>
        <p:grpSpPr>
          <a:xfrm>
            <a:off x="602742" y="6293168"/>
            <a:ext cx="10986516" cy="264033"/>
            <a:chOff x="602742" y="6293168"/>
            <a:chExt cx="10986516" cy="264033"/>
          </a:xfrm>
        </p:grpSpPr>
        <p:sp>
          <p:nvSpPr>
            <p:cNvPr id="68" name="TextBox 68"/>
            <p:cNvSpPr txBox="1"/>
            <p:nvPr/>
          </p:nvSpPr>
          <p:spPr>
            <a:xfrm>
              <a:off x="602742" y="6293168"/>
              <a:ext cx="490072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K-011 · K-012 | SAME CORE ≠ SAME PROCESS BOUNDARY</a:t>
              </a:r>
            </a:p>
          </p:txBody>
        </p:sp>
        <p:sp>
          <p:nvSpPr>
            <p:cNvPr id="69" name="TextBox 69"/>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P13 / 24</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7000"/>
              </a:schemeClr>
            </a:solidFill>
          </a:ln>
        </p:spPr>
      </p:sp>
      <p:grpSp>
        <p:nvGrpSpPr>
          <p:cNvPr id="5" name="Group 5"/>
          <p:cNvGrpSpPr/>
          <p:nvPr/>
        </p:nvGrpSpPr>
        <p:grpSpPr>
          <a:xfrm>
            <a:off x="593598" y="482918"/>
            <a:ext cx="9337007" cy="955167"/>
            <a:chOff x="593598" y="482918"/>
            <a:chExt cx="9337007" cy="955167"/>
          </a:xfrm>
        </p:grpSpPr>
        <p:sp>
          <p:nvSpPr>
            <p:cNvPr id="3" name="TextBox 3"/>
            <p:cNvSpPr txBox="1"/>
            <p:nvPr/>
          </p:nvSpPr>
          <p:spPr>
            <a:xfrm>
              <a:off x="602742" y="482918"/>
              <a:ext cx="3348533"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HOST / CLIENT CONTRACT PIPELINE</a:t>
              </a:r>
            </a:p>
          </p:txBody>
        </p:sp>
        <p:sp>
          <p:nvSpPr>
            <p:cNvPr id="4" name="TextBox 4"/>
            <p:cNvSpPr txBox="1"/>
            <p:nvPr/>
          </p:nvSpPr>
          <p:spPr>
            <a:xfrm>
              <a:off x="593598" y="822008"/>
              <a:ext cx="9337007"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Typert defines Host/Client contracts once</a:t>
              </a:r>
            </a:p>
          </p:txBody>
        </p:sp>
      </p:grpSp>
      <p:grpSp>
        <p:nvGrpSpPr>
          <p:cNvPr id="56" name="Group 56"/>
          <p:cNvGrpSpPr/>
          <p:nvPr/>
        </p:nvGrpSpPr>
        <p:grpSpPr>
          <a:xfrm>
            <a:off x="685800" y="2038350"/>
            <a:ext cx="10820400" cy="2247900"/>
            <a:chOff x="685800" y="2038350"/>
            <a:chExt cx="10820400" cy="2247900"/>
          </a:xfrm>
        </p:grpSpPr>
        <p:sp>
          <p:nvSpPr>
            <p:cNvPr id="6" name="Line 6"/>
            <p:cNvSpPr/>
            <p:nvPr/>
          </p:nvSpPr>
          <p:spPr>
            <a:xfrm>
              <a:off x="2457450" y="3162300"/>
              <a:ext cx="342900" cy="1"/>
            </a:xfrm>
            <a:prstGeom prst="line">
              <a:avLst/>
            </a:prstGeom>
            <a:noFill/>
            <a:ln w="38100">
              <a:solidFill>
                <a:schemeClr val="accent2"/>
              </a:solidFill>
              <a:tailEnd type="triangle" w="lg" len="lg"/>
            </a:ln>
          </p:spPr>
        </p:sp>
        <p:sp>
          <p:nvSpPr>
            <p:cNvPr id="7" name="Line 7"/>
            <p:cNvSpPr/>
            <p:nvPr/>
          </p:nvSpPr>
          <p:spPr>
            <a:xfrm>
              <a:off x="5105400" y="3162300"/>
              <a:ext cx="342900" cy="1"/>
            </a:xfrm>
            <a:prstGeom prst="line">
              <a:avLst/>
            </a:prstGeom>
            <a:noFill/>
            <a:ln w="38100">
              <a:solidFill>
                <a:schemeClr val="accent2"/>
              </a:solidFill>
              <a:tailEnd type="triangle" w="lg" len="lg"/>
            </a:ln>
          </p:spPr>
        </p:sp>
        <p:sp>
          <p:nvSpPr>
            <p:cNvPr id="8" name="Line 8"/>
            <p:cNvSpPr/>
            <p:nvPr/>
          </p:nvSpPr>
          <p:spPr>
            <a:xfrm>
              <a:off x="7181850" y="3162300"/>
              <a:ext cx="342900" cy="1"/>
            </a:xfrm>
            <a:prstGeom prst="line">
              <a:avLst/>
            </a:prstGeom>
            <a:noFill/>
            <a:ln w="38100">
              <a:solidFill>
                <a:schemeClr val="accent2"/>
              </a:solidFill>
              <a:tailEnd type="triangle" w="lg" len="lg"/>
            </a:ln>
          </p:spPr>
        </p:sp>
        <p:sp>
          <p:nvSpPr>
            <p:cNvPr id="9" name="Line 9"/>
            <p:cNvSpPr/>
            <p:nvPr/>
          </p:nvSpPr>
          <p:spPr>
            <a:xfrm>
              <a:off x="9639300" y="3162300"/>
              <a:ext cx="342900" cy="1"/>
            </a:xfrm>
            <a:prstGeom prst="line">
              <a:avLst/>
            </a:prstGeom>
            <a:noFill/>
            <a:ln w="38100">
              <a:solidFill>
                <a:schemeClr val="accent2"/>
              </a:solidFill>
              <a:tailEnd type="triangle" w="lg" len="lg"/>
            </a:ln>
          </p:spPr>
        </p:sp>
        <p:sp>
          <p:nvSpPr>
            <p:cNvPr id="10" name="Rectangle 10"/>
            <p:cNvSpPr/>
            <p:nvPr/>
          </p:nvSpPr>
          <p:spPr>
            <a:xfrm>
              <a:off x="685800" y="2343150"/>
              <a:ext cx="1771650" cy="1638300"/>
            </a:xfrm>
            <a:prstGeom prst="roundRect">
              <a:avLst>
                <a:gd name="adj" fmla="val 4651"/>
              </a:avLst>
            </a:prstGeom>
            <a:solidFill>
              <a:schemeClr val="lt2"/>
            </a:solidFill>
            <a:ln w="19050">
              <a:solidFill>
                <a:schemeClr val="accent3"/>
              </a:solidFill>
            </a:ln>
          </p:spPr>
        </p:sp>
        <p:grpSp>
          <p:nvGrpSpPr>
            <p:cNvPr id="15" name="Group 15"/>
            <p:cNvGrpSpPr/>
            <p:nvPr/>
          </p:nvGrpSpPr>
          <p:grpSpPr>
            <a:xfrm>
              <a:off x="1427163" y="2633663"/>
              <a:ext cx="288925" cy="371476"/>
              <a:chOff x="1427163" y="2633663"/>
              <a:chExt cx="288925" cy="371476"/>
            </a:xfrm>
          </p:grpSpPr>
          <p:sp>
            <p:nvSpPr>
              <p:cNvPr id="11" name="Freeform 11"/>
              <p:cNvSpPr/>
              <p:nvPr/>
            </p:nvSpPr>
            <p:spPr>
              <a:xfrm>
                <a:off x="1612900" y="2633663"/>
                <a:ext cx="103188" cy="103188"/>
              </a:xfrm>
              <a:custGeom>
                <a:avLst/>
                <a:gdLst/>
                <a:ahLst/>
                <a:cxnLst/>
                <a:rect l="l" t="t" r="r" b="b"/>
                <a:pathLst>
                  <a:path w="103188" h="103188">
                    <a:moveTo>
                      <a:pt x="0" y="0"/>
                    </a:moveTo>
                    <a:lnTo>
                      <a:pt x="0" y="82550"/>
                    </a:lnTo>
                    <a:cubicBezTo>
                      <a:pt x="0" y="93948"/>
                      <a:pt x="9240" y="103188"/>
                      <a:pt x="20638" y="103188"/>
                    </a:cubicBezTo>
                    <a:lnTo>
                      <a:pt x="103188" y="103188"/>
                    </a:lnTo>
                  </a:path>
                </a:pathLst>
              </a:custGeom>
              <a:noFill/>
              <a:ln w="41275">
                <a:solidFill>
                  <a:schemeClr val="accent3"/>
                </a:solidFill>
              </a:ln>
            </p:spPr>
          </p:sp>
          <p:sp>
            <p:nvSpPr>
              <p:cNvPr id="12" name="Freeform 12"/>
              <p:cNvSpPr/>
              <p:nvPr/>
            </p:nvSpPr>
            <p:spPr>
              <a:xfrm>
                <a:off x="1427163" y="2633663"/>
                <a:ext cx="288925" cy="371476"/>
              </a:xfrm>
              <a:custGeom>
                <a:avLst/>
                <a:gdLst/>
                <a:ahLst/>
                <a:cxnLst/>
                <a:rect l="l" t="t" r="r" b="b"/>
                <a:pathLst>
                  <a:path w="288925" h="371476">
                    <a:moveTo>
                      <a:pt x="247650" y="371476"/>
                    </a:moveTo>
                    <a:lnTo>
                      <a:pt x="41275" y="371476"/>
                    </a:lnTo>
                    <a:cubicBezTo>
                      <a:pt x="18479" y="371476"/>
                      <a:pt x="0" y="352996"/>
                      <a:pt x="0" y="330201"/>
                    </a:cubicBezTo>
                    <a:lnTo>
                      <a:pt x="0" y="41275"/>
                    </a:lnTo>
                    <a:cubicBezTo>
                      <a:pt x="0" y="18479"/>
                      <a:pt x="18479" y="0"/>
                      <a:pt x="41275" y="0"/>
                    </a:cubicBezTo>
                    <a:lnTo>
                      <a:pt x="185738" y="0"/>
                    </a:lnTo>
                    <a:lnTo>
                      <a:pt x="288925" y="103188"/>
                    </a:lnTo>
                    <a:lnTo>
                      <a:pt x="288925" y="330201"/>
                    </a:lnTo>
                    <a:cubicBezTo>
                      <a:pt x="288925" y="352996"/>
                      <a:pt x="270446" y="371476"/>
                      <a:pt x="247650" y="371476"/>
                    </a:cubicBezTo>
                  </a:path>
                </a:pathLst>
              </a:custGeom>
              <a:noFill/>
              <a:ln w="41275">
                <a:solidFill>
                  <a:schemeClr val="accent3"/>
                </a:solidFill>
              </a:ln>
            </p:spPr>
          </p:sp>
          <p:sp>
            <p:nvSpPr>
              <p:cNvPr id="13" name="Freeform 13"/>
              <p:cNvSpPr/>
              <p:nvPr/>
            </p:nvSpPr>
            <p:spPr>
              <a:xfrm>
                <a:off x="1509713" y="2840038"/>
                <a:ext cx="20638" cy="82550"/>
              </a:xfrm>
              <a:custGeom>
                <a:avLst/>
                <a:gdLst/>
                <a:ahLst/>
                <a:cxnLst/>
                <a:rect l="l" t="t" r="r" b="b"/>
                <a:pathLst>
                  <a:path w="20638" h="82550">
                    <a:moveTo>
                      <a:pt x="20638" y="0"/>
                    </a:moveTo>
                    <a:lnTo>
                      <a:pt x="0" y="41275"/>
                    </a:lnTo>
                    <a:lnTo>
                      <a:pt x="20638" y="82550"/>
                    </a:lnTo>
                  </a:path>
                </a:pathLst>
              </a:custGeom>
              <a:noFill/>
              <a:ln w="41275">
                <a:solidFill>
                  <a:schemeClr val="accent3"/>
                </a:solidFill>
              </a:ln>
            </p:spPr>
          </p:sp>
          <p:sp>
            <p:nvSpPr>
              <p:cNvPr id="14" name="Freeform 14"/>
              <p:cNvSpPr/>
              <p:nvPr/>
            </p:nvSpPr>
            <p:spPr>
              <a:xfrm>
                <a:off x="1612900" y="2840038"/>
                <a:ext cx="20638" cy="82550"/>
              </a:xfrm>
              <a:custGeom>
                <a:avLst/>
                <a:gdLst/>
                <a:ahLst/>
                <a:cxnLst/>
                <a:rect l="l" t="t" r="r" b="b"/>
                <a:pathLst>
                  <a:path w="20638" h="82550">
                    <a:moveTo>
                      <a:pt x="0" y="0"/>
                    </a:moveTo>
                    <a:lnTo>
                      <a:pt x="20638" y="41275"/>
                    </a:lnTo>
                    <a:lnTo>
                      <a:pt x="0" y="82550"/>
                    </a:lnTo>
                  </a:path>
                </a:pathLst>
              </a:custGeom>
              <a:noFill/>
              <a:ln w="41275">
                <a:solidFill>
                  <a:schemeClr val="accent3"/>
                </a:solidFill>
              </a:ln>
            </p:spPr>
          </p:sp>
        </p:grpSp>
        <p:sp>
          <p:nvSpPr>
            <p:cNvPr id="16" name="TextBox 16"/>
            <p:cNvSpPr txBox="1"/>
            <p:nvPr/>
          </p:nvSpPr>
          <p:spPr>
            <a:xfrm>
              <a:off x="820452" y="3177540"/>
              <a:ext cx="1502345"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Host source</a:t>
              </a:r>
            </a:p>
          </p:txBody>
        </p:sp>
        <p:sp>
          <p:nvSpPr>
            <p:cNvPr id="17" name="TextBox 17"/>
            <p:cNvSpPr txBox="1"/>
            <p:nvPr/>
          </p:nvSpPr>
          <p:spPr>
            <a:xfrm>
              <a:off x="1082307" y="3569018"/>
              <a:ext cx="978637"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Cascadia Mono"/>
                  <a:ea typeface="Cascadia Mono"/>
                  <a:cs typeface="Cascadia Mono"/>
                </a:rPr>
                <a:t>TypeScript</a:t>
              </a:r>
            </a:p>
          </p:txBody>
        </p:sp>
        <p:sp>
          <p:nvSpPr>
            <p:cNvPr id="18" name="Rectangle 18"/>
            <p:cNvSpPr/>
            <p:nvPr/>
          </p:nvSpPr>
          <p:spPr>
            <a:xfrm>
              <a:off x="2800350" y="2038350"/>
              <a:ext cx="2305050" cy="2247900"/>
            </a:xfrm>
            <a:prstGeom prst="roundRect">
              <a:avLst>
                <a:gd name="adj" fmla="val 4237"/>
              </a:avLst>
            </a:prstGeom>
            <a:solidFill>
              <a:schemeClr val="accent1"/>
            </a:solidFill>
            <a:ln w="28575">
              <a:solidFill>
                <a:schemeClr val="accent2"/>
              </a:solidFill>
            </a:ln>
          </p:spPr>
        </p:sp>
        <p:grpSp>
          <p:nvGrpSpPr>
            <p:cNvPr id="22" name="Group 22"/>
            <p:cNvGrpSpPr/>
            <p:nvPr/>
          </p:nvGrpSpPr>
          <p:grpSpPr>
            <a:xfrm>
              <a:off x="3767138" y="2330450"/>
              <a:ext cx="371475" cy="330201"/>
              <a:chOff x="3767138" y="2330450"/>
              <a:chExt cx="371475" cy="330201"/>
            </a:xfrm>
          </p:grpSpPr>
          <p:sp>
            <p:nvSpPr>
              <p:cNvPr id="19" name="Freeform 19"/>
              <p:cNvSpPr/>
              <p:nvPr/>
            </p:nvSpPr>
            <p:spPr>
              <a:xfrm>
                <a:off x="3767138" y="2413000"/>
                <a:ext cx="82550" cy="165100"/>
              </a:xfrm>
              <a:custGeom>
                <a:avLst/>
                <a:gdLst/>
                <a:ahLst/>
                <a:cxnLst/>
                <a:rect l="l" t="t" r="r" b="b"/>
                <a:pathLst>
                  <a:path w="82550" h="165100">
                    <a:moveTo>
                      <a:pt x="82550" y="0"/>
                    </a:moveTo>
                    <a:lnTo>
                      <a:pt x="0" y="82550"/>
                    </a:lnTo>
                    <a:lnTo>
                      <a:pt x="82550" y="165100"/>
                    </a:lnTo>
                  </a:path>
                </a:pathLst>
              </a:custGeom>
              <a:noFill/>
              <a:ln w="41275">
                <a:solidFill>
                  <a:srgbClr val="F7FAFC"/>
                </a:solidFill>
              </a:ln>
            </p:spPr>
          </p:sp>
          <p:sp>
            <p:nvSpPr>
              <p:cNvPr id="20" name="Freeform 20"/>
              <p:cNvSpPr/>
              <p:nvPr/>
            </p:nvSpPr>
            <p:spPr>
              <a:xfrm>
                <a:off x="4056063" y="2413000"/>
                <a:ext cx="82550" cy="165100"/>
              </a:xfrm>
              <a:custGeom>
                <a:avLst/>
                <a:gdLst/>
                <a:ahLst/>
                <a:cxnLst/>
                <a:rect l="l" t="t" r="r" b="b"/>
                <a:pathLst>
                  <a:path w="82550" h="165100">
                    <a:moveTo>
                      <a:pt x="0" y="0"/>
                    </a:moveTo>
                    <a:lnTo>
                      <a:pt x="82550" y="82550"/>
                    </a:lnTo>
                    <a:lnTo>
                      <a:pt x="0" y="165100"/>
                    </a:lnTo>
                  </a:path>
                </a:pathLst>
              </a:custGeom>
              <a:noFill/>
              <a:ln w="41275">
                <a:solidFill>
                  <a:srgbClr val="F7FAFC"/>
                </a:solidFill>
              </a:ln>
            </p:spPr>
          </p:sp>
          <p:sp>
            <p:nvSpPr>
              <p:cNvPr id="21" name="Freeform 21"/>
              <p:cNvSpPr/>
              <p:nvPr/>
            </p:nvSpPr>
            <p:spPr>
              <a:xfrm>
                <a:off x="3911600" y="2330450"/>
                <a:ext cx="82550" cy="330201"/>
              </a:xfrm>
              <a:custGeom>
                <a:avLst/>
                <a:gdLst/>
                <a:ahLst/>
                <a:cxnLst/>
                <a:rect l="l" t="t" r="r" b="b"/>
                <a:pathLst>
                  <a:path w="82550" h="330201">
                    <a:moveTo>
                      <a:pt x="82550" y="0"/>
                    </a:moveTo>
                    <a:lnTo>
                      <a:pt x="0" y="330201"/>
                    </a:lnTo>
                  </a:path>
                </a:pathLst>
              </a:custGeom>
              <a:noFill/>
              <a:ln w="41275">
                <a:solidFill>
                  <a:srgbClr val="F7FAFC"/>
                </a:solidFill>
              </a:ln>
            </p:spPr>
          </p:sp>
        </p:grpSp>
        <p:sp>
          <p:nvSpPr>
            <p:cNvPr id="23" name="TextBox 23"/>
            <p:cNvSpPr txBox="1"/>
            <p:nvPr/>
          </p:nvSpPr>
          <p:spPr>
            <a:xfrm>
              <a:off x="3375652" y="2827020"/>
              <a:ext cx="1154445" cy="469392"/>
            </a:xfrm>
            <a:prstGeom prst="rect">
              <a:avLst/>
            </a:prstGeom>
            <a:noFill/>
            <a:ln>
              <a:noFill/>
            </a:ln>
          </p:spPr>
          <p:txBody>
            <a:bodyPr wrap="none" lIns="0" tIns="0" rIns="0" bIns="0" anchor="t" anchorCtr="0">
              <a:spAutoFit/>
            </a:bodyPr>
            <a:lstStyle/>
            <a:p>
              <a:pPr algn="ctr"/>
              <a:r>
                <a:rPr lang="en-US" sz="2400" b="1" dirty="0">
                  <a:solidFill>
                    <a:srgbClr val="F7FAFC"/>
                  </a:solidFill>
                  <a:latin typeface="+mn-lt"/>
                  <a:ea typeface="+mn-ea"/>
                  <a:cs typeface="+mn-cs"/>
                </a:rPr>
                <a:t>Typert</a:t>
              </a:r>
            </a:p>
          </p:txBody>
        </p:sp>
        <p:sp>
          <p:nvSpPr>
            <p:cNvPr id="24" name="Rectangle 24"/>
            <p:cNvSpPr/>
            <p:nvPr/>
          </p:nvSpPr>
          <p:spPr>
            <a:xfrm>
              <a:off x="3028950" y="3333750"/>
              <a:ext cx="552450" cy="552450"/>
            </a:xfrm>
            <a:prstGeom prst="roundRect">
              <a:avLst>
                <a:gd name="adj" fmla="val 8621"/>
              </a:avLst>
            </a:prstGeom>
            <a:solidFill>
              <a:srgbClr val="26385E"/>
            </a:solidFill>
            <a:ln w="9525">
              <a:solidFill>
                <a:schemeClr val="accent3"/>
              </a:solidFill>
            </a:ln>
          </p:spPr>
        </p:sp>
        <p:sp>
          <p:nvSpPr>
            <p:cNvPr id="25" name="Rectangle 25"/>
            <p:cNvSpPr/>
            <p:nvPr/>
          </p:nvSpPr>
          <p:spPr>
            <a:xfrm>
              <a:off x="3676650" y="3333750"/>
              <a:ext cx="552450" cy="552450"/>
            </a:xfrm>
            <a:prstGeom prst="roundRect">
              <a:avLst>
                <a:gd name="adj" fmla="val 8621"/>
              </a:avLst>
            </a:prstGeom>
            <a:solidFill>
              <a:srgbClr val="26385E"/>
            </a:solidFill>
            <a:ln w="9525">
              <a:solidFill>
                <a:schemeClr val="accent3"/>
              </a:solidFill>
            </a:ln>
          </p:spPr>
        </p:sp>
        <p:sp>
          <p:nvSpPr>
            <p:cNvPr id="26" name="Rectangle 26"/>
            <p:cNvSpPr/>
            <p:nvPr/>
          </p:nvSpPr>
          <p:spPr>
            <a:xfrm>
              <a:off x="4324350" y="3333750"/>
              <a:ext cx="552450" cy="552450"/>
            </a:xfrm>
            <a:prstGeom prst="roundRect">
              <a:avLst>
                <a:gd name="adj" fmla="val 8621"/>
              </a:avLst>
            </a:prstGeom>
            <a:solidFill>
              <a:srgbClr val="26385E"/>
            </a:solidFill>
            <a:ln w="9525">
              <a:solidFill>
                <a:schemeClr val="accent3"/>
              </a:solidFill>
            </a:ln>
          </p:spPr>
        </p:sp>
        <p:sp>
          <p:nvSpPr>
            <p:cNvPr id="27" name="TextBox 27"/>
            <p:cNvSpPr txBox="1"/>
            <p:nvPr/>
          </p:nvSpPr>
          <p:spPr>
            <a:xfrm>
              <a:off x="3005948" y="3537585"/>
              <a:ext cx="598453" cy="234696"/>
            </a:xfrm>
            <a:prstGeom prst="rect">
              <a:avLst/>
            </a:prstGeom>
            <a:noFill/>
            <a:ln>
              <a:noFill/>
            </a:ln>
          </p:spPr>
          <p:txBody>
            <a:bodyPr wrap="none" lIns="0" tIns="0" rIns="0" bIns="0" anchor="t" anchorCtr="0">
              <a:spAutoFit/>
            </a:bodyPr>
            <a:lstStyle/>
            <a:p>
              <a:pPr algn="ctr"/>
              <a:r>
                <a:rPr lang="en-US" sz="1200" dirty="0">
                  <a:solidFill>
                    <a:srgbClr val="F7FAFC"/>
                  </a:solidFill>
                  <a:latin typeface="+mn-lt"/>
                  <a:ea typeface="+mn-ea"/>
                  <a:cs typeface="+mn-cs"/>
                </a:rPr>
                <a:t>Analyze</a:t>
              </a:r>
            </a:p>
          </p:txBody>
        </p:sp>
        <p:sp>
          <p:nvSpPr>
            <p:cNvPr id="28" name="TextBox 28"/>
            <p:cNvSpPr txBox="1"/>
            <p:nvPr/>
          </p:nvSpPr>
          <p:spPr>
            <a:xfrm>
              <a:off x="3726226" y="3537585"/>
              <a:ext cx="453299" cy="234696"/>
            </a:xfrm>
            <a:prstGeom prst="rect">
              <a:avLst/>
            </a:prstGeom>
            <a:noFill/>
            <a:ln>
              <a:noFill/>
            </a:ln>
          </p:spPr>
          <p:txBody>
            <a:bodyPr wrap="none" lIns="0" tIns="0" rIns="0" bIns="0" anchor="t" anchorCtr="0">
              <a:spAutoFit/>
            </a:bodyPr>
            <a:lstStyle/>
            <a:p>
              <a:pPr algn="ctr"/>
              <a:r>
                <a:rPr lang="en-US" sz="1200" dirty="0">
                  <a:solidFill>
                    <a:srgbClr val="F7FAFC"/>
                  </a:solidFill>
                  <a:latin typeface="+mn-lt"/>
                  <a:ea typeface="+mn-ea"/>
                  <a:cs typeface="+mn-cs"/>
                </a:rPr>
                <a:t>Model</a:t>
              </a:r>
            </a:p>
          </p:txBody>
        </p:sp>
        <p:sp>
          <p:nvSpPr>
            <p:cNvPr id="29" name="TextBox 29"/>
            <p:cNvSpPr txBox="1"/>
            <p:nvPr/>
          </p:nvSpPr>
          <p:spPr>
            <a:xfrm>
              <a:off x="4418362" y="3537585"/>
              <a:ext cx="364427" cy="234696"/>
            </a:xfrm>
            <a:prstGeom prst="rect">
              <a:avLst/>
            </a:prstGeom>
            <a:noFill/>
            <a:ln>
              <a:noFill/>
            </a:ln>
          </p:spPr>
          <p:txBody>
            <a:bodyPr wrap="none" lIns="0" tIns="0" rIns="0" bIns="0" anchor="t" anchorCtr="0">
              <a:spAutoFit/>
            </a:bodyPr>
            <a:lstStyle/>
            <a:p>
              <a:pPr algn="ctr"/>
              <a:r>
                <a:rPr lang="en-US" sz="1200" dirty="0">
                  <a:solidFill>
                    <a:srgbClr val="F7FAFC"/>
                  </a:solidFill>
                  <a:latin typeface="+mn-lt"/>
                  <a:ea typeface="+mn-ea"/>
                  <a:cs typeface="+mn-cs"/>
                </a:rPr>
                <a:t>Emit</a:t>
              </a:r>
            </a:p>
          </p:txBody>
        </p:sp>
        <p:sp>
          <p:nvSpPr>
            <p:cNvPr id="30" name="TextBox 30"/>
            <p:cNvSpPr txBox="1"/>
            <p:nvPr/>
          </p:nvSpPr>
          <p:spPr>
            <a:xfrm>
              <a:off x="2723836" y="3988118"/>
              <a:ext cx="2458079" cy="264033"/>
            </a:xfrm>
            <a:prstGeom prst="rect">
              <a:avLst/>
            </a:prstGeom>
            <a:noFill/>
            <a:ln>
              <a:noFill/>
            </a:ln>
          </p:spPr>
          <p:txBody>
            <a:bodyPr wrap="none" lIns="0" tIns="0" rIns="0" bIns="0" anchor="t" anchorCtr="0">
              <a:spAutoFit/>
            </a:bodyPr>
            <a:lstStyle/>
            <a:p>
              <a:pPr algn="ctr"/>
              <a:r>
                <a:rPr lang="en-US" sz="1350" dirty="0">
                  <a:solidFill>
                    <a:srgbClr val="B9F4F7"/>
                  </a:solidFill>
                  <a:latin typeface="+mn-lt"/>
                  <a:ea typeface="+mn-ea"/>
                  <a:cs typeface="+mn-cs"/>
                </a:rPr>
                <a:t>compiler-independent model</a:t>
              </a:r>
            </a:p>
          </p:txBody>
        </p:sp>
        <p:sp>
          <p:nvSpPr>
            <p:cNvPr id="31" name="Rectangle 31"/>
            <p:cNvSpPr/>
            <p:nvPr/>
          </p:nvSpPr>
          <p:spPr>
            <a:xfrm>
              <a:off x="5448300" y="2343150"/>
              <a:ext cx="1733550" cy="1638300"/>
            </a:xfrm>
            <a:prstGeom prst="roundRect">
              <a:avLst>
                <a:gd name="adj" fmla="val 4651"/>
              </a:avLst>
            </a:prstGeom>
            <a:solidFill>
              <a:schemeClr val="lt2"/>
            </a:solidFill>
            <a:ln w="19050">
              <a:solidFill>
                <a:schemeClr val="accent3"/>
              </a:solidFill>
            </a:ln>
          </p:spPr>
        </p:sp>
        <p:sp>
          <p:nvSpPr>
            <p:cNvPr id="32" name="TextBox 32"/>
            <p:cNvSpPr txBox="1"/>
            <p:nvPr/>
          </p:nvSpPr>
          <p:spPr>
            <a:xfrm>
              <a:off x="5716597" y="2586990"/>
              <a:ext cx="1196955"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Metadata</a:t>
              </a:r>
            </a:p>
          </p:txBody>
        </p:sp>
        <p:sp>
          <p:nvSpPr>
            <p:cNvPr id="33" name="TextBox 33"/>
            <p:cNvSpPr txBox="1"/>
            <p:nvPr/>
          </p:nvSpPr>
          <p:spPr>
            <a:xfrm>
              <a:off x="5544922" y="3035618"/>
              <a:ext cx="1540307"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remote metadata</a:t>
              </a:r>
            </a:p>
          </p:txBody>
        </p:sp>
        <p:sp>
          <p:nvSpPr>
            <p:cNvPr id="34" name="TextBox 34"/>
            <p:cNvSpPr txBox="1"/>
            <p:nvPr/>
          </p:nvSpPr>
          <p:spPr>
            <a:xfrm>
              <a:off x="5853874" y="3340418"/>
              <a:ext cx="922401"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reflection</a:t>
              </a:r>
            </a:p>
          </p:txBody>
        </p:sp>
        <p:sp>
          <p:nvSpPr>
            <p:cNvPr id="35" name="TextBox 35"/>
            <p:cNvSpPr txBox="1"/>
            <p:nvPr/>
          </p:nvSpPr>
          <p:spPr>
            <a:xfrm>
              <a:off x="5759920" y="3645218"/>
              <a:ext cx="111031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Zod schemas</a:t>
              </a:r>
            </a:p>
          </p:txBody>
        </p:sp>
        <p:sp>
          <p:nvSpPr>
            <p:cNvPr id="36" name="Rectangle 36"/>
            <p:cNvSpPr/>
            <p:nvPr/>
          </p:nvSpPr>
          <p:spPr>
            <a:xfrm>
              <a:off x="7524750" y="2343150"/>
              <a:ext cx="2114550" cy="1638300"/>
            </a:xfrm>
            <a:prstGeom prst="roundRect">
              <a:avLst>
                <a:gd name="adj" fmla="val 4651"/>
              </a:avLst>
            </a:prstGeom>
            <a:solidFill>
              <a:schemeClr val="lt2"/>
            </a:solidFill>
            <a:ln w="19050">
              <a:solidFill>
                <a:schemeClr val="accent3"/>
              </a:solidFill>
            </a:ln>
          </p:spPr>
        </p:sp>
        <p:grpSp>
          <p:nvGrpSpPr>
            <p:cNvPr id="45" name="Group 45"/>
            <p:cNvGrpSpPr/>
            <p:nvPr/>
          </p:nvGrpSpPr>
          <p:grpSpPr>
            <a:xfrm>
              <a:off x="7803356" y="2621756"/>
              <a:ext cx="300037" cy="316707"/>
              <a:chOff x="7803356" y="2621756"/>
              <a:chExt cx="300037" cy="316707"/>
            </a:xfrm>
          </p:grpSpPr>
          <p:sp>
            <p:nvSpPr>
              <p:cNvPr id="37" name="Freeform 37"/>
              <p:cNvSpPr/>
              <p:nvPr/>
            </p:nvSpPr>
            <p:spPr>
              <a:xfrm>
                <a:off x="7853362" y="2621756"/>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33338">
                <a:solidFill>
                  <a:schemeClr val="accent3"/>
                </a:solidFill>
              </a:ln>
            </p:spPr>
          </p:sp>
          <p:sp>
            <p:nvSpPr>
              <p:cNvPr id="38" name="Freeform 38"/>
              <p:cNvSpPr/>
              <p:nvPr/>
            </p:nvSpPr>
            <p:spPr>
              <a:xfrm>
                <a:off x="7953375" y="2621756"/>
                <a:ext cx="33338" cy="200025"/>
              </a:xfrm>
              <a:custGeom>
                <a:avLst/>
                <a:gdLst/>
                <a:ahLst/>
                <a:cxnLst/>
                <a:rect l="l" t="t" r="r" b="b"/>
                <a:pathLst>
                  <a:path w="33338" h="200025">
                    <a:moveTo>
                      <a:pt x="0" y="0"/>
                    </a:moveTo>
                    <a:cubicBezTo>
                      <a:pt x="22219" y="5551"/>
                      <a:pt x="33338" y="38888"/>
                      <a:pt x="33338" y="100012"/>
                    </a:cubicBezTo>
                    <a:cubicBezTo>
                      <a:pt x="33338" y="161137"/>
                      <a:pt x="22219" y="194474"/>
                      <a:pt x="0" y="200025"/>
                    </a:cubicBezTo>
                  </a:path>
                </a:pathLst>
              </a:custGeom>
              <a:noFill/>
              <a:ln w="33338">
                <a:solidFill>
                  <a:schemeClr val="accent3"/>
                </a:solidFill>
              </a:ln>
            </p:spPr>
          </p:sp>
          <p:sp>
            <p:nvSpPr>
              <p:cNvPr id="39" name="Freeform 39"/>
              <p:cNvSpPr/>
              <p:nvPr/>
            </p:nvSpPr>
            <p:spPr>
              <a:xfrm>
                <a:off x="7920038" y="2621756"/>
                <a:ext cx="33338" cy="200025"/>
              </a:xfrm>
              <a:custGeom>
                <a:avLst/>
                <a:gdLst/>
                <a:ahLst/>
                <a:cxnLst/>
                <a:rect l="l" t="t" r="r" b="b"/>
                <a:pathLst>
                  <a:path w="33338" h="200025">
                    <a:moveTo>
                      <a:pt x="33338" y="0"/>
                    </a:moveTo>
                    <a:cubicBezTo>
                      <a:pt x="11118" y="5551"/>
                      <a:pt x="0" y="38888"/>
                      <a:pt x="0" y="100012"/>
                    </a:cubicBezTo>
                    <a:cubicBezTo>
                      <a:pt x="0" y="161137"/>
                      <a:pt x="11118" y="194474"/>
                      <a:pt x="33338" y="200025"/>
                    </a:cubicBezTo>
                  </a:path>
                </a:pathLst>
              </a:custGeom>
              <a:noFill/>
              <a:ln w="33338">
                <a:solidFill>
                  <a:schemeClr val="accent3"/>
                </a:solidFill>
              </a:ln>
            </p:spPr>
          </p:sp>
          <p:sp>
            <p:nvSpPr>
              <p:cNvPr id="40" name="Freeform 40"/>
              <p:cNvSpPr/>
              <p:nvPr/>
            </p:nvSpPr>
            <p:spPr>
              <a:xfrm>
                <a:off x="7853362" y="2721769"/>
                <a:ext cx="200025" cy="9525"/>
              </a:xfrm>
              <a:custGeom>
                <a:avLst/>
                <a:gdLst/>
                <a:ahLst/>
                <a:cxnLst/>
                <a:rect l="l" t="t" r="r" b="b"/>
                <a:pathLst>
                  <a:path w="200025" h="9525">
                    <a:moveTo>
                      <a:pt x="0" y="0"/>
                    </a:moveTo>
                    <a:lnTo>
                      <a:pt x="200025" y="0"/>
                    </a:lnTo>
                  </a:path>
                </a:pathLst>
              </a:custGeom>
              <a:noFill/>
              <a:ln w="33338">
                <a:solidFill>
                  <a:schemeClr val="accent3"/>
                </a:solidFill>
              </a:ln>
            </p:spPr>
          </p:sp>
          <p:sp>
            <p:nvSpPr>
              <p:cNvPr id="41" name="Freeform 41"/>
              <p:cNvSpPr/>
              <p:nvPr/>
            </p:nvSpPr>
            <p:spPr>
              <a:xfrm>
                <a:off x="7803356" y="2905125"/>
                <a:ext cx="116681" cy="9525"/>
              </a:xfrm>
              <a:custGeom>
                <a:avLst/>
                <a:gdLst/>
                <a:ahLst/>
                <a:cxnLst/>
                <a:rect l="l" t="t" r="r" b="b"/>
                <a:pathLst>
                  <a:path w="116681" h="9525">
                    <a:moveTo>
                      <a:pt x="0" y="0"/>
                    </a:moveTo>
                    <a:lnTo>
                      <a:pt x="116681" y="0"/>
                    </a:lnTo>
                  </a:path>
                </a:pathLst>
              </a:custGeom>
              <a:noFill/>
              <a:ln w="33338">
                <a:solidFill>
                  <a:schemeClr val="accent3"/>
                </a:solidFill>
              </a:ln>
            </p:spPr>
          </p:sp>
          <p:sp>
            <p:nvSpPr>
              <p:cNvPr id="42" name="Freeform 42"/>
              <p:cNvSpPr/>
              <p:nvPr/>
            </p:nvSpPr>
            <p:spPr>
              <a:xfrm>
                <a:off x="7986712" y="2905125"/>
                <a:ext cx="116681" cy="9525"/>
              </a:xfrm>
              <a:custGeom>
                <a:avLst/>
                <a:gdLst/>
                <a:ahLst/>
                <a:cxnLst/>
                <a:rect l="l" t="t" r="r" b="b"/>
                <a:pathLst>
                  <a:path w="116681" h="9525">
                    <a:moveTo>
                      <a:pt x="0" y="0"/>
                    </a:moveTo>
                    <a:lnTo>
                      <a:pt x="116681" y="0"/>
                    </a:lnTo>
                  </a:path>
                </a:pathLst>
              </a:custGeom>
              <a:noFill/>
              <a:ln w="33338">
                <a:solidFill>
                  <a:schemeClr val="accent3"/>
                </a:solidFill>
              </a:ln>
            </p:spPr>
          </p:sp>
          <p:sp>
            <p:nvSpPr>
              <p:cNvPr id="43" name="Freeform 43"/>
              <p:cNvSpPr/>
              <p:nvPr/>
            </p:nvSpPr>
            <p:spPr>
              <a:xfrm>
                <a:off x="7920038" y="2871788"/>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33338">
                <a:solidFill>
                  <a:schemeClr val="accent3"/>
                </a:solidFill>
              </a:ln>
            </p:spPr>
          </p:sp>
          <p:sp>
            <p:nvSpPr>
              <p:cNvPr id="44" name="Freeform 44"/>
              <p:cNvSpPr/>
              <p:nvPr/>
            </p:nvSpPr>
            <p:spPr>
              <a:xfrm>
                <a:off x="7953375" y="2821781"/>
                <a:ext cx="9525" cy="50006"/>
              </a:xfrm>
              <a:custGeom>
                <a:avLst/>
                <a:gdLst/>
                <a:ahLst/>
                <a:cxnLst/>
                <a:rect l="l" t="t" r="r" b="b"/>
                <a:pathLst>
                  <a:path w="9525" h="50006">
                    <a:moveTo>
                      <a:pt x="0" y="0"/>
                    </a:moveTo>
                    <a:lnTo>
                      <a:pt x="0" y="50006"/>
                    </a:lnTo>
                  </a:path>
                </a:pathLst>
              </a:custGeom>
              <a:noFill/>
              <a:ln w="33338">
                <a:solidFill>
                  <a:schemeClr val="accent3"/>
                </a:solidFill>
              </a:ln>
            </p:spPr>
          </p:sp>
        </p:grpSp>
        <p:sp>
          <p:nvSpPr>
            <p:cNvPr id="46" name="TextBox 46"/>
            <p:cNvSpPr txBox="1"/>
            <p:nvPr/>
          </p:nvSpPr>
          <p:spPr>
            <a:xfrm>
              <a:off x="8354568" y="2546032"/>
              <a:ext cx="1116902" cy="570357"/>
            </a:xfrm>
            <a:prstGeom prst="rect">
              <a:avLst/>
            </a:prstGeom>
            <a:noFill/>
            <a:ln>
              <a:noFill/>
            </a:ln>
          </p:spPr>
          <p:txBody>
            <a:bodyPr wrap="none" lIns="0" tIns="0" rIns="0" bIns="0" anchor="t" anchorCtr="0">
              <a:spAutoFit/>
            </a:bodyPr>
            <a:lstStyle/>
            <a:p>
              <a:pPr algn="l">
                <a:lnSpc>
                  <a:spcPts val="1950"/>
                </a:lnSpc>
              </a:pPr>
              <a:r>
                <a:rPr lang="en-US" sz="1650" b="1" dirty="0">
                  <a:solidFill>
                    <a:schemeClr val="accent1"/>
                  </a:solidFill>
                  <a:latin typeface="+mn-lt"/>
                  <a:ea typeface="+mn-ea"/>
                  <a:cs typeface="+mn-cs"/>
                </a:rPr>
                <a:t>Registry /</a:t>
              </a:r>
              <a:br/>
              <a:r>
                <a:rPr lang="en-US" sz="1650" b="1" dirty="0">
                  <a:solidFill>
                    <a:schemeClr val="accent1"/>
                  </a:solidFill>
                  <a:latin typeface="+mn-lt"/>
                  <a:ea typeface="+mn-ea"/>
                  <a:cs typeface="+mn-cs"/>
                </a:rPr>
                <a:t>gateway</a:t>
              </a:r>
            </a:p>
          </p:txBody>
        </p:sp>
        <p:sp>
          <p:nvSpPr>
            <p:cNvPr id="47" name="TextBox 47"/>
            <p:cNvSpPr txBox="1"/>
            <p:nvPr/>
          </p:nvSpPr>
          <p:spPr>
            <a:xfrm>
              <a:off x="7747254" y="3204210"/>
              <a:ext cx="2427275"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loader · routing · remote face</a:t>
              </a:r>
            </a:p>
          </p:txBody>
        </p:sp>
        <p:sp>
          <p:nvSpPr>
            <p:cNvPr id="48" name="TextBox 48"/>
            <p:cNvSpPr txBox="1"/>
            <p:nvPr/>
          </p:nvSpPr>
          <p:spPr>
            <a:xfrm>
              <a:off x="7747254" y="3432810"/>
              <a:ext cx="1955292"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5"/>
                  </a:solidFill>
                  <a:latin typeface="+mn-lt"/>
                  <a:ea typeface="+mn-ea"/>
                  <a:cs typeface="+mn-cs"/>
                </a:rPr>
                <a:t>publish the cross-process</a:t>
              </a:r>
              <a:br/>
              <a:r>
                <a:rPr lang="en-US" sz="1200" dirty="0">
                  <a:solidFill>
                    <a:schemeClr val="accent5"/>
                  </a:solidFill>
                  <a:latin typeface="+mn-lt"/>
                  <a:ea typeface="+mn-ea"/>
                  <a:cs typeface="+mn-cs"/>
                </a:rPr>
                <a:t>contract</a:t>
              </a:r>
            </a:p>
          </p:txBody>
        </p:sp>
        <p:sp>
          <p:nvSpPr>
            <p:cNvPr id="49" name="Rectangle 49"/>
            <p:cNvSpPr/>
            <p:nvPr/>
          </p:nvSpPr>
          <p:spPr>
            <a:xfrm>
              <a:off x="9982200" y="2343150"/>
              <a:ext cx="1524000" cy="1638300"/>
            </a:xfrm>
            <a:prstGeom prst="roundRect">
              <a:avLst>
                <a:gd name="adj" fmla="val 5000"/>
              </a:avLst>
            </a:prstGeom>
            <a:solidFill>
              <a:schemeClr val="lt2"/>
            </a:solidFill>
            <a:ln w="19050">
              <a:solidFill>
                <a:schemeClr val="accent3"/>
              </a:solidFill>
            </a:ln>
          </p:spPr>
        </p:sp>
        <p:grpSp>
          <p:nvGrpSpPr>
            <p:cNvPr id="53" name="Group 53"/>
            <p:cNvGrpSpPr/>
            <p:nvPr/>
          </p:nvGrpSpPr>
          <p:grpSpPr>
            <a:xfrm>
              <a:off x="10572750" y="2647950"/>
              <a:ext cx="342900" cy="304800"/>
              <a:chOff x="10572750" y="2647950"/>
              <a:chExt cx="342900" cy="304800"/>
            </a:xfrm>
          </p:grpSpPr>
          <p:sp>
            <p:nvSpPr>
              <p:cNvPr id="50" name="Freeform 50"/>
              <p:cNvSpPr/>
              <p:nvPr/>
            </p:nvSpPr>
            <p:spPr>
              <a:xfrm>
                <a:off x="10572750" y="2724150"/>
                <a:ext cx="76200" cy="152400"/>
              </a:xfrm>
              <a:custGeom>
                <a:avLst/>
                <a:gdLst/>
                <a:ahLst/>
                <a:cxnLst/>
                <a:rect l="l" t="t" r="r" b="b"/>
                <a:pathLst>
                  <a:path w="76200" h="152400">
                    <a:moveTo>
                      <a:pt x="76200" y="0"/>
                    </a:moveTo>
                    <a:lnTo>
                      <a:pt x="0" y="76200"/>
                    </a:lnTo>
                    <a:lnTo>
                      <a:pt x="76200" y="152400"/>
                    </a:lnTo>
                  </a:path>
                </a:pathLst>
              </a:custGeom>
              <a:noFill/>
              <a:ln w="38100">
                <a:solidFill>
                  <a:schemeClr val="accent3"/>
                </a:solidFill>
              </a:ln>
            </p:spPr>
          </p:sp>
          <p:sp>
            <p:nvSpPr>
              <p:cNvPr id="51" name="Freeform 51"/>
              <p:cNvSpPr/>
              <p:nvPr/>
            </p:nvSpPr>
            <p:spPr>
              <a:xfrm>
                <a:off x="10839450" y="2724150"/>
                <a:ext cx="76200" cy="152400"/>
              </a:xfrm>
              <a:custGeom>
                <a:avLst/>
                <a:gdLst/>
                <a:ahLst/>
                <a:cxnLst/>
                <a:rect l="l" t="t" r="r" b="b"/>
                <a:pathLst>
                  <a:path w="76200" h="152400">
                    <a:moveTo>
                      <a:pt x="0" y="0"/>
                    </a:moveTo>
                    <a:lnTo>
                      <a:pt x="76200" y="76200"/>
                    </a:lnTo>
                    <a:lnTo>
                      <a:pt x="0" y="152400"/>
                    </a:lnTo>
                  </a:path>
                </a:pathLst>
              </a:custGeom>
              <a:noFill/>
              <a:ln w="38100">
                <a:solidFill>
                  <a:schemeClr val="accent3"/>
                </a:solidFill>
              </a:ln>
            </p:spPr>
          </p:sp>
          <p:sp>
            <p:nvSpPr>
              <p:cNvPr id="52" name="Freeform 52"/>
              <p:cNvSpPr/>
              <p:nvPr/>
            </p:nvSpPr>
            <p:spPr>
              <a:xfrm>
                <a:off x="10706100" y="2647950"/>
                <a:ext cx="76200" cy="304800"/>
              </a:xfrm>
              <a:custGeom>
                <a:avLst/>
                <a:gdLst/>
                <a:ahLst/>
                <a:cxnLst/>
                <a:rect l="l" t="t" r="r" b="b"/>
                <a:pathLst>
                  <a:path w="76200" h="304800">
                    <a:moveTo>
                      <a:pt x="76200" y="0"/>
                    </a:moveTo>
                    <a:lnTo>
                      <a:pt x="0" y="304800"/>
                    </a:lnTo>
                  </a:path>
                </a:pathLst>
              </a:custGeom>
              <a:noFill/>
              <a:ln w="38100">
                <a:solidFill>
                  <a:schemeClr val="accent3"/>
                </a:solidFill>
              </a:ln>
            </p:spPr>
          </p:sp>
        </p:grpSp>
        <p:sp>
          <p:nvSpPr>
            <p:cNvPr id="54" name="TextBox 54"/>
            <p:cNvSpPr txBox="1"/>
            <p:nvPr/>
          </p:nvSpPr>
          <p:spPr>
            <a:xfrm>
              <a:off x="10375491" y="3158490"/>
              <a:ext cx="737418"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Client</a:t>
              </a:r>
            </a:p>
          </p:txBody>
        </p:sp>
        <p:sp>
          <p:nvSpPr>
            <p:cNvPr id="55" name="TextBox 55"/>
            <p:cNvSpPr txBox="1"/>
            <p:nvPr/>
          </p:nvSpPr>
          <p:spPr>
            <a:xfrm>
              <a:off x="10137610" y="3549968"/>
              <a:ext cx="121318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compiler face</a:t>
              </a:r>
            </a:p>
          </p:txBody>
        </p:sp>
      </p:grpSp>
      <p:grpSp>
        <p:nvGrpSpPr>
          <p:cNvPr id="61" name="Group 61"/>
          <p:cNvGrpSpPr/>
          <p:nvPr/>
        </p:nvGrpSpPr>
        <p:grpSpPr>
          <a:xfrm>
            <a:off x="869442" y="5314950"/>
            <a:ext cx="10179558" cy="670751"/>
            <a:chOff x="869442" y="5314950"/>
            <a:chExt cx="10179558" cy="670751"/>
          </a:xfrm>
        </p:grpSpPr>
        <p:sp>
          <p:nvSpPr>
            <p:cNvPr id="57" name="Line 57"/>
            <p:cNvSpPr/>
            <p:nvPr/>
          </p:nvSpPr>
          <p:spPr>
            <a:xfrm>
              <a:off x="876300" y="5314950"/>
              <a:ext cx="10172700" cy="1"/>
            </a:xfrm>
            <a:prstGeom prst="line">
              <a:avLst/>
            </a:prstGeom>
            <a:noFill/>
            <a:ln w="28575">
              <a:solidFill>
                <a:schemeClr val="accent2"/>
              </a:solidFill>
              <a:tailEnd type="triangle" w="lg" len="lg"/>
            </a:ln>
          </p:spPr>
        </p:sp>
        <p:sp>
          <p:nvSpPr>
            <p:cNvPr id="58" name="TextBox 58"/>
            <p:cNvSpPr txBox="1"/>
            <p:nvPr/>
          </p:nvSpPr>
          <p:spPr>
            <a:xfrm>
              <a:off x="869442" y="5531168"/>
              <a:ext cx="4893046"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Cascadia Mono"/>
                  <a:ea typeface="Cascadia Mono"/>
                  <a:cs typeface="Cascadia Mono"/>
                </a:rPr>
                <a:t>BUILD ORDER / HOST CONTRACTS → CLIENT TYPECHECK</a:t>
              </a:r>
            </a:p>
          </p:txBody>
        </p:sp>
        <p:sp>
          <p:nvSpPr>
            <p:cNvPr id="59" name="Rectangle 59"/>
            <p:cNvSpPr/>
            <p:nvPr/>
          </p:nvSpPr>
          <p:spPr>
            <a:xfrm>
              <a:off x="7429500" y="5467350"/>
              <a:ext cx="3619500" cy="495300"/>
            </a:xfrm>
            <a:prstGeom prst="roundRect">
              <a:avLst>
                <a:gd name="adj" fmla="val 9615"/>
              </a:avLst>
            </a:prstGeom>
            <a:solidFill>
              <a:srgbClr val="FFF0F2"/>
            </a:solidFill>
            <a:ln w="19050">
              <a:solidFill>
                <a:srgbClr val="C2415B"/>
              </a:solidFill>
            </a:ln>
          </p:spPr>
        </p:sp>
        <p:sp>
          <p:nvSpPr>
            <p:cNvPr id="60" name="TextBox 60"/>
            <p:cNvSpPr txBox="1"/>
            <p:nvPr/>
          </p:nvSpPr>
          <p:spPr>
            <a:xfrm>
              <a:off x="7817930" y="5531168"/>
              <a:ext cx="2842641" cy="454533"/>
            </a:xfrm>
            <a:prstGeom prst="rect">
              <a:avLst/>
            </a:prstGeom>
            <a:noFill/>
            <a:ln>
              <a:noFill/>
            </a:ln>
          </p:spPr>
          <p:txBody>
            <a:bodyPr wrap="none" lIns="0" tIns="0" rIns="0" bIns="0" anchor="t" anchorCtr="0">
              <a:spAutoFit/>
            </a:bodyPr>
            <a:lstStyle/>
            <a:p>
              <a:pPr algn="ctr">
                <a:lnSpc>
                  <a:spcPts val="1500"/>
                </a:lnSpc>
              </a:pPr>
              <a:r>
                <a:rPr lang="en-US" sz="1350" dirty="0">
                  <a:solidFill>
                    <a:srgbClr val="C2415B"/>
                  </a:solidFill>
                  <a:latin typeface="+mn-lt"/>
                  <a:ea typeface="+mn-ea"/>
                  <a:cs typeface="+mn-cs"/>
                </a:rPr>
                <a:t>auth · TLS · authorization</a:t>
              </a:r>
              <a:br/>
              <a:r>
                <a:rPr lang="en-US" sz="1350" dirty="0">
                  <a:solidFill>
                    <a:srgbClr val="C2415B"/>
                  </a:solidFill>
                  <a:latin typeface="+mn-lt"/>
                  <a:ea typeface="+mn-ea"/>
                  <a:cs typeface="+mn-cs"/>
                </a:rPr>
                <a:t>remain outside schema generation</a:t>
              </a:r>
            </a:p>
          </p:txBody>
        </p:sp>
      </p:grpSp>
      <p:grpSp>
        <p:nvGrpSpPr>
          <p:cNvPr id="64" name="Group 64"/>
          <p:cNvGrpSpPr/>
          <p:nvPr/>
        </p:nvGrpSpPr>
        <p:grpSpPr>
          <a:xfrm>
            <a:off x="602742" y="6293168"/>
            <a:ext cx="10986516" cy="264033"/>
            <a:chOff x="602742" y="6293168"/>
            <a:chExt cx="10986516" cy="264033"/>
          </a:xfrm>
        </p:grpSpPr>
        <p:sp>
          <p:nvSpPr>
            <p:cNvPr id="62" name="TextBox 62"/>
            <p:cNvSpPr txBox="1"/>
            <p:nvPr/>
          </p:nvSpPr>
          <p:spPr>
            <a:xfrm>
              <a:off x="602742" y="6293168"/>
              <a:ext cx="533278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K-013 | DEFINE ONCE · BUILD ON HOST · CONSUME ON CLIENT</a:t>
              </a:r>
            </a:p>
          </p:txBody>
        </p:sp>
        <p:sp>
          <p:nvSpPr>
            <p:cNvPr id="63" name="TextBox 63"/>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P14 / 24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7000"/>
              </a:schemeClr>
            </a:solidFill>
          </a:ln>
        </p:spPr>
      </p:sp>
      <p:grpSp>
        <p:nvGrpSpPr>
          <p:cNvPr id="5" name="Group 5"/>
          <p:cNvGrpSpPr/>
          <p:nvPr/>
        </p:nvGrpSpPr>
        <p:grpSpPr>
          <a:xfrm>
            <a:off x="593598" y="482918"/>
            <a:ext cx="10703732" cy="955167"/>
            <a:chOff x="593598" y="482918"/>
            <a:chExt cx="10703732" cy="955167"/>
          </a:xfrm>
        </p:grpSpPr>
        <p:sp>
          <p:nvSpPr>
            <p:cNvPr id="3" name="TextBox 3"/>
            <p:cNvSpPr txBox="1"/>
            <p:nvPr/>
          </p:nvSpPr>
          <p:spPr>
            <a:xfrm>
              <a:off x="602742" y="482918"/>
              <a:ext cx="4114495"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DYNAMIC PLUGIN / RELEASE STATE MACHINE</a:t>
              </a:r>
            </a:p>
          </p:txBody>
        </p:sp>
        <p:sp>
          <p:nvSpPr>
            <p:cNvPr id="4" name="TextBox 4"/>
            <p:cNvSpPr txBox="1"/>
            <p:nvPr/>
          </p:nvSpPr>
          <p:spPr>
            <a:xfrm>
              <a:off x="593598" y="822008"/>
              <a:ext cx="10703732"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Run ok does not guarantee the next Client render</a:t>
              </a:r>
            </a:p>
          </p:txBody>
        </p:sp>
      </p:grpSp>
      <p:grpSp>
        <p:nvGrpSpPr>
          <p:cNvPr id="39" name="Group 39"/>
          <p:cNvGrpSpPr/>
          <p:nvPr/>
        </p:nvGrpSpPr>
        <p:grpSpPr>
          <a:xfrm>
            <a:off x="586778" y="2057400"/>
            <a:ext cx="10957522" cy="2781300"/>
            <a:chOff x="586778" y="2057400"/>
            <a:chExt cx="10957522" cy="2781300"/>
          </a:xfrm>
        </p:grpSpPr>
        <p:sp>
          <p:nvSpPr>
            <p:cNvPr id="6" name="Line 6"/>
            <p:cNvSpPr/>
            <p:nvPr/>
          </p:nvSpPr>
          <p:spPr>
            <a:xfrm>
              <a:off x="2247900" y="2590800"/>
              <a:ext cx="247650" cy="1"/>
            </a:xfrm>
            <a:prstGeom prst="line">
              <a:avLst/>
            </a:prstGeom>
            <a:noFill/>
            <a:ln w="28575">
              <a:solidFill>
                <a:schemeClr val="accent2"/>
              </a:solidFill>
              <a:tailEnd type="triangle" w="lg" len="lg"/>
            </a:ln>
          </p:spPr>
        </p:sp>
        <p:sp>
          <p:nvSpPr>
            <p:cNvPr id="7" name="Line 7"/>
            <p:cNvSpPr/>
            <p:nvPr/>
          </p:nvSpPr>
          <p:spPr>
            <a:xfrm>
              <a:off x="4095750" y="2590800"/>
              <a:ext cx="247650" cy="1"/>
            </a:xfrm>
            <a:prstGeom prst="line">
              <a:avLst/>
            </a:prstGeom>
            <a:noFill/>
            <a:ln w="28575">
              <a:solidFill>
                <a:schemeClr val="accent2"/>
              </a:solidFill>
              <a:tailEnd type="triangle" w="lg" len="lg"/>
            </a:ln>
          </p:spPr>
        </p:sp>
        <p:sp>
          <p:nvSpPr>
            <p:cNvPr id="8" name="Line 8"/>
            <p:cNvSpPr/>
            <p:nvPr/>
          </p:nvSpPr>
          <p:spPr>
            <a:xfrm>
              <a:off x="5943600" y="2590800"/>
              <a:ext cx="247650" cy="1"/>
            </a:xfrm>
            <a:prstGeom prst="line">
              <a:avLst/>
            </a:prstGeom>
            <a:noFill/>
            <a:ln w="28575">
              <a:solidFill>
                <a:schemeClr val="accent2"/>
              </a:solidFill>
              <a:tailEnd type="triangle" w="lg" len="lg"/>
            </a:ln>
          </p:spPr>
        </p:sp>
        <p:sp>
          <p:nvSpPr>
            <p:cNvPr id="9" name="Line 9"/>
            <p:cNvSpPr/>
            <p:nvPr/>
          </p:nvSpPr>
          <p:spPr>
            <a:xfrm>
              <a:off x="7791450" y="2590800"/>
              <a:ext cx="247650" cy="1"/>
            </a:xfrm>
            <a:prstGeom prst="line">
              <a:avLst/>
            </a:prstGeom>
            <a:noFill/>
            <a:ln w="28575">
              <a:solidFill>
                <a:schemeClr val="accent2"/>
              </a:solidFill>
              <a:tailEnd type="triangle" w="lg" len="lg"/>
            </a:ln>
          </p:spPr>
        </p:sp>
        <p:sp>
          <p:nvSpPr>
            <p:cNvPr id="10" name="Line 10"/>
            <p:cNvSpPr/>
            <p:nvPr/>
          </p:nvSpPr>
          <p:spPr>
            <a:xfrm>
              <a:off x="9639300" y="2590800"/>
              <a:ext cx="247650" cy="1"/>
            </a:xfrm>
            <a:prstGeom prst="line">
              <a:avLst/>
            </a:prstGeom>
            <a:noFill/>
            <a:ln w="28575">
              <a:solidFill>
                <a:schemeClr val="accent2"/>
              </a:solidFill>
              <a:tailEnd type="triangle" w="lg" len="lg"/>
            </a:ln>
          </p:spPr>
        </p:sp>
        <p:sp>
          <p:nvSpPr>
            <p:cNvPr id="11" name="Rectangle 11"/>
            <p:cNvSpPr/>
            <p:nvPr/>
          </p:nvSpPr>
          <p:spPr>
            <a:xfrm>
              <a:off x="647700" y="2057400"/>
              <a:ext cx="1600200" cy="1066800"/>
            </a:xfrm>
            <a:prstGeom prst="roundRect">
              <a:avLst>
                <a:gd name="adj" fmla="val 6250"/>
              </a:avLst>
            </a:prstGeom>
            <a:solidFill>
              <a:schemeClr val="lt2"/>
            </a:solidFill>
            <a:ln w="19050">
              <a:solidFill>
                <a:schemeClr val="accent3"/>
              </a:solidFill>
            </a:ln>
          </p:spPr>
        </p:sp>
        <p:sp>
          <p:nvSpPr>
            <p:cNvPr id="12" name="Rectangle 12"/>
            <p:cNvSpPr/>
            <p:nvPr/>
          </p:nvSpPr>
          <p:spPr>
            <a:xfrm>
              <a:off x="2495550" y="2057400"/>
              <a:ext cx="1600200" cy="1066800"/>
            </a:xfrm>
            <a:prstGeom prst="roundRect">
              <a:avLst>
                <a:gd name="adj" fmla="val 6250"/>
              </a:avLst>
            </a:prstGeom>
            <a:solidFill>
              <a:schemeClr val="lt2"/>
            </a:solidFill>
            <a:ln w="19050">
              <a:solidFill>
                <a:schemeClr val="accent3"/>
              </a:solidFill>
            </a:ln>
          </p:spPr>
        </p:sp>
        <p:sp>
          <p:nvSpPr>
            <p:cNvPr id="13" name="Rectangle 13"/>
            <p:cNvSpPr/>
            <p:nvPr/>
          </p:nvSpPr>
          <p:spPr>
            <a:xfrm>
              <a:off x="4343400" y="2057400"/>
              <a:ext cx="1600200" cy="1066800"/>
            </a:xfrm>
            <a:prstGeom prst="roundRect">
              <a:avLst>
                <a:gd name="adj" fmla="val 6250"/>
              </a:avLst>
            </a:prstGeom>
            <a:solidFill>
              <a:schemeClr val="lt2"/>
            </a:solidFill>
            <a:ln w="19050">
              <a:solidFill>
                <a:schemeClr val="accent3"/>
              </a:solidFill>
            </a:ln>
          </p:spPr>
        </p:sp>
        <p:sp>
          <p:nvSpPr>
            <p:cNvPr id="14" name="Rectangle 14"/>
            <p:cNvSpPr/>
            <p:nvPr/>
          </p:nvSpPr>
          <p:spPr>
            <a:xfrm>
              <a:off x="6191250" y="2057400"/>
              <a:ext cx="1600200" cy="1066800"/>
            </a:xfrm>
            <a:prstGeom prst="roundRect">
              <a:avLst>
                <a:gd name="adj" fmla="val 6250"/>
              </a:avLst>
            </a:prstGeom>
            <a:solidFill>
              <a:schemeClr val="lt2"/>
            </a:solidFill>
            <a:ln w="19050">
              <a:solidFill>
                <a:schemeClr val="accent3"/>
              </a:solidFill>
            </a:ln>
          </p:spPr>
        </p:sp>
        <p:sp>
          <p:nvSpPr>
            <p:cNvPr id="15" name="Rectangle 15"/>
            <p:cNvSpPr/>
            <p:nvPr/>
          </p:nvSpPr>
          <p:spPr>
            <a:xfrm>
              <a:off x="8039100" y="2057400"/>
              <a:ext cx="1600200" cy="1066800"/>
            </a:xfrm>
            <a:prstGeom prst="roundRect">
              <a:avLst>
                <a:gd name="adj" fmla="val 6250"/>
              </a:avLst>
            </a:prstGeom>
            <a:solidFill>
              <a:schemeClr val="lt2"/>
            </a:solidFill>
            <a:ln w="19050">
              <a:solidFill>
                <a:schemeClr val="accent3"/>
              </a:solidFill>
            </a:ln>
          </p:spPr>
        </p:sp>
        <p:sp>
          <p:nvSpPr>
            <p:cNvPr id="16" name="Rectangle 16"/>
            <p:cNvSpPr/>
            <p:nvPr/>
          </p:nvSpPr>
          <p:spPr>
            <a:xfrm>
              <a:off x="9886950" y="2057400"/>
              <a:ext cx="1657350" cy="1066800"/>
            </a:xfrm>
            <a:prstGeom prst="roundRect">
              <a:avLst>
                <a:gd name="adj" fmla="val 6250"/>
              </a:avLst>
            </a:prstGeom>
            <a:solidFill>
              <a:schemeClr val="accent1"/>
            </a:solidFill>
            <a:ln w="28575">
              <a:solidFill>
                <a:schemeClr val="accent2"/>
              </a:solidFill>
            </a:ln>
          </p:spPr>
        </p:sp>
        <p:sp>
          <p:nvSpPr>
            <p:cNvPr id="17" name="TextBox 17"/>
            <p:cNvSpPr txBox="1"/>
            <p:nvPr/>
          </p:nvSpPr>
          <p:spPr>
            <a:xfrm>
              <a:off x="976975" y="2244090"/>
              <a:ext cx="941649"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Inspect</a:t>
              </a:r>
            </a:p>
          </p:txBody>
        </p:sp>
        <p:sp>
          <p:nvSpPr>
            <p:cNvPr id="18" name="TextBox 18"/>
            <p:cNvSpPr txBox="1"/>
            <p:nvPr/>
          </p:nvSpPr>
          <p:spPr>
            <a:xfrm>
              <a:off x="586778" y="2616518"/>
              <a:ext cx="1722044"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list → minimal query</a:t>
              </a:r>
            </a:p>
          </p:txBody>
        </p:sp>
        <p:sp>
          <p:nvSpPr>
            <p:cNvPr id="19" name="TextBox 19"/>
            <p:cNvSpPr txBox="1"/>
            <p:nvPr/>
          </p:nvSpPr>
          <p:spPr>
            <a:xfrm>
              <a:off x="2894837" y="2244090"/>
              <a:ext cx="801626"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Define</a:t>
              </a:r>
            </a:p>
          </p:txBody>
        </p:sp>
        <p:sp>
          <p:nvSpPr>
            <p:cNvPr id="20" name="TextBox 20"/>
            <p:cNvSpPr txBox="1"/>
            <p:nvPr/>
          </p:nvSpPr>
          <p:spPr>
            <a:xfrm>
              <a:off x="2563661" y="2616518"/>
              <a:ext cx="1463977"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immutable Plugin</a:t>
              </a:r>
            </a:p>
          </p:txBody>
        </p:sp>
        <p:sp>
          <p:nvSpPr>
            <p:cNvPr id="21" name="TextBox 21"/>
            <p:cNvSpPr txBox="1"/>
            <p:nvPr/>
          </p:nvSpPr>
          <p:spPr>
            <a:xfrm>
              <a:off x="2858257" y="2864168"/>
              <a:ext cx="874787"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 Package</a:t>
              </a:r>
            </a:p>
          </p:txBody>
        </p:sp>
        <p:sp>
          <p:nvSpPr>
            <p:cNvPr id="22" name="TextBox 22"/>
            <p:cNvSpPr txBox="1"/>
            <p:nvPr/>
          </p:nvSpPr>
          <p:spPr>
            <a:xfrm>
              <a:off x="4290411" y="2244090"/>
              <a:ext cx="1706179"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Wait for page</a:t>
              </a:r>
            </a:p>
          </p:txBody>
        </p:sp>
        <p:sp>
          <p:nvSpPr>
            <p:cNvPr id="23" name="TextBox 23"/>
            <p:cNvSpPr txBox="1"/>
            <p:nvPr/>
          </p:nvSpPr>
          <p:spPr>
            <a:xfrm>
              <a:off x="4252446" y="2616518"/>
              <a:ext cx="1782108"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matching Client half</a:t>
              </a:r>
            </a:p>
          </p:txBody>
        </p:sp>
        <p:sp>
          <p:nvSpPr>
            <p:cNvPr id="24" name="TextBox 24"/>
            <p:cNvSpPr txBox="1"/>
            <p:nvPr/>
          </p:nvSpPr>
          <p:spPr>
            <a:xfrm>
              <a:off x="6450525" y="2244090"/>
              <a:ext cx="1081651"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Approval</a:t>
              </a:r>
            </a:p>
          </p:txBody>
        </p:sp>
        <p:sp>
          <p:nvSpPr>
            <p:cNvPr id="25" name="TextBox 25"/>
            <p:cNvSpPr txBox="1"/>
            <p:nvPr/>
          </p:nvSpPr>
          <p:spPr>
            <a:xfrm>
              <a:off x="6425651" y="2616518"/>
              <a:ext cx="1131399"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explicit gate</a:t>
              </a:r>
            </a:p>
          </p:txBody>
        </p:sp>
        <p:sp>
          <p:nvSpPr>
            <p:cNvPr id="26" name="TextBox 26"/>
            <p:cNvSpPr txBox="1"/>
            <p:nvPr/>
          </p:nvSpPr>
          <p:spPr>
            <a:xfrm>
              <a:off x="8298375" y="2244090"/>
              <a:ext cx="1081651"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Starting</a:t>
              </a:r>
            </a:p>
          </p:txBody>
        </p:sp>
        <p:sp>
          <p:nvSpPr>
            <p:cNvPr id="27" name="TextBox 27"/>
            <p:cNvSpPr txBox="1"/>
            <p:nvPr/>
          </p:nvSpPr>
          <p:spPr>
            <a:xfrm>
              <a:off x="8005439" y="2616518"/>
              <a:ext cx="1667523"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runtime activation</a:t>
              </a:r>
            </a:p>
          </p:txBody>
        </p:sp>
        <p:sp>
          <p:nvSpPr>
            <p:cNvPr id="28" name="TextBox 28"/>
            <p:cNvSpPr txBox="1"/>
            <p:nvPr/>
          </p:nvSpPr>
          <p:spPr>
            <a:xfrm>
              <a:off x="10066401" y="2244090"/>
              <a:ext cx="1298448"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mn-lt"/>
                  <a:ea typeface="+mn-ea"/>
                  <a:cs typeface="+mn-cs"/>
                </a:rPr>
                <a:t>Run result</a:t>
              </a:r>
            </a:p>
          </p:txBody>
        </p:sp>
        <p:sp>
          <p:nvSpPr>
            <p:cNvPr id="29" name="TextBox 29"/>
            <p:cNvSpPr txBox="1"/>
            <p:nvPr/>
          </p:nvSpPr>
          <p:spPr>
            <a:xfrm>
              <a:off x="10249881" y="2635568"/>
              <a:ext cx="931488" cy="264033"/>
            </a:xfrm>
            <a:prstGeom prst="rect">
              <a:avLst/>
            </a:prstGeom>
            <a:noFill/>
            <a:ln>
              <a:noFill/>
            </a:ln>
          </p:spPr>
          <p:txBody>
            <a:bodyPr wrap="none" lIns="0" tIns="0" rIns="0" bIns="0" anchor="t" anchorCtr="0">
              <a:spAutoFit/>
            </a:bodyPr>
            <a:lstStyle/>
            <a:p>
              <a:pPr algn="ctr"/>
              <a:r>
                <a:rPr lang="en-US" sz="1350" dirty="0">
                  <a:solidFill>
                    <a:srgbClr val="B9F4F7"/>
                  </a:solidFill>
                  <a:latin typeface="+mn-lt"/>
                  <a:ea typeface="+mn-ea"/>
                  <a:cs typeface="+mn-cs"/>
                </a:rPr>
                <a:t>ok / failed</a:t>
              </a:r>
            </a:p>
          </p:txBody>
        </p:sp>
        <p:sp>
          <p:nvSpPr>
            <p:cNvPr id="30" name="Line 30"/>
            <p:cNvSpPr/>
            <p:nvPr/>
          </p:nvSpPr>
          <p:spPr>
            <a:xfrm>
              <a:off x="10715625" y="3124200"/>
              <a:ext cx="9525" cy="590550"/>
            </a:xfrm>
            <a:custGeom>
              <a:avLst/>
              <a:gdLst/>
              <a:ahLst/>
              <a:cxnLst/>
              <a:rect l="l" t="t" r="r" b="b"/>
              <a:pathLst>
                <a:path w="9525" h="590550">
                  <a:moveTo>
                    <a:pt x="0" y="0"/>
                  </a:moveTo>
                  <a:lnTo>
                    <a:pt x="0" y="590550"/>
                  </a:lnTo>
                </a:path>
              </a:pathLst>
            </a:custGeom>
            <a:noFill/>
            <a:ln w="28575">
              <a:solidFill>
                <a:schemeClr val="accent2"/>
              </a:solidFill>
            </a:ln>
          </p:spPr>
        </p:sp>
        <p:sp>
          <p:nvSpPr>
            <p:cNvPr id="31" name="Line 31"/>
            <p:cNvSpPr/>
            <p:nvPr/>
          </p:nvSpPr>
          <p:spPr>
            <a:xfrm flipH="1">
              <a:off x="9486900" y="3714750"/>
              <a:ext cx="1228725" cy="381000"/>
            </a:xfrm>
            <a:prstGeom prst="line">
              <a:avLst/>
            </a:prstGeom>
            <a:noFill/>
            <a:ln w="28575">
              <a:solidFill>
                <a:schemeClr val="accent2"/>
              </a:solidFill>
              <a:tailEnd type="triangle" w="lg" len="lg"/>
            </a:ln>
          </p:spPr>
        </p:sp>
        <p:sp>
          <p:nvSpPr>
            <p:cNvPr id="32" name="Line 32"/>
            <p:cNvSpPr/>
            <p:nvPr/>
          </p:nvSpPr>
          <p:spPr>
            <a:xfrm>
              <a:off x="10715625" y="3714750"/>
              <a:ext cx="542925" cy="381000"/>
            </a:xfrm>
            <a:custGeom>
              <a:avLst/>
              <a:gdLst/>
              <a:ahLst/>
              <a:cxnLst/>
              <a:rect l="l" t="t" r="r" b="b"/>
              <a:pathLst>
                <a:path w="542925" h="381000">
                  <a:moveTo>
                    <a:pt x="0" y="0"/>
                  </a:moveTo>
                  <a:lnTo>
                    <a:pt x="542925" y="381000"/>
                  </a:lnTo>
                </a:path>
              </a:pathLst>
            </a:custGeom>
            <a:noFill/>
            <a:ln w="28575">
              <a:solidFill>
                <a:srgbClr val="C2415B"/>
              </a:solidFill>
            </a:ln>
          </p:spPr>
        </p:sp>
        <p:sp>
          <p:nvSpPr>
            <p:cNvPr id="33" name="Rectangle 33"/>
            <p:cNvSpPr/>
            <p:nvPr/>
          </p:nvSpPr>
          <p:spPr>
            <a:xfrm>
              <a:off x="8115300" y="4095750"/>
              <a:ext cx="2381250" cy="742950"/>
            </a:xfrm>
            <a:prstGeom prst="roundRect">
              <a:avLst>
                <a:gd name="adj" fmla="val 8974"/>
              </a:avLst>
            </a:prstGeom>
            <a:solidFill>
              <a:srgbClr val="E8F7ED"/>
            </a:solidFill>
            <a:ln w="19050">
              <a:solidFill>
                <a:srgbClr val="15803D"/>
              </a:solidFill>
            </a:ln>
          </p:spPr>
        </p:sp>
        <p:sp>
          <p:nvSpPr>
            <p:cNvPr id="34" name="Rectangle 34"/>
            <p:cNvSpPr/>
            <p:nvPr/>
          </p:nvSpPr>
          <p:spPr>
            <a:xfrm>
              <a:off x="10553700" y="4095750"/>
              <a:ext cx="990600" cy="742950"/>
            </a:xfrm>
            <a:prstGeom prst="roundRect">
              <a:avLst>
                <a:gd name="adj" fmla="val 8974"/>
              </a:avLst>
            </a:prstGeom>
            <a:solidFill>
              <a:srgbClr val="FFF0F2"/>
            </a:solidFill>
            <a:ln w="19050">
              <a:solidFill>
                <a:srgbClr val="C2415B"/>
              </a:solidFill>
            </a:ln>
          </p:spPr>
        </p:sp>
        <p:sp>
          <p:nvSpPr>
            <p:cNvPr id="35" name="TextBox 35"/>
            <p:cNvSpPr txBox="1"/>
            <p:nvPr/>
          </p:nvSpPr>
          <p:spPr>
            <a:xfrm>
              <a:off x="8694636" y="4244340"/>
              <a:ext cx="1222579" cy="352044"/>
            </a:xfrm>
            <a:prstGeom prst="rect">
              <a:avLst/>
            </a:prstGeom>
            <a:noFill/>
            <a:ln>
              <a:noFill/>
            </a:ln>
          </p:spPr>
          <p:txBody>
            <a:bodyPr wrap="none" lIns="0" tIns="0" rIns="0" bIns="0" anchor="t" anchorCtr="0">
              <a:spAutoFit/>
            </a:bodyPr>
            <a:lstStyle/>
            <a:p>
              <a:pPr algn="ctr"/>
              <a:r>
                <a:rPr lang="en-US" sz="1800" b="1" dirty="0">
                  <a:solidFill>
                    <a:srgbClr val="15803D"/>
                  </a:solidFill>
                  <a:latin typeface="+mn-lt"/>
                  <a:ea typeface="+mn-ea"/>
                  <a:cs typeface="+mn-cs"/>
                </a:rPr>
                <a:t>Render ok</a:t>
              </a:r>
            </a:p>
          </p:txBody>
        </p:sp>
        <p:sp>
          <p:nvSpPr>
            <p:cNvPr id="36" name="TextBox 36"/>
            <p:cNvSpPr txBox="1"/>
            <p:nvPr/>
          </p:nvSpPr>
          <p:spPr>
            <a:xfrm>
              <a:off x="8690248" y="4559618"/>
              <a:ext cx="1231354"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client settled</a:t>
              </a:r>
            </a:p>
          </p:txBody>
        </p:sp>
        <p:sp>
          <p:nvSpPr>
            <p:cNvPr id="37" name="TextBox 37"/>
            <p:cNvSpPr txBox="1"/>
            <p:nvPr/>
          </p:nvSpPr>
          <p:spPr>
            <a:xfrm>
              <a:off x="10724312" y="4254818"/>
              <a:ext cx="649375" cy="264033"/>
            </a:xfrm>
            <a:prstGeom prst="rect">
              <a:avLst/>
            </a:prstGeom>
            <a:noFill/>
            <a:ln>
              <a:noFill/>
            </a:ln>
          </p:spPr>
          <p:txBody>
            <a:bodyPr wrap="none" lIns="0" tIns="0" rIns="0" bIns="0" anchor="t" anchorCtr="0">
              <a:spAutoFit/>
            </a:bodyPr>
            <a:lstStyle/>
            <a:p>
              <a:pPr algn="ctr"/>
              <a:r>
                <a:rPr lang="en-US" sz="1350" b="1" dirty="0">
                  <a:solidFill>
                    <a:srgbClr val="C2415B"/>
                  </a:solidFill>
                  <a:latin typeface="+mn-lt"/>
                  <a:ea typeface="+mn-ea"/>
                  <a:cs typeface="+mn-cs"/>
                </a:rPr>
                <a:t>Render</a:t>
              </a:r>
            </a:p>
          </p:txBody>
        </p:sp>
        <p:sp>
          <p:nvSpPr>
            <p:cNvPr id="38" name="TextBox 38"/>
            <p:cNvSpPr txBox="1"/>
            <p:nvPr/>
          </p:nvSpPr>
          <p:spPr>
            <a:xfrm>
              <a:off x="10774989" y="4521518"/>
              <a:ext cx="548023" cy="264033"/>
            </a:xfrm>
            <a:prstGeom prst="rect">
              <a:avLst/>
            </a:prstGeom>
            <a:noFill/>
            <a:ln>
              <a:noFill/>
            </a:ln>
          </p:spPr>
          <p:txBody>
            <a:bodyPr wrap="none" lIns="0" tIns="0" rIns="0" bIns="0" anchor="t" anchorCtr="0">
              <a:spAutoFit/>
            </a:bodyPr>
            <a:lstStyle/>
            <a:p>
              <a:pPr algn="ctr"/>
              <a:r>
                <a:rPr lang="en-US" sz="1350" b="1" dirty="0">
                  <a:solidFill>
                    <a:srgbClr val="C2415B"/>
                  </a:solidFill>
                  <a:latin typeface="+mn-lt"/>
                  <a:ea typeface="+mn-ea"/>
                  <a:cs typeface="+mn-cs"/>
                </a:rPr>
                <a:t>failed</a:t>
              </a:r>
            </a:p>
          </p:txBody>
        </p:sp>
      </p:grpSp>
      <p:grpSp>
        <p:nvGrpSpPr>
          <p:cNvPr id="46" name="Group 46"/>
          <p:cNvGrpSpPr/>
          <p:nvPr/>
        </p:nvGrpSpPr>
        <p:grpSpPr>
          <a:xfrm>
            <a:off x="685800" y="5219700"/>
            <a:ext cx="10858500" cy="647700"/>
            <a:chOff x="685800" y="5219700"/>
            <a:chExt cx="10858500" cy="647700"/>
          </a:xfrm>
        </p:grpSpPr>
        <p:sp>
          <p:nvSpPr>
            <p:cNvPr id="40" name="Rectangle 40"/>
            <p:cNvSpPr/>
            <p:nvPr/>
          </p:nvSpPr>
          <p:spPr>
            <a:xfrm>
              <a:off x="685800" y="5219700"/>
              <a:ext cx="5067300" cy="647700"/>
            </a:xfrm>
            <a:prstGeom prst="roundRect">
              <a:avLst>
                <a:gd name="adj" fmla="val 10294"/>
              </a:avLst>
            </a:prstGeom>
            <a:solidFill>
              <a:schemeClr val="lt2"/>
            </a:solidFill>
            <a:ln w="19050">
              <a:solidFill>
                <a:schemeClr val="accent3"/>
              </a:solidFill>
            </a:ln>
          </p:spPr>
        </p:sp>
        <p:sp>
          <p:nvSpPr>
            <p:cNvPr id="41" name="Rectangle 41"/>
            <p:cNvSpPr/>
            <p:nvPr/>
          </p:nvSpPr>
          <p:spPr>
            <a:xfrm>
              <a:off x="5981700" y="5219700"/>
              <a:ext cx="5562600" cy="647700"/>
            </a:xfrm>
            <a:prstGeom prst="roundRect">
              <a:avLst>
                <a:gd name="adj" fmla="val 10294"/>
              </a:avLst>
            </a:prstGeom>
            <a:solidFill>
              <a:schemeClr val="lt2"/>
            </a:solidFill>
            <a:ln w="19050">
              <a:solidFill>
                <a:schemeClr val="accent3"/>
              </a:solidFill>
            </a:ln>
          </p:spPr>
        </p:sp>
        <p:sp>
          <p:nvSpPr>
            <p:cNvPr id="42" name="TextBox 42"/>
            <p:cNvSpPr txBox="1"/>
            <p:nvPr/>
          </p:nvSpPr>
          <p:spPr>
            <a:xfrm>
              <a:off x="907542" y="5474018"/>
              <a:ext cx="197389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Repair = new Package</a:t>
              </a:r>
            </a:p>
          </p:txBody>
        </p:sp>
        <p:sp>
          <p:nvSpPr>
            <p:cNvPr id="43" name="TextBox 43"/>
            <p:cNvSpPr txBox="1"/>
            <p:nvPr/>
          </p:nvSpPr>
          <p:spPr>
            <a:xfrm>
              <a:off x="2869692" y="5474018"/>
              <a:ext cx="303055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do not mutate the settled version</a:t>
              </a:r>
            </a:p>
          </p:txBody>
        </p:sp>
        <p:sp>
          <p:nvSpPr>
            <p:cNvPr id="44" name="TextBox 44"/>
            <p:cNvSpPr txBox="1"/>
            <p:nvPr/>
          </p:nvSpPr>
          <p:spPr>
            <a:xfrm>
              <a:off x="6203442" y="5474018"/>
              <a:ext cx="338044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Rollback = explicit currentPackageId</a:t>
              </a:r>
            </a:p>
          </p:txBody>
        </p:sp>
        <p:sp>
          <p:nvSpPr>
            <p:cNvPr id="45" name="TextBox 45"/>
            <p:cNvSpPr txBox="1"/>
            <p:nvPr/>
          </p:nvSpPr>
          <p:spPr>
            <a:xfrm>
              <a:off x="9670542" y="5474018"/>
              <a:ext cx="176456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Package owns state</a:t>
              </a:r>
            </a:p>
          </p:txBody>
        </p:sp>
      </p:grpSp>
      <p:grpSp>
        <p:nvGrpSpPr>
          <p:cNvPr id="49" name="Group 49"/>
          <p:cNvGrpSpPr/>
          <p:nvPr/>
        </p:nvGrpSpPr>
        <p:grpSpPr>
          <a:xfrm>
            <a:off x="602742" y="6293168"/>
            <a:ext cx="10986516" cy="264033"/>
            <a:chOff x="602742" y="6293168"/>
            <a:chExt cx="10986516" cy="264033"/>
          </a:xfrm>
        </p:grpSpPr>
        <p:sp>
          <p:nvSpPr>
            <p:cNvPr id="47" name="TextBox 47"/>
            <p:cNvSpPr txBox="1"/>
            <p:nvPr/>
          </p:nvSpPr>
          <p:spPr>
            <a:xfrm>
              <a:off x="602742" y="6293168"/>
              <a:ext cx="491032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K-014 · K-015 | ACTIVATION SUCCESS ≠ RENDER SUCCESS</a:t>
              </a:r>
            </a:p>
          </p:txBody>
        </p:sp>
        <p:sp>
          <p:nvSpPr>
            <p:cNvPr id="48" name="TextBox 48"/>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P15 / 24</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34000"/>
              </a:schemeClr>
            </a:solidFill>
          </a:ln>
        </p:spPr>
      </p:sp>
      <p:grpSp>
        <p:nvGrpSpPr>
          <p:cNvPr id="6" name="Group 6"/>
          <p:cNvGrpSpPr/>
          <p:nvPr/>
        </p:nvGrpSpPr>
        <p:grpSpPr>
          <a:xfrm>
            <a:off x="593598" y="597218"/>
            <a:ext cx="10995660" cy="993267"/>
            <a:chOff x="593598" y="597218"/>
            <a:chExt cx="10995660" cy="993267"/>
          </a:xfrm>
        </p:grpSpPr>
        <p:sp>
          <p:nvSpPr>
            <p:cNvPr id="3" name="TextBox 3"/>
            <p:cNvSpPr txBox="1"/>
            <p:nvPr/>
          </p:nvSpPr>
          <p:spPr>
            <a:xfrm>
              <a:off x="602742" y="597218"/>
              <a:ext cx="2475890" cy="264033"/>
            </a:xfrm>
            <a:prstGeom prst="rect">
              <a:avLst/>
            </a:prstGeom>
            <a:noFill/>
            <a:ln>
              <a:noFill/>
            </a:ln>
          </p:spPr>
          <p:txBody>
            <a:bodyPr wrap="none" lIns="0" tIns="0" rIns="0" bIns="0" anchor="t" anchorCtr="0">
              <a:spAutoFit/>
            </a:bodyPr>
            <a:lstStyle/>
            <a:p>
              <a:pPr algn="l"/>
              <a:r>
                <a:rPr lang="en-US" sz="1350" spc="75" dirty="0">
                  <a:solidFill>
                    <a:schemeClr val="accent2"/>
                  </a:solidFill>
                  <a:latin typeface="Cascadia Mono"/>
                  <a:ea typeface="Cascadia Mono"/>
                  <a:cs typeface="Cascadia Mono"/>
                </a:rPr>
                <a:t>SECTION 03 / ENTERPRISE</a:t>
              </a:r>
            </a:p>
          </p:txBody>
        </p:sp>
        <p:sp>
          <p:nvSpPr>
            <p:cNvPr id="4" name="TextBox 4"/>
            <p:cNvSpPr txBox="1"/>
            <p:nvPr/>
          </p:nvSpPr>
          <p:spPr>
            <a:xfrm>
              <a:off x="9904933" y="597218"/>
              <a:ext cx="1684325" cy="264033"/>
            </a:xfrm>
            <a:prstGeom prst="rect">
              <a:avLst/>
            </a:prstGeom>
            <a:noFill/>
            <a:ln>
              <a:noFill/>
            </a:ln>
          </p:spPr>
          <p:txBody>
            <a:bodyPr wrap="none" lIns="0" tIns="0" rIns="0" bIns="0" anchor="t" anchorCtr="0">
              <a:spAutoFit/>
            </a:bodyPr>
            <a:lstStyle/>
            <a:p>
              <a:pPr algn="r"/>
              <a:r>
                <a:rPr lang="en-US" sz="1350" dirty="0">
                  <a:solidFill>
                    <a:srgbClr val="A9B7D5"/>
                  </a:solidFill>
                  <a:latin typeface="Cascadia Mono"/>
                  <a:ea typeface="Cascadia Mono"/>
                  <a:cs typeface="Cascadia Mono"/>
                </a:rPr>
                <a:t>LOCAL ≠ GOVERNED</a:t>
              </a:r>
            </a:p>
          </p:txBody>
        </p:sp>
        <p:sp>
          <p:nvSpPr>
            <p:cNvPr id="5" name="TextBox 5"/>
            <p:cNvSpPr txBox="1"/>
            <p:nvPr/>
          </p:nvSpPr>
          <p:spPr>
            <a:xfrm>
              <a:off x="593598" y="974408"/>
              <a:ext cx="8386383" cy="616077"/>
            </a:xfrm>
            <a:prstGeom prst="rect">
              <a:avLst/>
            </a:prstGeom>
            <a:noFill/>
            <a:ln>
              <a:noFill/>
            </a:ln>
          </p:spPr>
          <p:txBody>
            <a:bodyPr wrap="none" lIns="0" tIns="0" rIns="0" bIns="0" anchor="t" anchorCtr="0">
              <a:spAutoFit/>
            </a:bodyPr>
            <a:lstStyle/>
            <a:p>
              <a:pPr algn="l"/>
              <a:r>
                <a:rPr lang="en-US" sz="3150" b="1" dirty="0">
                  <a:solidFill>
                    <a:srgbClr val="F7FAFC"/>
                  </a:solidFill>
                  <a:latin typeface="+mn-lt"/>
                  <a:ea typeface="+mn-ea"/>
                  <a:cs typeface="+mn-cs"/>
                </a:rPr>
                <a:t>03 · Enterprise: Local is not Governed</a:t>
              </a:r>
            </a:p>
          </p:txBody>
        </p:sp>
      </p:grpSp>
      <p:grpSp>
        <p:nvGrpSpPr>
          <p:cNvPr id="47" name="Group 47"/>
          <p:cNvGrpSpPr/>
          <p:nvPr/>
        </p:nvGrpSpPr>
        <p:grpSpPr>
          <a:xfrm>
            <a:off x="609600" y="2209800"/>
            <a:ext cx="10972800" cy="2133600"/>
            <a:chOff x="609600" y="2209800"/>
            <a:chExt cx="10972800" cy="2133600"/>
          </a:xfrm>
        </p:grpSpPr>
        <p:sp>
          <p:nvSpPr>
            <p:cNvPr id="7" name="Line 7"/>
            <p:cNvSpPr/>
            <p:nvPr/>
          </p:nvSpPr>
          <p:spPr>
            <a:xfrm>
              <a:off x="2933700" y="3276600"/>
              <a:ext cx="438150" cy="9525"/>
            </a:xfrm>
            <a:custGeom>
              <a:avLst/>
              <a:gdLst/>
              <a:ahLst/>
              <a:cxnLst/>
              <a:rect l="l" t="t" r="r" b="b"/>
              <a:pathLst>
                <a:path w="438150" h="9525">
                  <a:moveTo>
                    <a:pt x="0" y="0"/>
                  </a:moveTo>
                  <a:lnTo>
                    <a:pt x="438150" y="0"/>
                  </a:lnTo>
                </a:path>
              </a:pathLst>
            </a:custGeom>
            <a:noFill/>
            <a:ln w="38100">
              <a:solidFill>
                <a:schemeClr val="accent2"/>
              </a:solidFill>
            </a:ln>
          </p:spPr>
        </p:sp>
        <p:sp>
          <p:nvSpPr>
            <p:cNvPr id="8" name="Polygon 8"/>
            <p:cNvSpPr/>
            <p:nvPr/>
          </p:nvSpPr>
          <p:spPr>
            <a:xfrm>
              <a:off x="3238500" y="3200400"/>
              <a:ext cx="133350" cy="152400"/>
            </a:xfrm>
            <a:custGeom>
              <a:avLst/>
              <a:gdLst/>
              <a:ahLst/>
              <a:cxnLst/>
              <a:rect l="l" t="t" r="r" b="b"/>
              <a:pathLst>
                <a:path w="133350" h="152400">
                  <a:moveTo>
                    <a:pt x="133350" y="76200"/>
                  </a:moveTo>
                  <a:lnTo>
                    <a:pt x="0" y="0"/>
                  </a:lnTo>
                  <a:lnTo>
                    <a:pt x="0" y="152400"/>
                  </a:lnTo>
                  <a:close/>
                </a:path>
              </a:pathLst>
            </a:custGeom>
            <a:solidFill>
              <a:schemeClr val="accent2"/>
            </a:solidFill>
            <a:ln>
              <a:noFill/>
            </a:ln>
          </p:spPr>
        </p:sp>
        <p:sp>
          <p:nvSpPr>
            <p:cNvPr id="9" name="Line 9"/>
            <p:cNvSpPr/>
            <p:nvPr/>
          </p:nvSpPr>
          <p:spPr>
            <a:xfrm>
              <a:off x="5657850" y="3276600"/>
              <a:ext cx="438150" cy="9525"/>
            </a:xfrm>
            <a:custGeom>
              <a:avLst/>
              <a:gdLst/>
              <a:ahLst/>
              <a:cxnLst/>
              <a:rect l="l" t="t" r="r" b="b"/>
              <a:pathLst>
                <a:path w="438150" h="9525">
                  <a:moveTo>
                    <a:pt x="0" y="0"/>
                  </a:moveTo>
                  <a:lnTo>
                    <a:pt x="438150" y="0"/>
                  </a:lnTo>
                </a:path>
              </a:pathLst>
            </a:custGeom>
            <a:noFill/>
            <a:ln w="38100">
              <a:solidFill>
                <a:schemeClr val="accent2"/>
              </a:solidFill>
            </a:ln>
          </p:spPr>
        </p:sp>
        <p:sp>
          <p:nvSpPr>
            <p:cNvPr id="10" name="Polygon 10"/>
            <p:cNvSpPr/>
            <p:nvPr/>
          </p:nvSpPr>
          <p:spPr>
            <a:xfrm>
              <a:off x="5962650" y="3200400"/>
              <a:ext cx="133350" cy="152400"/>
            </a:xfrm>
            <a:custGeom>
              <a:avLst/>
              <a:gdLst/>
              <a:ahLst/>
              <a:cxnLst/>
              <a:rect l="l" t="t" r="r" b="b"/>
              <a:pathLst>
                <a:path w="133350" h="152400">
                  <a:moveTo>
                    <a:pt x="133350" y="76200"/>
                  </a:moveTo>
                  <a:lnTo>
                    <a:pt x="0" y="0"/>
                  </a:lnTo>
                  <a:lnTo>
                    <a:pt x="0" y="152400"/>
                  </a:lnTo>
                  <a:close/>
                </a:path>
              </a:pathLst>
            </a:custGeom>
            <a:solidFill>
              <a:schemeClr val="accent2"/>
            </a:solidFill>
            <a:ln>
              <a:noFill/>
            </a:ln>
          </p:spPr>
        </p:sp>
        <p:sp>
          <p:nvSpPr>
            <p:cNvPr id="11" name="Line 11"/>
            <p:cNvSpPr/>
            <p:nvPr/>
          </p:nvSpPr>
          <p:spPr>
            <a:xfrm>
              <a:off x="8382000" y="3276600"/>
              <a:ext cx="438150" cy="9525"/>
            </a:xfrm>
            <a:custGeom>
              <a:avLst/>
              <a:gdLst/>
              <a:ahLst/>
              <a:cxnLst/>
              <a:rect l="l" t="t" r="r" b="b"/>
              <a:pathLst>
                <a:path w="438150" h="9525">
                  <a:moveTo>
                    <a:pt x="0" y="0"/>
                  </a:moveTo>
                  <a:lnTo>
                    <a:pt x="438150" y="0"/>
                  </a:lnTo>
                </a:path>
              </a:pathLst>
            </a:custGeom>
            <a:noFill/>
            <a:ln w="38100">
              <a:solidFill>
                <a:schemeClr val="accent2"/>
              </a:solidFill>
            </a:ln>
          </p:spPr>
        </p:sp>
        <p:sp>
          <p:nvSpPr>
            <p:cNvPr id="12" name="Polygon 12"/>
            <p:cNvSpPr/>
            <p:nvPr/>
          </p:nvSpPr>
          <p:spPr>
            <a:xfrm>
              <a:off x="8686800" y="3200400"/>
              <a:ext cx="133350" cy="152400"/>
            </a:xfrm>
            <a:custGeom>
              <a:avLst/>
              <a:gdLst/>
              <a:ahLst/>
              <a:cxnLst/>
              <a:rect l="l" t="t" r="r" b="b"/>
              <a:pathLst>
                <a:path w="133350" h="152400">
                  <a:moveTo>
                    <a:pt x="133350" y="76200"/>
                  </a:moveTo>
                  <a:lnTo>
                    <a:pt x="0" y="0"/>
                  </a:lnTo>
                  <a:lnTo>
                    <a:pt x="0" y="152400"/>
                  </a:lnTo>
                  <a:close/>
                </a:path>
              </a:pathLst>
            </a:custGeom>
            <a:solidFill>
              <a:schemeClr val="accent2"/>
            </a:solidFill>
            <a:ln>
              <a:noFill/>
            </a:ln>
          </p:spPr>
        </p:sp>
        <p:sp>
          <p:nvSpPr>
            <p:cNvPr id="13" name="Rectangle 13"/>
            <p:cNvSpPr/>
            <p:nvPr/>
          </p:nvSpPr>
          <p:spPr>
            <a:xfrm>
              <a:off x="609600" y="2400300"/>
              <a:ext cx="2324100" cy="1752600"/>
            </a:xfrm>
            <a:prstGeom prst="roundRect">
              <a:avLst>
                <a:gd name="adj" fmla="val 5435"/>
              </a:avLst>
            </a:prstGeom>
            <a:solidFill>
              <a:srgbClr val="172746"/>
            </a:solidFill>
            <a:ln w="19050">
              <a:solidFill>
                <a:schemeClr val="accent3"/>
              </a:solidFill>
            </a:ln>
          </p:spPr>
        </p:sp>
        <p:grpSp>
          <p:nvGrpSpPr>
            <p:cNvPr id="18" name="Group 18"/>
            <p:cNvGrpSpPr/>
            <p:nvPr/>
          </p:nvGrpSpPr>
          <p:grpSpPr>
            <a:xfrm>
              <a:off x="888206" y="2695575"/>
              <a:ext cx="300038" cy="266700"/>
              <a:chOff x="888206" y="2695575"/>
              <a:chExt cx="300038" cy="266700"/>
            </a:xfrm>
          </p:grpSpPr>
          <p:sp>
            <p:nvSpPr>
              <p:cNvPr id="14" name="Freeform 14"/>
              <p:cNvSpPr/>
              <p:nvPr/>
            </p:nvSpPr>
            <p:spPr>
              <a:xfrm>
                <a:off x="888206" y="2695575"/>
                <a:ext cx="300038" cy="133350"/>
              </a:xfrm>
              <a:custGeom>
                <a:avLst/>
                <a:gdLst/>
                <a:ahLst/>
                <a:cxnLst/>
                <a:rect l="l" t="t" r="r" b="b"/>
                <a:pathLst>
                  <a:path w="300038" h="133350">
                    <a:moveTo>
                      <a:pt x="0" y="50006"/>
                    </a:moveTo>
                    <a:cubicBezTo>
                      <a:pt x="0" y="22389"/>
                      <a:pt x="22389" y="0"/>
                      <a:pt x="50006" y="0"/>
                    </a:cubicBezTo>
                    <a:lnTo>
                      <a:pt x="250031" y="0"/>
                    </a:lnTo>
                    <a:cubicBezTo>
                      <a:pt x="277649" y="0"/>
                      <a:pt x="300038" y="22389"/>
                      <a:pt x="300038" y="50006"/>
                    </a:cubicBezTo>
                    <a:lnTo>
                      <a:pt x="300038" y="83344"/>
                    </a:lnTo>
                    <a:cubicBezTo>
                      <a:pt x="300038" y="110961"/>
                      <a:pt x="277649" y="133350"/>
                      <a:pt x="250031" y="133350"/>
                    </a:cubicBezTo>
                    <a:lnTo>
                      <a:pt x="50006" y="133350"/>
                    </a:lnTo>
                    <a:cubicBezTo>
                      <a:pt x="22389" y="133350"/>
                      <a:pt x="0" y="110961"/>
                      <a:pt x="0" y="83344"/>
                    </a:cubicBezTo>
                    <a:lnTo>
                      <a:pt x="0" y="50006"/>
                    </a:lnTo>
                  </a:path>
                </a:pathLst>
              </a:custGeom>
              <a:noFill/>
              <a:ln w="33338">
                <a:solidFill>
                  <a:schemeClr val="accent2"/>
                </a:solidFill>
              </a:ln>
            </p:spPr>
          </p:sp>
          <p:sp>
            <p:nvSpPr>
              <p:cNvPr id="15" name="Freeform 15"/>
              <p:cNvSpPr/>
              <p:nvPr/>
            </p:nvSpPr>
            <p:spPr>
              <a:xfrm>
                <a:off x="888206" y="2828925"/>
                <a:ext cx="300038" cy="133350"/>
              </a:xfrm>
              <a:custGeom>
                <a:avLst/>
                <a:gdLst/>
                <a:ahLst/>
                <a:cxnLst/>
                <a:rect l="l" t="t" r="r" b="b"/>
                <a:pathLst>
                  <a:path w="300038" h="133350">
                    <a:moveTo>
                      <a:pt x="0" y="50006"/>
                    </a:moveTo>
                    <a:cubicBezTo>
                      <a:pt x="0" y="22389"/>
                      <a:pt x="22389" y="0"/>
                      <a:pt x="50006" y="0"/>
                    </a:cubicBezTo>
                    <a:lnTo>
                      <a:pt x="250031" y="0"/>
                    </a:lnTo>
                    <a:cubicBezTo>
                      <a:pt x="277649" y="0"/>
                      <a:pt x="300038" y="22389"/>
                      <a:pt x="300038" y="50006"/>
                    </a:cubicBezTo>
                    <a:lnTo>
                      <a:pt x="300038" y="83344"/>
                    </a:lnTo>
                    <a:cubicBezTo>
                      <a:pt x="300038" y="110961"/>
                      <a:pt x="277649" y="133350"/>
                      <a:pt x="250031" y="133350"/>
                    </a:cubicBezTo>
                    <a:lnTo>
                      <a:pt x="50006" y="133350"/>
                    </a:lnTo>
                    <a:cubicBezTo>
                      <a:pt x="22389" y="133350"/>
                      <a:pt x="0" y="110961"/>
                      <a:pt x="0" y="83344"/>
                    </a:cubicBezTo>
                    <a:lnTo>
                      <a:pt x="0" y="50006"/>
                    </a:lnTo>
                  </a:path>
                </a:pathLst>
              </a:custGeom>
              <a:noFill/>
              <a:ln w="33338">
                <a:solidFill>
                  <a:schemeClr val="accent2"/>
                </a:solidFill>
              </a:ln>
            </p:spPr>
          </p:sp>
          <p:sp>
            <p:nvSpPr>
              <p:cNvPr id="16" name="Freeform 16"/>
              <p:cNvSpPr/>
              <p:nvPr/>
            </p:nvSpPr>
            <p:spPr>
              <a:xfrm>
                <a:off x="954881" y="2762250"/>
                <a:ext cx="9525" cy="9525"/>
              </a:xfrm>
              <a:custGeom>
                <a:avLst/>
                <a:gdLst/>
                <a:ahLst/>
                <a:cxnLst/>
                <a:rect l="l" t="t" r="r" b="b"/>
                <a:pathLst>
                  <a:path w="9525" h="9525">
                    <a:moveTo>
                      <a:pt x="0" y="0"/>
                    </a:moveTo>
                    <a:lnTo>
                      <a:pt x="0" y="167"/>
                    </a:lnTo>
                  </a:path>
                </a:pathLst>
              </a:custGeom>
              <a:noFill/>
              <a:ln w="33338">
                <a:solidFill>
                  <a:schemeClr val="accent2"/>
                </a:solidFill>
              </a:ln>
            </p:spPr>
          </p:sp>
          <p:sp>
            <p:nvSpPr>
              <p:cNvPr id="17" name="Freeform 17"/>
              <p:cNvSpPr/>
              <p:nvPr/>
            </p:nvSpPr>
            <p:spPr>
              <a:xfrm>
                <a:off x="954881" y="2895600"/>
                <a:ext cx="9525" cy="9525"/>
              </a:xfrm>
              <a:custGeom>
                <a:avLst/>
                <a:gdLst/>
                <a:ahLst/>
                <a:cxnLst/>
                <a:rect l="l" t="t" r="r" b="b"/>
                <a:pathLst>
                  <a:path w="9525" h="9525">
                    <a:moveTo>
                      <a:pt x="0" y="0"/>
                    </a:moveTo>
                    <a:lnTo>
                      <a:pt x="0" y="167"/>
                    </a:lnTo>
                  </a:path>
                </a:pathLst>
              </a:custGeom>
              <a:noFill/>
              <a:ln w="33338">
                <a:solidFill>
                  <a:schemeClr val="accent2"/>
                </a:solidFill>
              </a:ln>
            </p:spPr>
          </p:sp>
        </p:grpSp>
        <p:sp>
          <p:nvSpPr>
            <p:cNvPr id="19" name="TextBox 19"/>
            <p:cNvSpPr txBox="1"/>
            <p:nvPr/>
          </p:nvSpPr>
          <p:spPr>
            <a:xfrm>
              <a:off x="1400556" y="2682240"/>
              <a:ext cx="1705459"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Local runtime</a:t>
              </a:r>
            </a:p>
          </p:txBody>
        </p:sp>
        <p:sp>
          <p:nvSpPr>
            <p:cNvPr id="20" name="TextBox 20"/>
            <p:cNvSpPr txBox="1"/>
            <p:nvPr/>
          </p:nvSpPr>
          <p:spPr>
            <a:xfrm>
              <a:off x="831342" y="3226118"/>
              <a:ext cx="2476252" cy="264033"/>
            </a:xfrm>
            <a:prstGeom prst="rect">
              <a:avLst/>
            </a:prstGeom>
            <a:noFill/>
            <a:ln>
              <a:noFill/>
            </a:ln>
          </p:spPr>
          <p:txBody>
            <a:bodyPr wrap="none" lIns="0" tIns="0" rIns="0" bIns="0" anchor="t" anchorCtr="0">
              <a:spAutoFit/>
            </a:bodyPr>
            <a:lstStyle/>
            <a:p>
              <a:pPr algn="l"/>
              <a:r>
                <a:rPr lang="en-US" sz="1350" dirty="0">
                  <a:solidFill>
                    <a:srgbClr val="A9B7D5"/>
                  </a:solidFill>
                  <a:latin typeface="+mn-lt"/>
                  <a:ea typeface="+mn-ea"/>
                  <a:cs typeface="+mn-cs"/>
                </a:rPr>
                <a:t>code · process · filesystem</a:t>
              </a:r>
            </a:p>
          </p:txBody>
        </p:sp>
        <p:sp>
          <p:nvSpPr>
            <p:cNvPr id="21" name="TextBox 21"/>
            <p:cNvSpPr txBox="1"/>
            <p:nvPr/>
          </p:nvSpPr>
          <p:spPr>
            <a:xfrm>
              <a:off x="831342" y="3607118"/>
              <a:ext cx="2050131" cy="264033"/>
            </a:xfrm>
            <a:prstGeom prst="rect">
              <a:avLst/>
            </a:prstGeom>
            <a:noFill/>
            <a:ln>
              <a:noFill/>
            </a:ln>
          </p:spPr>
          <p:txBody>
            <a:bodyPr wrap="none" lIns="0" tIns="0" rIns="0" bIns="0" anchor="t" anchorCtr="0">
              <a:spAutoFit/>
            </a:bodyPr>
            <a:lstStyle/>
            <a:p>
              <a:pPr algn="l"/>
              <a:r>
                <a:rPr lang="en-US" sz="1350" b="1" dirty="0">
                  <a:solidFill>
                    <a:srgbClr val="B9F4F7"/>
                  </a:solidFill>
                  <a:latin typeface="+mn-lt"/>
                  <a:ea typeface="+mn-ea"/>
                  <a:cs typeface="+mn-cs"/>
                </a:rPr>
                <a:t>ISOLATION PRIMITIVES</a:t>
              </a:r>
            </a:p>
          </p:txBody>
        </p:sp>
        <p:sp>
          <p:nvSpPr>
            <p:cNvPr id="22" name="Rectangle 22"/>
            <p:cNvSpPr/>
            <p:nvPr/>
          </p:nvSpPr>
          <p:spPr>
            <a:xfrm>
              <a:off x="3333750" y="2400300"/>
              <a:ext cx="2324100" cy="1752600"/>
            </a:xfrm>
            <a:prstGeom prst="roundRect">
              <a:avLst>
                <a:gd name="adj" fmla="val 5435"/>
              </a:avLst>
            </a:prstGeom>
            <a:solidFill>
              <a:srgbClr val="172746"/>
            </a:solidFill>
            <a:ln w="19050">
              <a:solidFill>
                <a:schemeClr val="accent3"/>
              </a:solidFill>
            </a:ln>
          </p:spPr>
        </p:sp>
        <p:grpSp>
          <p:nvGrpSpPr>
            <p:cNvPr id="31" name="Group 31"/>
            <p:cNvGrpSpPr/>
            <p:nvPr/>
          </p:nvGrpSpPr>
          <p:grpSpPr>
            <a:xfrm>
              <a:off x="3612356" y="2678906"/>
              <a:ext cx="300037" cy="316707"/>
              <a:chOff x="3612356" y="2678906"/>
              <a:chExt cx="300037" cy="316707"/>
            </a:xfrm>
          </p:grpSpPr>
          <p:sp>
            <p:nvSpPr>
              <p:cNvPr id="23" name="Freeform 23"/>
              <p:cNvSpPr/>
              <p:nvPr/>
            </p:nvSpPr>
            <p:spPr>
              <a:xfrm>
                <a:off x="3662362" y="2678906"/>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33338">
                <a:solidFill>
                  <a:schemeClr val="accent2"/>
                </a:solidFill>
              </a:ln>
            </p:spPr>
          </p:sp>
          <p:sp>
            <p:nvSpPr>
              <p:cNvPr id="24" name="Freeform 24"/>
              <p:cNvSpPr/>
              <p:nvPr/>
            </p:nvSpPr>
            <p:spPr>
              <a:xfrm>
                <a:off x="3762375" y="2678906"/>
                <a:ext cx="33338" cy="200025"/>
              </a:xfrm>
              <a:custGeom>
                <a:avLst/>
                <a:gdLst/>
                <a:ahLst/>
                <a:cxnLst/>
                <a:rect l="l" t="t" r="r" b="b"/>
                <a:pathLst>
                  <a:path w="33338" h="200025">
                    <a:moveTo>
                      <a:pt x="0" y="0"/>
                    </a:moveTo>
                    <a:cubicBezTo>
                      <a:pt x="22219" y="5551"/>
                      <a:pt x="33338" y="38888"/>
                      <a:pt x="33338" y="100012"/>
                    </a:cubicBezTo>
                    <a:cubicBezTo>
                      <a:pt x="33338" y="161137"/>
                      <a:pt x="22219" y="194474"/>
                      <a:pt x="0" y="200025"/>
                    </a:cubicBezTo>
                  </a:path>
                </a:pathLst>
              </a:custGeom>
              <a:noFill/>
              <a:ln w="33338">
                <a:solidFill>
                  <a:schemeClr val="accent2"/>
                </a:solidFill>
              </a:ln>
            </p:spPr>
          </p:sp>
          <p:sp>
            <p:nvSpPr>
              <p:cNvPr id="25" name="Freeform 25"/>
              <p:cNvSpPr/>
              <p:nvPr/>
            </p:nvSpPr>
            <p:spPr>
              <a:xfrm>
                <a:off x="3729038" y="2678906"/>
                <a:ext cx="33338" cy="200025"/>
              </a:xfrm>
              <a:custGeom>
                <a:avLst/>
                <a:gdLst/>
                <a:ahLst/>
                <a:cxnLst/>
                <a:rect l="l" t="t" r="r" b="b"/>
                <a:pathLst>
                  <a:path w="33338" h="200025">
                    <a:moveTo>
                      <a:pt x="33338" y="0"/>
                    </a:moveTo>
                    <a:cubicBezTo>
                      <a:pt x="11118" y="5551"/>
                      <a:pt x="0" y="38888"/>
                      <a:pt x="0" y="100012"/>
                    </a:cubicBezTo>
                    <a:cubicBezTo>
                      <a:pt x="0" y="161137"/>
                      <a:pt x="11118" y="194474"/>
                      <a:pt x="33338" y="200025"/>
                    </a:cubicBezTo>
                  </a:path>
                </a:pathLst>
              </a:custGeom>
              <a:noFill/>
              <a:ln w="33338">
                <a:solidFill>
                  <a:schemeClr val="accent2"/>
                </a:solidFill>
              </a:ln>
            </p:spPr>
          </p:sp>
          <p:sp>
            <p:nvSpPr>
              <p:cNvPr id="26" name="Freeform 26"/>
              <p:cNvSpPr/>
              <p:nvPr/>
            </p:nvSpPr>
            <p:spPr>
              <a:xfrm>
                <a:off x="3662362" y="2778919"/>
                <a:ext cx="200025" cy="9525"/>
              </a:xfrm>
              <a:custGeom>
                <a:avLst/>
                <a:gdLst/>
                <a:ahLst/>
                <a:cxnLst/>
                <a:rect l="l" t="t" r="r" b="b"/>
                <a:pathLst>
                  <a:path w="200025" h="9525">
                    <a:moveTo>
                      <a:pt x="0" y="0"/>
                    </a:moveTo>
                    <a:lnTo>
                      <a:pt x="200025" y="0"/>
                    </a:lnTo>
                  </a:path>
                </a:pathLst>
              </a:custGeom>
              <a:noFill/>
              <a:ln w="33338">
                <a:solidFill>
                  <a:schemeClr val="accent2"/>
                </a:solidFill>
              </a:ln>
            </p:spPr>
          </p:sp>
          <p:sp>
            <p:nvSpPr>
              <p:cNvPr id="27" name="Freeform 27"/>
              <p:cNvSpPr/>
              <p:nvPr/>
            </p:nvSpPr>
            <p:spPr>
              <a:xfrm>
                <a:off x="3612356" y="2962275"/>
                <a:ext cx="116681" cy="9525"/>
              </a:xfrm>
              <a:custGeom>
                <a:avLst/>
                <a:gdLst/>
                <a:ahLst/>
                <a:cxnLst/>
                <a:rect l="l" t="t" r="r" b="b"/>
                <a:pathLst>
                  <a:path w="116681" h="9525">
                    <a:moveTo>
                      <a:pt x="0" y="0"/>
                    </a:moveTo>
                    <a:lnTo>
                      <a:pt x="116681" y="0"/>
                    </a:lnTo>
                  </a:path>
                </a:pathLst>
              </a:custGeom>
              <a:noFill/>
              <a:ln w="33338">
                <a:solidFill>
                  <a:schemeClr val="accent2"/>
                </a:solidFill>
              </a:ln>
            </p:spPr>
          </p:sp>
          <p:sp>
            <p:nvSpPr>
              <p:cNvPr id="28" name="Freeform 28"/>
              <p:cNvSpPr/>
              <p:nvPr/>
            </p:nvSpPr>
            <p:spPr>
              <a:xfrm>
                <a:off x="3795712" y="2962275"/>
                <a:ext cx="116681" cy="9525"/>
              </a:xfrm>
              <a:custGeom>
                <a:avLst/>
                <a:gdLst/>
                <a:ahLst/>
                <a:cxnLst/>
                <a:rect l="l" t="t" r="r" b="b"/>
                <a:pathLst>
                  <a:path w="116681" h="9525">
                    <a:moveTo>
                      <a:pt x="0" y="0"/>
                    </a:moveTo>
                    <a:lnTo>
                      <a:pt x="116681" y="0"/>
                    </a:lnTo>
                  </a:path>
                </a:pathLst>
              </a:custGeom>
              <a:noFill/>
              <a:ln w="33338">
                <a:solidFill>
                  <a:schemeClr val="accent2"/>
                </a:solidFill>
              </a:ln>
            </p:spPr>
          </p:sp>
          <p:sp>
            <p:nvSpPr>
              <p:cNvPr id="29" name="Freeform 29"/>
              <p:cNvSpPr/>
              <p:nvPr/>
            </p:nvSpPr>
            <p:spPr>
              <a:xfrm>
                <a:off x="3729038" y="2928938"/>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33338">
                <a:solidFill>
                  <a:schemeClr val="accent2"/>
                </a:solidFill>
              </a:ln>
            </p:spPr>
          </p:sp>
          <p:sp>
            <p:nvSpPr>
              <p:cNvPr id="30" name="Freeform 30"/>
              <p:cNvSpPr/>
              <p:nvPr/>
            </p:nvSpPr>
            <p:spPr>
              <a:xfrm>
                <a:off x="3762375" y="2878931"/>
                <a:ext cx="9525" cy="50006"/>
              </a:xfrm>
              <a:custGeom>
                <a:avLst/>
                <a:gdLst/>
                <a:ahLst/>
                <a:cxnLst/>
                <a:rect l="l" t="t" r="r" b="b"/>
                <a:pathLst>
                  <a:path w="9525" h="50006">
                    <a:moveTo>
                      <a:pt x="0" y="0"/>
                    </a:moveTo>
                    <a:lnTo>
                      <a:pt x="0" y="50006"/>
                    </a:lnTo>
                  </a:path>
                </a:pathLst>
              </a:custGeom>
              <a:noFill/>
              <a:ln w="33338">
                <a:solidFill>
                  <a:schemeClr val="accent2"/>
                </a:solidFill>
              </a:ln>
            </p:spPr>
          </p:sp>
        </p:grpSp>
        <p:sp>
          <p:nvSpPr>
            <p:cNvPr id="32" name="TextBox 32"/>
            <p:cNvSpPr txBox="1"/>
            <p:nvPr/>
          </p:nvSpPr>
          <p:spPr>
            <a:xfrm>
              <a:off x="4124706" y="2682240"/>
              <a:ext cx="2074745"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Local data paths</a:t>
              </a:r>
            </a:p>
          </p:txBody>
        </p:sp>
        <p:sp>
          <p:nvSpPr>
            <p:cNvPr id="33" name="TextBox 33"/>
            <p:cNvSpPr txBox="1"/>
            <p:nvPr/>
          </p:nvSpPr>
          <p:spPr>
            <a:xfrm>
              <a:off x="3555492" y="3226118"/>
              <a:ext cx="2412644" cy="264033"/>
            </a:xfrm>
            <a:prstGeom prst="rect">
              <a:avLst/>
            </a:prstGeom>
            <a:noFill/>
            <a:ln>
              <a:noFill/>
            </a:ln>
          </p:spPr>
          <p:txBody>
            <a:bodyPr wrap="none" lIns="0" tIns="0" rIns="0" bIns="0" anchor="t" anchorCtr="0">
              <a:spAutoFit/>
            </a:bodyPr>
            <a:lstStyle/>
            <a:p>
              <a:pPr algn="l"/>
              <a:r>
                <a:rPr lang="en-US" sz="1350" dirty="0">
                  <a:solidFill>
                    <a:srgbClr val="A9B7D5"/>
                  </a:solidFill>
                  <a:latin typeface="+mn-lt"/>
                  <a:ea typeface="+mn-ea"/>
                  <a:cs typeface="+mn-cs"/>
                </a:rPr>
                <a:t>model · search · telemetry</a:t>
              </a:r>
            </a:p>
          </p:txBody>
        </p:sp>
        <p:sp>
          <p:nvSpPr>
            <p:cNvPr id="34" name="TextBox 34"/>
            <p:cNvSpPr txBox="1"/>
            <p:nvPr/>
          </p:nvSpPr>
          <p:spPr>
            <a:xfrm>
              <a:off x="3555492" y="3607118"/>
              <a:ext cx="2100537" cy="264033"/>
            </a:xfrm>
            <a:prstGeom prst="rect">
              <a:avLst/>
            </a:prstGeom>
            <a:noFill/>
            <a:ln>
              <a:noFill/>
            </a:ln>
          </p:spPr>
          <p:txBody>
            <a:bodyPr wrap="none" lIns="0" tIns="0" rIns="0" bIns="0" anchor="t" anchorCtr="0">
              <a:spAutoFit/>
            </a:bodyPr>
            <a:lstStyle/>
            <a:p>
              <a:pPr algn="l"/>
              <a:r>
                <a:rPr lang="en-US" sz="1350" b="1" dirty="0">
                  <a:solidFill>
                    <a:srgbClr val="B9F4F7"/>
                  </a:solidFill>
                  <a:latin typeface="+mn-lt"/>
                  <a:ea typeface="+mn-ea"/>
                  <a:cs typeface="+mn-cs"/>
                </a:rPr>
                <a:t>DEPLOYMENT EVIDENCE</a:t>
              </a:r>
            </a:p>
          </p:txBody>
        </p:sp>
        <p:sp>
          <p:nvSpPr>
            <p:cNvPr id="35" name="Rectangle 35"/>
            <p:cNvSpPr/>
            <p:nvPr/>
          </p:nvSpPr>
          <p:spPr>
            <a:xfrm>
              <a:off x="6057900" y="2400300"/>
              <a:ext cx="2324100" cy="1752600"/>
            </a:xfrm>
            <a:prstGeom prst="roundRect">
              <a:avLst>
                <a:gd name="adj" fmla="val 5435"/>
              </a:avLst>
            </a:prstGeom>
            <a:solidFill>
              <a:srgbClr val="1C2A4A"/>
            </a:solidFill>
            <a:ln w="28575">
              <a:solidFill>
                <a:srgbClr val="C2415B"/>
              </a:solidFill>
            </a:ln>
          </p:spPr>
        </p:sp>
        <p:grpSp>
          <p:nvGrpSpPr>
            <p:cNvPr id="39" name="Group 39"/>
            <p:cNvGrpSpPr/>
            <p:nvPr/>
          </p:nvGrpSpPr>
          <p:grpSpPr>
            <a:xfrm>
              <a:off x="6329565" y="2678906"/>
              <a:ext cx="313921" cy="300038"/>
              <a:chOff x="6329565" y="2678906"/>
              <a:chExt cx="313921" cy="300038"/>
            </a:xfrm>
          </p:grpSpPr>
          <p:sp>
            <p:nvSpPr>
              <p:cNvPr id="36" name="Freeform 36"/>
              <p:cNvSpPr/>
              <p:nvPr/>
            </p:nvSpPr>
            <p:spPr>
              <a:xfrm>
                <a:off x="6329565" y="2678906"/>
                <a:ext cx="313921" cy="300038"/>
              </a:xfrm>
              <a:custGeom>
                <a:avLst/>
                <a:gdLst/>
                <a:ahLst/>
                <a:cxnLst/>
                <a:rect l="l" t="t" r="r" b="b"/>
                <a:pathLst>
                  <a:path w="313921" h="300038">
                    <a:moveTo>
                      <a:pt x="156960" y="0"/>
                    </a:moveTo>
                    <a:cubicBezTo>
                      <a:pt x="195896" y="34447"/>
                      <a:pt x="246713" y="52383"/>
                      <a:pt x="298645" y="50006"/>
                    </a:cubicBezTo>
                    <a:cubicBezTo>
                      <a:pt x="313921" y="101972"/>
                      <a:pt x="307470" y="157910"/>
                      <a:pt x="280766" y="205034"/>
                    </a:cubicBezTo>
                    <a:cubicBezTo>
                      <a:pt x="254062" y="252158"/>
                      <a:pt x="209390" y="286438"/>
                      <a:pt x="156960" y="300038"/>
                    </a:cubicBezTo>
                    <a:cubicBezTo>
                      <a:pt x="104531" y="286438"/>
                      <a:pt x="59858" y="252158"/>
                      <a:pt x="33155" y="205034"/>
                    </a:cubicBezTo>
                    <a:cubicBezTo>
                      <a:pt x="6451" y="157910"/>
                      <a:pt x="0" y="101972"/>
                      <a:pt x="15276" y="50006"/>
                    </a:cubicBezTo>
                    <a:cubicBezTo>
                      <a:pt x="67208" y="52383"/>
                      <a:pt x="118025" y="34447"/>
                      <a:pt x="156960" y="0"/>
                    </a:cubicBezTo>
                  </a:path>
                </a:pathLst>
              </a:custGeom>
              <a:noFill/>
              <a:ln w="33338">
                <a:solidFill>
                  <a:srgbClr val="C2415B"/>
                </a:solidFill>
              </a:ln>
            </p:spPr>
          </p:sp>
          <p:sp>
            <p:nvSpPr>
              <p:cNvPr id="37" name="Freeform 37"/>
              <p:cNvSpPr/>
              <p:nvPr/>
            </p:nvSpPr>
            <p:spPr>
              <a:xfrm>
                <a:off x="6469856" y="2795588"/>
                <a:ext cx="33338" cy="33338"/>
              </a:xfrm>
              <a:custGeom>
                <a:avLst/>
                <a:gdLst/>
                <a:ahLst/>
                <a:cxnLst/>
                <a:rect l="l" t="t" r="r" b="b"/>
                <a:pathLst>
                  <a:path w="33338" h="33338">
                    <a:moveTo>
                      <a:pt x="0" y="16669"/>
                    </a:moveTo>
                    <a:cubicBezTo>
                      <a:pt x="0" y="25875"/>
                      <a:pt x="7463" y="33338"/>
                      <a:pt x="16669" y="33338"/>
                    </a:cubicBezTo>
                    <a:cubicBezTo>
                      <a:pt x="25875" y="33338"/>
                      <a:pt x="33338" y="25875"/>
                      <a:pt x="33338" y="16669"/>
                    </a:cubicBezTo>
                    <a:cubicBezTo>
                      <a:pt x="33338" y="7463"/>
                      <a:pt x="25875" y="0"/>
                      <a:pt x="16669" y="0"/>
                    </a:cubicBezTo>
                    <a:cubicBezTo>
                      <a:pt x="7463" y="0"/>
                      <a:pt x="0" y="7463"/>
                      <a:pt x="0" y="16669"/>
                    </a:cubicBezTo>
                  </a:path>
                </a:pathLst>
              </a:custGeom>
              <a:noFill/>
              <a:ln w="33338">
                <a:solidFill>
                  <a:srgbClr val="C2415B"/>
                </a:solidFill>
              </a:ln>
            </p:spPr>
          </p:sp>
          <p:sp>
            <p:nvSpPr>
              <p:cNvPr id="38" name="Freeform 38"/>
              <p:cNvSpPr/>
              <p:nvPr/>
            </p:nvSpPr>
            <p:spPr>
              <a:xfrm>
                <a:off x="6486525" y="2828925"/>
                <a:ext cx="9525" cy="41672"/>
              </a:xfrm>
              <a:custGeom>
                <a:avLst/>
                <a:gdLst/>
                <a:ahLst/>
                <a:cxnLst/>
                <a:rect l="l" t="t" r="r" b="b"/>
                <a:pathLst>
                  <a:path w="9525" h="41672">
                    <a:moveTo>
                      <a:pt x="0" y="0"/>
                    </a:moveTo>
                    <a:lnTo>
                      <a:pt x="0" y="41672"/>
                    </a:lnTo>
                  </a:path>
                </a:pathLst>
              </a:custGeom>
              <a:noFill/>
              <a:ln w="33338">
                <a:solidFill>
                  <a:srgbClr val="C2415B"/>
                </a:solidFill>
              </a:ln>
            </p:spPr>
          </p:sp>
        </p:grpSp>
        <p:sp>
          <p:nvSpPr>
            <p:cNvPr id="40" name="TextBox 40"/>
            <p:cNvSpPr txBox="1"/>
            <p:nvPr/>
          </p:nvSpPr>
          <p:spPr>
            <a:xfrm>
              <a:off x="6849618" y="2565082"/>
              <a:ext cx="1226915" cy="570357"/>
            </a:xfrm>
            <a:prstGeom prst="rect">
              <a:avLst/>
            </a:prstGeom>
            <a:noFill/>
            <a:ln>
              <a:noFill/>
            </a:ln>
          </p:spPr>
          <p:txBody>
            <a:bodyPr wrap="none" lIns="0" tIns="0" rIns="0" bIns="0" anchor="t" anchorCtr="0">
              <a:spAutoFit/>
            </a:bodyPr>
            <a:lstStyle/>
            <a:p>
              <a:pPr algn="l">
                <a:lnSpc>
                  <a:spcPts val="1950"/>
                </a:lnSpc>
              </a:pPr>
              <a:r>
                <a:rPr lang="en-US" sz="1650" b="1" dirty="0">
                  <a:solidFill>
                    <a:srgbClr val="F7FAFC"/>
                  </a:solidFill>
                  <a:latin typeface="+mn-lt"/>
                  <a:ea typeface="+mn-ea"/>
                  <a:cs typeface="+mn-cs"/>
                </a:rPr>
                <a:t>Enterprise</a:t>
              </a:r>
              <a:br/>
              <a:r>
                <a:rPr lang="en-US" sz="1650" b="1" dirty="0">
                  <a:solidFill>
                    <a:srgbClr val="F7FAFC"/>
                  </a:solidFill>
                  <a:latin typeface="+mn-lt"/>
                  <a:ea typeface="+mn-ea"/>
                  <a:cs typeface="+mn-cs"/>
                </a:rPr>
                <a:t>governance</a:t>
              </a:r>
            </a:p>
          </p:txBody>
        </p:sp>
        <p:sp>
          <p:nvSpPr>
            <p:cNvPr id="41" name="TextBox 41"/>
            <p:cNvSpPr txBox="1"/>
            <p:nvPr/>
          </p:nvSpPr>
          <p:spPr>
            <a:xfrm>
              <a:off x="6279642" y="3226118"/>
              <a:ext cx="2358123" cy="264033"/>
            </a:xfrm>
            <a:prstGeom prst="rect">
              <a:avLst/>
            </a:prstGeom>
            <a:noFill/>
            <a:ln>
              <a:noFill/>
            </a:ln>
          </p:spPr>
          <p:txBody>
            <a:bodyPr wrap="none" lIns="0" tIns="0" rIns="0" bIns="0" anchor="t" anchorCtr="0">
              <a:spAutoFit/>
            </a:bodyPr>
            <a:lstStyle/>
            <a:p>
              <a:pPr algn="l"/>
              <a:r>
                <a:rPr lang="en-US" sz="1350" dirty="0">
                  <a:solidFill>
                    <a:srgbClr val="A9B7D5"/>
                  </a:solidFill>
                  <a:latin typeface="+mn-lt"/>
                  <a:ea typeface="+mn-ea"/>
                  <a:cs typeface="+mn-cs"/>
                </a:rPr>
                <a:t>identity · audit · lifecycle</a:t>
              </a:r>
            </a:p>
          </p:txBody>
        </p:sp>
        <p:sp>
          <p:nvSpPr>
            <p:cNvPr id="42" name="TextBox 42"/>
            <p:cNvSpPr txBox="1"/>
            <p:nvPr/>
          </p:nvSpPr>
          <p:spPr>
            <a:xfrm>
              <a:off x="6279642" y="3607118"/>
              <a:ext cx="1767855" cy="264033"/>
            </a:xfrm>
            <a:prstGeom prst="rect">
              <a:avLst/>
            </a:prstGeom>
            <a:noFill/>
            <a:ln>
              <a:noFill/>
            </a:ln>
          </p:spPr>
          <p:txBody>
            <a:bodyPr wrap="none" lIns="0" tIns="0" rIns="0" bIns="0" anchor="t" anchorCtr="0">
              <a:spAutoFit/>
            </a:bodyPr>
            <a:lstStyle/>
            <a:p>
              <a:pPr algn="l"/>
              <a:r>
                <a:rPr lang="en-US" sz="1350" b="1" dirty="0">
                  <a:solidFill>
                    <a:srgbClr val="FFB4C0"/>
                  </a:solidFill>
                  <a:latin typeface="+mn-lt"/>
                  <a:ea typeface="+mn-ea"/>
                  <a:cs typeface="+mn-cs"/>
                </a:rPr>
                <a:t>CONTROL EVIDENCE</a:t>
              </a:r>
            </a:p>
          </p:txBody>
        </p:sp>
        <p:sp>
          <p:nvSpPr>
            <p:cNvPr id="43" name="Rectangle 43"/>
            <p:cNvSpPr/>
            <p:nvPr/>
          </p:nvSpPr>
          <p:spPr>
            <a:xfrm>
              <a:off x="8782050" y="2209800"/>
              <a:ext cx="2800350" cy="2133600"/>
            </a:xfrm>
            <a:prstGeom prst="roundRect">
              <a:avLst>
                <a:gd name="adj" fmla="val 5357"/>
              </a:avLst>
            </a:prstGeom>
            <a:solidFill>
              <a:srgbClr val="E8F7ED"/>
            </a:solidFill>
            <a:ln w="38100">
              <a:solidFill>
                <a:schemeClr val="accent2"/>
              </a:solidFill>
            </a:ln>
          </p:spPr>
        </p:sp>
        <p:sp>
          <p:nvSpPr>
            <p:cNvPr id="44" name="Freeform 44"/>
            <p:cNvSpPr/>
            <p:nvPr/>
          </p:nvSpPr>
          <p:spPr>
            <a:xfrm>
              <a:off x="10043319" y="2653506"/>
              <a:ext cx="297656" cy="198437"/>
            </a:xfrm>
            <a:custGeom>
              <a:avLst/>
              <a:gdLst/>
              <a:ahLst/>
              <a:cxnLst/>
              <a:rect l="l" t="t" r="r" b="b"/>
              <a:pathLst>
                <a:path w="297656" h="198437">
                  <a:moveTo>
                    <a:pt x="0" y="99219"/>
                  </a:moveTo>
                  <a:lnTo>
                    <a:pt x="99219" y="198437"/>
                  </a:lnTo>
                  <a:lnTo>
                    <a:pt x="297656" y="0"/>
                  </a:lnTo>
                </a:path>
              </a:pathLst>
            </a:custGeom>
            <a:noFill/>
            <a:ln w="39687">
              <a:solidFill>
                <a:srgbClr val="15803D"/>
              </a:solidFill>
            </a:ln>
          </p:spPr>
        </p:sp>
        <p:sp>
          <p:nvSpPr>
            <p:cNvPr id="45" name="TextBox 45"/>
            <p:cNvSpPr txBox="1"/>
            <p:nvPr/>
          </p:nvSpPr>
          <p:spPr>
            <a:xfrm>
              <a:off x="9157426" y="3074670"/>
              <a:ext cx="2049597" cy="469392"/>
            </a:xfrm>
            <a:prstGeom prst="rect">
              <a:avLst/>
            </a:prstGeom>
            <a:noFill/>
            <a:ln>
              <a:noFill/>
            </a:ln>
          </p:spPr>
          <p:txBody>
            <a:bodyPr wrap="none" lIns="0" tIns="0" rIns="0" bIns="0" anchor="t" anchorCtr="0">
              <a:spAutoFit/>
            </a:bodyPr>
            <a:lstStyle/>
            <a:p>
              <a:pPr algn="ctr"/>
              <a:r>
                <a:rPr lang="en-US" sz="2400" b="1" dirty="0">
                  <a:solidFill>
                    <a:srgbClr val="15803D"/>
                  </a:solidFill>
                  <a:latin typeface="Cascadia Mono"/>
                  <a:ea typeface="Cascadia Mono"/>
                  <a:cs typeface="Cascadia Mono"/>
                </a:rPr>
                <a:t>PRODUCTION</a:t>
              </a:r>
            </a:p>
          </p:txBody>
        </p:sp>
        <p:sp>
          <p:nvSpPr>
            <p:cNvPr id="46" name="TextBox 46"/>
            <p:cNvSpPr txBox="1"/>
            <p:nvPr/>
          </p:nvSpPr>
          <p:spPr>
            <a:xfrm>
              <a:off x="9034967" y="3588068"/>
              <a:ext cx="229451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only after all three gates</a:t>
              </a:r>
            </a:p>
          </p:txBody>
        </p:sp>
      </p:grpSp>
      <p:grpSp>
        <p:nvGrpSpPr>
          <p:cNvPr id="50" name="Group 50"/>
          <p:cNvGrpSpPr/>
          <p:nvPr/>
        </p:nvGrpSpPr>
        <p:grpSpPr>
          <a:xfrm>
            <a:off x="1219200" y="5334000"/>
            <a:ext cx="9753600" cy="609600"/>
            <a:chOff x="1219200" y="5334000"/>
            <a:chExt cx="9753600" cy="609600"/>
          </a:xfrm>
        </p:grpSpPr>
        <p:sp>
          <p:nvSpPr>
            <p:cNvPr id="48" name="Rectangle 48"/>
            <p:cNvSpPr/>
            <p:nvPr/>
          </p:nvSpPr>
          <p:spPr>
            <a:xfrm>
              <a:off x="1219200" y="5334000"/>
              <a:ext cx="9753600" cy="609600"/>
            </a:xfrm>
            <a:prstGeom prst="roundRect">
              <a:avLst>
                <a:gd name="adj" fmla="val 12500"/>
              </a:avLst>
            </a:prstGeom>
            <a:solidFill>
              <a:srgbClr val="172746"/>
            </a:solidFill>
            <a:ln w="19050">
              <a:solidFill>
                <a:schemeClr val="accent2"/>
              </a:solidFill>
            </a:ln>
          </p:spPr>
        </p:sp>
        <p:sp>
          <p:nvSpPr>
            <p:cNvPr id="49" name="TextBox 49"/>
            <p:cNvSpPr txBox="1"/>
            <p:nvPr/>
          </p:nvSpPr>
          <p:spPr>
            <a:xfrm>
              <a:off x="2847411" y="5539740"/>
              <a:ext cx="6497178"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Cascadia Mono"/>
                  <a:ea typeface="Cascadia Mono"/>
                  <a:cs typeface="Cascadia Mono"/>
                </a:rPr>
                <a:t>ISOLATION PRIMITIVES ≠ ENTERPRISE CONTROL PLANE</a:t>
              </a:r>
            </a:p>
          </p:txBody>
        </p:sp>
      </p:grpSp>
      <p:grpSp>
        <p:nvGrpSpPr>
          <p:cNvPr id="53" name="Group 53"/>
          <p:cNvGrpSpPr/>
          <p:nvPr/>
        </p:nvGrpSpPr>
        <p:grpSpPr>
          <a:xfrm>
            <a:off x="602742" y="6293168"/>
            <a:ext cx="10986516" cy="264033"/>
            <a:chOff x="602742" y="6293168"/>
            <a:chExt cx="10986516" cy="264033"/>
          </a:xfrm>
        </p:grpSpPr>
        <p:sp>
          <p:nvSpPr>
            <p:cNvPr id="51" name="TextBox 51"/>
            <p:cNvSpPr txBox="1"/>
            <p:nvPr/>
          </p:nvSpPr>
          <p:spPr>
            <a:xfrm>
              <a:off x="602742" y="6293168"/>
              <a:ext cx="5361584" cy="264033"/>
            </a:xfrm>
            <a:prstGeom prst="rect">
              <a:avLst/>
            </a:prstGeom>
            <a:noFill/>
            <a:ln>
              <a:noFill/>
            </a:ln>
          </p:spPr>
          <p:txBody>
            <a:bodyPr wrap="none" lIns="0" tIns="0" rIns="0" bIns="0" anchor="t" anchorCtr="0">
              <a:spAutoFit/>
            </a:bodyPr>
            <a:lstStyle/>
            <a:p>
              <a:pPr algn="l"/>
              <a:r>
                <a:rPr lang="en-US" sz="1350" dirty="0">
                  <a:solidFill>
                    <a:srgbClr val="A9B7D5"/>
                  </a:solidFill>
                  <a:latin typeface="Cascadia Mono"/>
                  <a:ea typeface="Cascadia Mono"/>
                  <a:cs typeface="Cascadia Mono"/>
                </a:rPr>
                <a:t>K-016 · K-017 · K-018 | CONTROL → EVIDENCE → GOVERNANCE</a:t>
              </a:r>
            </a:p>
          </p:txBody>
        </p:sp>
        <p:sp>
          <p:nvSpPr>
            <p:cNvPr id="52" name="TextBox 52"/>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2"/>
                  </a:solidFill>
                  <a:latin typeface="Cascadia Mono"/>
                  <a:ea typeface="Cascadia Mono"/>
                  <a:cs typeface="Cascadia Mono"/>
                </a:rPr>
                <a:t>P16 / 24</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rgbClr val="D7E0F1">
                <a:alpha val="65000"/>
              </a:srgbClr>
            </a:solidFill>
          </a:ln>
        </p:spPr>
      </p:sp>
      <p:grpSp>
        <p:nvGrpSpPr>
          <p:cNvPr id="5" name="Group 5"/>
          <p:cNvGrpSpPr/>
          <p:nvPr/>
        </p:nvGrpSpPr>
        <p:grpSpPr>
          <a:xfrm>
            <a:off x="593598" y="501968"/>
            <a:ext cx="10644084" cy="974217"/>
            <a:chOff x="593598" y="501968"/>
            <a:chExt cx="10644084" cy="974217"/>
          </a:xfrm>
        </p:grpSpPr>
        <p:sp>
          <p:nvSpPr>
            <p:cNvPr id="3" name="TextBox 3"/>
            <p:cNvSpPr txBox="1"/>
            <p:nvPr/>
          </p:nvSpPr>
          <p:spPr>
            <a:xfrm>
              <a:off x="602742" y="501968"/>
              <a:ext cx="3095701"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ENTERPRISE / THREE QUESTIONS</a:t>
              </a:r>
            </a:p>
          </p:txBody>
        </p:sp>
        <p:sp>
          <p:nvSpPr>
            <p:cNvPr id="4" name="TextBox 4"/>
            <p:cNvSpPr txBox="1"/>
            <p:nvPr/>
          </p:nvSpPr>
          <p:spPr>
            <a:xfrm>
              <a:off x="593598" y="860108"/>
              <a:ext cx="10644084"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Self-hosted answers only one of three questions</a:t>
              </a:r>
            </a:p>
          </p:txBody>
        </p:sp>
      </p:grpSp>
      <p:grpSp>
        <p:nvGrpSpPr>
          <p:cNvPr id="49" name="Group 49"/>
          <p:cNvGrpSpPr/>
          <p:nvPr/>
        </p:nvGrpSpPr>
        <p:grpSpPr>
          <a:xfrm>
            <a:off x="609600" y="1752600"/>
            <a:ext cx="10972800" cy="3810000"/>
            <a:chOff x="609600" y="1752600"/>
            <a:chExt cx="10972800" cy="3810000"/>
          </a:xfrm>
        </p:grpSpPr>
        <p:sp>
          <p:nvSpPr>
            <p:cNvPr id="6" name="Line 6"/>
            <p:cNvSpPr/>
            <p:nvPr/>
          </p:nvSpPr>
          <p:spPr>
            <a:xfrm>
              <a:off x="3886200" y="3657600"/>
              <a:ext cx="571500" cy="9525"/>
            </a:xfrm>
            <a:custGeom>
              <a:avLst/>
              <a:gdLst/>
              <a:ahLst/>
              <a:cxnLst/>
              <a:rect l="l" t="t" r="r" b="b"/>
              <a:pathLst>
                <a:path w="571500" h="9525">
                  <a:moveTo>
                    <a:pt x="0" y="0"/>
                  </a:moveTo>
                  <a:lnTo>
                    <a:pt x="571500" y="0"/>
                  </a:lnTo>
                </a:path>
              </a:pathLst>
            </a:custGeom>
            <a:noFill/>
            <a:ln w="38100">
              <a:solidFill>
                <a:schemeClr val="accent2"/>
              </a:solidFill>
            </a:ln>
          </p:spPr>
        </p:sp>
        <p:sp>
          <p:nvSpPr>
            <p:cNvPr id="7" name="Polygon 7"/>
            <p:cNvSpPr/>
            <p:nvPr/>
          </p:nvSpPr>
          <p:spPr>
            <a:xfrm>
              <a:off x="4324350" y="3581400"/>
              <a:ext cx="133350" cy="152400"/>
            </a:xfrm>
            <a:custGeom>
              <a:avLst/>
              <a:gdLst/>
              <a:ahLst/>
              <a:cxnLst/>
              <a:rect l="l" t="t" r="r" b="b"/>
              <a:pathLst>
                <a:path w="133350" h="152400">
                  <a:moveTo>
                    <a:pt x="133350" y="76200"/>
                  </a:moveTo>
                  <a:lnTo>
                    <a:pt x="0" y="0"/>
                  </a:lnTo>
                  <a:lnTo>
                    <a:pt x="0" y="152400"/>
                  </a:lnTo>
                  <a:close/>
                </a:path>
              </a:pathLst>
            </a:custGeom>
            <a:solidFill>
              <a:schemeClr val="accent2"/>
            </a:solidFill>
            <a:ln>
              <a:noFill/>
            </a:ln>
          </p:spPr>
        </p:sp>
        <p:sp>
          <p:nvSpPr>
            <p:cNvPr id="8" name="Line 8"/>
            <p:cNvSpPr/>
            <p:nvPr/>
          </p:nvSpPr>
          <p:spPr>
            <a:xfrm>
              <a:off x="7734300" y="3657600"/>
              <a:ext cx="571500" cy="9525"/>
            </a:xfrm>
            <a:custGeom>
              <a:avLst/>
              <a:gdLst/>
              <a:ahLst/>
              <a:cxnLst/>
              <a:rect l="l" t="t" r="r" b="b"/>
              <a:pathLst>
                <a:path w="571500" h="9525">
                  <a:moveTo>
                    <a:pt x="0" y="0"/>
                  </a:moveTo>
                  <a:lnTo>
                    <a:pt x="571500" y="0"/>
                  </a:lnTo>
                </a:path>
              </a:pathLst>
            </a:custGeom>
            <a:noFill/>
            <a:ln w="38100">
              <a:solidFill>
                <a:schemeClr val="accent2"/>
              </a:solidFill>
            </a:ln>
          </p:spPr>
        </p:sp>
        <p:sp>
          <p:nvSpPr>
            <p:cNvPr id="9" name="Polygon 9"/>
            <p:cNvSpPr/>
            <p:nvPr/>
          </p:nvSpPr>
          <p:spPr>
            <a:xfrm>
              <a:off x="8172450" y="3581400"/>
              <a:ext cx="133350" cy="152400"/>
            </a:xfrm>
            <a:custGeom>
              <a:avLst/>
              <a:gdLst/>
              <a:ahLst/>
              <a:cxnLst/>
              <a:rect l="l" t="t" r="r" b="b"/>
              <a:pathLst>
                <a:path w="133350" h="152400">
                  <a:moveTo>
                    <a:pt x="133350" y="76200"/>
                  </a:moveTo>
                  <a:lnTo>
                    <a:pt x="0" y="0"/>
                  </a:lnTo>
                  <a:lnTo>
                    <a:pt x="0" y="152400"/>
                  </a:lnTo>
                  <a:close/>
                </a:path>
              </a:pathLst>
            </a:custGeom>
            <a:solidFill>
              <a:schemeClr val="accent2"/>
            </a:solidFill>
            <a:ln>
              <a:noFill/>
            </a:ln>
          </p:spPr>
        </p:sp>
        <p:sp>
          <p:nvSpPr>
            <p:cNvPr id="10" name="Rectangle 10"/>
            <p:cNvSpPr/>
            <p:nvPr/>
          </p:nvSpPr>
          <p:spPr>
            <a:xfrm>
              <a:off x="609600" y="1752600"/>
              <a:ext cx="3276600" cy="3810000"/>
            </a:xfrm>
            <a:prstGeom prst="roundRect">
              <a:avLst>
                <a:gd name="adj" fmla="val 2907"/>
              </a:avLst>
            </a:prstGeom>
            <a:solidFill>
              <a:schemeClr val="accent1"/>
            </a:solidFill>
            <a:ln w="28575">
              <a:solidFill>
                <a:schemeClr val="accent2"/>
              </a:solidFill>
            </a:ln>
          </p:spPr>
        </p:sp>
        <p:grpSp>
          <p:nvGrpSpPr>
            <p:cNvPr id="15" name="Group 15"/>
            <p:cNvGrpSpPr/>
            <p:nvPr/>
          </p:nvGrpSpPr>
          <p:grpSpPr>
            <a:xfrm>
              <a:off x="890587" y="2051050"/>
              <a:ext cx="314324" cy="279400"/>
              <a:chOff x="890587" y="2051050"/>
              <a:chExt cx="314324" cy="279400"/>
            </a:xfrm>
          </p:grpSpPr>
          <p:sp>
            <p:nvSpPr>
              <p:cNvPr id="11" name="Freeform 11"/>
              <p:cNvSpPr/>
              <p:nvPr/>
            </p:nvSpPr>
            <p:spPr>
              <a:xfrm>
                <a:off x="890587" y="2051050"/>
                <a:ext cx="314324" cy="139700"/>
              </a:xfrm>
              <a:custGeom>
                <a:avLst/>
                <a:gdLst/>
                <a:ahLst/>
                <a:cxnLst/>
                <a:rect l="l" t="t" r="r" b="b"/>
                <a:pathLst>
                  <a:path w="314324" h="139700">
                    <a:moveTo>
                      <a:pt x="0" y="52387"/>
                    </a:moveTo>
                    <a:cubicBezTo>
                      <a:pt x="0" y="23455"/>
                      <a:pt x="23455" y="0"/>
                      <a:pt x="52387" y="0"/>
                    </a:cubicBezTo>
                    <a:lnTo>
                      <a:pt x="261937" y="0"/>
                    </a:lnTo>
                    <a:cubicBezTo>
                      <a:pt x="290870" y="0"/>
                      <a:pt x="314324" y="23455"/>
                      <a:pt x="314324" y="52387"/>
                    </a:cubicBezTo>
                    <a:lnTo>
                      <a:pt x="314324" y="87312"/>
                    </a:lnTo>
                    <a:cubicBezTo>
                      <a:pt x="314324" y="116245"/>
                      <a:pt x="290870" y="139700"/>
                      <a:pt x="261937" y="139700"/>
                    </a:cubicBezTo>
                    <a:lnTo>
                      <a:pt x="52387" y="139700"/>
                    </a:lnTo>
                    <a:cubicBezTo>
                      <a:pt x="23455" y="139700"/>
                      <a:pt x="0" y="116245"/>
                      <a:pt x="0" y="87312"/>
                    </a:cubicBezTo>
                    <a:lnTo>
                      <a:pt x="0" y="52387"/>
                    </a:lnTo>
                  </a:path>
                </a:pathLst>
              </a:custGeom>
              <a:noFill/>
              <a:ln w="34925">
                <a:solidFill>
                  <a:srgbClr val="F7FAFC"/>
                </a:solidFill>
              </a:ln>
            </p:spPr>
          </p:sp>
          <p:sp>
            <p:nvSpPr>
              <p:cNvPr id="12" name="Freeform 12"/>
              <p:cNvSpPr/>
              <p:nvPr/>
            </p:nvSpPr>
            <p:spPr>
              <a:xfrm>
                <a:off x="890587" y="2190750"/>
                <a:ext cx="314324" cy="139700"/>
              </a:xfrm>
              <a:custGeom>
                <a:avLst/>
                <a:gdLst/>
                <a:ahLst/>
                <a:cxnLst/>
                <a:rect l="l" t="t" r="r" b="b"/>
                <a:pathLst>
                  <a:path w="314324" h="139700">
                    <a:moveTo>
                      <a:pt x="0" y="52387"/>
                    </a:moveTo>
                    <a:cubicBezTo>
                      <a:pt x="0" y="23455"/>
                      <a:pt x="23455" y="0"/>
                      <a:pt x="52387" y="0"/>
                    </a:cubicBezTo>
                    <a:lnTo>
                      <a:pt x="261937" y="0"/>
                    </a:lnTo>
                    <a:cubicBezTo>
                      <a:pt x="290870" y="0"/>
                      <a:pt x="314324" y="23455"/>
                      <a:pt x="314324" y="52387"/>
                    </a:cubicBezTo>
                    <a:lnTo>
                      <a:pt x="314324" y="87312"/>
                    </a:lnTo>
                    <a:cubicBezTo>
                      <a:pt x="314324" y="116245"/>
                      <a:pt x="290870" y="139700"/>
                      <a:pt x="261937" y="139700"/>
                    </a:cubicBezTo>
                    <a:lnTo>
                      <a:pt x="52387" y="139700"/>
                    </a:lnTo>
                    <a:cubicBezTo>
                      <a:pt x="23455" y="139700"/>
                      <a:pt x="0" y="116245"/>
                      <a:pt x="0" y="87312"/>
                    </a:cubicBezTo>
                    <a:lnTo>
                      <a:pt x="0" y="52387"/>
                    </a:lnTo>
                  </a:path>
                </a:pathLst>
              </a:custGeom>
              <a:noFill/>
              <a:ln w="34925">
                <a:solidFill>
                  <a:srgbClr val="F7FAFC"/>
                </a:solidFill>
              </a:ln>
            </p:spPr>
          </p:sp>
          <p:sp>
            <p:nvSpPr>
              <p:cNvPr id="13" name="Freeform 13"/>
              <p:cNvSpPr/>
              <p:nvPr/>
            </p:nvSpPr>
            <p:spPr>
              <a:xfrm>
                <a:off x="960437" y="2120900"/>
                <a:ext cx="9525" cy="9525"/>
              </a:xfrm>
              <a:custGeom>
                <a:avLst/>
                <a:gdLst/>
                <a:ahLst/>
                <a:cxnLst/>
                <a:rect l="l" t="t" r="r" b="b"/>
                <a:pathLst>
                  <a:path w="9525" h="9525">
                    <a:moveTo>
                      <a:pt x="0" y="0"/>
                    </a:moveTo>
                    <a:lnTo>
                      <a:pt x="0" y="175"/>
                    </a:lnTo>
                  </a:path>
                </a:pathLst>
              </a:custGeom>
              <a:noFill/>
              <a:ln w="34925">
                <a:solidFill>
                  <a:srgbClr val="F7FAFC"/>
                </a:solidFill>
              </a:ln>
            </p:spPr>
          </p:sp>
          <p:sp>
            <p:nvSpPr>
              <p:cNvPr id="14" name="Freeform 14"/>
              <p:cNvSpPr/>
              <p:nvPr/>
            </p:nvSpPr>
            <p:spPr>
              <a:xfrm>
                <a:off x="960437" y="2260599"/>
                <a:ext cx="9525" cy="9525"/>
              </a:xfrm>
              <a:custGeom>
                <a:avLst/>
                <a:gdLst/>
                <a:ahLst/>
                <a:cxnLst/>
                <a:rect l="l" t="t" r="r" b="b"/>
                <a:pathLst>
                  <a:path w="9525" h="9525">
                    <a:moveTo>
                      <a:pt x="0" y="0"/>
                    </a:moveTo>
                    <a:lnTo>
                      <a:pt x="0" y="175"/>
                    </a:lnTo>
                  </a:path>
                </a:pathLst>
              </a:custGeom>
              <a:noFill/>
              <a:ln w="34925">
                <a:solidFill>
                  <a:srgbClr val="F7FAFC"/>
                </a:solidFill>
              </a:ln>
            </p:spPr>
          </p:sp>
        </p:grpSp>
        <p:sp>
          <p:nvSpPr>
            <p:cNvPr id="16" name="TextBox 16"/>
            <p:cNvSpPr txBox="1"/>
            <p:nvPr/>
          </p:nvSpPr>
          <p:spPr>
            <a:xfrm>
              <a:off x="1438656" y="2072640"/>
              <a:ext cx="2076125"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1 · Runtime local</a:t>
              </a:r>
            </a:p>
          </p:txBody>
        </p:sp>
        <p:sp>
          <p:nvSpPr>
            <p:cNvPr id="17" name="TextBox 17"/>
            <p:cNvSpPr txBox="1"/>
            <p:nvPr/>
          </p:nvSpPr>
          <p:spPr>
            <a:xfrm>
              <a:off x="831342" y="2749868"/>
              <a:ext cx="887425" cy="264033"/>
            </a:xfrm>
            <a:prstGeom prst="rect">
              <a:avLst/>
            </a:prstGeom>
            <a:noFill/>
            <a:ln>
              <a:noFill/>
            </a:ln>
          </p:spPr>
          <p:txBody>
            <a:bodyPr wrap="none" lIns="0" tIns="0" rIns="0" bIns="0" anchor="t" anchorCtr="0">
              <a:spAutoFit/>
            </a:bodyPr>
            <a:lstStyle/>
            <a:p>
              <a:pPr algn="l"/>
              <a:r>
                <a:rPr lang="en-US" sz="1350" dirty="0">
                  <a:solidFill>
                    <a:srgbClr val="B9F4F7"/>
                  </a:solidFill>
                  <a:latin typeface="+mn-lt"/>
                  <a:ea typeface="+mn-ea"/>
                  <a:cs typeface="+mn-cs"/>
                </a:rPr>
                <a:t>QUESTION</a:t>
              </a:r>
            </a:p>
          </p:txBody>
        </p:sp>
        <p:sp>
          <p:nvSpPr>
            <p:cNvPr id="18" name="TextBox 18"/>
            <p:cNvSpPr txBox="1"/>
            <p:nvPr/>
          </p:nvSpPr>
          <p:spPr>
            <a:xfrm>
              <a:off x="829056" y="3063240"/>
              <a:ext cx="2130552" cy="675894"/>
            </a:xfrm>
            <a:prstGeom prst="rect">
              <a:avLst/>
            </a:prstGeom>
            <a:noFill/>
            <a:ln>
              <a:noFill/>
            </a:ln>
          </p:spPr>
          <p:txBody>
            <a:bodyPr wrap="none" lIns="0" tIns="0" rIns="0" bIns="0" anchor="t" anchorCtr="0">
              <a:spAutoFit/>
            </a:bodyPr>
            <a:lstStyle/>
            <a:p>
              <a:pPr algn="l">
                <a:lnSpc>
                  <a:spcPts val="2550"/>
                </a:lnSpc>
              </a:pPr>
              <a:r>
                <a:rPr lang="en-US" sz="1800" b="1" dirty="0">
                  <a:solidFill>
                    <a:srgbClr val="F7FAFC"/>
                  </a:solidFill>
                  <a:latin typeface="+mn-lt"/>
                  <a:ea typeface="+mn-ea"/>
                  <a:cs typeface="+mn-cs"/>
                </a:rPr>
                <a:t>Where do code and</a:t>
              </a:r>
              <a:br/>
              <a:r>
                <a:rPr lang="en-US" sz="1800" b="1" dirty="0">
                  <a:solidFill>
                    <a:srgbClr val="F7FAFC"/>
                  </a:solidFill>
                  <a:latin typeface="+mn-lt"/>
                  <a:ea typeface="+mn-ea"/>
                  <a:cs typeface="+mn-cs"/>
                </a:rPr>
                <a:t>processes run?</a:t>
              </a:r>
            </a:p>
          </p:txBody>
        </p:sp>
        <p:sp>
          <p:nvSpPr>
            <p:cNvPr id="19" name="Line 19"/>
            <p:cNvSpPr/>
            <p:nvPr/>
          </p:nvSpPr>
          <p:spPr>
            <a:xfrm>
              <a:off x="838200" y="4095750"/>
              <a:ext cx="2819400" cy="9525"/>
            </a:xfrm>
            <a:custGeom>
              <a:avLst/>
              <a:gdLst/>
              <a:ahLst/>
              <a:cxnLst/>
              <a:rect l="l" t="t" r="r" b="b"/>
              <a:pathLst>
                <a:path w="2819400" h="9525">
                  <a:moveTo>
                    <a:pt x="0" y="0"/>
                  </a:moveTo>
                  <a:lnTo>
                    <a:pt x="2819400" y="0"/>
                  </a:lnTo>
                </a:path>
              </a:pathLst>
            </a:custGeom>
            <a:noFill/>
            <a:ln w="9525">
              <a:solidFill>
                <a:schemeClr val="accent3"/>
              </a:solidFill>
            </a:ln>
          </p:spPr>
        </p:sp>
        <p:sp>
          <p:nvSpPr>
            <p:cNvPr id="20" name="TextBox 20"/>
            <p:cNvSpPr txBox="1"/>
            <p:nvPr/>
          </p:nvSpPr>
          <p:spPr>
            <a:xfrm>
              <a:off x="831342" y="4369118"/>
              <a:ext cx="2404415" cy="264033"/>
            </a:xfrm>
            <a:prstGeom prst="rect">
              <a:avLst/>
            </a:prstGeom>
            <a:noFill/>
            <a:ln>
              <a:noFill/>
            </a:ln>
          </p:spPr>
          <p:txBody>
            <a:bodyPr wrap="none" lIns="0" tIns="0" rIns="0" bIns="0" anchor="t" anchorCtr="0">
              <a:spAutoFit/>
            </a:bodyPr>
            <a:lstStyle/>
            <a:p>
              <a:pPr algn="l"/>
              <a:r>
                <a:rPr lang="en-US" sz="1350" dirty="0">
                  <a:solidFill>
                    <a:srgbClr val="A9B7D5"/>
                  </a:solidFill>
                  <a:latin typeface="+mn-lt"/>
                  <a:ea typeface="+mn-ea"/>
                  <a:cs typeface="+mn-cs"/>
                </a:rPr>
                <a:t>CURRENT HARNESS EVIDENCE</a:t>
              </a:r>
            </a:p>
          </p:txBody>
        </p:sp>
        <p:sp>
          <p:nvSpPr>
            <p:cNvPr id="21" name="TextBox 21"/>
            <p:cNvSpPr txBox="1"/>
            <p:nvPr/>
          </p:nvSpPr>
          <p:spPr>
            <a:xfrm>
              <a:off x="829056" y="4815840"/>
              <a:ext cx="1349014" cy="352044"/>
            </a:xfrm>
            <a:prstGeom prst="rect">
              <a:avLst/>
            </a:prstGeom>
            <a:noFill/>
            <a:ln>
              <a:noFill/>
            </a:ln>
          </p:spPr>
          <p:txBody>
            <a:bodyPr wrap="none" lIns="0" tIns="0" rIns="0" bIns="0" anchor="t" anchorCtr="0">
              <a:spAutoFit/>
            </a:bodyPr>
            <a:lstStyle/>
            <a:p>
              <a:pPr algn="l"/>
              <a:r>
                <a:rPr lang="en-US" sz="1800" b="1" dirty="0">
                  <a:solidFill>
                    <a:srgbClr val="B9F4F7"/>
                  </a:solidFill>
                  <a:latin typeface="+mn-lt"/>
                  <a:ea typeface="+mn-ea"/>
                  <a:cs typeface="+mn-cs"/>
                </a:rPr>
                <a:t>PRIMITIVES</a:t>
              </a:r>
            </a:p>
          </p:txBody>
        </p:sp>
        <p:sp>
          <p:nvSpPr>
            <p:cNvPr id="22" name="Rectangle 22"/>
            <p:cNvSpPr/>
            <p:nvPr/>
          </p:nvSpPr>
          <p:spPr>
            <a:xfrm>
              <a:off x="4457700" y="1752600"/>
              <a:ext cx="3276600" cy="3810000"/>
            </a:xfrm>
            <a:prstGeom prst="roundRect">
              <a:avLst>
                <a:gd name="adj" fmla="val 2907"/>
              </a:avLst>
            </a:prstGeom>
            <a:solidFill>
              <a:schemeClr val="lt2"/>
            </a:solidFill>
            <a:ln w="19050">
              <a:solidFill>
                <a:schemeClr val="accent3"/>
              </a:solidFill>
            </a:ln>
          </p:spPr>
        </p:sp>
        <p:grpSp>
          <p:nvGrpSpPr>
            <p:cNvPr id="31" name="Group 31"/>
            <p:cNvGrpSpPr/>
            <p:nvPr/>
          </p:nvGrpSpPr>
          <p:grpSpPr>
            <a:xfrm>
              <a:off x="4738687" y="2033587"/>
              <a:ext cx="314325" cy="331787"/>
              <a:chOff x="4738687" y="2033587"/>
              <a:chExt cx="314325" cy="331787"/>
            </a:xfrm>
          </p:grpSpPr>
          <p:sp>
            <p:nvSpPr>
              <p:cNvPr id="23" name="Freeform 23"/>
              <p:cNvSpPr/>
              <p:nvPr/>
            </p:nvSpPr>
            <p:spPr>
              <a:xfrm>
                <a:off x="4791075" y="2033587"/>
                <a:ext cx="209550" cy="209550"/>
              </a:xfrm>
              <a:custGeom>
                <a:avLst/>
                <a:gdLst/>
                <a:ahLst/>
                <a:cxnLst/>
                <a:rect l="l" t="t" r="r" b="b"/>
                <a:pathLst>
                  <a:path w="209550" h="209550">
                    <a:moveTo>
                      <a:pt x="0" y="104775"/>
                    </a:moveTo>
                    <a:cubicBezTo>
                      <a:pt x="0" y="162640"/>
                      <a:pt x="46909" y="209550"/>
                      <a:pt x="104775" y="209550"/>
                    </a:cubicBezTo>
                    <a:cubicBezTo>
                      <a:pt x="162640" y="209550"/>
                      <a:pt x="209550" y="162640"/>
                      <a:pt x="209550" y="104775"/>
                    </a:cubicBezTo>
                    <a:cubicBezTo>
                      <a:pt x="209550" y="46909"/>
                      <a:pt x="162640" y="0"/>
                      <a:pt x="104775" y="0"/>
                    </a:cubicBezTo>
                    <a:cubicBezTo>
                      <a:pt x="46909" y="0"/>
                      <a:pt x="0" y="46909"/>
                      <a:pt x="0" y="104775"/>
                    </a:cubicBezTo>
                  </a:path>
                </a:pathLst>
              </a:custGeom>
              <a:noFill/>
              <a:ln w="34925">
                <a:solidFill>
                  <a:schemeClr val="accent3"/>
                </a:solidFill>
              </a:ln>
            </p:spPr>
          </p:sp>
          <p:sp>
            <p:nvSpPr>
              <p:cNvPr id="24" name="Freeform 24"/>
              <p:cNvSpPr/>
              <p:nvPr/>
            </p:nvSpPr>
            <p:spPr>
              <a:xfrm>
                <a:off x="4895850" y="2033587"/>
                <a:ext cx="34925" cy="209550"/>
              </a:xfrm>
              <a:custGeom>
                <a:avLst/>
                <a:gdLst/>
                <a:ahLst/>
                <a:cxnLst/>
                <a:rect l="l" t="t" r="r" b="b"/>
                <a:pathLst>
                  <a:path w="34925" h="209550">
                    <a:moveTo>
                      <a:pt x="0" y="0"/>
                    </a:moveTo>
                    <a:cubicBezTo>
                      <a:pt x="23277" y="5815"/>
                      <a:pt x="34925" y="40740"/>
                      <a:pt x="34925" y="104775"/>
                    </a:cubicBezTo>
                    <a:cubicBezTo>
                      <a:pt x="34925" y="168810"/>
                      <a:pt x="23277" y="203735"/>
                      <a:pt x="0" y="209550"/>
                    </a:cubicBezTo>
                  </a:path>
                </a:pathLst>
              </a:custGeom>
              <a:noFill/>
              <a:ln w="34925">
                <a:solidFill>
                  <a:schemeClr val="accent3"/>
                </a:solidFill>
              </a:ln>
            </p:spPr>
          </p:sp>
          <p:sp>
            <p:nvSpPr>
              <p:cNvPr id="25" name="Freeform 25"/>
              <p:cNvSpPr/>
              <p:nvPr/>
            </p:nvSpPr>
            <p:spPr>
              <a:xfrm>
                <a:off x="4860925" y="2033587"/>
                <a:ext cx="34925" cy="209550"/>
              </a:xfrm>
              <a:custGeom>
                <a:avLst/>
                <a:gdLst/>
                <a:ahLst/>
                <a:cxnLst/>
                <a:rect l="l" t="t" r="r" b="b"/>
                <a:pathLst>
                  <a:path w="34925" h="209550">
                    <a:moveTo>
                      <a:pt x="34925" y="0"/>
                    </a:moveTo>
                    <a:cubicBezTo>
                      <a:pt x="11647" y="5815"/>
                      <a:pt x="0" y="40740"/>
                      <a:pt x="0" y="104775"/>
                    </a:cubicBezTo>
                    <a:cubicBezTo>
                      <a:pt x="0" y="168810"/>
                      <a:pt x="11647" y="203735"/>
                      <a:pt x="34925" y="209550"/>
                    </a:cubicBezTo>
                  </a:path>
                </a:pathLst>
              </a:custGeom>
              <a:noFill/>
              <a:ln w="34925">
                <a:solidFill>
                  <a:schemeClr val="accent3"/>
                </a:solidFill>
              </a:ln>
            </p:spPr>
          </p:sp>
          <p:sp>
            <p:nvSpPr>
              <p:cNvPr id="26" name="Freeform 26"/>
              <p:cNvSpPr/>
              <p:nvPr/>
            </p:nvSpPr>
            <p:spPr>
              <a:xfrm>
                <a:off x="4791075" y="2138362"/>
                <a:ext cx="209550" cy="9525"/>
              </a:xfrm>
              <a:custGeom>
                <a:avLst/>
                <a:gdLst/>
                <a:ahLst/>
                <a:cxnLst/>
                <a:rect l="l" t="t" r="r" b="b"/>
                <a:pathLst>
                  <a:path w="209550" h="9525">
                    <a:moveTo>
                      <a:pt x="0" y="0"/>
                    </a:moveTo>
                    <a:lnTo>
                      <a:pt x="209550" y="0"/>
                    </a:lnTo>
                  </a:path>
                </a:pathLst>
              </a:custGeom>
              <a:noFill/>
              <a:ln w="34925">
                <a:solidFill>
                  <a:schemeClr val="accent3"/>
                </a:solidFill>
              </a:ln>
            </p:spPr>
          </p:sp>
          <p:sp>
            <p:nvSpPr>
              <p:cNvPr id="27" name="Freeform 27"/>
              <p:cNvSpPr/>
              <p:nvPr/>
            </p:nvSpPr>
            <p:spPr>
              <a:xfrm>
                <a:off x="4738687" y="2330449"/>
                <a:ext cx="122237" cy="9525"/>
              </a:xfrm>
              <a:custGeom>
                <a:avLst/>
                <a:gdLst/>
                <a:ahLst/>
                <a:cxnLst/>
                <a:rect l="l" t="t" r="r" b="b"/>
                <a:pathLst>
                  <a:path w="122237" h="9525">
                    <a:moveTo>
                      <a:pt x="0" y="0"/>
                    </a:moveTo>
                    <a:lnTo>
                      <a:pt x="122237" y="0"/>
                    </a:lnTo>
                  </a:path>
                </a:pathLst>
              </a:custGeom>
              <a:noFill/>
              <a:ln w="34925">
                <a:solidFill>
                  <a:schemeClr val="accent3"/>
                </a:solidFill>
              </a:ln>
            </p:spPr>
          </p:sp>
          <p:sp>
            <p:nvSpPr>
              <p:cNvPr id="28" name="Freeform 28"/>
              <p:cNvSpPr/>
              <p:nvPr/>
            </p:nvSpPr>
            <p:spPr>
              <a:xfrm>
                <a:off x="4930775" y="2330449"/>
                <a:ext cx="122237" cy="9525"/>
              </a:xfrm>
              <a:custGeom>
                <a:avLst/>
                <a:gdLst/>
                <a:ahLst/>
                <a:cxnLst/>
                <a:rect l="l" t="t" r="r" b="b"/>
                <a:pathLst>
                  <a:path w="122237" h="9525">
                    <a:moveTo>
                      <a:pt x="0" y="0"/>
                    </a:moveTo>
                    <a:lnTo>
                      <a:pt x="122237" y="0"/>
                    </a:lnTo>
                  </a:path>
                </a:pathLst>
              </a:custGeom>
              <a:noFill/>
              <a:ln w="34925">
                <a:solidFill>
                  <a:schemeClr val="accent3"/>
                </a:solidFill>
              </a:ln>
            </p:spPr>
          </p:sp>
          <p:sp>
            <p:nvSpPr>
              <p:cNvPr id="29" name="Freeform 29"/>
              <p:cNvSpPr/>
              <p:nvPr/>
            </p:nvSpPr>
            <p:spPr>
              <a:xfrm>
                <a:off x="4860925" y="2295524"/>
                <a:ext cx="69850" cy="69850"/>
              </a:xfrm>
              <a:custGeom>
                <a:avLst/>
                <a:gdLst/>
                <a:ahLst/>
                <a:cxnLst/>
                <a:rect l="l" t="t" r="r" b="b"/>
                <a:pathLst>
                  <a:path w="69850" h="69850">
                    <a:moveTo>
                      <a:pt x="0" y="34925"/>
                    </a:moveTo>
                    <a:cubicBezTo>
                      <a:pt x="0" y="54213"/>
                      <a:pt x="15636" y="69850"/>
                      <a:pt x="34925" y="69850"/>
                    </a:cubicBezTo>
                    <a:cubicBezTo>
                      <a:pt x="54213" y="69850"/>
                      <a:pt x="69850" y="54213"/>
                      <a:pt x="69850" y="34925"/>
                    </a:cubicBezTo>
                    <a:cubicBezTo>
                      <a:pt x="69850" y="15636"/>
                      <a:pt x="54213" y="0"/>
                      <a:pt x="34925" y="0"/>
                    </a:cubicBezTo>
                    <a:cubicBezTo>
                      <a:pt x="15636" y="0"/>
                      <a:pt x="0" y="15636"/>
                      <a:pt x="0" y="34925"/>
                    </a:cubicBezTo>
                  </a:path>
                </a:pathLst>
              </a:custGeom>
              <a:noFill/>
              <a:ln w="34925">
                <a:solidFill>
                  <a:schemeClr val="accent3"/>
                </a:solidFill>
              </a:ln>
            </p:spPr>
          </p:sp>
          <p:sp>
            <p:nvSpPr>
              <p:cNvPr id="30" name="Freeform 30"/>
              <p:cNvSpPr/>
              <p:nvPr/>
            </p:nvSpPr>
            <p:spPr>
              <a:xfrm>
                <a:off x="4895850" y="2243137"/>
                <a:ext cx="9525" cy="52387"/>
              </a:xfrm>
              <a:custGeom>
                <a:avLst/>
                <a:gdLst/>
                <a:ahLst/>
                <a:cxnLst/>
                <a:rect l="l" t="t" r="r" b="b"/>
                <a:pathLst>
                  <a:path w="9525" h="52387">
                    <a:moveTo>
                      <a:pt x="0" y="0"/>
                    </a:moveTo>
                    <a:lnTo>
                      <a:pt x="0" y="52387"/>
                    </a:lnTo>
                  </a:path>
                </a:pathLst>
              </a:custGeom>
              <a:noFill/>
              <a:ln w="34925">
                <a:solidFill>
                  <a:schemeClr val="accent3"/>
                </a:solidFill>
              </a:ln>
            </p:spPr>
          </p:sp>
        </p:grpSp>
        <p:sp>
          <p:nvSpPr>
            <p:cNvPr id="32" name="TextBox 32"/>
            <p:cNvSpPr txBox="1"/>
            <p:nvPr/>
          </p:nvSpPr>
          <p:spPr>
            <a:xfrm>
              <a:off x="5286756" y="2072640"/>
              <a:ext cx="1658173"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2 · Data path</a:t>
              </a:r>
            </a:p>
          </p:txBody>
        </p:sp>
        <p:sp>
          <p:nvSpPr>
            <p:cNvPr id="33" name="TextBox 33"/>
            <p:cNvSpPr txBox="1"/>
            <p:nvPr/>
          </p:nvSpPr>
          <p:spPr>
            <a:xfrm>
              <a:off x="4679442" y="2749868"/>
              <a:ext cx="887425"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mn-lt"/>
                  <a:ea typeface="+mn-ea"/>
                  <a:cs typeface="+mn-cs"/>
                </a:rPr>
                <a:t>QUESTION</a:t>
              </a:r>
            </a:p>
          </p:txBody>
        </p:sp>
        <p:sp>
          <p:nvSpPr>
            <p:cNvPr id="34" name="TextBox 34"/>
            <p:cNvSpPr txBox="1"/>
            <p:nvPr/>
          </p:nvSpPr>
          <p:spPr>
            <a:xfrm>
              <a:off x="4677918" y="3079432"/>
              <a:ext cx="2877122" cy="627507"/>
            </a:xfrm>
            <a:prstGeom prst="rect">
              <a:avLst/>
            </a:prstGeom>
            <a:noFill/>
            <a:ln>
              <a:noFill/>
            </a:ln>
          </p:spPr>
          <p:txBody>
            <a:bodyPr wrap="none" lIns="0" tIns="0" rIns="0" bIns="0" anchor="t" anchorCtr="0">
              <a:spAutoFit/>
            </a:bodyPr>
            <a:lstStyle/>
            <a:p>
              <a:pPr algn="l">
                <a:lnSpc>
                  <a:spcPts val="2400"/>
                </a:lnSpc>
              </a:pPr>
              <a:r>
                <a:rPr lang="en-US" sz="1650" b="1" dirty="0">
                  <a:solidFill>
                    <a:schemeClr val="accent1"/>
                  </a:solidFill>
                  <a:latin typeface="+mn-lt"/>
                  <a:ea typeface="+mn-ea"/>
                  <a:cs typeface="+mn-cs"/>
                </a:rPr>
                <a:t>Where do models, search,</a:t>
              </a:r>
              <a:br/>
              <a:r>
                <a:rPr lang="en-US" sz="1650" b="1" dirty="0">
                  <a:solidFill>
                    <a:schemeClr val="accent1"/>
                  </a:solidFill>
                  <a:latin typeface="+mn-lt"/>
                  <a:ea typeface="+mn-ea"/>
                  <a:cs typeface="+mn-cs"/>
                </a:rPr>
                <a:t>Plugins, and telemetry go?</a:t>
              </a:r>
            </a:p>
          </p:txBody>
        </p:sp>
        <p:sp>
          <p:nvSpPr>
            <p:cNvPr id="35" name="Line 35"/>
            <p:cNvSpPr/>
            <p:nvPr/>
          </p:nvSpPr>
          <p:spPr>
            <a:xfrm>
              <a:off x="4686300" y="4095750"/>
              <a:ext cx="2819400" cy="9525"/>
            </a:xfrm>
            <a:custGeom>
              <a:avLst/>
              <a:gdLst/>
              <a:ahLst/>
              <a:cxnLst/>
              <a:rect l="l" t="t" r="r" b="b"/>
              <a:pathLst>
                <a:path w="2819400" h="9525">
                  <a:moveTo>
                    <a:pt x="0" y="0"/>
                  </a:moveTo>
                  <a:lnTo>
                    <a:pt x="2819400" y="0"/>
                  </a:lnTo>
                </a:path>
              </a:pathLst>
            </a:custGeom>
            <a:noFill/>
            <a:ln w="9525">
              <a:solidFill>
                <a:srgbClr val="A9B7D5"/>
              </a:solidFill>
            </a:ln>
          </p:spPr>
        </p:sp>
        <p:sp>
          <p:nvSpPr>
            <p:cNvPr id="36" name="TextBox 36"/>
            <p:cNvSpPr txBox="1"/>
            <p:nvPr/>
          </p:nvSpPr>
          <p:spPr>
            <a:xfrm>
              <a:off x="4679442" y="4369118"/>
              <a:ext cx="240441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CURRENT HARNESS EVIDENCE</a:t>
              </a:r>
            </a:p>
          </p:txBody>
        </p:sp>
        <p:sp>
          <p:nvSpPr>
            <p:cNvPr id="37" name="TextBox 37"/>
            <p:cNvSpPr txBox="1"/>
            <p:nvPr/>
          </p:nvSpPr>
          <p:spPr>
            <a:xfrm>
              <a:off x="4677156" y="4815840"/>
              <a:ext cx="1779148" cy="352044"/>
            </a:xfrm>
            <a:prstGeom prst="rect">
              <a:avLst/>
            </a:prstGeom>
            <a:noFill/>
            <a:ln>
              <a:noFill/>
            </a:ln>
          </p:spPr>
          <p:txBody>
            <a:bodyPr wrap="none" lIns="0" tIns="0" rIns="0" bIns="0" anchor="t" anchorCtr="0">
              <a:spAutoFit/>
            </a:bodyPr>
            <a:lstStyle/>
            <a:p>
              <a:pPr algn="l"/>
              <a:r>
                <a:rPr lang="en-US" sz="1800" b="1" dirty="0">
                  <a:solidFill>
                    <a:schemeClr val="accent6"/>
                  </a:solidFill>
                  <a:latin typeface="+mn-lt"/>
                  <a:ea typeface="+mn-ea"/>
                  <a:cs typeface="+mn-cs"/>
                </a:rPr>
                <a:t>CONFIGURABLE</a:t>
              </a:r>
            </a:p>
          </p:txBody>
        </p:sp>
        <p:sp>
          <p:nvSpPr>
            <p:cNvPr id="38" name="Rectangle 38"/>
            <p:cNvSpPr/>
            <p:nvPr/>
          </p:nvSpPr>
          <p:spPr>
            <a:xfrm>
              <a:off x="8305800" y="1752600"/>
              <a:ext cx="3276600" cy="3810000"/>
            </a:xfrm>
            <a:prstGeom prst="roundRect">
              <a:avLst>
                <a:gd name="adj" fmla="val 2907"/>
              </a:avLst>
            </a:prstGeom>
            <a:solidFill>
              <a:srgbClr val="FFF0F2"/>
            </a:solidFill>
            <a:ln w="28575">
              <a:solidFill>
                <a:srgbClr val="C2415B"/>
              </a:solidFill>
            </a:ln>
          </p:spPr>
        </p:sp>
        <p:grpSp>
          <p:nvGrpSpPr>
            <p:cNvPr id="42" name="Group 42"/>
            <p:cNvGrpSpPr/>
            <p:nvPr/>
          </p:nvGrpSpPr>
          <p:grpSpPr>
            <a:xfrm>
              <a:off x="8579515" y="2033587"/>
              <a:ext cx="328869" cy="314324"/>
              <a:chOff x="8579515" y="2033587"/>
              <a:chExt cx="328869" cy="314324"/>
            </a:xfrm>
          </p:grpSpPr>
          <p:sp>
            <p:nvSpPr>
              <p:cNvPr id="39" name="Freeform 39"/>
              <p:cNvSpPr/>
              <p:nvPr/>
            </p:nvSpPr>
            <p:spPr>
              <a:xfrm>
                <a:off x="8579515" y="2033587"/>
                <a:ext cx="328869" cy="314324"/>
              </a:xfrm>
              <a:custGeom>
                <a:avLst/>
                <a:gdLst/>
                <a:ahLst/>
                <a:cxnLst/>
                <a:rect l="l" t="t" r="r" b="b"/>
                <a:pathLst>
                  <a:path w="328869" h="314324">
                    <a:moveTo>
                      <a:pt x="164434" y="0"/>
                    </a:moveTo>
                    <a:cubicBezTo>
                      <a:pt x="205224" y="36088"/>
                      <a:pt x="258461" y="54877"/>
                      <a:pt x="312865" y="52387"/>
                    </a:cubicBezTo>
                    <a:cubicBezTo>
                      <a:pt x="328869" y="106827"/>
                      <a:pt x="322110" y="165430"/>
                      <a:pt x="294135" y="214798"/>
                    </a:cubicBezTo>
                    <a:cubicBezTo>
                      <a:pt x="266160" y="264165"/>
                      <a:pt x="219360" y="300078"/>
                      <a:pt x="164434" y="314324"/>
                    </a:cubicBezTo>
                    <a:cubicBezTo>
                      <a:pt x="109509" y="300078"/>
                      <a:pt x="62709" y="264165"/>
                      <a:pt x="34734" y="214798"/>
                    </a:cubicBezTo>
                    <a:cubicBezTo>
                      <a:pt x="6758" y="165430"/>
                      <a:pt x="0" y="106827"/>
                      <a:pt x="16003" y="52387"/>
                    </a:cubicBezTo>
                    <a:cubicBezTo>
                      <a:pt x="70408" y="54877"/>
                      <a:pt x="123645" y="36088"/>
                      <a:pt x="164434" y="0"/>
                    </a:cubicBezTo>
                  </a:path>
                </a:pathLst>
              </a:custGeom>
              <a:noFill/>
              <a:ln w="34925">
                <a:solidFill>
                  <a:srgbClr val="C2415B"/>
                </a:solidFill>
              </a:ln>
            </p:spPr>
          </p:sp>
          <p:sp>
            <p:nvSpPr>
              <p:cNvPr id="40" name="Freeform 40"/>
              <p:cNvSpPr/>
              <p:nvPr/>
            </p:nvSpPr>
            <p:spPr>
              <a:xfrm>
                <a:off x="8726487" y="2155825"/>
                <a:ext cx="34925" cy="34925"/>
              </a:xfrm>
              <a:custGeom>
                <a:avLst/>
                <a:gdLst/>
                <a:ahLst/>
                <a:cxnLst/>
                <a:rect l="l" t="t" r="r" b="b"/>
                <a:pathLst>
                  <a:path w="34925" h="34925">
                    <a:moveTo>
                      <a:pt x="0" y="17462"/>
                    </a:moveTo>
                    <a:cubicBezTo>
                      <a:pt x="0" y="27107"/>
                      <a:pt x="7818" y="34925"/>
                      <a:pt x="17462" y="34925"/>
                    </a:cubicBezTo>
                    <a:cubicBezTo>
                      <a:pt x="27107" y="34925"/>
                      <a:pt x="34925" y="27107"/>
                      <a:pt x="34925" y="17462"/>
                    </a:cubicBezTo>
                    <a:cubicBezTo>
                      <a:pt x="34925" y="7818"/>
                      <a:pt x="27107" y="0"/>
                      <a:pt x="17462" y="0"/>
                    </a:cubicBezTo>
                    <a:cubicBezTo>
                      <a:pt x="7818" y="0"/>
                      <a:pt x="0" y="7818"/>
                      <a:pt x="0" y="17462"/>
                    </a:cubicBezTo>
                  </a:path>
                </a:pathLst>
              </a:custGeom>
              <a:noFill/>
              <a:ln w="34925">
                <a:solidFill>
                  <a:srgbClr val="C2415B"/>
                </a:solidFill>
              </a:ln>
            </p:spPr>
          </p:sp>
          <p:sp>
            <p:nvSpPr>
              <p:cNvPr id="41" name="Freeform 41"/>
              <p:cNvSpPr/>
              <p:nvPr/>
            </p:nvSpPr>
            <p:spPr>
              <a:xfrm>
                <a:off x="8743950" y="2190750"/>
                <a:ext cx="9525" cy="43656"/>
              </a:xfrm>
              <a:custGeom>
                <a:avLst/>
                <a:gdLst/>
                <a:ahLst/>
                <a:cxnLst/>
                <a:rect l="l" t="t" r="r" b="b"/>
                <a:pathLst>
                  <a:path w="9525" h="43656">
                    <a:moveTo>
                      <a:pt x="0" y="0"/>
                    </a:moveTo>
                    <a:lnTo>
                      <a:pt x="0" y="43656"/>
                    </a:lnTo>
                  </a:path>
                </a:pathLst>
              </a:custGeom>
              <a:noFill/>
              <a:ln w="34925">
                <a:solidFill>
                  <a:srgbClr val="C2415B"/>
                </a:solidFill>
              </a:ln>
            </p:spPr>
          </p:sp>
        </p:grpSp>
        <p:sp>
          <p:nvSpPr>
            <p:cNvPr id="43" name="TextBox 43"/>
            <p:cNvSpPr txBox="1"/>
            <p:nvPr/>
          </p:nvSpPr>
          <p:spPr>
            <a:xfrm>
              <a:off x="9059418" y="2088832"/>
              <a:ext cx="229932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3 · Control evidence</a:t>
              </a:r>
            </a:p>
          </p:txBody>
        </p:sp>
        <p:sp>
          <p:nvSpPr>
            <p:cNvPr id="44" name="TextBox 44"/>
            <p:cNvSpPr txBox="1"/>
            <p:nvPr/>
          </p:nvSpPr>
          <p:spPr>
            <a:xfrm>
              <a:off x="8527542" y="2749868"/>
              <a:ext cx="887425" cy="264033"/>
            </a:xfrm>
            <a:prstGeom prst="rect">
              <a:avLst/>
            </a:prstGeom>
            <a:noFill/>
            <a:ln>
              <a:noFill/>
            </a:ln>
          </p:spPr>
          <p:txBody>
            <a:bodyPr wrap="none" lIns="0" tIns="0" rIns="0" bIns="0" anchor="t" anchorCtr="0">
              <a:spAutoFit/>
            </a:bodyPr>
            <a:lstStyle/>
            <a:p>
              <a:pPr algn="l"/>
              <a:r>
                <a:rPr lang="en-US" sz="1350" dirty="0">
                  <a:solidFill>
                    <a:srgbClr val="C2415B"/>
                  </a:solidFill>
                  <a:latin typeface="+mn-lt"/>
                  <a:ea typeface="+mn-ea"/>
                  <a:cs typeface="+mn-cs"/>
                </a:rPr>
                <a:t>QUESTION</a:t>
              </a:r>
            </a:p>
          </p:txBody>
        </p:sp>
        <p:sp>
          <p:nvSpPr>
            <p:cNvPr id="45" name="TextBox 45"/>
            <p:cNvSpPr txBox="1"/>
            <p:nvPr/>
          </p:nvSpPr>
          <p:spPr>
            <a:xfrm>
              <a:off x="8526399" y="3087529"/>
              <a:ext cx="2681268" cy="879538"/>
            </a:xfrm>
            <a:prstGeom prst="rect">
              <a:avLst/>
            </a:prstGeom>
            <a:noFill/>
            <a:ln>
              <a:noFill/>
            </a:ln>
          </p:spPr>
          <p:txBody>
            <a:bodyPr wrap="none" lIns="0" tIns="0" rIns="0" bIns="0" anchor="t" anchorCtr="0">
              <a:spAutoFit/>
            </a:bodyPr>
            <a:lstStyle/>
            <a:p>
              <a:pPr algn="l">
                <a:lnSpc>
                  <a:spcPts val="2250"/>
                </a:lnSpc>
              </a:pPr>
              <a:r>
                <a:rPr lang="en-US" sz="1580" b="1" dirty="0">
                  <a:solidFill>
                    <a:schemeClr val="accent1"/>
                  </a:solidFill>
                  <a:latin typeface="+mn-lt"/>
                  <a:ea typeface="+mn-ea"/>
                  <a:cs typeface="+mn-cs"/>
                </a:rPr>
                <a:t>Who can access, approve,</a:t>
              </a:r>
              <a:br/>
              <a:r>
                <a:rPr lang="en-US" sz="1580" b="1" dirty="0">
                  <a:solidFill>
                    <a:schemeClr val="accent1"/>
                  </a:solidFill>
                  <a:latin typeface="+mn-lt"/>
                  <a:ea typeface="+mn-ea"/>
                  <a:cs typeface="+mn-cs"/>
                </a:rPr>
                <a:t>audit, upgrade, and own</a:t>
              </a:r>
              <a:br/>
              <a:r>
                <a:rPr lang="en-US" sz="1580" b="1" dirty="0">
                  <a:solidFill>
                    <a:schemeClr val="accent1"/>
                  </a:solidFill>
                  <a:latin typeface="+mn-lt"/>
                  <a:ea typeface="+mn-ea"/>
                  <a:cs typeface="+mn-cs"/>
                </a:rPr>
                <a:t>outcomes?</a:t>
              </a:r>
            </a:p>
          </p:txBody>
        </p:sp>
        <p:sp>
          <p:nvSpPr>
            <p:cNvPr id="46" name="Line 46"/>
            <p:cNvSpPr/>
            <p:nvPr/>
          </p:nvSpPr>
          <p:spPr>
            <a:xfrm>
              <a:off x="8534400" y="4324350"/>
              <a:ext cx="2819400" cy="9525"/>
            </a:xfrm>
            <a:custGeom>
              <a:avLst/>
              <a:gdLst/>
              <a:ahLst/>
              <a:cxnLst/>
              <a:rect l="l" t="t" r="r" b="b"/>
              <a:pathLst>
                <a:path w="2819400" h="9525">
                  <a:moveTo>
                    <a:pt x="0" y="0"/>
                  </a:moveTo>
                  <a:lnTo>
                    <a:pt x="2819400" y="0"/>
                  </a:lnTo>
                </a:path>
              </a:pathLst>
            </a:custGeom>
            <a:noFill/>
            <a:ln w="9525">
              <a:solidFill>
                <a:srgbClr val="E9A3AF"/>
              </a:solidFill>
            </a:ln>
          </p:spPr>
        </p:sp>
        <p:sp>
          <p:nvSpPr>
            <p:cNvPr id="47" name="TextBox 47"/>
            <p:cNvSpPr txBox="1"/>
            <p:nvPr/>
          </p:nvSpPr>
          <p:spPr>
            <a:xfrm>
              <a:off x="8527542" y="4597718"/>
              <a:ext cx="225079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CURRENT PUBLIC EVIDENCE</a:t>
              </a:r>
            </a:p>
          </p:txBody>
        </p:sp>
        <p:sp>
          <p:nvSpPr>
            <p:cNvPr id="48" name="TextBox 48"/>
            <p:cNvSpPr txBox="1"/>
            <p:nvPr/>
          </p:nvSpPr>
          <p:spPr>
            <a:xfrm>
              <a:off x="8526018" y="5022532"/>
              <a:ext cx="2345535" cy="322707"/>
            </a:xfrm>
            <a:prstGeom prst="rect">
              <a:avLst/>
            </a:prstGeom>
            <a:noFill/>
            <a:ln>
              <a:noFill/>
            </a:ln>
          </p:spPr>
          <p:txBody>
            <a:bodyPr wrap="none" lIns="0" tIns="0" rIns="0" bIns="0" anchor="t" anchorCtr="0">
              <a:spAutoFit/>
            </a:bodyPr>
            <a:lstStyle/>
            <a:p>
              <a:pPr algn="l"/>
              <a:r>
                <a:rPr lang="en-US" sz="1650" b="1" dirty="0">
                  <a:solidFill>
                    <a:srgbClr val="C2415B"/>
                  </a:solidFill>
                  <a:latin typeface="+mn-lt"/>
                  <a:ea typeface="+mn-ea"/>
                  <a:cs typeface="+mn-cs"/>
                </a:rPr>
                <a:t>PUBLIC EVIDENCE GAP</a:t>
              </a:r>
            </a:p>
          </p:txBody>
        </p:sp>
      </p:grpSp>
      <p:grpSp>
        <p:nvGrpSpPr>
          <p:cNvPr id="52" name="Group 52"/>
          <p:cNvGrpSpPr/>
          <p:nvPr/>
        </p:nvGrpSpPr>
        <p:grpSpPr>
          <a:xfrm>
            <a:off x="602742" y="6293168"/>
            <a:ext cx="10986516" cy="264033"/>
            <a:chOff x="602742" y="6293168"/>
            <a:chExt cx="10986516" cy="264033"/>
          </a:xfrm>
        </p:grpSpPr>
        <p:sp>
          <p:nvSpPr>
            <p:cNvPr id="50" name="TextBox 50"/>
            <p:cNvSpPr txBox="1"/>
            <p:nvPr/>
          </p:nvSpPr>
          <p:spPr>
            <a:xfrm>
              <a:off x="602742" y="6293168"/>
              <a:ext cx="684977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K-016 · K-017 · K-018 · K-031 | LOCATION ≠ DATA PATH ≠ CONTROL EVIDENCE</a:t>
              </a:r>
            </a:p>
          </p:txBody>
        </p:sp>
        <p:sp>
          <p:nvSpPr>
            <p:cNvPr id="51" name="TextBox 51"/>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P17 / 24</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rgbClr val="D7E0F1">
                <a:alpha val="65000"/>
              </a:srgbClr>
            </a:solidFill>
          </a:ln>
        </p:spPr>
      </p:sp>
      <p:grpSp>
        <p:nvGrpSpPr>
          <p:cNvPr id="5" name="Group 5"/>
          <p:cNvGrpSpPr/>
          <p:nvPr/>
        </p:nvGrpSpPr>
        <p:grpSpPr>
          <a:xfrm>
            <a:off x="593598" y="501968"/>
            <a:ext cx="10621790" cy="974217"/>
            <a:chOff x="593598" y="501968"/>
            <a:chExt cx="10621790" cy="974217"/>
          </a:xfrm>
        </p:grpSpPr>
        <p:sp>
          <p:nvSpPr>
            <p:cNvPr id="3" name="TextBox 3"/>
            <p:cNvSpPr txBox="1"/>
            <p:nvPr/>
          </p:nvSpPr>
          <p:spPr>
            <a:xfrm>
              <a:off x="602742" y="501968"/>
              <a:ext cx="3909670"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SECURITY BOUNDARY / ACTUAL COVERAGE</a:t>
              </a:r>
            </a:p>
          </p:txBody>
        </p:sp>
        <p:sp>
          <p:nvSpPr>
            <p:cNvPr id="4" name="TextBox 4"/>
            <p:cNvSpPr txBox="1"/>
            <p:nvPr/>
          </p:nvSpPr>
          <p:spPr>
            <a:xfrm>
              <a:off x="593598" y="860108"/>
              <a:ext cx="10621790"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Sandbox covers file effects and same-world only</a:t>
              </a:r>
            </a:p>
          </p:txBody>
        </p:sp>
      </p:grpSp>
      <p:grpSp>
        <p:nvGrpSpPr>
          <p:cNvPr id="77" name="Group 77"/>
          <p:cNvGrpSpPr/>
          <p:nvPr/>
        </p:nvGrpSpPr>
        <p:grpSpPr>
          <a:xfrm>
            <a:off x="609600" y="1657350"/>
            <a:ext cx="10972800" cy="3581400"/>
            <a:chOff x="609600" y="1657350"/>
            <a:chExt cx="10972800" cy="3581400"/>
          </a:xfrm>
        </p:grpSpPr>
        <p:sp>
          <p:nvSpPr>
            <p:cNvPr id="6" name="Line 6"/>
            <p:cNvSpPr/>
            <p:nvPr/>
          </p:nvSpPr>
          <p:spPr>
            <a:xfrm>
              <a:off x="4038600" y="2114550"/>
              <a:ext cx="1104900" cy="895350"/>
            </a:xfrm>
            <a:custGeom>
              <a:avLst/>
              <a:gdLst/>
              <a:ahLst/>
              <a:cxnLst/>
              <a:rect l="l" t="t" r="r" b="b"/>
              <a:pathLst>
                <a:path w="1104900" h="895350">
                  <a:moveTo>
                    <a:pt x="0" y="0"/>
                  </a:moveTo>
                  <a:lnTo>
                    <a:pt x="1104900" y="895350"/>
                  </a:lnTo>
                </a:path>
              </a:pathLst>
            </a:custGeom>
            <a:noFill/>
            <a:ln w="19050">
              <a:solidFill>
                <a:schemeClr val="accent3"/>
              </a:solidFill>
            </a:ln>
          </p:spPr>
        </p:sp>
        <p:sp>
          <p:nvSpPr>
            <p:cNvPr id="7" name="Line 7"/>
            <p:cNvSpPr/>
            <p:nvPr/>
          </p:nvSpPr>
          <p:spPr>
            <a:xfrm>
              <a:off x="4038600" y="3409950"/>
              <a:ext cx="1104900" cy="9525"/>
            </a:xfrm>
            <a:custGeom>
              <a:avLst/>
              <a:gdLst/>
              <a:ahLst/>
              <a:cxnLst/>
              <a:rect l="l" t="t" r="r" b="b"/>
              <a:pathLst>
                <a:path w="1104900" h="9525">
                  <a:moveTo>
                    <a:pt x="0" y="0"/>
                  </a:moveTo>
                  <a:lnTo>
                    <a:pt x="1104900" y="0"/>
                  </a:lnTo>
                </a:path>
              </a:pathLst>
            </a:custGeom>
            <a:noFill/>
            <a:ln w="19050">
              <a:solidFill>
                <a:schemeClr val="accent3"/>
              </a:solidFill>
            </a:ln>
          </p:spPr>
        </p:sp>
        <p:sp>
          <p:nvSpPr>
            <p:cNvPr id="8" name="Line 8"/>
            <p:cNvSpPr/>
            <p:nvPr/>
          </p:nvSpPr>
          <p:spPr>
            <a:xfrm>
              <a:off x="4038600" y="3810000"/>
              <a:ext cx="1104900" cy="895350"/>
            </a:xfrm>
            <a:custGeom>
              <a:avLst/>
              <a:gdLst/>
              <a:ahLst/>
              <a:cxnLst/>
              <a:rect l="l" t="t" r="r" b="b"/>
              <a:pathLst>
                <a:path w="1104900" h="895350">
                  <a:moveTo>
                    <a:pt x="0" y="895350"/>
                  </a:moveTo>
                  <a:lnTo>
                    <a:pt x="1104900" y="0"/>
                  </a:lnTo>
                </a:path>
              </a:pathLst>
            </a:custGeom>
            <a:noFill/>
            <a:ln w="19050">
              <a:solidFill>
                <a:schemeClr val="accent3"/>
              </a:solidFill>
            </a:ln>
          </p:spPr>
        </p:sp>
        <p:sp>
          <p:nvSpPr>
            <p:cNvPr id="9" name="Line 9"/>
            <p:cNvSpPr/>
            <p:nvPr/>
          </p:nvSpPr>
          <p:spPr>
            <a:xfrm>
              <a:off x="7048500" y="2114550"/>
              <a:ext cx="1104900" cy="895350"/>
            </a:xfrm>
            <a:custGeom>
              <a:avLst/>
              <a:gdLst/>
              <a:ahLst/>
              <a:cxnLst/>
              <a:rect l="l" t="t" r="r" b="b"/>
              <a:pathLst>
                <a:path w="1104900" h="895350">
                  <a:moveTo>
                    <a:pt x="0" y="895350"/>
                  </a:moveTo>
                  <a:lnTo>
                    <a:pt x="1104900" y="0"/>
                  </a:lnTo>
                </a:path>
              </a:pathLst>
            </a:custGeom>
            <a:noFill/>
            <a:ln w="19050">
              <a:solidFill>
                <a:schemeClr val="accent3"/>
              </a:solidFill>
            </a:ln>
          </p:spPr>
        </p:sp>
        <p:sp>
          <p:nvSpPr>
            <p:cNvPr id="10" name="Line 10"/>
            <p:cNvSpPr/>
            <p:nvPr/>
          </p:nvSpPr>
          <p:spPr>
            <a:xfrm>
              <a:off x="7048500" y="3409950"/>
              <a:ext cx="1104900" cy="9525"/>
            </a:xfrm>
            <a:custGeom>
              <a:avLst/>
              <a:gdLst/>
              <a:ahLst/>
              <a:cxnLst/>
              <a:rect l="l" t="t" r="r" b="b"/>
              <a:pathLst>
                <a:path w="1104900" h="9525">
                  <a:moveTo>
                    <a:pt x="0" y="0"/>
                  </a:moveTo>
                  <a:lnTo>
                    <a:pt x="1104900" y="0"/>
                  </a:lnTo>
                </a:path>
              </a:pathLst>
            </a:custGeom>
            <a:noFill/>
            <a:ln w="19050">
              <a:solidFill>
                <a:schemeClr val="accent3"/>
              </a:solidFill>
            </a:ln>
          </p:spPr>
        </p:sp>
        <p:sp>
          <p:nvSpPr>
            <p:cNvPr id="11" name="Line 11"/>
            <p:cNvSpPr/>
            <p:nvPr/>
          </p:nvSpPr>
          <p:spPr>
            <a:xfrm>
              <a:off x="7048500" y="3810000"/>
              <a:ext cx="1104900" cy="895350"/>
            </a:xfrm>
            <a:custGeom>
              <a:avLst/>
              <a:gdLst/>
              <a:ahLst/>
              <a:cxnLst/>
              <a:rect l="l" t="t" r="r" b="b"/>
              <a:pathLst>
                <a:path w="1104900" h="895350">
                  <a:moveTo>
                    <a:pt x="0" y="0"/>
                  </a:moveTo>
                  <a:lnTo>
                    <a:pt x="1104900" y="895350"/>
                  </a:lnTo>
                </a:path>
              </a:pathLst>
            </a:custGeom>
            <a:noFill/>
            <a:ln w="19050">
              <a:solidFill>
                <a:schemeClr val="accent3"/>
              </a:solidFill>
            </a:ln>
          </p:spPr>
        </p:sp>
        <p:sp>
          <p:nvSpPr>
            <p:cNvPr id="12" name="Rectangle 12"/>
            <p:cNvSpPr/>
            <p:nvPr/>
          </p:nvSpPr>
          <p:spPr>
            <a:xfrm>
              <a:off x="5143500" y="2667000"/>
              <a:ext cx="1905000" cy="1485900"/>
            </a:xfrm>
            <a:prstGeom prst="roundRect">
              <a:avLst>
                <a:gd name="adj" fmla="val 7692"/>
              </a:avLst>
            </a:prstGeom>
            <a:solidFill>
              <a:schemeClr val="accent1"/>
            </a:solidFill>
            <a:ln w="38100">
              <a:solidFill>
                <a:schemeClr val="accent2"/>
              </a:solidFill>
            </a:ln>
          </p:spPr>
        </p:sp>
        <p:grpSp>
          <p:nvGrpSpPr>
            <p:cNvPr id="23" name="Group 23"/>
            <p:cNvGrpSpPr/>
            <p:nvPr/>
          </p:nvGrpSpPr>
          <p:grpSpPr>
            <a:xfrm>
              <a:off x="5917406" y="2917031"/>
              <a:ext cx="357187" cy="357187"/>
              <a:chOff x="5917406" y="2917031"/>
              <a:chExt cx="357187" cy="357187"/>
            </a:xfrm>
          </p:grpSpPr>
          <p:sp>
            <p:nvSpPr>
              <p:cNvPr id="13" name="Freeform 13"/>
              <p:cNvSpPr/>
              <p:nvPr/>
            </p:nvSpPr>
            <p:spPr>
              <a:xfrm>
                <a:off x="5957094" y="2956719"/>
                <a:ext cx="277812" cy="277812"/>
              </a:xfrm>
              <a:custGeom>
                <a:avLst/>
                <a:gdLst/>
                <a:ahLst/>
                <a:cxnLst/>
                <a:rect l="l" t="t" r="r" b="b"/>
                <a:pathLst>
                  <a:path w="277812" h="277812">
                    <a:moveTo>
                      <a:pt x="0" y="19844"/>
                    </a:moveTo>
                    <a:cubicBezTo>
                      <a:pt x="0" y="8884"/>
                      <a:pt x="8884" y="0"/>
                      <a:pt x="19844" y="0"/>
                    </a:cubicBezTo>
                    <a:lnTo>
                      <a:pt x="257968" y="0"/>
                    </a:lnTo>
                    <a:cubicBezTo>
                      <a:pt x="268928" y="0"/>
                      <a:pt x="277812" y="8884"/>
                      <a:pt x="277812" y="19844"/>
                    </a:cubicBezTo>
                    <a:lnTo>
                      <a:pt x="277812" y="257968"/>
                    </a:lnTo>
                    <a:cubicBezTo>
                      <a:pt x="277812" y="268928"/>
                      <a:pt x="268928" y="277812"/>
                      <a:pt x="257968" y="277812"/>
                    </a:cubicBezTo>
                    <a:lnTo>
                      <a:pt x="19844" y="277812"/>
                    </a:lnTo>
                    <a:cubicBezTo>
                      <a:pt x="8884" y="277812"/>
                      <a:pt x="0" y="268928"/>
                      <a:pt x="0" y="257968"/>
                    </a:cubicBezTo>
                    <a:lnTo>
                      <a:pt x="0" y="19844"/>
                    </a:lnTo>
                  </a:path>
                </a:pathLst>
              </a:custGeom>
              <a:noFill/>
              <a:ln w="39687">
                <a:solidFill>
                  <a:srgbClr val="F7FAFC"/>
                </a:solidFill>
              </a:ln>
            </p:spPr>
          </p:sp>
          <p:sp>
            <p:nvSpPr>
              <p:cNvPr id="14" name="Freeform 14"/>
              <p:cNvSpPr/>
              <p:nvPr/>
            </p:nvSpPr>
            <p:spPr>
              <a:xfrm>
                <a:off x="6036468" y="3036093"/>
                <a:ext cx="119062" cy="119062"/>
              </a:xfrm>
              <a:custGeom>
                <a:avLst/>
                <a:gdLst/>
                <a:ahLst/>
                <a:cxnLst/>
                <a:rect l="l" t="t" r="r" b="b"/>
                <a:pathLst>
                  <a:path w="119062" h="119062">
                    <a:moveTo>
                      <a:pt x="0" y="0"/>
                    </a:moveTo>
                    <a:lnTo>
                      <a:pt x="119062" y="0"/>
                    </a:lnTo>
                    <a:lnTo>
                      <a:pt x="119062" y="119062"/>
                    </a:lnTo>
                    <a:lnTo>
                      <a:pt x="0" y="119062"/>
                    </a:lnTo>
                    <a:lnTo>
                      <a:pt x="0" y="0"/>
                    </a:lnTo>
                  </a:path>
                </a:pathLst>
              </a:custGeom>
              <a:noFill/>
              <a:ln w="39687">
                <a:solidFill>
                  <a:srgbClr val="F7FAFC"/>
                </a:solidFill>
              </a:ln>
            </p:spPr>
          </p:sp>
          <p:sp>
            <p:nvSpPr>
              <p:cNvPr id="15" name="Freeform 15"/>
              <p:cNvSpPr/>
              <p:nvPr/>
            </p:nvSpPr>
            <p:spPr>
              <a:xfrm>
                <a:off x="5917406" y="3055937"/>
                <a:ext cx="39687" cy="9525"/>
              </a:xfrm>
              <a:custGeom>
                <a:avLst/>
                <a:gdLst/>
                <a:ahLst/>
                <a:cxnLst/>
                <a:rect l="l" t="t" r="r" b="b"/>
                <a:pathLst>
                  <a:path w="39687" h="9525">
                    <a:moveTo>
                      <a:pt x="0" y="0"/>
                    </a:moveTo>
                    <a:lnTo>
                      <a:pt x="39687" y="0"/>
                    </a:lnTo>
                  </a:path>
                </a:pathLst>
              </a:custGeom>
              <a:noFill/>
              <a:ln w="39687">
                <a:solidFill>
                  <a:srgbClr val="F7FAFC"/>
                </a:solidFill>
              </a:ln>
            </p:spPr>
          </p:sp>
          <p:sp>
            <p:nvSpPr>
              <p:cNvPr id="16" name="Freeform 16"/>
              <p:cNvSpPr/>
              <p:nvPr/>
            </p:nvSpPr>
            <p:spPr>
              <a:xfrm>
                <a:off x="5917406" y="3135312"/>
                <a:ext cx="39687" cy="9525"/>
              </a:xfrm>
              <a:custGeom>
                <a:avLst/>
                <a:gdLst/>
                <a:ahLst/>
                <a:cxnLst/>
                <a:rect l="l" t="t" r="r" b="b"/>
                <a:pathLst>
                  <a:path w="39687" h="9525">
                    <a:moveTo>
                      <a:pt x="0" y="0"/>
                    </a:moveTo>
                    <a:lnTo>
                      <a:pt x="39687" y="0"/>
                    </a:lnTo>
                  </a:path>
                </a:pathLst>
              </a:custGeom>
              <a:noFill/>
              <a:ln w="39687">
                <a:solidFill>
                  <a:srgbClr val="F7FAFC"/>
                </a:solidFill>
              </a:ln>
            </p:spPr>
          </p:sp>
          <p:sp>
            <p:nvSpPr>
              <p:cNvPr id="17" name="Freeform 17"/>
              <p:cNvSpPr/>
              <p:nvPr/>
            </p:nvSpPr>
            <p:spPr>
              <a:xfrm>
                <a:off x="6056312" y="2917031"/>
                <a:ext cx="9525" cy="39687"/>
              </a:xfrm>
              <a:custGeom>
                <a:avLst/>
                <a:gdLst/>
                <a:ahLst/>
                <a:cxnLst/>
                <a:rect l="l" t="t" r="r" b="b"/>
                <a:pathLst>
                  <a:path w="9525" h="39687">
                    <a:moveTo>
                      <a:pt x="0" y="0"/>
                    </a:moveTo>
                    <a:lnTo>
                      <a:pt x="0" y="39687"/>
                    </a:lnTo>
                  </a:path>
                </a:pathLst>
              </a:custGeom>
              <a:noFill/>
              <a:ln w="39687">
                <a:solidFill>
                  <a:srgbClr val="F7FAFC"/>
                </a:solidFill>
              </a:ln>
            </p:spPr>
          </p:sp>
          <p:sp>
            <p:nvSpPr>
              <p:cNvPr id="18" name="Freeform 18"/>
              <p:cNvSpPr/>
              <p:nvPr/>
            </p:nvSpPr>
            <p:spPr>
              <a:xfrm>
                <a:off x="6135687" y="2917031"/>
                <a:ext cx="9525" cy="39687"/>
              </a:xfrm>
              <a:custGeom>
                <a:avLst/>
                <a:gdLst/>
                <a:ahLst/>
                <a:cxnLst/>
                <a:rect l="l" t="t" r="r" b="b"/>
                <a:pathLst>
                  <a:path w="9525" h="39687">
                    <a:moveTo>
                      <a:pt x="0" y="0"/>
                    </a:moveTo>
                    <a:lnTo>
                      <a:pt x="0" y="39687"/>
                    </a:lnTo>
                  </a:path>
                </a:pathLst>
              </a:custGeom>
              <a:noFill/>
              <a:ln w="39687">
                <a:solidFill>
                  <a:srgbClr val="F7FAFC"/>
                </a:solidFill>
              </a:ln>
            </p:spPr>
          </p:sp>
          <p:sp>
            <p:nvSpPr>
              <p:cNvPr id="19" name="Freeform 19"/>
              <p:cNvSpPr/>
              <p:nvPr/>
            </p:nvSpPr>
            <p:spPr>
              <a:xfrm>
                <a:off x="6234906" y="3055937"/>
                <a:ext cx="39687" cy="9525"/>
              </a:xfrm>
              <a:custGeom>
                <a:avLst/>
                <a:gdLst/>
                <a:ahLst/>
                <a:cxnLst/>
                <a:rect l="l" t="t" r="r" b="b"/>
                <a:pathLst>
                  <a:path w="39687" h="9525">
                    <a:moveTo>
                      <a:pt x="39687" y="0"/>
                    </a:moveTo>
                    <a:lnTo>
                      <a:pt x="0" y="0"/>
                    </a:lnTo>
                  </a:path>
                </a:pathLst>
              </a:custGeom>
              <a:noFill/>
              <a:ln w="39687">
                <a:solidFill>
                  <a:srgbClr val="F7FAFC"/>
                </a:solidFill>
              </a:ln>
            </p:spPr>
          </p:sp>
          <p:sp>
            <p:nvSpPr>
              <p:cNvPr id="20" name="Freeform 20"/>
              <p:cNvSpPr/>
              <p:nvPr/>
            </p:nvSpPr>
            <p:spPr>
              <a:xfrm>
                <a:off x="6234906" y="3135312"/>
                <a:ext cx="39687" cy="9525"/>
              </a:xfrm>
              <a:custGeom>
                <a:avLst/>
                <a:gdLst/>
                <a:ahLst/>
                <a:cxnLst/>
                <a:rect l="l" t="t" r="r" b="b"/>
                <a:pathLst>
                  <a:path w="39687" h="9525">
                    <a:moveTo>
                      <a:pt x="39687" y="0"/>
                    </a:moveTo>
                    <a:lnTo>
                      <a:pt x="0" y="0"/>
                    </a:lnTo>
                  </a:path>
                </a:pathLst>
              </a:custGeom>
              <a:noFill/>
              <a:ln w="39687">
                <a:solidFill>
                  <a:srgbClr val="F7FAFC"/>
                </a:solidFill>
              </a:ln>
            </p:spPr>
          </p:sp>
          <p:sp>
            <p:nvSpPr>
              <p:cNvPr id="21" name="Freeform 21"/>
              <p:cNvSpPr/>
              <p:nvPr/>
            </p:nvSpPr>
            <p:spPr>
              <a:xfrm>
                <a:off x="6135687" y="3234531"/>
                <a:ext cx="9525" cy="39687"/>
              </a:xfrm>
              <a:custGeom>
                <a:avLst/>
                <a:gdLst/>
                <a:ahLst/>
                <a:cxnLst/>
                <a:rect l="l" t="t" r="r" b="b"/>
                <a:pathLst>
                  <a:path w="9525" h="39687">
                    <a:moveTo>
                      <a:pt x="0" y="39687"/>
                    </a:moveTo>
                    <a:lnTo>
                      <a:pt x="0" y="0"/>
                    </a:lnTo>
                  </a:path>
                </a:pathLst>
              </a:custGeom>
              <a:noFill/>
              <a:ln w="39687">
                <a:solidFill>
                  <a:srgbClr val="F7FAFC"/>
                </a:solidFill>
              </a:ln>
            </p:spPr>
          </p:sp>
          <p:sp>
            <p:nvSpPr>
              <p:cNvPr id="22" name="Freeform 22"/>
              <p:cNvSpPr/>
              <p:nvPr/>
            </p:nvSpPr>
            <p:spPr>
              <a:xfrm>
                <a:off x="6056312" y="3234531"/>
                <a:ext cx="9525" cy="39687"/>
              </a:xfrm>
              <a:custGeom>
                <a:avLst/>
                <a:gdLst/>
                <a:ahLst/>
                <a:cxnLst/>
                <a:rect l="l" t="t" r="r" b="b"/>
                <a:pathLst>
                  <a:path w="9525" h="39687">
                    <a:moveTo>
                      <a:pt x="0" y="39687"/>
                    </a:moveTo>
                    <a:lnTo>
                      <a:pt x="0" y="0"/>
                    </a:lnTo>
                  </a:path>
                </a:pathLst>
              </a:custGeom>
              <a:noFill/>
              <a:ln w="39687">
                <a:solidFill>
                  <a:srgbClr val="F7FAFC"/>
                </a:solidFill>
              </a:ln>
            </p:spPr>
          </p:sp>
        </p:grpSp>
        <p:sp>
          <p:nvSpPr>
            <p:cNvPr id="24" name="TextBox 24"/>
            <p:cNvSpPr txBox="1"/>
            <p:nvPr/>
          </p:nvSpPr>
          <p:spPr>
            <a:xfrm>
              <a:off x="5590946" y="3379470"/>
              <a:ext cx="1010107" cy="469392"/>
            </a:xfrm>
            <a:prstGeom prst="rect">
              <a:avLst/>
            </a:prstGeom>
            <a:noFill/>
            <a:ln>
              <a:noFill/>
            </a:ln>
          </p:spPr>
          <p:txBody>
            <a:bodyPr wrap="none" lIns="0" tIns="0" rIns="0" bIns="0" anchor="t" anchorCtr="0">
              <a:spAutoFit/>
            </a:bodyPr>
            <a:lstStyle/>
            <a:p>
              <a:pPr algn="ctr"/>
              <a:r>
                <a:rPr lang="en-US" sz="2400" b="1" dirty="0">
                  <a:solidFill>
                    <a:srgbClr val="F7FAFC"/>
                  </a:solidFill>
                  <a:latin typeface="+mn-lt"/>
                  <a:ea typeface="+mn-ea"/>
                  <a:cs typeface="+mn-cs"/>
                </a:rPr>
                <a:t>AGENT</a:t>
              </a:r>
            </a:p>
          </p:txBody>
        </p:sp>
        <p:sp>
          <p:nvSpPr>
            <p:cNvPr id="25" name="TextBox 25"/>
            <p:cNvSpPr txBox="1"/>
            <p:nvPr/>
          </p:nvSpPr>
          <p:spPr>
            <a:xfrm>
              <a:off x="4997501" y="3832860"/>
              <a:ext cx="2196998" cy="234696"/>
            </a:xfrm>
            <a:prstGeom prst="rect">
              <a:avLst/>
            </a:prstGeom>
            <a:noFill/>
            <a:ln>
              <a:noFill/>
            </a:ln>
          </p:spPr>
          <p:txBody>
            <a:bodyPr wrap="none" lIns="0" tIns="0" rIns="0" bIns="0" anchor="t" anchorCtr="0">
              <a:spAutoFit/>
            </a:bodyPr>
            <a:lstStyle/>
            <a:p>
              <a:pPr algn="ctr"/>
              <a:r>
                <a:rPr lang="en-US" sz="1200" dirty="0">
                  <a:solidFill>
                    <a:srgbClr val="B9F4F7"/>
                  </a:solidFill>
                  <a:latin typeface="Cascadia Mono"/>
                  <a:ea typeface="Cascadia Mono"/>
                  <a:cs typeface="Cascadia Mono"/>
                </a:rPr>
                <a:t>SIX DATA-FLOW BOUNDARIES</a:t>
              </a:r>
            </a:p>
          </p:txBody>
        </p:sp>
        <p:sp>
          <p:nvSpPr>
            <p:cNvPr id="26" name="Rectangle 26"/>
            <p:cNvSpPr/>
            <p:nvPr/>
          </p:nvSpPr>
          <p:spPr>
            <a:xfrm>
              <a:off x="609600" y="1657350"/>
              <a:ext cx="3429000" cy="990600"/>
            </a:xfrm>
            <a:prstGeom prst="roundRect">
              <a:avLst>
                <a:gd name="adj" fmla="val 7692"/>
              </a:avLst>
            </a:prstGeom>
            <a:solidFill>
              <a:srgbClr val="E8F7ED"/>
            </a:solidFill>
            <a:ln w="19050">
              <a:solidFill>
                <a:srgbClr val="15803D"/>
              </a:solidFill>
            </a:ln>
          </p:spPr>
        </p:sp>
        <p:grpSp>
          <p:nvGrpSpPr>
            <p:cNvPr id="30" name="Group 30"/>
            <p:cNvGrpSpPr/>
            <p:nvPr/>
          </p:nvGrpSpPr>
          <p:grpSpPr>
            <a:xfrm>
              <a:off x="834962" y="1888331"/>
              <a:ext cx="254127" cy="242888"/>
              <a:chOff x="834962" y="1888331"/>
              <a:chExt cx="254127" cy="242888"/>
            </a:xfrm>
          </p:grpSpPr>
          <p:sp>
            <p:nvSpPr>
              <p:cNvPr id="27" name="Freeform 27"/>
              <p:cNvSpPr/>
              <p:nvPr/>
            </p:nvSpPr>
            <p:spPr>
              <a:xfrm>
                <a:off x="834962" y="1888331"/>
                <a:ext cx="254127" cy="242888"/>
              </a:xfrm>
              <a:custGeom>
                <a:avLst/>
                <a:gdLst/>
                <a:ahLst/>
                <a:cxnLst/>
                <a:rect l="l" t="t" r="r" b="b"/>
                <a:pathLst>
                  <a:path w="254127" h="242888">
                    <a:moveTo>
                      <a:pt x="127063" y="0"/>
                    </a:moveTo>
                    <a:cubicBezTo>
                      <a:pt x="158583" y="27886"/>
                      <a:pt x="199720" y="42405"/>
                      <a:pt x="241761" y="40481"/>
                    </a:cubicBezTo>
                    <a:cubicBezTo>
                      <a:pt x="254127" y="82549"/>
                      <a:pt x="248904" y="127833"/>
                      <a:pt x="227287" y="165981"/>
                    </a:cubicBezTo>
                    <a:cubicBezTo>
                      <a:pt x="205670" y="204129"/>
                      <a:pt x="169506" y="231879"/>
                      <a:pt x="127063" y="242888"/>
                    </a:cubicBezTo>
                    <a:cubicBezTo>
                      <a:pt x="84621" y="231879"/>
                      <a:pt x="48457" y="204129"/>
                      <a:pt x="26840" y="165981"/>
                    </a:cubicBezTo>
                    <a:cubicBezTo>
                      <a:pt x="5222" y="127833"/>
                      <a:pt x="0" y="82549"/>
                      <a:pt x="12366" y="40481"/>
                    </a:cubicBezTo>
                    <a:cubicBezTo>
                      <a:pt x="54407" y="42405"/>
                      <a:pt x="95544" y="27886"/>
                      <a:pt x="127063" y="0"/>
                    </a:cubicBezTo>
                  </a:path>
                </a:pathLst>
              </a:custGeom>
              <a:noFill/>
              <a:ln w="26988">
                <a:solidFill>
                  <a:srgbClr val="15803D"/>
                </a:solidFill>
              </a:ln>
            </p:spPr>
          </p:sp>
          <p:sp>
            <p:nvSpPr>
              <p:cNvPr id="28" name="Freeform 28"/>
              <p:cNvSpPr/>
              <p:nvPr/>
            </p:nvSpPr>
            <p:spPr>
              <a:xfrm>
                <a:off x="948532" y="1982788"/>
                <a:ext cx="26988" cy="26988"/>
              </a:xfrm>
              <a:custGeom>
                <a:avLst/>
                <a:gdLst/>
                <a:ahLst/>
                <a:cxnLst/>
                <a:rect l="l" t="t" r="r" b="b"/>
                <a:pathLst>
                  <a:path w="26988" h="26988">
                    <a:moveTo>
                      <a:pt x="0" y="13494"/>
                    </a:moveTo>
                    <a:cubicBezTo>
                      <a:pt x="0" y="20946"/>
                      <a:pt x="6041" y="26988"/>
                      <a:pt x="13494" y="26988"/>
                    </a:cubicBezTo>
                    <a:cubicBezTo>
                      <a:pt x="20946" y="26988"/>
                      <a:pt x="26988" y="20946"/>
                      <a:pt x="26988" y="13494"/>
                    </a:cubicBezTo>
                    <a:cubicBezTo>
                      <a:pt x="26988" y="6041"/>
                      <a:pt x="20946" y="0"/>
                      <a:pt x="13494" y="0"/>
                    </a:cubicBezTo>
                    <a:cubicBezTo>
                      <a:pt x="6041" y="0"/>
                      <a:pt x="0" y="6041"/>
                      <a:pt x="0" y="13494"/>
                    </a:cubicBezTo>
                  </a:path>
                </a:pathLst>
              </a:custGeom>
              <a:noFill/>
              <a:ln w="26988">
                <a:solidFill>
                  <a:srgbClr val="15803D"/>
                </a:solidFill>
              </a:ln>
            </p:spPr>
          </p:sp>
          <p:sp>
            <p:nvSpPr>
              <p:cNvPr id="29" name="Freeform 29"/>
              <p:cNvSpPr/>
              <p:nvPr/>
            </p:nvSpPr>
            <p:spPr>
              <a:xfrm>
                <a:off x="962025" y="2009775"/>
                <a:ext cx="9525" cy="33734"/>
              </a:xfrm>
              <a:custGeom>
                <a:avLst/>
                <a:gdLst/>
                <a:ahLst/>
                <a:cxnLst/>
                <a:rect l="l" t="t" r="r" b="b"/>
                <a:pathLst>
                  <a:path w="9525" h="33734">
                    <a:moveTo>
                      <a:pt x="0" y="0"/>
                    </a:moveTo>
                    <a:lnTo>
                      <a:pt x="0" y="33734"/>
                    </a:lnTo>
                  </a:path>
                </a:pathLst>
              </a:custGeom>
              <a:noFill/>
              <a:ln w="26988">
                <a:solidFill>
                  <a:srgbClr val="15803D"/>
                </a:solidFill>
              </a:ln>
            </p:spPr>
          </p:sp>
        </p:grpSp>
        <p:sp>
          <p:nvSpPr>
            <p:cNvPr id="31" name="TextBox 31"/>
            <p:cNvSpPr txBox="1"/>
            <p:nvPr/>
          </p:nvSpPr>
          <p:spPr>
            <a:xfrm>
              <a:off x="1287018" y="1898332"/>
              <a:ext cx="92195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Sandbox</a:t>
              </a:r>
            </a:p>
          </p:txBody>
        </p:sp>
        <p:sp>
          <p:nvSpPr>
            <p:cNvPr id="32" name="TextBox 32"/>
            <p:cNvSpPr txBox="1"/>
            <p:nvPr/>
          </p:nvSpPr>
          <p:spPr>
            <a:xfrm>
              <a:off x="794004" y="2251710"/>
              <a:ext cx="2704303" cy="234696"/>
            </a:xfrm>
            <a:prstGeom prst="rect">
              <a:avLst/>
            </a:prstGeom>
            <a:noFill/>
            <a:ln>
              <a:noFill/>
            </a:ln>
          </p:spPr>
          <p:txBody>
            <a:bodyPr wrap="none" lIns="0" tIns="0" rIns="0" bIns="0" anchor="t" anchorCtr="0">
              <a:spAutoFit/>
            </a:bodyPr>
            <a:lstStyle/>
            <a:p>
              <a:pPr algn="l"/>
              <a:r>
                <a:rPr lang="en-US" sz="1200" dirty="0">
                  <a:solidFill>
                    <a:srgbClr val="15803D"/>
                  </a:solidFill>
                  <a:latin typeface="+mn-lt"/>
                  <a:ea typeface="+mn-ea"/>
                  <a:cs typeface="+mn-cs"/>
                </a:rPr>
                <a:t>COVERS file effects · same-world</a:t>
              </a:r>
            </a:p>
          </p:txBody>
        </p:sp>
        <p:sp>
          <p:nvSpPr>
            <p:cNvPr id="33" name="TextBox 33"/>
            <p:cNvSpPr txBox="1"/>
            <p:nvPr/>
          </p:nvSpPr>
          <p:spPr>
            <a:xfrm>
              <a:off x="2375154" y="2251710"/>
              <a:ext cx="3353976" cy="234696"/>
            </a:xfrm>
            <a:prstGeom prst="rect">
              <a:avLst/>
            </a:prstGeom>
            <a:noFill/>
            <a:ln>
              <a:noFill/>
            </a:ln>
          </p:spPr>
          <p:txBody>
            <a:bodyPr wrap="none" lIns="0" tIns="0" rIns="0" bIns="0" anchor="t" anchorCtr="0">
              <a:spAutoFit/>
            </a:bodyPr>
            <a:lstStyle/>
            <a:p>
              <a:pPr algn="l"/>
              <a:r>
                <a:rPr lang="en-US" sz="1200" dirty="0">
                  <a:solidFill>
                    <a:srgbClr val="C2415B"/>
                  </a:solidFill>
                  <a:latin typeface="+mn-lt"/>
                  <a:ea typeface="+mn-ea"/>
                  <a:cs typeface="+mn-cs"/>
                </a:rPr>
                <a:t>Windows: read · network · process visible</a:t>
              </a:r>
            </a:p>
          </p:txBody>
        </p:sp>
        <p:sp>
          <p:nvSpPr>
            <p:cNvPr id="34" name="Rectangle 34"/>
            <p:cNvSpPr/>
            <p:nvPr/>
          </p:nvSpPr>
          <p:spPr>
            <a:xfrm>
              <a:off x="609600" y="2952750"/>
              <a:ext cx="3429000" cy="990600"/>
            </a:xfrm>
            <a:prstGeom prst="roundRect">
              <a:avLst>
                <a:gd name="adj" fmla="val 7692"/>
              </a:avLst>
            </a:prstGeom>
            <a:solidFill>
              <a:schemeClr val="lt2"/>
            </a:solidFill>
            <a:ln w="19050">
              <a:solidFill>
                <a:schemeClr val="accent3"/>
              </a:solidFill>
            </a:ln>
          </p:spPr>
        </p:sp>
        <p:grpSp>
          <p:nvGrpSpPr>
            <p:cNvPr id="37" name="Group 37"/>
            <p:cNvGrpSpPr/>
            <p:nvPr/>
          </p:nvGrpSpPr>
          <p:grpSpPr>
            <a:xfrm>
              <a:off x="840581" y="3183734"/>
              <a:ext cx="242885" cy="242885"/>
              <a:chOff x="840581" y="3183734"/>
              <a:chExt cx="242885" cy="242885"/>
            </a:xfrm>
          </p:grpSpPr>
          <p:sp>
            <p:nvSpPr>
              <p:cNvPr id="35" name="Freeform 35"/>
              <p:cNvSpPr/>
              <p:nvPr/>
            </p:nvSpPr>
            <p:spPr>
              <a:xfrm>
                <a:off x="840581" y="3183734"/>
                <a:ext cx="242885" cy="242885"/>
              </a:xfrm>
              <a:custGeom>
                <a:avLst/>
                <a:gdLst/>
                <a:ahLst/>
                <a:cxnLst/>
                <a:rect l="l" t="t" r="r" b="b"/>
                <a:pathLst>
                  <a:path w="242885" h="242885">
                    <a:moveTo>
                      <a:pt x="182908" y="11373"/>
                    </a:moveTo>
                    <a:lnTo>
                      <a:pt x="231513" y="59977"/>
                    </a:lnTo>
                    <a:cubicBezTo>
                      <a:pt x="238795" y="67258"/>
                      <a:pt x="242885" y="77133"/>
                      <a:pt x="242885" y="87430"/>
                    </a:cubicBezTo>
                    <a:cubicBezTo>
                      <a:pt x="242885" y="97728"/>
                      <a:pt x="238795" y="107603"/>
                      <a:pt x="231513" y="114883"/>
                    </a:cubicBezTo>
                    <a:lnTo>
                      <a:pt x="195849" y="150548"/>
                    </a:lnTo>
                    <a:cubicBezTo>
                      <a:pt x="188568" y="157829"/>
                      <a:pt x="178693" y="161920"/>
                      <a:pt x="168396" y="161920"/>
                    </a:cubicBezTo>
                    <a:cubicBezTo>
                      <a:pt x="158099" y="161920"/>
                      <a:pt x="148223" y="157829"/>
                      <a:pt x="140943" y="150548"/>
                    </a:cubicBezTo>
                    <a:lnTo>
                      <a:pt x="136881" y="146486"/>
                    </a:lnTo>
                    <a:lnTo>
                      <a:pt x="48389" y="234978"/>
                    </a:lnTo>
                    <a:cubicBezTo>
                      <a:pt x="43905" y="239461"/>
                      <a:pt x="37986" y="242222"/>
                      <a:pt x="31670" y="242778"/>
                    </a:cubicBezTo>
                    <a:lnTo>
                      <a:pt x="29308" y="242885"/>
                    </a:lnTo>
                    <a:lnTo>
                      <a:pt x="13494" y="242885"/>
                    </a:lnTo>
                    <a:cubicBezTo>
                      <a:pt x="6653" y="242885"/>
                      <a:pt x="895" y="237764"/>
                      <a:pt x="94" y="230970"/>
                    </a:cubicBezTo>
                    <a:lnTo>
                      <a:pt x="0" y="229392"/>
                    </a:lnTo>
                    <a:lnTo>
                      <a:pt x="0" y="213577"/>
                    </a:lnTo>
                    <a:cubicBezTo>
                      <a:pt x="2" y="207241"/>
                      <a:pt x="2232" y="201108"/>
                      <a:pt x="6302" y="196251"/>
                    </a:cubicBezTo>
                    <a:lnTo>
                      <a:pt x="7907" y="194497"/>
                    </a:lnTo>
                    <a:lnTo>
                      <a:pt x="13494" y="188910"/>
                    </a:lnTo>
                    <a:lnTo>
                      <a:pt x="40481" y="188910"/>
                    </a:lnTo>
                    <a:lnTo>
                      <a:pt x="40481" y="161923"/>
                    </a:lnTo>
                    <a:lnTo>
                      <a:pt x="67469" y="161923"/>
                    </a:lnTo>
                    <a:lnTo>
                      <a:pt x="67469" y="134935"/>
                    </a:lnTo>
                    <a:lnTo>
                      <a:pt x="96400" y="106005"/>
                    </a:lnTo>
                    <a:lnTo>
                      <a:pt x="92338" y="101943"/>
                    </a:lnTo>
                    <a:cubicBezTo>
                      <a:pt x="85056" y="94662"/>
                      <a:pt x="80965" y="84787"/>
                      <a:pt x="80965" y="74490"/>
                    </a:cubicBezTo>
                    <a:cubicBezTo>
                      <a:pt x="80965" y="64193"/>
                      <a:pt x="85056" y="54317"/>
                      <a:pt x="92338" y="47037"/>
                    </a:cubicBezTo>
                    <a:lnTo>
                      <a:pt x="128002" y="11373"/>
                    </a:lnTo>
                    <a:cubicBezTo>
                      <a:pt x="135283" y="4091"/>
                      <a:pt x="145158" y="0"/>
                      <a:pt x="155455" y="0"/>
                    </a:cubicBezTo>
                    <a:cubicBezTo>
                      <a:pt x="165752" y="0"/>
                      <a:pt x="175628" y="4091"/>
                      <a:pt x="182908" y="11373"/>
                    </a:cubicBezTo>
                  </a:path>
                </a:pathLst>
              </a:custGeom>
              <a:noFill/>
              <a:ln w="26988">
                <a:solidFill>
                  <a:schemeClr val="accent3"/>
                </a:solidFill>
              </a:ln>
            </p:spPr>
          </p:sp>
          <p:sp>
            <p:nvSpPr>
              <p:cNvPr id="36" name="Freeform 36"/>
              <p:cNvSpPr/>
              <p:nvPr/>
            </p:nvSpPr>
            <p:spPr>
              <a:xfrm>
                <a:off x="1002507" y="3264694"/>
                <a:ext cx="9525" cy="9525"/>
              </a:xfrm>
              <a:custGeom>
                <a:avLst/>
                <a:gdLst/>
                <a:ahLst/>
                <a:cxnLst/>
                <a:rect l="l" t="t" r="r" b="b"/>
                <a:pathLst>
                  <a:path w="9525" h="9525">
                    <a:moveTo>
                      <a:pt x="0" y="0"/>
                    </a:moveTo>
                    <a:lnTo>
                      <a:pt x="135" y="0"/>
                    </a:lnTo>
                  </a:path>
                </a:pathLst>
              </a:custGeom>
              <a:noFill/>
              <a:ln w="26988">
                <a:solidFill>
                  <a:schemeClr val="accent3"/>
                </a:solidFill>
              </a:ln>
            </p:spPr>
          </p:sp>
        </p:grpSp>
        <p:sp>
          <p:nvSpPr>
            <p:cNvPr id="38" name="TextBox 38"/>
            <p:cNvSpPr txBox="1"/>
            <p:nvPr/>
          </p:nvSpPr>
          <p:spPr>
            <a:xfrm>
              <a:off x="1287018" y="3193732"/>
              <a:ext cx="131784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Credentials</a:t>
              </a:r>
            </a:p>
          </p:txBody>
        </p:sp>
        <p:sp>
          <p:nvSpPr>
            <p:cNvPr id="39" name="TextBox 39"/>
            <p:cNvSpPr txBox="1"/>
            <p:nvPr/>
          </p:nvSpPr>
          <p:spPr>
            <a:xfrm>
              <a:off x="794004" y="3547110"/>
              <a:ext cx="175686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0700 / 0600 file modes</a:t>
              </a:r>
            </a:p>
          </p:txBody>
        </p:sp>
        <p:sp>
          <p:nvSpPr>
            <p:cNvPr id="40" name="TextBox 40"/>
            <p:cNvSpPr txBox="1"/>
            <p:nvPr/>
          </p:nvSpPr>
          <p:spPr>
            <a:xfrm>
              <a:off x="2337054" y="3547110"/>
              <a:ext cx="2189524" cy="234696"/>
            </a:xfrm>
            <a:prstGeom prst="rect">
              <a:avLst/>
            </a:prstGeom>
            <a:noFill/>
            <a:ln>
              <a:noFill/>
            </a:ln>
          </p:spPr>
          <p:txBody>
            <a:bodyPr wrap="none" lIns="0" tIns="0" rIns="0" bIns="0" anchor="t" anchorCtr="0">
              <a:spAutoFit/>
            </a:bodyPr>
            <a:lstStyle/>
            <a:p>
              <a:pPr algn="l"/>
              <a:r>
                <a:rPr lang="en-US" sz="1200" dirty="0">
                  <a:solidFill>
                    <a:srgbClr val="C2415B"/>
                  </a:solidFill>
                  <a:latin typeface="+mn-lt"/>
                  <a:ea typeface="+mn-ea"/>
                  <a:cs typeface="+mn-cs"/>
                </a:rPr>
                <a:t>NOT same-UID Tool isolation</a:t>
              </a:r>
            </a:p>
          </p:txBody>
        </p:sp>
        <p:sp>
          <p:nvSpPr>
            <p:cNvPr id="41" name="Rectangle 41"/>
            <p:cNvSpPr/>
            <p:nvPr/>
          </p:nvSpPr>
          <p:spPr>
            <a:xfrm>
              <a:off x="609600" y="4248150"/>
              <a:ext cx="3429000" cy="990600"/>
            </a:xfrm>
            <a:prstGeom prst="roundRect">
              <a:avLst>
                <a:gd name="adj" fmla="val 7692"/>
              </a:avLst>
            </a:prstGeom>
            <a:solidFill>
              <a:schemeClr val="lt2"/>
            </a:solidFill>
            <a:ln w="19050">
              <a:solidFill>
                <a:schemeClr val="accent3"/>
              </a:solidFill>
            </a:ln>
          </p:spPr>
        </p:sp>
        <p:grpSp>
          <p:nvGrpSpPr>
            <p:cNvPr id="45" name="Group 45"/>
            <p:cNvGrpSpPr/>
            <p:nvPr/>
          </p:nvGrpSpPr>
          <p:grpSpPr>
            <a:xfrm>
              <a:off x="854075" y="4479131"/>
              <a:ext cx="215901" cy="242888"/>
              <a:chOff x="854075" y="4479131"/>
              <a:chExt cx="215901" cy="242888"/>
            </a:xfrm>
          </p:grpSpPr>
          <p:sp>
            <p:nvSpPr>
              <p:cNvPr id="42" name="Freeform 42"/>
              <p:cNvSpPr/>
              <p:nvPr/>
            </p:nvSpPr>
            <p:spPr>
              <a:xfrm>
                <a:off x="854075" y="4479131"/>
                <a:ext cx="215901" cy="80963"/>
              </a:xfrm>
              <a:custGeom>
                <a:avLst/>
                <a:gdLst/>
                <a:ahLst/>
                <a:cxnLst/>
                <a:rect l="l" t="t" r="r" b="b"/>
                <a:pathLst>
                  <a:path w="215901" h="80963">
                    <a:moveTo>
                      <a:pt x="0" y="40481"/>
                    </a:moveTo>
                    <a:cubicBezTo>
                      <a:pt x="0" y="62839"/>
                      <a:pt x="48331" y="80963"/>
                      <a:pt x="107950" y="80963"/>
                    </a:cubicBezTo>
                    <a:cubicBezTo>
                      <a:pt x="167570" y="80963"/>
                      <a:pt x="215901" y="62839"/>
                      <a:pt x="215901" y="40481"/>
                    </a:cubicBezTo>
                    <a:cubicBezTo>
                      <a:pt x="215901" y="18124"/>
                      <a:pt x="167570" y="0"/>
                      <a:pt x="107950" y="0"/>
                    </a:cubicBezTo>
                    <a:cubicBezTo>
                      <a:pt x="48331" y="0"/>
                      <a:pt x="0" y="18124"/>
                      <a:pt x="0" y="40481"/>
                    </a:cubicBezTo>
                  </a:path>
                </a:pathLst>
              </a:custGeom>
              <a:noFill/>
              <a:ln w="26988">
                <a:solidFill>
                  <a:schemeClr val="accent3"/>
                </a:solidFill>
              </a:ln>
            </p:spPr>
          </p:sp>
          <p:sp>
            <p:nvSpPr>
              <p:cNvPr id="43" name="Freeform 43"/>
              <p:cNvSpPr/>
              <p:nvPr/>
            </p:nvSpPr>
            <p:spPr>
              <a:xfrm>
                <a:off x="854075" y="4519613"/>
                <a:ext cx="215901" cy="121444"/>
              </a:xfrm>
              <a:custGeom>
                <a:avLst/>
                <a:gdLst/>
                <a:ahLst/>
                <a:cxnLst/>
                <a:rect l="l" t="t" r="r" b="b"/>
                <a:pathLst>
                  <a:path w="215901" h="121444">
                    <a:moveTo>
                      <a:pt x="0" y="0"/>
                    </a:moveTo>
                    <a:lnTo>
                      <a:pt x="0" y="80963"/>
                    </a:lnTo>
                    <a:cubicBezTo>
                      <a:pt x="0" y="103320"/>
                      <a:pt x="48331" y="121444"/>
                      <a:pt x="107950" y="121444"/>
                    </a:cubicBezTo>
                    <a:cubicBezTo>
                      <a:pt x="167570" y="121444"/>
                      <a:pt x="215901" y="103320"/>
                      <a:pt x="215901" y="80963"/>
                    </a:cubicBezTo>
                    <a:lnTo>
                      <a:pt x="215901" y="0"/>
                    </a:lnTo>
                  </a:path>
                </a:pathLst>
              </a:custGeom>
              <a:noFill/>
              <a:ln w="26988">
                <a:solidFill>
                  <a:schemeClr val="accent3"/>
                </a:solidFill>
              </a:ln>
            </p:spPr>
          </p:sp>
          <p:sp>
            <p:nvSpPr>
              <p:cNvPr id="44" name="Freeform 44"/>
              <p:cNvSpPr/>
              <p:nvPr/>
            </p:nvSpPr>
            <p:spPr>
              <a:xfrm>
                <a:off x="854075" y="4600575"/>
                <a:ext cx="215901" cy="121444"/>
              </a:xfrm>
              <a:custGeom>
                <a:avLst/>
                <a:gdLst/>
                <a:ahLst/>
                <a:cxnLst/>
                <a:rect l="l" t="t" r="r" b="b"/>
                <a:pathLst>
                  <a:path w="215901" h="121444">
                    <a:moveTo>
                      <a:pt x="0" y="0"/>
                    </a:moveTo>
                    <a:lnTo>
                      <a:pt x="0" y="80963"/>
                    </a:lnTo>
                    <a:cubicBezTo>
                      <a:pt x="0" y="103320"/>
                      <a:pt x="48331" y="121444"/>
                      <a:pt x="107950" y="121444"/>
                    </a:cubicBezTo>
                    <a:cubicBezTo>
                      <a:pt x="167570" y="121444"/>
                      <a:pt x="215901" y="103320"/>
                      <a:pt x="215901" y="80963"/>
                    </a:cubicBezTo>
                    <a:lnTo>
                      <a:pt x="215901" y="0"/>
                    </a:lnTo>
                  </a:path>
                </a:pathLst>
              </a:custGeom>
              <a:noFill/>
              <a:ln w="26988">
                <a:solidFill>
                  <a:schemeClr val="accent3"/>
                </a:solidFill>
              </a:ln>
            </p:spPr>
          </p:sp>
        </p:grpSp>
        <p:sp>
          <p:nvSpPr>
            <p:cNvPr id="46" name="TextBox 46"/>
            <p:cNvSpPr txBox="1"/>
            <p:nvPr/>
          </p:nvSpPr>
          <p:spPr>
            <a:xfrm>
              <a:off x="1287018" y="4489132"/>
              <a:ext cx="137645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Persistence</a:t>
              </a:r>
            </a:p>
          </p:txBody>
        </p:sp>
        <p:sp>
          <p:nvSpPr>
            <p:cNvPr id="47" name="TextBox 47"/>
            <p:cNvSpPr txBox="1"/>
            <p:nvPr/>
          </p:nvSpPr>
          <p:spPr>
            <a:xfrm>
              <a:off x="794004" y="4842510"/>
              <a:ext cx="150175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JSONL append-only</a:t>
              </a:r>
            </a:p>
          </p:txBody>
        </p:sp>
        <p:sp>
          <p:nvSpPr>
            <p:cNvPr id="48" name="TextBox 48"/>
            <p:cNvSpPr txBox="1"/>
            <p:nvPr/>
          </p:nvSpPr>
          <p:spPr>
            <a:xfrm>
              <a:off x="2184654" y="4842510"/>
              <a:ext cx="2783840" cy="234696"/>
            </a:xfrm>
            <a:prstGeom prst="rect">
              <a:avLst/>
            </a:prstGeom>
            <a:noFill/>
            <a:ln>
              <a:noFill/>
            </a:ln>
          </p:spPr>
          <p:txBody>
            <a:bodyPr wrap="none" lIns="0" tIns="0" rIns="0" bIns="0" anchor="t" anchorCtr="0">
              <a:spAutoFit/>
            </a:bodyPr>
            <a:lstStyle/>
            <a:p>
              <a:pPr algn="l"/>
              <a:r>
                <a:rPr lang="en-US" sz="1200" dirty="0">
                  <a:solidFill>
                    <a:srgbClr val="C2415B"/>
                  </a:solidFill>
                  <a:latin typeface="+mn-lt"/>
                  <a:ea typeface="+mn-ea"/>
                  <a:cs typeface="+mn-cs"/>
                </a:rPr>
                <a:t>NOT auto-delete · tamper evidence</a:t>
              </a:r>
            </a:p>
          </p:txBody>
        </p:sp>
        <p:sp>
          <p:nvSpPr>
            <p:cNvPr id="49" name="Rectangle 49"/>
            <p:cNvSpPr/>
            <p:nvPr/>
          </p:nvSpPr>
          <p:spPr>
            <a:xfrm>
              <a:off x="8153400" y="1657350"/>
              <a:ext cx="3429000" cy="990600"/>
            </a:xfrm>
            <a:prstGeom prst="roundRect">
              <a:avLst>
                <a:gd name="adj" fmla="val 7692"/>
              </a:avLst>
            </a:prstGeom>
            <a:solidFill>
              <a:srgbClr val="FFF3E0"/>
            </a:solidFill>
            <a:ln w="19050">
              <a:solidFill>
                <a:schemeClr val="accent6"/>
              </a:solidFill>
            </a:ln>
          </p:spPr>
        </p:sp>
        <p:grpSp>
          <p:nvGrpSpPr>
            <p:cNvPr id="55" name="Group 55"/>
            <p:cNvGrpSpPr/>
            <p:nvPr/>
          </p:nvGrpSpPr>
          <p:grpSpPr>
            <a:xfrm>
              <a:off x="8384381" y="1888331"/>
              <a:ext cx="242888" cy="242888"/>
              <a:chOff x="8384381" y="1888331"/>
              <a:chExt cx="242888" cy="242888"/>
            </a:xfrm>
          </p:grpSpPr>
          <p:sp>
            <p:nvSpPr>
              <p:cNvPr id="50" name="Freeform 50"/>
              <p:cNvSpPr/>
              <p:nvPr/>
            </p:nvSpPr>
            <p:spPr>
              <a:xfrm>
                <a:off x="8384381" y="1888331"/>
                <a:ext cx="242888" cy="242888"/>
              </a:xfrm>
              <a:custGeom>
                <a:avLst/>
                <a:gdLst/>
                <a:ahLst/>
                <a:cxnLst/>
                <a:rect l="l" t="t" r="r" b="b"/>
                <a:pathLst>
                  <a:path w="242888" h="242888">
                    <a:moveTo>
                      <a:pt x="0" y="121444"/>
                    </a:moveTo>
                    <a:cubicBezTo>
                      <a:pt x="0" y="188516"/>
                      <a:pt x="54372" y="242888"/>
                      <a:pt x="121444" y="242888"/>
                    </a:cubicBezTo>
                    <a:cubicBezTo>
                      <a:pt x="188516" y="242888"/>
                      <a:pt x="242888" y="188516"/>
                      <a:pt x="242888" y="121444"/>
                    </a:cubicBezTo>
                    <a:cubicBezTo>
                      <a:pt x="242888" y="54372"/>
                      <a:pt x="188516" y="0"/>
                      <a:pt x="121444" y="0"/>
                    </a:cubicBezTo>
                    <a:cubicBezTo>
                      <a:pt x="54372" y="0"/>
                      <a:pt x="0" y="54372"/>
                      <a:pt x="0" y="121444"/>
                    </a:cubicBezTo>
                  </a:path>
                </a:pathLst>
              </a:custGeom>
              <a:noFill/>
              <a:ln w="26988">
                <a:solidFill>
                  <a:schemeClr val="accent6"/>
                </a:solidFill>
              </a:ln>
            </p:spPr>
          </p:sp>
          <p:sp>
            <p:nvSpPr>
              <p:cNvPr id="51" name="Freeform 51"/>
              <p:cNvSpPr/>
              <p:nvPr/>
            </p:nvSpPr>
            <p:spPr>
              <a:xfrm>
                <a:off x="8392478" y="1969294"/>
                <a:ext cx="226696" cy="9525"/>
              </a:xfrm>
              <a:custGeom>
                <a:avLst/>
                <a:gdLst/>
                <a:ahLst/>
                <a:cxnLst/>
                <a:rect l="l" t="t" r="r" b="b"/>
                <a:pathLst>
                  <a:path w="226696" h="9525">
                    <a:moveTo>
                      <a:pt x="0" y="0"/>
                    </a:moveTo>
                    <a:lnTo>
                      <a:pt x="226696" y="0"/>
                    </a:lnTo>
                  </a:path>
                </a:pathLst>
              </a:custGeom>
              <a:noFill/>
              <a:ln w="26988">
                <a:solidFill>
                  <a:schemeClr val="accent6"/>
                </a:solidFill>
              </a:ln>
            </p:spPr>
          </p:sp>
          <p:sp>
            <p:nvSpPr>
              <p:cNvPr id="52" name="Freeform 52"/>
              <p:cNvSpPr/>
              <p:nvPr/>
            </p:nvSpPr>
            <p:spPr>
              <a:xfrm>
                <a:off x="8392478" y="2050257"/>
                <a:ext cx="226696" cy="9525"/>
              </a:xfrm>
              <a:custGeom>
                <a:avLst/>
                <a:gdLst/>
                <a:ahLst/>
                <a:cxnLst/>
                <a:rect l="l" t="t" r="r" b="b"/>
                <a:pathLst>
                  <a:path w="226696" h="9525">
                    <a:moveTo>
                      <a:pt x="0" y="0"/>
                    </a:moveTo>
                    <a:lnTo>
                      <a:pt x="226696" y="0"/>
                    </a:lnTo>
                  </a:path>
                </a:pathLst>
              </a:custGeom>
              <a:noFill/>
              <a:ln w="26988">
                <a:solidFill>
                  <a:schemeClr val="accent6"/>
                </a:solidFill>
              </a:ln>
            </p:spPr>
          </p:sp>
          <p:sp>
            <p:nvSpPr>
              <p:cNvPr id="53" name="Freeform 53"/>
              <p:cNvSpPr/>
              <p:nvPr/>
            </p:nvSpPr>
            <p:spPr>
              <a:xfrm>
                <a:off x="8452700" y="1888331"/>
                <a:ext cx="46379" cy="242888"/>
              </a:xfrm>
              <a:custGeom>
                <a:avLst/>
                <a:gdLst/>
                <a:ahLst/>
                <a:cxnLst/>
                <a:rect l="l" t="t" r="r" b="b"/>
                <a:pathLst>
                  <a:path w="46379" h="242888">
                    <a:moveTo>
                      <a:pt x="46379" y="0"/>
                    </a:moveTo>
                    <a:cubicBezTo>
                      <a:pt x="0" y="74321"/>
                      <a:pt x="0" y="168567"/>
                      <a:pt x="46379" y="242888"/>
                    </a:cubicBezTo>
                  </a:path>
                </a:pathLst>
              </a:custGeom>
              <a:noFill/>
              <a:ln w="26988">
                <a:solidFill>
                  <a:schemeClr val="accent6"/>
                </a:solidFill>
              </a:ln>
            </p:spPr>
          </p:sp>
          <p:sp>
            <p:nvSpPr>
              <p:cNvPr id="54" name="Freeform 54"/>
              <p:cNvSpPr/>
              <p:nvPr/>
            </p:nvSpPr>
            <p:spPr>
              <a:xfrm>
                <a:off x="8512572" y="1888331"/>
                <a:ext cx="46379" cy="242888"/>
              </a:xfrm>
              <a:custGeom>
                <a:avLst/>
                <a:gdLst/>
                <a:ahLst/>
                <a:cxnLst/>
                <a:rect l="l" t="t" r="r" b="b"/>
                <a:pathLst>
                  <a:path w="46379" h="242888">
                    <a:moveTo>
                      <a:pt x="0" y="0"/>
                    </a:moveTo>
                    <a:cubicBezTo>
                      <a:pt x="46379" y="74321"/>
                      <a:pt x="46379" y="168567"/>
                      <a:pt x="0" y="242888"/>
                    </a:cubicBezTo>
                  </a:path>
                </a:pathLst>
              </a:custGeom>
              <a:noFill/>
              <a:ln w="26988">
                <a:solidFill>
                  <a:schemeClr val="accent6"/>
                </a:solidFill>
              </a:ln>
            </p:spPr>
          </p:sp>
        </p:grpSp>
        <p:sp>
          <p:nvSpPr>
            <p:cNvPr id="56" name="TextBox 56"/>
            <p:cNvSpPr txBox="1"/>
            <p:nvPr/>
          </p:nvSpPr>
          <p:spPr>
            <a:xfrm>
              <a:off x="8830818" y="1898332"/>
              <a:ext cx="109720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Outbound</a:t>
              </a:r>
            </a:p>
          </p:txBody>
        </p:sp>
        <p:sp>
          <p:nvSpPr>
            <p:cNvPr id="57" name="TextBox 57"/>
            <p:cNvSpPr txBox="1"/>
            <p:nvPr/>
          </p:nvSpPr>
          <p:spPr>
            <a:xfrm>
              <a:off x="8337804" y="2175510"/>
              <a:ext cx="2024200"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Web search ON by default</a:t>
              </a:r>
            </a:p>
          </p:txBody>
        </p:sp>
        <p:sp>
          <p:nvSpPr>
            <p:cNvPr id="58" name="TextBox 58"/>
            <p:cNvSpPr txBox="1"/>
            <p:nvPr/>
          </p:nvSpPr>
          <p:spPr>
            <a:xfrm>
              <a:off x="8337804" y="2385060"/>
              <a:ext cx="1927352"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fetch + Session FTS OFF</a:t>
              </a:r>
            </a:p>
          </p:txBody>
        </p:sp>
        <p:sp>
          <p:nvSpPr>
            <p:cNvPr id="59" name="Rectangle 59"/>
            <p:cNvSpPr/>
            <p:nvPr/>
          </p:nvSpPr>
          <p:spPr>
            <a:xfrm>
              <a:off x="8153400" y="2952750"/>
              <a:ext cx="3429000" cy="990600"/>
            </a:xfrm>
            <a:prstGeom prst="roundRect">
              <a:avLst>
                <a:gd name="adj" fmla="val 7692"/>
              </a:avLst>
            </a:prstGeom>
            <a:solidFill>
              <a:schemeClr val="lt2"/>
            </a:solidFill>
            <a:ln w="19050">
              <a:solidFill>
                <a:schemeClr val="accent3"/>
              </a:solidFill>
            </a:ln>
          </p:spPr>
        </p:sp>
        <p:sp>
          <p:nvSpPr>
            <p:cNvPr id="60" name="Freeform 60"/>
            <p:cNvSpPr/>
            <p:nvPr/>
          </p:nvSpPr>
          <p:spPr>
            <a:xfrm>
              <a:off x="8384381" y="3197225"/>
              <a:ext cx="242888" cy="215901"/>
            </a:xfrm>
            <a:custGeom>
              <a:avLst/>
              <a:gdLst/>
              <a:ahLst/>
              <a:cxnLst/>
              <a:rect l="l" t="t" r="r" b="b"/>
              <a:pathLst>
                <a:path w="242888" h="215901">
                  <a:moveTo>
                    <a:pt x="0" y="107950"/>
                  </a:moveTo>
                  <a:lnTo>
                    <a:pt x="53975" y="107950"/>
                  </a:lnTo>
                  <a:lnTo>
                    <a:pt x="94456" y="215901"/>
                  </a:lnTo>
                  <a:lnTo>
                    <a:pt x="148432" y="0"/>
                  </a:lnTo>
                  <a:lnTo>
                    <a:pt x="188913" y="107950"/>
                  </a:lnTo>
                  <a:lnTo>
                    <a:pt x="242888" y="107950"/>
                  </a:lnTo>
                </a:path>
              </a:pathLst>
            </a:custGeom>
            <a:noFill/>
            <a:ln w="26988">
              <a:solidFill>
                <a:schemeClr val="accent3"/>
              </a:solidFill>
            </a:ln>
          </p:spPr>
        </p:sp>
        <p:sp>
          <p:nvSpPr>
            <p:cNvPr id="61" name="TextBox 61"/>
            <p:cNvSpPr txBox="1"/>
            <p:nvPr/>
          </p:nvSpPr>
          <p:spPr>
            <a:xfrm>
              <a:off x="8830818" y="3193732"/>
              <a:ext cx="116677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Telemetry</a:t>
              </a:r>
            </a:p>
          </p:txBody>
        </p:sp>
        <p:sp>
          <p:nvSpPr>
            <p:cNvPr id="62" name="TextBox 62"/>
            <p:cNvSpPr txBox="1"/>
            <p:nvPr/>
          </p:nvSpPr>
          <p:spPr>
            <a:xfrm>
              <a:off x="8337804" y="3547110"/>
              <a:ext cx="118357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OFF by default</a:t>
              </a:r>
            </a:p>
          </p:txBody>
        </p:sp>
        <p:sp>
          <p:nvSpPr>
            <p:cNvPr id="63" name="TextBox 63"/>
            <p:cNvSpPr txBox="1"/>
            <p:nvPr/>
          </p:nvSpPr>
          <p:spPr>
            <a:xfrm>
              <a:off x="9385554" y="3470910"/>
              <a:ext cx="1757172" cy="444246"/>
            </a:xfrm>
            <a:prstGeom prst="rect">
              <a:avLst/>
            </a:prstGeom>
            <a:noFill/>
            <a:ln>
              <a:noFill/>
            </a:ln>
          </p:spPr>
          <p:txBody>
            <a:bodyPr wrap="none" lIns="0" tIns="0" rIns="0" bIns="0" anchor="t" anchorCtr="0">
              <a:spAutoFit/>
            </a:bodyPr>
            <a:lstStyle/>
            <a:p>
              <a:pPr algn="l">
                <a:lnSpc>
                  <a:spcPts val="1650"/>
                </a:lnSpc>
              </a:pPr>
              <a:r>
                <a:rPr lang="en-US" sz="1200" dirty="0">
                  <a:solidFill>
                    <a:srgbClr val="C2415B"/>
                  </a:solidFill>
                  <a:latin typeface="+mn-lt"/>
                  <a:ea typeface="+mn-ea"/>
                  <a:cs typeface="+mn-cs"/>
                </a:rPr>
                <a:t>ON may include prompts</a:t>
              </a:r>
              <a:br/>
              <a:r>
                <a:rPr lang="en-US" sz="1200" dirty="0">
                  <a:solidFill>
                    <a:srgbClr val="C2415B"/>
                  </a:solidFill>
                  <a:latin typeface="+mn-lt"/>
                  <a:ea typeface="+mn-ea"/>
                  <a:cs typeface="+mn-cs"/>
                </a:rPr>
                <a:t>Tools · files · cwd</a:t>
              </a:r>
            </a:p>
          </p:txBody>
        </p:sp>
        <p:sp>
          <p:nvSpPr>
            <p:cNvPr id="64" name="Rectangle 64"/>
            <p:cNvSpPr/>
            <p:nvPr/>
          </p:nvSpPr>
          <p:spPr>
            <a:xfrm>
              <a:off x="8153400" y="4248150"/>
              <a:ext cx="3429000" cy="990600"/>
            </a:xfrm>
            <a:prstGeom prst="roundRect">
              <a:avLst>
                <a:gd name="adj" fmla="val 7692"/>
              </a:avLst>
            </a:prstGeom>
            <a:solidFill>
              <a:srgbClr val="FFF0F2"/>
            </a:solidFill>
            <a:ln w="19050">
              <a:solidFill>
                <a:srgbClr val="C2415B"/>
              </a:solidFill>
            </a:ln>
          </p:spPr>
        </p:sp>
        <p:grpSp>
          <p:nvGrpSpPr>
            <p:cNvPr id="73" name="Group 73"/>
            <p:cNvGrpSpPr/>
            <p:nvPr/>
          </p:nvGrpSpPr>
          <p:grpSpPr>
            <a:xfrm>
              <a:off x="8384381" y="4479131"/>
              <a:ext cx="242888" cy="256382"/>
              <a:chOff x="8384381" y="4479131"/>
              <a:chExt cx="242888" cy="256382"/>
            </a:xfrm>
          </p:grpSpPr>
          <p:sp>
            <p:nvSpPr>
              <p:cNvPr id="65" name="Freeform 65"/>
              <p:cNvSpPr/>
              <p:nvPr/>
            </p:nvSpPr>
            <p:spPr>
              <a:xfrm>
                <a:off x="8424863" y="4479131"/>
                <a:ext cx="161925" cy="161925"/>
              </a:xfrm>
              <a:custGeom>
                <a:avLst/>
                <a:gdLst/>
                <a:ahLst/>
                <a:cxnLst/>
                <a:rect l="l" t="t" r="r" b="b"/>
                <a:pathLst>
                  <a:path w="161925" h="161925">
                    <a:moveTo>
                      <a:pt x="0" y="80963"/>
                    </a:moveTo>
                    <a:cubicBezTo>
                      <a:pt x="0" y="125677"/>
                      <a:pt x="36248" y="161925"/>
                      <a:pt x="80963" y="161925"/>
                    </a:cubicBezTo>
                    <a:cubicBezTo>
                      <a:pt x="125677" y="161925"/>
                      <a:pt x="161925" y="125677"/>
                      <a:pt x="161925" y="80963"/>
                    </a:cubicBezTo>
                    <a:cubicBezTo>
                      <a:pt x="161925" y="36248"/>
                      <a:pt x="125677" y="0"/>
                      <a:pt x="80963" y="0"/>
                    </a:cubicBezTo>
                    <a:cubicBezTo>
                      <a:pt x="36248" y="0"/>
                      <a:pt x="0" y="36248"/>
                      <a:pt x="0" y="80963"/>
                    </a:cubicBezTo>
                  </a:path>
                </a:pathLst>
              </a:custGeom>
              <a:noFill/>
              <a:ln w="26988">
                <a:solidFill>
                  <a:srgbClr val="C2415B"/>
                </a:solidFill>
              </a:ln>
            </p:spPr>
          </p:sp>
          <p:sp>
            <p:nvSpPr>
              <p:cNvPr id="66" name="Freeform 66"/>
              <p:cNvSpPr/>
              <p:nvPr/>
            </p:nvSpPr>
            <p:spPr>
              <a:xfrm>
                <a:off x="8505825" y="4479131"/>
                <a:ext cx="26988" cy="161925"/>
              </a:xfrm>
              <a:custGeom>
                <a:avLst/>
                <a:gdLst/>
                <a:ahLst/>
                <a:cxnLst/>
                <a:rect l="l" t="t" r="r" b="b"/>
                <a:pathLst>
                  <a:path w="26988" h="161925">
                    <a:moveTo>
                      <a:pt x="0" y="0"/>
                    </a:moveTo>
                    <a:cubicBezTo>
                      <a:pt x="17987" y="4493"/>
                      <a:pt x="26988" y="31481"/>
                      <a:pt x="26988" y="80963"/>
                    </a:cubicBezTo>
                    <a:cubicBezTo>
                      <a:pt x="26988" y="130444"/>
                      <a:pt x="17987" y="157432"/>
                      <a:pt x="0" y="161925"/>
                    </a:cubicBezTo>
                  </a:path>
                </a:pathLst>
              </a:custGeom>
              <a:noFill/>
              <a:ln w="26988">
                <a:solidFill>
                  <a:srgbClr val="C2415B"/>
                </a:solidFill>
              </a:ln>
            </p:spPr>
          </p:sp>
          <p:sp>
            <p:nvSpPr>
              <p:cNvPr id="67" name="Freeform 67"/>
              <p:cNvSpPr/>
              <p:nvPr/>
            </p:nvSpPr>
            <p:spPr>
              <a:xfrm>
                <a:off x="8478838" y="4479131"/>
                <a:ext cx="26988" cy="161925"/>
              </a:xfrm>
              <a:custGeom>
                <a:avLst/>
                <a:gdLst/>
                <a:ahLst/>
                <a:cxnLst/>
                <a:rect l="l" t="t" r="r" b="b"/>
                <a:pathLst>
                  <a:path w="26988" h="161925">
                    <a:moveTo>
                      <a:pt x="26988" y="0"/>
                    </a:moveTo>
                    <a:cubicBezTo>
                      <a:pt x="9000" y="4493"/>
                      <a:pt x="0" y="31481"/>
                      <a:pt x="0" y="80963"/>
                    </a:cubicBezTo>
                    <a:cubicBezTo>
                      <a:pt x="0" y="130444"/>
                      <a:pt x="9000" y="157432"/>
                      <a:pt x="26988" y="161925"/>
                    </a:cubicBezTo>
                  </a:path>
                </a:pathLst>
              </a:custGeom>
              <a:noFill/>
              <a:ln w="26988">
                <a:solidFill>
                  <a:srgbClr val="C2415B"/>
                </a:solidFill>
              </a:ln>
            </p:spPr>
          </p:sp>
          <p:sp>
            <p:nvSpPr>
              <p:cNvPr id="68" name="Freeform 68"/>
              <p:cNvSpPr/>
              <p:nvPr/>
            </p:nvSpPr>
            <p:spPr>
              <a:xfrm>
                <a:off x="8424863" y="4560094"/>
                <a:ext cx="161925" cy="9525"/>
              </a:xfrm>
              <a:custGeom>
                <a:avLst/>
                <a:gdLst/>
                <a:ahLst/>
                <a:cxnLst/>
                <a:rect l="l" t="t" r="r" b="b"/>
                <a:pathLst>
                  <a:path w="161925" h="9525">
                    <a:moveTo>
                      <a:pt x="0" y="0"/>
                    </a:moveTo>
                    <a:lnTo>
                      <a:pt x="161925" y="0"/>
                    </a:lnTo>
                  </a:path>
                </a:pathLst>
              </a:custGeom>
              <a:noFill/>
              <a:ln w="26988">
                <a:solidFill>
                  <a:srgbClr val="C2415B"/>
                </a:solidFill>
              </a:ln>
            </p:spPr>
          </p:sp>
          <p:sp>
            <p:nvSpPr>
              <p:cNvPr id="69" name="Freeform 69"/>
              <p:cNvSpPr/>
              <p:nvPr/>
            </p:nvSpPr>
            <p:spPr>
              <a:xfrm>
                <a:off x="8384381" y="4708526"/>
                <a:ext cx="94456" cy="9525"/>
              </a:xfrm>
              <a:custGeom>
                <a:avLst/>
                <a:gdLst/>
                <a:ahLst/>
                <a:cxnLst/>
                <a:rect l="l" t="t" r="r" b="b"/>
                <a:pathLst>
                  <a:path w="94456" h="9525">
                    <a:moveTo>
                      <a:pt x="0" y="0"/>
                    </a:moveTo>
                    <a:lnTo>
                      <a:pt x="94456" y="0"/>
                    </a:lnTo>
                  </a:path>
                </a:pathLst>
              </a:custGeom>
              <a:noFill/>
              <a:ln w="26988">
                <a:solidFill>
                  <a:srgbClr val="C2415B"/>
                </a:solidFill>
              </a:ln>
            </p:spPr>
          </p:sp>
          <p:sp>
            <p:nvSpPr>
              <p:cNvPr id="70" name="Freeform 70"/>
              <p:cNvSpPr/>
              <p:nvPr/>
            </p:nvSpPr>
            <p:spPr>
              <a:xfrm>
                <a:off x="8532813" y="4708526"/>
                <a:ext cx="94456" cy="9525"/>
              </a:xfrm>
              <a:custGeom>
                <a:avLst/>
                <a:gdLst/>
                <a:ahLst/>
                <a:cxnLst/>
                <a:rect l="l" t="t" r="r" b="b"/>
                <a:pathLst>
                  <a:path w="94456" h="9525">
                    <a:moveTo>
                      <a:pt x="0" y="0"/>
                    </a:moveTo>
                    <a:lnTo>
                      <a:pt x="94456" y="0"/>
                    </a:lnTo>
                  </a:path>
                </a:pathLst>
              </a:custGeom>
              <a:noFill/>
              <a:ln w="26988">
                <a:solidFill>
                  <a:srgbClr val="C2415B"/>
                </a:solidFill>
              </a:ln>
            </p:spPr>
          </p:sp>
          <p:sp>
            <p:nvSpPr>
              <p:cNvPr id="71" name="Freeform 71"/>
              <p:cNvSpPr/>
              <p:nvPr/>
            </p:nvSpPr>
            <p:spPr>
              <a:xfrm>
                <a:off x="8478838" y="4681538"/>
                <a:ext cx="53975" cy="53975"/>
              </a:xfrm>
              <a:custGeom>
                <a:avLst/>
                <a:gdLst/>
                <a:ahLst/>
                <a:cxnLst/>
                <a:rect l="l" t="t" r="r" b="b"/>
                <a:pathLst>
                  <a:path w="53975" h="53975">
                    <a:moveTo>
                      <a:pt x="0" y="26988"/>
                    </a:moveTo>
                    <a:cubicBezTo>
                      <a:pt x="0" y="41892"/>
                      <a:pt x="12083" y="53975"/>
                      <a:pt x="26988" y="53975"/>
                    </a:cubicBezTo>
                    <a:cubicBezTo>
                      <a:pt x="41892" y="53975"/>
                      <a:pt x="53975" y="41892"/>
                      <a:pt x="53975" y="26988"/>
                    </a:cubicBezTo>
                    <a:cubicBezTo>
                      <a:pt x="53975" y="12083"/>
                      <a:pt x="41892" y="0"/>
                      <a:pt x="26988" y="0"/>
                    </a:cubicBezTo>
                    <a:cubicBezTo>
                      <a:pt x="12083" y="0"/>
                      <a:pt x="0" y="12083"/>
                      <a:pt x="0" y="26988"/>
                    </a:cubicBezTo>
                  </a:path>
                </a:pathLst>
              </a:custGeom>
              <a:noFill/>
              <a:ln w="26988">
                <a:solidFill>
                  <a:srgbClr val="C2415B"/>
                </a:solidFill>
              </a:ln>
            </p:spPr>
          </p:sp>
          <p:sp>
            <p:nvSpPr>
              <p:cNvPr id="72" name="Freeform 72"/>
              <p:cNvSpPr/>
              <p:nvPr/>
            </p:nvSpPr>
            <p:spPr>
              <a:xfrm>
                <a:off x="8505825" y="4641057"/>
                <a:ext cx="9525" cy="40481"/>
              </a:xfrm>
              <a:custGeom>
                <a:avLst/>
                <a:gdLst/>
                <a:ahLst/>
                <a:cxnLst/>
                <a:rect l="l" t="t" r="r" b="b"/>
                <a:pathLst>
                  <a:path w="9525" h="40481">
                    <a:moveTo>
                      <a:pt x="0" y="0"/>
                    </a:moveTo>
                    <a:lnTo>
                      <a:pt x="0" y="40481"/>
                    </a:lnTo>
                  </a:path>
                </a:pathLst>
              </a:custGeom>
              <a:noFill/>
              <a:ln w="26988">
                <a:solidFill>
                  <a:srgbClr val="C2415B"/>
                </a:solidFill>
              </a:ln>
            </p:spPr>
          </p:sp>
        </p:grpSp>
        <p:sp>
          <p:nvSpPr>
            <p:cNvPr id="74" name="TextBox 74"/>
            <p:cNvSpPr txBox="1"/>
            <p:nvPr/>
          </p:nvSpPr>
          <p:spPr>
            <a:xfrm>
              <a:off x="8830818" y="4489132"/>
              <a:ext cx="155227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Web boundary</a:t>
              </a:r>
            </a:p>
          </p:txBody>
        </p:sp>
        <p:sp>
          <p:nvSpPr>
            <p:cNvPr id="75" name="TextBox 75"/>
            <p:cNvSpPr txBox="1"/>
            <p:nvPr/>
          </p:nvSpPr>
          <p:spPr>
            <a:xfrm>
              <a:off x="8337804" y="4842510"/>
              <a:ext cx="154216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Host / Origin fence</a:t>
              </a:r>
            </a:p>
          </p:txBody>
        </p:sp>
        <p:sp>
          <p:nvSpPr>
            <p:cNvPr id="76" name="TextBox 76"/>
            <p:cNvSpPr txBox="1"/>
            <p:nvPr/>
          </p:nvSpPr>
          <p:spPr>
            <a:xfrm>
              <a:off x="9728454" y="4842510"/>
              <a:ext cx="1537716" cy="234696"/>
            </a:xfrm>
            <a:prstGeom prst="rect">
              <a:avLst/>
            </a:prstGeom>
            <a:noFill/>
            <a:ln>
              <a:noFill/>
            </a:ln>
          </p:spPr>
          <p:txBody>
            <a:bodyPr wrap="none" lIns="0" tIns="0" rIns="0" bIns="0" anchor="t" anchorCtr="0">
              <a:spAutoFit/>
            </a:bodyPr>
            <a:lstStyle/>
            <a:p>
              <a:pPr algn="l"/>
              <a:r>
                <a:rPr lang="en-US" sz="1200" dirty="0">
                  <a:solidFill>
                    <a:srgbClr val="C2415B"/>
                  </a:solidFill>
                  <a:latin typeface="+mn-lt"/>
                  <a:ea typeface="+mn-ea"/>
                  <a:cs typeface="+mn-cs"/>
                </a:rPr>
                <a:t>NOT authentication</a:t>
              </a:r>
            </a:p>
          </p:txBody>
        </p:sp>
      </p:grpSp>
      <p:grpSp>
        <p:nvGrpSpPr>
          <p:cNvPr id="80" name="Group 80"/>
          <p:cNvGrpSpPr/>
          <p:nvPr/>
        </p:nvGrpSpPr>
        <p:grpSpPr>
          <a:xfrm>
            <a:off x="1219200" y="5467350"/>
            <a:ext cx="9753600" cy="514350"/>
            <a:chOff x="1219200" y="5467350"/>
            <a:chExt cx="9753600" cy="514350"/>
          </a:xfrm>
        </p:grpSpPr>
        <p:sp>
          <p:nvSpPr>
            <p:cNvPr id="78" name="Rectangle 78"/>
            <p:cNvSpPr/>
            <p:nvPr/>
          </p:nvSpPr>
          <p:spPr>
            <a:xfrm>
              <a:off x="1219200" y="5467350"/>
              <a:ext cx="9753600" cy="514350"/>
            </a:xfrm>
            <a:prstGeom prst="roundRect">
              <a:avLst>
                <a:gd name="adj" fmla="val 12963"/>
              </a:avLst>
            </a:prstGeom>
            <a:solidFill>
              <a:schemeClr val="accent1"/>
            </a:solidFill>
            <a:ln w="19050">
              <a:solidFill>
                <a:schemeClr val="accent2"/>
              </a:solidFill>
            </a:ln>
          </p:spPr>
        </p:sp>
        <p:sp>
          <p:nvSpPr>
            <p:cNvPr id="79" name="TextBox 79"/>
            <p:cNvSpPr txBox="1"/>
            <p:nvPr/>
          </p:nvSpPr>
          <p:spPr>
            <a:xfrm>
              <a:off x="2711920" y="5654992"/>
              <a:ext cx="6768160" cy="264033"/>
            </a:xfrm>
            <a:prstGeom prst="rect">
              <a:avLst/>
            </a:prstGeom>
            <a:noFill/>
            <a:ln>
              <a:noFill/>
            </a:ln>
          </p:spPr>
          <p:txBody>
            <a:bodyPr wrap="none" lIns="0" tIns="0" rIns="0" bIns="0" anchor="t" anchorCtr="0">
              <a:spAutoFit/>
            </a:bodyPr>
            <a:lstStyle/>
            <a:p>
              <a:pPr algn="ctr"/>
              <a:r>
                <a:rPr lang="en-US" sz="1350" b="1" dirty="0">
                  <a:solidFill>
                    <a:srgbClr val="F7FAFC"/>
                  </a:solidFill>
                  <a:latin typeface="Cascadia Mono"/>
                  <a:ea typeface="Cascadia Mono"/>
                  <a:cs typeface="Cascadia Mono"/>
                </a:rPr>
                <a:t>FAIL-CLOSED ≠ FULL ISOLATION · APPEND-ONLY ≠ TAMPER-EVIDENT AUDIT</a:t>
              </a:r>
            </a:p>
          </p:txBody>
        </p:sp>
      </p:grpSp>
      <p:grpSp>
        <p:nvGrpSpPr>
          <p:cNvPr id="83" name="Group 83"/>
          <p:cNvGrpSpPr/>
          <p:nvPr/>
        </p:nvGrpSpPr>
        <p:grpSpPr>
          <a:xfrm>
            <a:off x="602742" y="6293168"/>
            <a:ext cx="10986516" cy="264033"/>
            <a:chOff x="602742" y="6293168"/>
            <a:chExt cx="10986516" cy="264033"/>
          </a:xfrm>
        </p:grpSpPr>
        <p:sp>
          <p:nvSpPr>
            <p:cNvPr id="81" name="TextBox 81"/>
            <p:cNvSpPr txBox="1"/>
            <p:nvPr/>
          </p:nvSpPr>
          <p:spPr>
            <a:xfrm>
              <a:off x="602742" y="6293168"/>
              <a:ext cx="464149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K-017 · K-031 · K-032 | STATE COVERAGE PRECISELY</a:t>
              </a:r>
            </a:p>
          </p:txBody>
        </p:sp>
        <p:sp>
          <p:nvSpPr>
            <p:cNvPr id="82" name="TextBox 82"/>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P18 / 24</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rgbClr val="D7E0F1">
                <a:alpha val="65000"/>
              </a:srgbClr>
            </a:solidFill>
          </a:ln>
        </p:spPr>
      </p:sp>
      <p:grpSp>
        <p:nvGrpSpPr>
          <p:cNvPr id="7" name="Group 7"/>
          <p:cNvGrpSpPr/>
          <p:nvPr/>
        </p:nvGrpSpPr>
        <p:grpSpPr>
          <a:xfrm>
            <a:off x="593598" y="425768"/>
            <a:ext cx="10995660" cy="1064133"/>
            <a:chOff x="593598" y="425768"/>
            <a:chExt cx="10995660" cy="1064133"/>
          </a:xfrm>
        </p:grpSpPr>
        <p:sp>
          <p:nvSpPr>
            <p:cNvPr id="3" name="TextBox 3"/>
            <p:cNvSpPr txBox="1"/>
            <p:nvPr/>
          </p:nvSpPr>
          <p:spPr>
            <a:xfrm>
              <a:off x="602742" y="425768"/>
              <a:ext cx="6667348"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ENTERPRISE GAP / IDENTITY · EXECUTION · DATA · AUDIT · LIFECYCLE</a:t>
              </a:r>
            </a:p>
          </p:txBody>
        </p:sp>
        <p:sp>
          <p:nvSpPr>
            <p:cNvPr id="4" name="TextBox 4"/>
            <p:cNvSpPr txBox="1"/>
            <p:nvPr/>
          </p:nvSpPr>
          <p:spPr>
            <a:xfrm>
              <a:off x="593598" y="688658"/>
              <a:ext cx="10709914"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The enterprise gap is evidence and accountability</a:t>
              </a:r>
            </a:p>
          </p:txBody>
        </p:sp>
        <p:sp>
          <p:nvSpPr>
            <p:cNvPr id="5" name="TextBox 5"/>
            <p:cNvSpPr txBox="1"/>
            <p:nvPr/>
          </p:nvSpPr>
          <p:spPr>
            <a:xfrm>
              <a:off x="602742" y="1225868"/>
              <a:ext cx="596231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Verified controls—not plugin count—determine enterprise readiness</a:t>
              </a:r>
            </a:p>
          </p:txBody>
        </p:sp>
        <p:sp>
          <p:nvSpPr>
            <p:cNvPr id="6" name="TextBox 6"/>
            <p:cNvSpPr txBox="1"/>
            <p:nvPr/>
          </p:nvSpPr>
          <p:spPr>
            <a:xfrm>
              <a:off x="9290456" y="1225868"/>
              <a:ext cx="2298802" cy="264033"/>
            </a:xfrm>
            <a:prstGeom prst="rect">
              <a:avLst/>
            </a:prstGeom>
            <a:noFill/>
            <a:ln>
              <a:noFill/>
            </a:ln>
          </p:spPr>
          <p:txBody>
            <a:bodyPr wrap="none" lIns="0" tIns="0" rIns="0" bIns="0" anchor="t" anchorCtr="0">
              <a:spAutoFit/>
            </a:bodyPr>
            <a:lstStyle/>
            <a:p>
              <a:pPr algn="r"/>
              <a:r>
                <a:rPr lang="en-US" sz="1350" dirty="0">
                  <a:solidFill>
                    <a:schemeClr val="accent6"/>
                  </a:solidFill>
                  <a:latin typeface="Cascadia Mono"/>
                  <a:ea typeface="Cascadia Mono"/>
                  <a:cs typeface="Cascadia Mono"/>
                </a:rPr>
                <a:t>NATIVE MATRIX / EDITABLE</a:t>
              </a:r>
            </a:p>
          </p:txBody>
        </p:sp>
      </p:grpSp>
      <p:graphicFrame>
        <p:nvGraphicFramePr>
          <p:cNvPr id="8" name="enterprise-gap-matrix"/>
          <p:cNvGraphicFramePr>
            <a:graphicFrameLocks noGrp="1"/>
          </p:cNvGraphicFramePr>
          <p:nvPr/>
        </p:nvGraphicFramePr>
        <p:xfrm>
          <a:off x="609600" y="1752600"/>
          <a:ext cx="10972800" cy="4000500"/>
        </p:xfrm>
        <a:graphic>
          <a:graphicData uri="http://schemas.openxmlformats.org/drawingml/2006/table">
            <a:tbl>
              <a:tblPr firstRow="1" bandRow="0">
                <a:tableStyleId>{5C22544A-7EE6-4342-B048-85BDC9FD1C3A}</a:tableStyleId>
              </a:tblPr>
              <a:tblGrid>
                <a:gridCol w="2095500"/>
                <a:gridCol w="2476500"/>
                <a:gridCol w="3810000"/>
                <a:gridCol w="2590800"/>
              </a:tblGrid>
              <a:tr h="571500">
                <a:tc>
                  <a:txBody>
                    <a:bodyPr/>
                    <a:lstStyle/>
                    <a:p>
                      <a:pPr algn="ctr"/>
                      <a:r>
                        <a:rPr lang="en-US" sz="1200" b="1">
                          <a:solidFill>
                            <a:schemeClr val="accent1"/>
                          </a:solidFill>
                          <a:latin typeface="Aptos"/>
                          <a:ea typeface="Microsoft YaHei"/>
                          <a:cs typeface="Aptos"/>
                        </a:rPr>
                        <a:t>CONTROL DOMAIN</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chemeClr val="lt2"/>
                    </a:solidFill>
                  </a:tcPr>
                </a:tc>
                <a:tc>
                  <a:txBody>
                    <a:bodyPr/>
                    <a:lstStyle/>
                    <a:p>
                      <a:pPr algn="ctr"/>
                      <a:r>
                        <a:rPr lang="en-US" sz="1200" b="1">
                          <a:solidFill>
                            <a:schemeClr val="accent1"/>
                          </a:solidFill>
                          <a:latin typeface="Aptos"/>
                          <a:ea typeface="Microsoft YaHei"/>
                          <a:cs typeface="Aptos"/>
                        </a:rPr>
                        <a:t>CURRENT HARNESS SURFACE</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chemeClr val="lt2"/>
                    </a:solidFill>
                  </a:tcPr>
                </a:tc>
                <a:tc>
                  <a:txBody>
                    <a:bodyPr/>
                    <a:lstStyle/>
                    <a:p>
                      <a:pPr algn="ctr"/>
                      <a:r>
                        <a:rPr lang="en-US" sz="1200" b="1">
                          <a:solidFill>
                            <a:srgbClr val="9A4D00"/>
                          </a:solidFill>
                          <a:latin typeface="Aptos"/>
                          <a:ea typeface="Microsoft YaHei"/>
                          <a:cs typeface="Aptos"/>
                        </a:rPr>
                        <a:t>ENTERPRISE CONTROL REQUIRED</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E8C2"/>
                    </a:solidFill>
                  </a:tcPr>
                </a:tc>
                <a:tc>
                  <a:txBody>
                    <a:bodyPr/>
                    <a:lstStyle/>
                    <a:p>
                      <a:pPr algn="ctr"/>
                      <a:r>
                        <a:rPr lang="en-US" sz="1200" b="1">
                          <a:solidFill>
                            <a:schemeClr val="accent1"/>
                          </a:solidFill>
                          <a:latin typeface="Aptos"/>
                          <a:ea typeface="Microsoft YaHei"/>
                          <a:cs typeface="Aptos"/>
                        </a:rPr>
                        <a:t>PRIORITY / EVIDENCE</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chemeClr val="lt2"/>
                    </a:solidFill>
                  </a:tcPr>
                </a:tc>
              </a:tr>
              <a:tr h="685800">
                <a:tc>
                  <a:txBody>
                    <a:bodyPr/>
                    <a:lstStyle/>
                    <a:p>
                      <a:pPr/>
                      <a:r>
                        <a:rPr lang="en-US" sz="1200" b="1">
                          <a:solidFill>
                            <a:schemeClr val="dk1"/>
                          </a:solidFill>
                          <a:latin typeface="Aptos"/>
                          <a:ea typeface="Microsoft YaHei"/>
                          <a:cs typeface="Aptos"/>
                        </a:rPr>
                        <a:t>Identity / tenancy</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chemeClr val="dk1"/>
                          </a:solidFill>
                          <a:latin typeface="Aptos"/>
                          <a:ea typeface="Microsoft YaHei"/>
                          <a:cs typeface="Aptos"/>
                        </a:rPr>
                        <a:t>Host / Origin fence</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rgbClr val="9A4D00"/>
                          </a:solidFill>
                          <a:latin typeface="Aptos"/>
                          <a:ea typeface="Microsoft YaHei"/>
                          <a:cs typeface="Aptos"/>
                        </a:rPr>
                        <a:t>SSO · RBAC · workspace isolation</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6E8"/>
                    </a:solidFill>
                  </a:tcPr>
                </a:tc>
                <a:tc>
                  <a:txBody>
                    <a:bodyPr/>
                    <a:lstStyle/>
                    <a:p>
                      <a:pPr/>
                      <a:r>
                        <a:rPr lang="en-US" sz="1200" b="1">
                          <a:solidFill>
                            <a:srgbClr val="C2415B"/>
                          </a:solidFill>
                          <a:latin typeface="Aptos"/>
                          <a:ea typeface="Microsoft YaHei"/>
                          <a:cs typeface="Aptos"/>
                        </a:rPr>
                        <a:t>HIGH · PUBLIC GAP</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0F2"/>
                    </a:solidFill>
                  </a:tcPr>
                </a:tc>
              </a:tr>
              <a:tr h="685800">
                <a:tc>
                  <a:txBody>
                    <a:bodyPr/>
                    <a:lstStyle/>
                    <a:p>
                      <a:pPr/>
                      <a:r>
                        <a:rPr lang="en-US" sz="1200" b="1">
                          <a:solidFill>
                            <a:schemeClr val="dk1"/>
                          </a:solidFill>
                          <a:latin typeface="Aptos"/>
                          <a:ea typeface="Microsoft YaHei"/>
                          <a:cs typeface="Aptos"/>
                        </a:rPr>
                        <a:t>Execution</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chemeClr val="dk1"/>
                          </a:solidFill>
                          <a:latin typeface="Aptos"/>
                          <a:ea typeface="Microsoft YaHei"/>
                          <a:cs typeface="Aptos"/>
                        </a:rPr>
                        <a:t>file sandbox</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rgbClr val="9A4D00"/>
                          </a:solidFill>
                          <a:latin typeface="Aptos"/>
                          <a:ea typeface="Microsoft YaHei"/>
                          <a:cs typeface="Aptos"/>
                        </a:rPr>
                        <a:t>network · process · remote isolation</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6E8"/>
                    </a:solidFill>
                  </a:tcPr>
                </a:tc>
                <a:tc>
                  <a:txBody>
                    <a:bodyPr/>
                    <a:lstStyle/>
                    <a:p>
                      <a:pPr/>
                      <a:r>
                        <a:rPr lang="en-US" sz="1200" b="1">
                          <a:solidFill>
                            <a:srgbClr val="C2415B"/>
                          </a:solidFill>
                          <a:latin typeface="Aptos"/>
                          <a:ea typeface="Microsoft YaHei"/>
                          <a:cs typeface="Aptos"/>
                        </a:rPr>
                        <a:t>HIGH · PUBLIC GAP</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0F2"/>
                    </a:solidFill>
                  </a:tcPr>
                </a:tc>
              </a:tr>
              <a:tr h="685800">
                <a:tc>
                  <a:txBody>
                    <a:bodyPr/>
                    <a:lstStyle/>
                    <a:p>
                      <a:pPr/>
                      <a:r>
                        <a:rPr lang="en-US" sz="1200" b="1">
                          <a:solidFill>
                            <a:schemeClr val="dk1"/>
                          </a:solidFill>
                          <a:latin typeface="Aptos"/>
                          <a:ea typeface="Microsoft YaHei"/>
                          <a:cs typeface="Aptos"/>
                        </a:rPr>
                        <a:t>Secrets / data</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chemeClr val="dk1"/>
                          </a:solidFill>
                          <a:latin typeface="Aptos"/>
                          <a:ea typeface="Microsoft YaHei"/>
                          <a:cs typeface="Aptos"/>
                        </a:rPr>
                        <a:t>local file + env</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rgbClr val="9A4D00"/>
                          </a:solidFill>
                          <a:latin typeface="Aptos"/>
                          <a:ea typeface="Microsoft YaHei"/>
                          <a:cs typeface="Aptos"/>
                        </a:rPr>
                        <a:t>Vault/KMS · DLP · residency evidence</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6E8"/>
                    </a:solidFill>
                  </a:tcPr>
                </a:tc>
                <a:tc>
                  <a:txBody>
                    <a:bodyPr/>
                    <a:lstStyle/>
                    <a:p>
                      <a:pPr/>
                      <a:r>
                        <a:rPr lang="en-US" sz="1200" b="1">
                          <a:solidFill>
                            <a:srgbClr val="C2415B"/>
                          </a:solidFill>
                          <a:latin typeface="Aptos"/>
                          <a:ea typeface="Microsoft YaHei"/>
                          <a:cs typeface="Aptos"/>
                        </a:rPr>
                        <a:t>HIGH · PUBLIC GAP</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0F2"/>
                    </a:solidFill>
                  </a:tcPr>
                </a:tc>
              </a:tr>
              <a:tr h="685800">
                <a:tc>
                  <a:txBody>
                    <a:bodyPr/>
                    <a:lstStyle/>
                    <a:p>
                      <a:pPr/>
                      <a:r>
                        <a:rPr lang="en-US" sz="1200" b="1">
                          <a:solidFill>
                            <a:schemeClr val="dk1"/>
                          </a:solidFill>
                          <a:latin typeface="Aptos"/>
                          <a:ea typeface="Microsoft YaHei"/>
                          <a:cs typeface="Aptos"/>
                        </a:rPr>
                        <a:t>Audit</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chemeClr val="dk1"/>
                          </a:solidFill>
                          <a:latin typeface="Aptos"/>
                          <a:ea typeface="Microsoft YaHei"/>
                          <a:cs typeface="Aptos"/>
                        </a:rPr>
                        <a:t>Session JSONL</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rgbClr val="9A4D00"/>
                          </a:solidFill>
                          <a:latin typeface="Aptos"/>
                          <a:ea typeface="Microsoft YaHei"/>
                          <a:cs typeface="Aptos"/>
                        </a:rPr>
                        <a:t>redaction · retention · tamper evidence</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6E8"/>
                    </a:solidFill>
                  </a:tcPr>
                </a:tc>
                <a:tc>
                  <a:txBody>
                    <a:bodyPr/>
                    <a:lstStyle/>
                    <a:p>
                      <a:pPr/>
                      <a:r>
                        <a:rPr lang="en-US" sz="1200" b="1">
                          <a:solidFill>
                            <a:srgbClr val="C2415B"/>
                          </a:solidFill>
                          <a:latin typeface="Aptos"/>
                          <a:ea typeface="Microsoft YaHei"/>
                          <a:cs typeface="Aptos"/>
                        </a:rPr>
                        <a:t>HIGH · PUBLIC GAP</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0F2"/>
                    </a:solidFill>
                  </a:tcPr>
                </a:tc>
              </a:tr>
              <a:tr h="685800">
                <a:tc>
                  <a:txBody>
                    <a:bodyPr/>
                    <a:lstStyle/>
                    <a:p>
                      <a:pPr/>
                      <a:r>
                        <a:rPr lang="en-US" sz="1200" b="1">
                          <a:solidFill>
                            <a:schemeClr val="dk1"/>
                          </a:solidFill>
                          <a:latin typeface="Aptos"/>
                          <a:ea typeface="Microsoft YaHei"/>
                          <a:cs typeface="Aptos"/>
                        </a:rPr>
                        <a:t>Lifecycle</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chemeClr val="dk1"/>
                          </a:solidFill>
                          <a:latin typeface="Aptos"/>
                          <a:ea typeface="Microsoft YaHei"/>
                          <a:cs typeface="Aptos"/>
                        </a:rPr>
                        <a:t>developer preview</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rgbClr val="9A4D00"/>
                          </a:solidFill>
                          <a:latin typeface="Aptos"/>
                          <a:ea typeface="Microsoft YaHei"/>
                          <a:cs typeface="Aptos"/>
                        </a:rPr>
                        <a:t>LTS · SBOM · CVE · SLA · support</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6E8"/>
                    </a:solidFill>
                  </a:tcPr>
                </a:tc>
                <a:tc>
                  <a:txBody>
                    <a:bodyPr/>
                    <a:lstStyle/>
                    <a:p>
                      <a:pPr/>
                      <a:r>
                        <a:rPr lang="en-US" sz="1200" b="1">
                          <a:solidFill>
                            <a:srgbClr val="C2415B"/>
                          </a:solidFill>
                          <a:latin typeface="Aptos"/>
                          <a:ea typeface="Microsoft YaHei"/>
                          <a:cs typeface="Aptos"/>
                        </a:rPr>
                        <a:t>HIGH · PUBLIC GAP</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0F2"/>
                    </a:solidFill>
                  </a:tcPr>
                </a:tc>
              </a:tr>
            </a:tbl>
          </a:graphicData>
        </a:graphic>
      </p:graphicFrame>
      <p:grpSp>
        <p:nvGrpSpPr>
          <p:cNvPr id="11" name="Group 11"/>
          <p:cNvGrpSpPr/>
          <p:nvPr/>
        </p:nvGrpSpPr>
        <p:grpSpPr>
          <a:xfrm>
            <a:off x="602742" y="6293168"/>
            <a:ext cx="10986516" cy="264033"/>
            <a:chOff x="602742" y="6293168"/>
            <a:chExt cx="10986516" cy="264033"/>
          </a:xfrm>
        </p:grpSpPr>
        <p:sp>
          <p:nvSpPr>
            <p:cNvPr id="9" name="TextBox 9"/>
            <p:cNvSpPr txBox="1"/>
            <p:nvPr/>
          </p:nvSpPr>
          <p:spPr>
            <a:xfrm>
              <a:off x="602742" y="6293168"/>
              <a:ext cx="518876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K-017 · K-018 | IDENTITY · ISOLATION · AUDIT · LIFECYCLE</a:t>
              </a:r>
            </a:p>
          </p:txBody>
        </p:sp>
        <p:sp>
          <p:nvSpPr>
            <p:cNvPr id="10" name="TextBox 10"/>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P19 / 24</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34000"/>
              </a:schemeClr>
            </a:solidFill>
          </a:ln>
        </p:spPr>
      </p:sp>
      <p:grpSp>
        <p:nvGrpSpPr>
          <p:cNvPr id="6" name="Group 6"/>
          <p:cNvGrpSpPr/>
          <p:nvPr/>
        </p:nvGrpSpPr>
        <p:grpSpPr>
          <a:xfrm>
            <a:off x="593598" y="597218"/>
            <a:ext cx="10995660" cy="1012317"/>
            <a:chOff x="593598" y="597218"/>
            <a:chExt cx="10995660" cy="1012317"/>
          </a:xfrm>
        </p:grpSpPr>
        <p:sp>
          <p:nvSpPr>
            <p:cNvPr id="3" name="TextBox 3"/>
            <p:cNvSpPr txBox="1"/>
            <p:nvPr/>
          </p:nvSpPr>
          <p:spPr>
            <a:xfrm>
              <a:off x="602742" y="597218"/>
              <a:ext cx="3076499" cy="264033"/>
            </a:xfrm>
            <a:prstGeom prst="rect">
              <a:avLst/>
            </a:prstGeom>
            <a:noFill/>
            <a:ln>
              <a:noFill/>
            </a:ln>
          </p:spPr>
          <p:txBody>
            <a:bodyPr wrap="none" lIns="0" tIns="0" rIns="0" bIns="0" anchor="t" anchorCtr="0">
              <a:spAutoFit/>
            </a:bodyPr>
            <a:lstStyle/>
            <a:p>
              <a:pPr algn="l"/>
              <a:r>
                <a:rPr lang="en-US" sz="1350" spc="75" dirty="0">
                  <a:solidFill>
                    <a:schemeClr val="accent2"/>
                  </a:solidFill>
                  <a:latin typeface="Cascadia Mono"/>
                  <a:ea typeface="Cascadia Mono"/>
                  <a:cs typeface="Cascadia Mono"/>
                </a:rPr>
                <a:t>SECTION 04 / MARKET POSITION</a:t>
              </a:r>
            </a:p>
          </p:txBody>
        </p:sp>
        <p:sp>
          <p:nvSpPr>
            <p:cNvPr id="4" name="TextBox 4"/>
            <p:cNvSpPr txBox="1"/>
            <p:nvPr/>
          </p:nvSpPr>
          <p:spPr>
            <a:xfrm>
              <a:off x="9722510" y="597218"/>
              <a:ext cx="1866748" cy="264033"/>
            </a:xfrm>
            <a:prstGeom prst="rect">
              <a:avLst/>
            </a:prstGeom>
            <a:noFill/>
            <a:ln>
              <a:noFill/>
            </a:ln>
          </p:spPr>
          <p:txBody>
            <a:bodyPr wrap="none" lIns="0" tIns="0" rIns="0" bIns="0" anchor="t" anchorCtr="0">
              <a:spAutoFit/>
            </a:bodyPr>
            <a:lstStyle/>
            <a:p>
              <a:pPr algn="r"/>
              <a:r>
                <a:rPr lang="en-US" sz="1350" dirty="0">
                  <a:solidFill>
                    <a:srgbClr val="A9B7D5"/>
                  </a:solidFill>
                  <a:latin typeface="Cascadia Mono"/>
                  <a:ea typeface="Cascadia Mono"/>
                  <a:cs typeface="Cascadia Mono"/>
                </a:rPr>
                <a:t>BUYER · JOB · LAYER</a:t>
              </a:r>
            </a:p>
          </p:txBody>
        </p:sp>
        <p:sp>
          <p:nvSpPr>
            <p:cNvPr id="5" name="TextBox 5"/>
            <p:cNvSpPr txBox="1"/>
            <p:nvPr/>
          </p:nvSpPr>
          <p:spPr>
            <a:xfrm>
              <a:off x="593598" y="993458"/>
              <a:ext cx="8172353" cy="616077"/>
            </a:xfrm>
            <a:prstGeom prst="rect">
              <a:avLst/>
            </a:prstGeom>
            <a:noFill/>
            <a:ln>
              <a:noFill/>
            </a:ln>
          </p:spPr>
          <p:txBody>
            <a:bodyPr wrap="none" lIns="0" tIns="0" rIns="0" bIns="0" anchor="t" anchorCtr="0">
              <a:spAutoFit/>
            </a:bodyPr>
            <a:lstStyle/>
            <a:p>
              <a:pPr algn="l"/>
              <a:r>
                <a:rPr lang="en-US" sz="3150" b="1" dirty="0">
                  <a:solidFill>
                    <a:srgbClr val="F7FAFC"/>
                  </a:solidFill>
                  <a:latin typeface="+mn-lt"/>
                  <a:ea typeface="+mn-ea"/>
                  <a:cs typeface="+mn-cs"/>
                </a:rPr>
                <a:t>04 · Market: Agent is not one market</a:t>
              </a:r>
            </a:p>
          </p:txBody>
        </p:sp>
      </p:grpSp>
      <p:grpSp>
        <p:nvGrpSpPr>
          <p:cNvPr id="31" name="Group 31"/>
          <p:cNvGrpSpPr/>
          <p:nvPr/>
        </p:nvGrpSpPr>
        <p:grpSpPr>
          <a:xfrm>
            <a:off x="1047750" y="2000250"/>
            <a:ext cx="10096500" cy="3333750"/>
            <a:chOff x="1047750" y="2000250"/>
            <a:chExt cx="10096500" cy="3333750"/>
          </a:xfrm>
        </p:grpSpPr>
        <p:sp>
          <p:nvSpPr>
            <p:cNvPr id="7" name="Rectangle 7"/>
            <p:cNvSpPr/>
            <p:nvPr/>
          </p:nvSpPr>
          <p:spPr>
            <a:xfrm>
              <a:off x="1047750" y="3905250"/>
              <a:ext cx="2857500" cy="1428750"/>
            </a:xfrm>
            <a:prstGeom prst="roundRect">
              <a:avLst>
                <a:gd name="adj" fmla="val 6667"/>
              </a:avLst>
            </a:prstGeom>
            <a:solidFill>
              <a:srgbClr val="172746"/>
            </a:solidFill>
            <a:ln w="19050">
              <a:solidFill>
                <a:schemeClr val="accent3"/>
              </a:solidFill>
            </a:ln>
          </p:spPr>
        </p:sp>
        <p:grpSp>
          <p:nvGrpSpPr>
            <p:cNvPr id="11" name="Group 11"/>
            <p:cNvGrpSpPr/>
            <p:nvPr/>
          </p:nvGrpSpPr>
          <p:grpSpPr>
            <a:xfrm>
              <a:off x="1343025" y="4216400"/>
              <a:ext cx="285751" cy="254001"/>
              <a:chOff x="1343025" y="4216400"/>
              <a:chExt cx="285751" cy="254001"/>
            </a:xfrm>
          </p:grpSpPr>
          <p:sp>
            <p:nvSpPr>
              <p:cNvPr id="8" name="Freeform 8"/>
              <p:cNvSpPr/>
              <p:nvPr/>
            </p:nvSpPr>
            <p:spPr>
              <a:xfrm>
                <a:off x="1343025" y="4279900"/>
                <a:ext cx="63500" cy="127000"/>
              </a:xfrm>
              <a:custGeom>
                <a:avLst/>
                <a:gdLst/>
                <a:ahLst/>
                <a:cxnLst/>
                <a:rect l="l" t="t" r="r" b="b"/>
                <a:pathLst>
                  <a:path w="63500" h="127000">
                    <a:moveTo>
                      <a:pt x="63500" y="0"/>
                    </a:moveTo>
                    <a:lnTo>
                      <a:pt x="0" y="63500"/>
                    </a:lnTo>
                    <a:lnTo>
                      <a:pt x="63500" y="127000"/>
                    </a:lnTo>
                  </a:path>
                </a:pathLst>
              </a:custGeom>
              <a:noFill/>
              <a:ln w="31750">
                <a:solidFill>
                  <a:schemeClr val="accent2"/>
                </a:solidFill>
              </a:ln>
            </p:spPr>
          </p:sp>
          <p:sp>
            <p:nvSpPr>
              <p:cNvPr id="9" name="Freeform 9"/>
              <p:cNvSpPr/>
              <p:nvPr/>
            </p:nvSpPr>
            <p:spPr>
              <a:xfrm>
                <a:off x="1565276" y="4279900"/>
                <a:ext cx="63500" cy="127000"/>
              </a:xfrm>
              <a:custGeom>
                <a:avLst/>
                <a:gdLst/>
                <a:ahLst/>
                <a:cxnLst/>
                <a:rect l="l" t="t" r="r" b="b"/>
                <a:pathLst>
                  <a:path w="63500" h="127000">
                    <a:moveTo>
                      <a:pt x="0" y="0"/>
                    </a:moveTo>
                    <a:lnTo>
                      <a:pt x="63500" y="63500"/>
                    </a:lnTo>
                    <a:lnTo>
                      <a:pt x="0" y="127000"/>
                    </a:lnTo>
                  </a:path>
                </a:pathLst>
              </a:custGeom>
              <a:noFill/>
              <a:ln w="31750">
                <a:solidFill>
                  <a:schemeClr val="accent2"/>
                </a:solidFill>
              </a:ln>
            </p:spPr>
          </p:sp>
          <p:sp>
            <p:nvSpPr>
              <p:cNvPr id="10" name="Freeform 10"/>
              <p:cNvSpPr/>
              <p:nvPr/>
            </p:nvSpPr>
            <p:spPr>
              <a:xfrm>
                <a:off x="1454150" y="4216400"/>
                <a:ext cx="63500" cy="254001"/>
              </a:xfrm>
              <a:custGeom>
                <a:avLst/>
                <a:gdLst/>
                <a:ahLst/>
                <a:cxnLst/>
                <a:rect l="l" t="t" r="r" b="b"/>
                <a:pathLst>
                  <a:path w="63500" h="254001">
                    <a:moveTo>
                      <a:pt x="63500" y="0"/>
                    </a:moveTo>
                    <a:lnTo>
                      <a:pt x="0" y="254001"/>
                    </a:lnTo>
                  </a:path>
                </a:pathLst>
              </a:custGeom>
              <a:noFill/>
              <a:ln w="31750">
                <a:solidFill>
                  <a:schemeClr val="accent2"/>
                </a:solidFill>
              </a:ln>
            </p:spPr>
          </p:sp>
        </p:grpSp>
        <p:sp>
          <p:nvSpPr>
            <p:cNvPr id="12" name="TextBox 12"/>
            <p:cNvSpPr txBox="1"/>
            <p:nvPr/>
          </p:nvSpPr>
          <p:spPr>
            <a:xfrm>
              <a:off x="1857756" y="4225290"/>
              <a:ext cx="2648207"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Runtime / framework</a:t>
              </a:r>
            </a:p>
          </p:txBody>
        </p:sp>
        <p:sp>
          <p:nvSpPr>
            <p:cNvPr id="13" name="TextBox 13"/>
            <p:cNvSpPr txBox="1"/>
            <p:nvPr/>
          </p:nvSpPr>
          <p:spPr>
            <a:xfrm>
              <a:off x="1288542" y="4731068"/>
              <a:ext cx="541782" cy="264033"/>
            </a:xfrm>
            <a:prstGeom prst="rect">
              <a:avLst/>
            </a:prstGeom>
            <a:noFill/>
            <a:ln>
              <a:noFill/>
            </a:ln>
          </p:spPr>
          <p:txBody>
            <a:bodyPr wrap="none" lIns="0" tIns="0" rIns="0" bIns="0" anchor="t" anchorCtr="0">
              <a:spAutoFit/>
            </a:bodyPr>
            <a:lstStyle/>
            <a:p>
              <a:pPr algn="l"/>
              <a:r>
                <a:rPr lang="en-US" sz="1350" dirty="0">
                  <a:solidFill>
                    <a:srgbClr val="A9B7D5"/>
                  </a:solidFill>
                  <a:latin typeface="+mn-lt"/>
                  <a:ea typeface="+mn-ea"/>
                  <a:cs typeface="+mn-cs"/>
                </a:rPr>
                <a:t>BUYER</a:t>
              </a:r>
            </a:p>
          </p:txBody>
        </p:sp>
        <p:sp>
          <p:nvSpPr>
            <p:cNvPr id="14" name="TextBox 14"/>
            <p:cNvSpPr txBox="1"/>
            <p:nvPr/>
          </p:nvSpPr>
          <p:spPr>
            <a:xfrm>
              <a:off x="2086356" y="4682490"/>
              <a:ext cx="877527" cy="352044"/>
            </a:xfrm>
            <a:prstGeom prst="rect">
              <a:avLst/>
            </a:prstGeom>
            <a:noFill/>
            <a:ln>
              <a:noFill/>
            </a:ln>
          </p:spPr>
          <p:txBody>
            <a:bodyPr wrap="none" lIns="0" tIns="0" rIns="0" bIns="0" anchor="t" anchorCtr="0">
              <a:spAutoFit/>
            </a:bodyPr>
            <a:lstStyle/>
            <a:p>
              <a:pPr algn="l"/>
              <a:r>
                <a:rPr lang="en-US" sz="1800" b="1" dirty="0">
                  <a:solidFill>
                    <a:srgbClr val="B9F4F7"/>
                  </a:solidFill>
                  <a:latin typeface="+mn-lt"/>
                  <a:ea typeface="+mn-ea"/>
                  <a:cs typeface="+mn-cs"/>
                </a:rPr>
                <a:t>Builder</a:t>
              </a:r>
            </a:p>
          </p:txBody>
        </p:sp>
        <p:sp>
          <p:nvSpPr>
            <p:cNvPr id="15" name="Line 15"/>
            <p:cNvSpPr/>
            <p:nvPr/>
          </p:nvSpPr>
          <p:spPr>
            <a:xfrm>
              <a:off x="3905250" y="3486150"/>
              <a:ext cx="762000" cy="838200"/>
            </a:xfrm>
            <a:custGeom>
              <a:avLst/>
              <a:gdLst/>
              <a:ahLst/>
              <a:cxnLst/>
              <a:rect l="l" t="t" r="r" b="b"/>
              <a:pathLst>
                <a:path w="762000" h="838200">
                  <a:moveTo>
                    <a:pt x="0" y="838200"/>
                  </a:moveTo>
                  <a:lnTo>
                    <a:pt x="762000" y="0"/>
                  </a:lnTo>
                </a:path>
              </a:pathLst>
            </a:custGeom>
            <a:noFill/>
            <a:ln w="38100">
              <a:solidFill>
                <a:schemeClr val="accent2"/>
              </a:solidFill>
            </a:ln>
          </p:spPr>
        </p:sp>
        <p:sp>
          <p:nvSpPr>
            <p:cNvPr id="16" name="Polygon 16"/>
            <p:cNvSpPr/>
            <p:nvPr/>
          </p:nvSpPr>
          <p:spPr>
            <a:xfrm>
              <a:off x="4514850" y="3486150"/>
              <a:ext cx="152400" cy="152400"/>
            </a:xfrm>
            <a:custGeom>
              <a:avLst/>
              <a:gdLst/>
              <a:ahLst/>
              <a:cxnLst/>
              <a:rect l="l" t="t" r="r" b="b"/>
              <a:pathLst>
                <a:path w="152400" h="152400">
                  <a:moveTo>
                    <a:pt x="152400" y="0"/>
                  </a:moveTo>
                  <a:lnTo>
                    <a:pt x="0" y="38100"/>
                  </a:lnTo>
                  <a:lnTo>
                    <a:pt x="95250" y="152400"/>
                  </a:lnTo>
                  <a:close/>
                </a:path>
              </a:pathLst>
            </a:custGeom>
            <a:solidFill>
              <a:schemeClr val="accent2"/>
            </a:solidFill>
            <a:ln>
              <a:noFill/>
            </a:ln>
          </p:spPr>
        </p:sp>
        <p:sp>
          <p:nvSpPr>
            <p:cNvPr id="17" name="Rectangle 17"/>
            <p:cNvSpPr/>
            <p:nvPr/>
          </p:nvSpPr>
          <p:spPr>
            <a:xfrm>
              <a:off x="4667250" y="3048000"/>
              <a:ext cx="2857500" cy="1714500"/>
            </a:xfrm>
            <a:prstGeom prst="roundRect">
              <a:avLst>
                <a:gd name="adj" fmla="val 5556"/>
              </a:avLst>
            </a:prstGeom>
            <a:solidFill>
              <a:srgbClr val="26385E"/>
            </a:solidFill>
            <a:ln w="28575">
              <a:solidFill>
                <a:schemeClr val="accent2"/>
              </a:solidFill>
            </a:ln>
          </p:spPr>
        </p:sp>
        <p:sp>
          <p:nvSpPr>
            <p:cNvPr id="18" name="Freeform 18"/>
            <p:cNvSpPr/>
            <p:nvPr/>
          </p:nvSpPr>
          <p:spPr>
            <a:xfrm>
              <a:off x="4953067" y="3333817"/>
              <a:ext cx="300423" cy="300423"/>
            </a:xfrm>
            <a:custGeom>
              <a:avLst/>
              <a:gdLst/>
              <a:ahLst/>
              <a:cxnLst/>
              <a:rect l="l" t="t" r="r" b="b"/>
              <a:pathLst>
                <a:path w="300423" h="300423">
                  <a:moveTo>
                    <a:pt x="72959" y="120584"/>
                  </a:moveTo>
                  <a:lnTo>
                    <a:pt x="120584" y="120584"/>
                  </a:lnTo>
                  <a:lnTo>
                    <a:pt x="120584" y="72959"/>
                  </a:lnTo>
                  <a:lnTo>
                    <a:pt x="65021" y="17396"/>
                  </a:lnTo>
                  <a:cubicBezTo>
                    <a:pt x="101446" y="0"/>
                    <a:pt x="144880" y="7452"/>
                    <a:pt x="173423" y="35995"/>
                  </a:cubicBezTo>
                  <a:cubicBezTo>
                    <a:pt x="201965" y="64537"/>
                    <a:pt x="209417" y="107972"/>
                    <a:pt x="192021" y="144396"/>
                  </a:cubicBezTo>
                  <a:lnTo>
                    <a:pt x="287272" y="239646"/>
                  </a:lnTo>
                  <a:cubicBezTo>
                    <a:pt x="300423" y="252798"/>
                    <a:pt x="300423" y="274120"/>
                    <a:pt x="287272" y="287272"/>
                  </a:cubicBezTo>
                  <a:cubicBezTo>
                    <a:pt x="274120" y="300423"/>
                    <a:pt x="252798" y="300423"/>
                    <a:pt x="239646" y="287272"/>
                  </a:cubicBezTo>
                  <a:lnTo>
                    <a:pt x="144396" y="192021"/>
                  </a:lnTo>
                  <a:cubicBezTo>
                    <a:pt x="107972" y="209417"/>
                    <a:pt x="64537" y="201965"/>
                    <a:pt x="35995" y="173423"/>
                  </a:cubicBezTo>
                  <a:cubicBezTo>
                    <a:pt x="7452" y="144880"/>
                    <a:pt x="0" y="101446"/>
                    <a:pt x="17396" y="65021"/>
                  </a:cubicBezTo>
                  <a:lnTo>
                    <a:pt x="72959" y="120584"/>
                  </a:lnTo>
                </a:path>
              </a:pathLst>
            </a:custGeom>
            <a:noFill/>
            <a:ln w="31750">
              <a:solidFill>
                <a:srgbClr val="F7FAFC"/>
              </a:solidFill>
            </a:ln>
          </p:spPr>
        </p:sp>
        <p:sp>
          <p:nvSpPr>
            <p:cNvPr id="19" name="TextBox 19"/>
            <p:cNvSpPr txBox="1"/>
            <p:nvPr/>
          </p:nvSpPr>
          <p:spPr>
            <a:xfrm>
              <a:off x="5477256" y="3368040"/>
              <a:ext cx="2277975"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Developer product</a:t>
              </a:r>
            </a:p>
          </p:txBody>
        </p:sp>
        <p:sp>
          <p:nvSpPr>
            <p:cNvPr id="20" name="TextBox 20"/>
            <p:cNvSpPr txBox="1"/>
            <p:nvPr/>
          </p:nvSpPr>
          <p:spPr>
            <a:xfrm>
              <a:off x="4908042" y="3778568"/>
              <a:ext cx="1626718" cy="264033"/>
            </a:xfrm>
            <a:prstGeom prst="rect">
              <a:avLst/>
            </a:prstGeom>
            <a:noFill/>
            <a:ln>
              <a:noFill/>
            </a:ln>
          </p:spPr>
          <p:txBody>
            <a:bodyPr wrap="none" lIns="0" tIns="0" rIns="0" bIns="0" anchor="t" anchorCtr="0">
              <a:spAutoFit/>
            </a:bodyPr>
            <a:lstStyle/>
            <a:p>
              <a:pPr algn="l"/>
              <a:r>
                <a:rPr lang="en-US" sz="1350" dirty="0">
                  <a:solidFill>
                    <a:srgbClr val="B9F4F7"/>
                  </a:solidFill>
                  <a:latin typeface="+mn-lt"/>
                  <a:ea typeface="+mn-ea"/>
                  <a:cs typeface="+mn-cs"/>
                </a:rPr>
                <a:t>CONTROL SURFACE</a:t>
              </a:r>
            </a:p>
          </p:txBody>
        </p:sp>
        <p:sp>
          <p:nvSpPr>
            <p:cNvPr id="21" name="TextBox 21"/>
            <p:cNvSpPr txBox="1"/>
            <p:nvPr/>
          </p:nvSpPr>
          <p:spPr>
            <a:xfrm>
              <a:off x="4908042" y="4216718"/>
              <a:ext cx="541782" cy="264033"/>
            </a:xfrm>
            <a:prstGeom prst="rect">
              <a:avLst/>
            </a:prstGeom>
            <a:noFill/>
            <a:ln>
              <a:noFill/>
            </a:ln>
          </p:spPr>
          <p:txBody>
            <a:bodyPr wrap="none" lIns="0" tIns="0" rIns="0" bIns="0" anchor="t" anchorCtr="0">
              <a:spAutoFit/>
            </a:bodyPr>
            <a:lstStyle/>
            <a:p>
              <a:pPr algn="l"/>
              <a:r>
                <a:rPr lang="en-US" sz="1350" dirty="0">
                  <a:solidFill>
                    <a:srgbClr val="A9B7D5"/>
                  </a:solidFill>
                  <a:latin typeface="+mn-lt"/>
                  <a:ea typeface="+mn-ea"/>
                  <a:cs typeface="+mn-cs"/>
                </a:rPr>
                <a:t>BUYER</a:t>
              </a:r>
            </a:p>
          </p:txBody>
        </p:sp>
        <p:sp>
          <p:nvSpPr>
            <p:cNvPr id="22" name="TextBox 22"/>
            <p:cNvSpPr txBox="1"/>
            <p:nvPr/>
          </p:nvSpPr>
          <p:spPr>
            <a:xfrm>
              <a:off x="5705856" y="4168140"/>
              <a:ext cx="1221638"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Developer</a:t>
              </a:r>
            </a:p>
          </p:txBody>
        </p:sp>
        <p:sp>
          <p:nvSpPr>
            <p:cNvPr id="23" name="Line 23"/>
            <p:cNvSpPr/>
            <p:nvPr/>
          </p:nvSpPr>
          <p:spPr>
            <a:xfrm>
              <a:off x="7524750" y="2628900"/>
              <a:ext cx="762000" cy="838200"/>
            </a:xfrm>
            <a:custGeom>
              <a:avLst/>
              <a:gdLst/>
              <a:ahLst/>
              <a:cxnLst/>
              <a:rect l="l" t="t" r="r" b="b"/>
              <a:pathLst>
                <a:path w="762000" h="838200">
                  <a:moveTo>
                    <a:pt x="0" y="838200"/>
                  </a:moveTo>
                  <a:lnTo>
                    <a:pt x="762000" y="0"/>
                  </a:lnTo>
                </a:path>
              </a:pathLst>
            </a:custGeom>
            <a:noFill/>
            <a:ln w="38100">
              <a:solidFill>
                <a:schemeClr val="accent2"/>
              </a:solidFill>
            </a:ln>
          </p:spPr>
        </p:sp>
        <p:sp>
          <p:nvSpPr>
            <p:cNvPr id="24" name="Polygon 24"/>
            <p:cNvSpPr/>
            <p:nvPr/>
          </p:nvSpPr>
          <p:spPr>
            <a:xfrm>
              <a:off x="8134350" y="2628900"/>
              <a:ext cx="152400" cy="152400"/>
            </a:xfrm>
            <a:custGeom>
              <a:avLst/>
              <a:gdLst/>
              <a:ahLst/>
              <a:cxnLst/>
              <a:rect l="l" t="t" r="r" b="b"/>
              <a:pathLst>
                <a:path w="152400" h="152400">
                  <a:moveTo>
                    <a:pt x="152400" y="0"/>
                  </a:moveTo>
                  <a:lnTo>
                    <a:pt x="0" y="38100"/>
                  </a:lnTo>
                  <a:lnTo>
                    <a:pt x="95250" y="152400"/>
                  </a:lnTo>
                  <a:close/>
                </a:path>
              </a:pathLst>
            </a:custGeom>
            <a:solidFill>
              <a:schemeClr val="accent2"/>
            </a:solidFill>
            <a:ln>
              <a:noFill/>
            </a:ln>
          </p:spPr>
        </p:sp>
        <p:sp>
          <p:nvSpPr>
            <p:cNvPr id="25" name="Rectangle 25"/>
            <p:cNvSpPr/>
            <p:nvPr/>
          </p:nvSpPr>
          <p:spPr>
            <a:xfrm>
              <a:off x="8286750" y="2000250"/>
              <a:ext cx="2857500" cy="2190750"/>
            </a:xfrm>
            <a:prstGeom prst="roundRect">
              <a:avLst>
                <a:gd name="adj" fmla="val 4348"/>
              </a:avLst>
            </a:prstGeom>
            <a:solidFill>
              <a:schemeClr val="lt2"/>
            </a:solidFill>
            <a:ln w="38100">
              <a:solidFill>
                <a:schemeClr val="accent2"/>
              </a:solidFill>
            </a:ln>
          </p:spPr>
        </p:sp>
        <p:sp>
          <p:nvSpPr>
            <p:cNvPr id="26" name="Freeform 26"/>
            <p:cNvSpPr/>
            <p:nvPr/>
          </p:nvSpPr>
          <p:spPr>
            <a:xfrm>
              <a:off x="8569325" y="2367899"/>
              <a:ext cx="349249" cy="232495"/>
            </a:xfrm>
            <a:custGeom>
              <a:avLst/>
              <a:gdLst/>
              <a:ahLst/>
              <a:cxnLst/>
              <a:rect l="l" t="t" r="r" b="b"/>
              <a:pathLst>
                <a:path w="349249" h="232495">
                  <a:moveTo>
                    <a:pt x="81323" y="232425"/>
                  </a:moveTo>
                  <a:cubicBezTo>
                    <a:pt x="36409" y="232425"/>
                    <a:pt x="0" y="197378"/>
                    <a:pt x="0" y="154141"/>
                  </a:cubicBezTo>
                  <a:cubicBezTo>
                    <a:pt x="0" y="110922"/>
                    <a:pt x="36409" y="75874"/>
                    <a:pt x="81323" y="75874"/>
                  </a:cubicBezTo>
                  <a:cubicBezTo>
                    <a:pt x="88185" y="45106"/>
                    <a:pt x="112650" y="19995"/>
                    <a:pt x="145497" y="9989"/>
                  </a:cubicBezTo>
                  <a:cubicBezTo>
                    <a:pt x="178327" y="0"/>
                    <a:pt x="214579" y="6618"/>
                    <a:pt x="240563" y="27451"/>
                  </a:cubicBezTo>
                  <a:cubicBezTo>
                    <a:pt x="266547" y="48231"/>
                    <a:pt x="278317" y="79961"/>
                    <a:pt x="271472" y="110730"/>
                  </a:cubicBezTo>
                  <a:lnTo>
                    <a:pt x="288759" y="110730"/>
                  </a:lnTo>
                  <a:cubicBezTo>
                    <a:pt x="322165" y="110730"/>
                    <a:pt x="349249" y="137971"/>
                    <a:pt x="349249" y="171604"/>
                  </a:cubicBezTo>
                  <a:cubicBezTo>
                    <a:pt x="349249" y="205254"/>
                    <a:pt x="322165" y="232495"/>
                    <a:pt x="288742" y="232495"/>
                  </a:cubicBezTo>
                  <a:lnTo>
                    <a:pt x="81323" y="232495"/>
                  </a:lnTo>
                </a:path>
              </a:pathLst>
            </a:custGeom>
            <a:noFill/>
            <a:ln w="34925">
              <a:solidFill>
                <a:schemeClr val="accent3"/>
              </a:solidFill>
            </a:ln>
          </p:spPr>
        </p:sp>
        <p:sp>
          <p:nvSpPr>
            <p:cNvPr id="27" name="TextBox 27"/>
            <p:cNvSpPr txBox="1"/>
            <p:nvPr/>
          </p:nvSpPr>
          <p:spPr>
            <a:xfrm>
              <a:off x="9040368" y="2279332"/>
              <a:ext cx="1171908" cy="551307"/>
            </a:xfrm>
            <a:prstGeom prst="rect">
              <a:avLst/>
            </a:prstGeom>
            <a:noFill/>
            <a:ln>
              <a:noFill/>
            </a:ln>
          </p:spPr>
          <p:txBody>
            <a:bodyPr wrap="none" lIns="0" tIns="0" rIns="0" bIns="0" anchor="t" anchorCtr="0">
              <a:spAutoFit/>
            </a:bodyPr>
            <a:lstStyle/>
            <a:p>
              <a:pPr algn="l">
                <a:lnSpc>
                  <a:spcPts val="1800"/>
                </a:lnSpc>
              </a:pPr>
              <a:r>
                <a:rPr lang="en-US" sz="1650" b="1" dirty="0">
                  <a:solidFill>
                    <a:schemeClr val="accent1"/>
                  </a:solidFill>
                  <a:latin typeface="+mn-lt"/>
                  <a:ea typeface="+mn-ea"/>
                  <a:cs typeface="+mn-cs"/>
                </a:rPr>
                <a:t>Enterprise</a:t>
              </a:r>
              <a:br/>
              <a:r>
                <a:rPr lang="en-US" sz="1650" b="1" dirty="0">
                  <a:solidFill>
                    <a:schemeClr val="accent1"/>
                  </a:solidFill>
                  <a:latin typeface="+mn-lt"/>
                  <a:ea typeface="+mn-ea"/>
                  <a:cs typeface="+mn-cs"/>
                </a:rPr>
                <a:t>platform</a:t>
              </a:r>
            </a:p>
          </p:txBody>
        </p:sp>
        <p:sp>
          <p:nvSpPr>
            <p:cNvPr id="28" name="TextBox 28"/>
            <p:cNvSpPr txBox="1"/>
            <p:nvPr/>
          </p:nvSpPr>
          <p:spPr>
            <a:xfrm>
              <a:off x="8527542" y="2845118"/>
              <a:ext cx="1732331"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mn-lt"/>
                  <a:ea typeface="+mn-ea"/>
                  <a:cs typeface="+mn-cs"/>
                </a:rPr>
                <a:t>GOVERNED PRODUCT</a:t>
              </a:r>
            </a:p>
          </p:txBody>
        </p:sp>
        <p:sp>
          <p:nvSpPr>
            <p:cNvPr id="29" name="TextBox 29"/>
            <p:cNvSpPr txBox="1"/>
            <p:nvPr/>
          </p:nvSpPr>
          <p:spPr>
            <a:xfrm>
              <a:off x="8527542" y="3340418"/>
              <a:ext cx="54178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BUYER</a:t>
              </a:r>
            </a:p>
          </p:txBody>
        </p:sp>
        <p:sp>
          <p:nvSpPr>
            <p:cNvPr id="30" name="TextBox 30"/>
            <p:cNvSpPr txBox="1"/>
            <p:nvPr/>
          </p:nvSpPr>
          <p:spPr>
            <a:xfrm>
              <a:off x="9325356" y="3291840"/>
              <a:ext cx="1361616"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Enterprise</a:t>
              </a:r>
            </a:p>
          </p:txBody>
        </p:sp>
      </p:grpSp>
      <p:grpSp>
        <p:nvGrpSpPr>
          <p:cNvPr id="33" name="Group 33"/>
          <p:cNvGrpSpPr/>
          <p:nvPr/>
        </p:nvGrpSpPr>
        <p:grpSpPr>
          <a:xfrm>
            <a:off x="2269419" y="5673090"/>
            <a:ext cx="7653162" cy="352044"/>
            <a:chOff x="2269419" y="5673090"/>
            <a:chExt cx="7653162" cy="352044"/>
          </a:xfrm>
        </p:grpSpPr>
        <p:sp>
          <p:nvSpPr>
            <p:cNvPr id="32" name="TextBox 32"/>
            <p:cNvSpPr txBox="1"/>
            <p:nvPr/>
          </p:nvSpPr>
          <p:spPr>
            <a:xfrm>
              <a:off x="2269419" y="5673090"/>
              <a:ext cx="7653162" cy="352044"/>
            </a:xfrm>
            <a:prstGeom prst="rect">
              <a:avLst/>
            </a:prstGeom>
            <a:noFill/>
            <a:ln>
              <a:noFill/>
            </a:ln>
          </p:spPr>
          <p:txBody>
            <a:bodyPr wrap="none" lIns="0" tIns="0" rIns="0" bIns="0" anchor="t" anchorCtr="0">
              <a:spAutoFit/>
            </a:bodyPr>
            <a:lstStyle/>
            <a:p>
              <a:pPr algn="ctr"/>
              <a:r>
                <a:rPr lang="en-US" sz="1800" b="1" dirty="0">
                  <a:solidFill>
                    <a:srgbClr val="F7FAFC"/>
                  </a:solidFill>
                  <a:latin typeface="Cascadia Mono"/>
                  <a:ea typeface="Cascadia Mono"/>
                  <a:cs typeface="Cascadia Mono"/>
                </a:rPr>
                <a:t>DEFINE THE COMPETITIVE LAYER BEFORE COMPARING PRODUCTS</a:t>
              </a:r>
            </a:p>
          </p:txBody>
        </p:sp>
      </p:grpSp>
      <p:grpSp>
        <p:nvGrpSpPr>
          <p:cNvPr id="36" name="Group 36"/>
          <p:cNvGrpSpPr/>
          <p:nvPr/>
        </p:nvGrpSpPr>
        <p:grpSpPr>
          <a:xfrm>
            <a:off x="602742" y="6293168"/>
            <a:ext cx="10986516" cy="264033"/>
            <a:chOff x="602742" y="6293168"/>
            <a:chExt cx="10986516" cy="264033"/>
          </a:xfrm>
        </p:grpSpPr>
        <p:sp>
          <p:nvSpPr>
            <p:cNvPr id="34" name="TextBox 34"/>
            <p:cNvSpPr txBox="1"/>
            <p:nvPr/>
          </p:nvSpPr>
          <p:spPr>
            <a:xfrm>
              <a:off x="602742" y="6293168"/>
              <a:ext cx="4334256" cy="264033"/>
            </a:xfrm>
            <a:prstGeom prst="rect">
              <a:avLst/>
            </a:prstGeom>
            <a:noFill/>
            <a:ln>
              <a:noFill/>
            </a:ln>
          </p:spPr>
          <p:txBody>
            <a:bodyPr wrap="none" lIns="0" tIns="0" rIns="0" bIns="0" anchor="t" anchorCtr="0">
              <a:spAutoFit/>
            </a:bodyPr>
            <a:lstStyle/>
            <a:p>
              <a:pPr algn="l"/>
              <a:r>
                <a:rPr lang="en-US" sz="1350" dirty="0">
                  <a:solidFill>
                    <a:srgbClr val="A9B7D5"/>
                  </a:solidFill>
                  <a:latin typeface="Cascadia Mono"/>
                  <a:ea typeface="Cascadia Mono"/>
                  <a:cs typeface="Cascadia Mono"/>
                </a:rPr>
                <a:t>K-019 · K-027 | RUNTIME → PRODUCT → PLATFORM</a:t>
              </a:r>
            </a:p>
          </p:txBody>
        </p:sp>
        <p:sp>
          <p:nvSpPr>
            <p:cNvPr id="35" name="TextBox 35"/>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2"/>
                  </a:solidFill>
                  <a:latin typeface="Cascadia Mono"/>
                  <a:ea typeface="Cascadia Mono"/>
                  <a:cs typeface="Cascadia Mono"/>
                </a:rPr>
                <a:t>P20 / 24</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rgbClr val="D7E0F1">
                <a:alpha val="65000"/>
              </a:srgbClr>
            </a:solidFill>
          </a:ln>
        </p:spPr>
      </p:sp>
      <p:grpSp>
        <p:nvGrpSpPr>
          <p:cNvPr id="5" name="Group 5"/>
          <p:cNvGrpSpPr/>
          <p:nvPr/>
        </p:nvGrpSpPr>
        <p:grpSpPr>
          <a:xfrm>
            <a:off x="593598" y="501968"/>
            <a:ext cx="8265033" cy="1202817"/>
            <a:chOff x="593598" y="501968"/>
            <a:chExt cx="8265033" cy="1202817"/>
          </a:xfrm>
        </p:grpSpPr>
        <p:sp>
          <p:nvSpPr>
            <p:cNvPr id="3" name="TextBox 3"/>
            <p:cNvSpPr txBox="1"/>
            <p:nvPr/>
          </p:nvSpPr>
          <p:spPr>
            <a:xfrm>
              <a:off x="602742" y="501968"/>
              <a:ext cx="2678582"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THREE COMPETITIVE LAYERS</a:t>
              </a:r>
            </a:p>
          </p:txBody>
        </p:sp>
        <p:sp>
          <p:nvSpPr>
            <p:cNvPr id="4" name="TextBox 4"/>
            <p:cNvSpPr txBox="1"/>
            <p:nvPr/>
          </p:nvSpPr>
          <p:spPr>
            <a:xfrm>
              <a:off x="593598" y="669608"/>
              <a:ext cx="8265033" cy="1035177"/>
            </a:xfrm>
            <a:prstGeom prst="rect">
              <a:avLst/>
            </a:prstGeom>
            <a:noFill/>
            <a:ln>
              <a:noFill/>
            </a:ln>
          </p:spPr>
          <p:txBody>
            <a:bodyPr wrap="none" lIns="0" tIns="0" rIns="0" bIns="0" anchor="t" anchorCtr="0">
              <a:spAutoFit/>
            </a:bodyPr>
            <a:lstStyle/>
            <a:p>
              <a:pPr algn="l">
                <a:lnSpc>
                  <a:spcPts val="3300"/>
                </a:lnSpc>
              </a:pPr>
              <a:r>
                <a:rPr lang="en-US" sz="3150" b="1" dirty="0">
                  <a:solidFill>
                    <a:schemeClr val="accent1"/>
                  </a:solidFill>
                  <a:latin typeface="+mn-lt"/>
                  <a:ea typeface="+mn-ea"/>
                  <a:cs typeface="+mn-cs"/>
                </a:rPr>
                <a:t>Three layers compete for architecture,</a:t>
              </a:r>
              <a:br/>
              <a:r>
                <a:rPr lang="en-US" sz="3150" b="1" dirty="0">
                  <a:solidFill>
                    <a:schemeClr val="accent1"/>
                  </a:solidFill>
                  <a:latin typeface="+mn-lt"/>
                  <a:ea typeface="+mn-ea"/>
                  <a:cs typeface="+mn-cs"/>
                </a:rPr>
                <a:t>habits, and budget</a:t>
              </a:r>
            </a:p>
          </p:txBody>
        </p:sp>
      </p:grpSp>
      <p:grpSp>
        <p:nvGrpSpPr>
          <p:cNvPr id="28" name="Group 28"/>
          <p:cNvGrpSpPr/>
          <p:nvPr/>
        </p:nvGrpSpPr>
        <p:grpSpPr>
          <a:xfrm>
            <a:off x="609600" y="1695450"/>
            <a:ext cx="10972800" cy="4000500"/>
            <a:chOff x="609600" y="1695450"/>
            <a:chExt cx="10972800" cy="4000500"/>
          </a:xfrm>
        </p:grpSpPr>
        <p:sp>
          <p:nvSpPr>
            <p:cNvPr id="6" name="Rectangle 6"/>
            <p:cNvSpPr/>
            <p:nvPr/>
          </p:nvSpPr>
          <p:spPr>
            <a:xfrm>
              <a:off x="5867400" y="1695450"/>
              <a:ext cx="5715000" cy="1257300"/>
            </a:xfrm>
            <a:prstGeom prst="roundRect">
              <a:avLst>
                <a:gd name="adj" fmla="val 7576"/>
              </a:avLst>
            </a:prstGeom>
            <a:solidFill>
              <a:schemeClr val="lt2"/>
            </a:solidFill>
            <a:ln w="19050">
              <a:solidFill>
                <a:schemeClr val="accent3"/>
              </a:solidFill>
            </a:ln>
          </p:spPr>
        </p:sp>
        <p:sp>
          <p:nvSpPr>
            <p:cNvPr id="7" name="Freeform 7"/>
            <p:cNvSpPr/>
            <p:nvPr/>
          </p:nvSpPr>
          <p:spPr>
            <a:xfrm>
              <a:off x="6127750" y="1998504"/>
              <a:ext cx="317501" cy="211360"/>
            </a:xfrm>
            <a:custGeom>
              <a:avLst/>
              <a:gdLst/>
              <a:ahLst/>
              <a:cxnLst/>
              <a:rect l="l" t="t" r="r" b="b"/>
              <a:pathLst>
                <a:path w="317501" h="211360">
                  <a:moveTo>
                    <a:pt x="73930" y="211297"/>
                  </a:moveTo>
                  <a:cubicBezTo>
                    <a:pt x="33099" y="211297"/>
                    <a:pt x="0" y="179435"/>
                    <a:pt x="0" y="140129"/>
                  </a:cubicBezTo>
                  <a:cubicBezTo>
                    <a:pt x="0" y="100838"/>
                    <a:pt x="33099" y="68977"/>
                    <a:pt x="73930" y="68977"/>
                  </a:cubicBezTo>
                  <a:cubicBezTo>
                    <a:pt x="80169" y="41005"/>
                    <a:pt x="102410" y="18177"/>
                    <a:pt x="132271" y="9081"/>
                  </a:cubicBezTo>
                  <a:cubicBezTo>
                    <a:pt x="162116" y="0"/>
                    <a:pt x="195072" y="6017"/>
                    <a:pt x="218694" y="24956"/>
                  </a:cubicBezTo>
                  <a:cubicBezTo>
                    <a:pt x="242316" y="43847"/>
                    <a:pt x="253016" y="72692"/>
                    <a:pt x="246793" y="100664"/>
                  </a:cubicBezTo>
                  <a:lnTo>
                    <a:pt x="262510" y="100664"/>
                  </a:lnTo>
                  <a:cubicBezTo>
                    <a:pt x="292878" y="100664"/>
                    <a:pt x="317501" y="125429"/>
                    <a:pt x="317501" y="156004"/>
                  </a:cubicBezTo>
                  <a:cubicBezTo>
                    <a:pt x="317501" y="186595"/>
                    <a:pt x="292878" y="211360"/>
                    <a:pt x="262494" y="211360"/>
                  </a:cubicBezTo>
                  <a:lnTo>
                    <a:pt x="73930" y="211360"/>
                  </a:lnTo>
                </a:path>
              </a:pathLst>
            </a:custGeom>
            <a:noFill/>
            <a:ln w="31750">
              <a:solidFill>
                <a:schemeClr val="accent3"/>
              </a:solidFill>
            </a:ln>
          </p:spPr>
        </p:sp>
        <p:sp>
          <p:nvSpPr>
            <p:cNvPr id="8" name="TextBox 8"/>
            <p:cNvSpPr txBox="1"/>
            <p:nvPr/>
          </p:nvSpPr>
          <p:spPr>
            <a:xfrm>
              <a:off x="6658356" y="1977390"/>
              <a:ext cx="254508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Enterprise platform</a:t>
              </a:r>
            </a:p>
          </p:txBody>
        </p:sp>
        <p:sp>
          <p:nvSpPr>
            <p:cNvPr id="9" name="TextBox 9"/>
            <p:cNvSpPr txBox="1"/>
            <p:nvPr/>
          </p:nvSpPr>
          <p:spPr>
            <a:xfrm>
              <a:off x="6089904" y="2385060"/>
              <a:ext cx="463783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ENTERPRISE BUYER · GOVERNANCE BUDGET · IAM / VPC / SLA</a:t>
              </a:r>
            </a:p>
          </p:txBody>
        </p:sp>
        <p:sp>
          <p:nvSpPr>
            <p:cNvPr id="10" name="TextBox 10"/>
            <p:cNvSpPr txBox="1"/>
            <p:nvPr/>
          </p:nvSpPr>
          <p:spPr>
            <a:xfrm>
              <a:off x="6089904" y="2670810"/>
              <a:ext cx="3203285"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Dify · Coze · Model Studio · Tencent ADP</a:t>
              </a:r>
            </a:p>
          </p:txBody>
        </p:sp>
        <p:sp>
          <p:nvSpPr>
            <p:cNvPr id="11" name="Line 11"/>
            <p:cNvSpPr/>
            <p:nvPr/>
          </p:nvSpPr>
          <p:spPr>
            <a:xfrm>
              <a:off x="8515350" y="2952750"/>
              <a:ext cx="9525" cy="114300"/>
            </a:xfrm>
            <a:custGeom>
              <a:avLst/>
              <a:gdLst/>
              <a:ahLst/>
              <a:cxnLst/>
              <a:rect l="l" t="t" r="r" b="b"/>
              <a:pathLst>
                <a:path w="9525" h="114300">
                  <a:moveTo>
                    <a:pt x="0" y="114300"/>
                  </a:moveTo>
                  <a:lnTo>
                    <a:pt x="0" y="0"/>
                  </a:lnTo>
                </a:path>
              </a:pathLst>
            </a:custGeom>
            <a:noFill/>
            <a:ln w="28575">
              <a:solidFill>
                <a:schemeClr val="accent6"/>
              </a:solidFill>
            </a:ln>
          </p:spPr>
        </p:sp>
        <p:sp>
          <p:nvSpPr>
            <p:cNvPr id="12" name="TextBox 12"/>
            <p:cNvSpPr txBox="1"/>
            <p:nvPr/>
          </p:nvSpPr>
          <p:spPr>
            <a:xfrm>
              <a:off x="8699754" y="3013710"/>
              <a:ext cx="1033760" cy="234696"/>
            </a:xfrm>
            <a:prstGeom prst="rect">
              <a:avLst/>
            </a:prstGeom>
            <a:noFill/>
            <a:ln>
              <a:noFill/>
            </a:ln>
          </p:spPr>
          <p:txBody>
            <a:bodyPr wrap="none" lIns="0" tIns="0" rIns="0" bIns="0" anchor="t" anchorCtr="0">
              <a:spAutoFit/>
            </a:bodyPr>
            <a:lstStyle/>
            <a:p>
              <a:pPr algn="l"/>
              <a:r>
                <a:rPr lang="en-US" sz="1200" b="1" dirty="0">
                  <a:solidFill>
                    <a:schemeClr val="accent6"/>
                  </a:solidFill>
                  <a:latin typeface="Cascadia Mono"/>
                  <a:ea typeface="Cascadia Mono"/>
                  <a:cs typeface="Cascadia Mono"/>
                </a:rPr>
                <a:t>GOVERNANCE</a:t>
              </a:r>
            </a:p>
          </p:txBody>
        </p:sp>
        <p:sp>
          <p:nvSpPr>
            <p:cNvPr id="13" name="Rectangle 13"/>
            <p:cNvSpPr/>
            <p:nvPr/>
          </p:nvSpPr>
          <p:spPr>
            <a:xfrm>
              <a:off x="3238500" y="3067050"/>
              <a:ext cx="6667500" cy="1257300"/>
            </a:xfrm>
            <a:prstGeom prst="roundRect">
              <a:avLst>
                <a:gd name="adj" fmla="val 7576"/>
              </a:avLst>
            </a:prstGeom>
            <a:solidFill>
              <a:srgbClr val="26385E"/>
            </a:solidFill>
            <a:ln w="28575">
              <a:solidFill>
                <a:schemeClr val="accent2"/>
              </a:solidFill>
            </a:ln>
          </p:spPr>
        </p:sp>
        <p:sp>
          <p:nvSpPr>
            <p:cNvPr id="14" name="Freeform 14"/>
            <p:cNvSpPr/>
            <p:nvPr/>
          </p:nvSpPr>
          <p:spPr>
            <a:xfrm>
              <a:off x="3505267" y="3333817"/>
              <a:ext cx="300423" cy="300423"/>
            </a:xfrm>
            <a:custGeom>
              <a:avLst/>
              <a:gdLst/>
              <a:ahLst/>
              <a:cxnLst/>
              <a:rect l="l" t="t" r="r" b="b"/>
              <a:pathLst>
                <a:path w="300423" h="300423">
                  <a:moveTo>
                    <a:pt x="72959" y="120584"/>
                  </a:moveTo>
                  <a:lnTo>
                    <a:pt x="120584" y="120584"/>
                  </a:lnTo>
                  <a:lnTo>
                    <a:pt x="120584" y="72959"/>
                  </a:lnTo>
                  <a:lnTo>
                    <a:pt x="65021" y="17396"/>
                  </a:lnTo>
                  <a:cubicBezTo>
                    <a:pt x="101446" y="0"/>
                    <a:pt x="144880" y="7452"/>
                    <a:pt x="173423" y="35995"/>
                  </a:cubicBezTo>
                  <a:cubicBezTo>
                    <a:pt x="201965" y="64537"/>
                    <a:pt x="209417" y="107972"/>
                    <a:pt x="192021" y="144396"/>
                  </a:cubicBezTo>
                  <a:lnTo>
                    <a:pt x="287272" y="239646"/>
                  </a:lnTo>
                  <a:cubicBezTo>
                    <a:pt x="300423" y="252798"/>
                    <a:pt x="300423" y="274120"/>
                    <a:pt x="287272" y="287272"/>
                  </a:cubicBezTo>
                  <a:cubicBezTo>
                    <a:pt x="274120" y="300423"/>
                    <a:pt x="252798" y="300423"/>
                    <a:pt x="239646" y="287272"/>
                  </a:cubicBezTo>
                  <a:lnTo>
                    <a:pt x="144396" y="192021"/>
                  </a:lnTo>
                  <a:cubicBezTo>
                    <a:pt x="107972" y="209417"/>
                    <a:pt x="64537" y="201965"/>
                    <a:pt x="35995" y="173423"/>
                  </a:cubicBezTo>
                  <a:cubicBezTo>
                    <a:pt x="7452" y="144880"/>
                    <a:pt x="0" y="101446"/>
                    <a:pt x="17396" y="65021"/>
                  </a:cubicBezTo>
                  <a:lnTo>
                    <a:pt x="72959" y="120584"/>
                  </a:lnTo>
                </a:path>
              </a:pathLst>
            </a:custGeom>
            <a:noFill/>
            <a:ln w="31750">
              <a:solidFill>
                <a:srgbClr val="F7FAFC"/>
              </a:solidFill>
            </a:ln>
          </p:spPr>
        </p:sp>
        <p:sp>
          <p:nvSpPr>
            <p:cNvPr id="15" name="TextBox 15"/>
            <p:cNvSpPr txBox="1"/>
            <p:nvPr/>
          </p:nvSpPr>
          <p:spPr>
            <a:xfrm>
              <a:off x="4029456" y="3348990"/>
              <a:ext cx="4542974"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Developer product / control surface</a:t>
              </a:r>
            </a:p>
          </p:txBody>
        </p:sp>
        <p:sp>
          <p:nvSpPr>
            <p:cNvPr id="16" name="TextBox 16"/>
            <p:cNvSpPr txBox="1"/>
            <p:nvPr/>
          </p:nvSpPr>
          <p:spPr>
            <a:xfrm>
              <a:off x="3461004" y="3756660"/>
              <a:ext cx="5607900" cy="234696"/>
            </a:xfrm>
            <a:prstGeom prst="rect">
              <a:avLst/>
            </a:prstGeom>
            <a:noFill/>
            <a:ln>
              <a:noFill/>
            </a:ln>
          </p:spPr>
          <p:txBody>
            <a:bodyPr wrap="none" lIns="0" tIns="0" rIns="0" bIns="0" anchor="t" anchorCtr="0">
              <a:spAutoFit/>
            </a:bodyPr>
            <a:lstStyle/>
            <a:p>
              <a:pPr algn="l"/>
              <a:r>
                <a:rPr lang="en-US" sz="1200" dirty="0">
                  <a:solidFill>
                    <a:srgbClr val="B9F4F7"/>
                  </a:solidFill>
                  <a:latin typeface="+mn-lt"/>
                  <a:ea typeface="+mn-ea"/>
                  <a:cs typeface="+mn-cs"/>
                </a:rPr>
                <a:t>BUYER · Developer | WINS · workflow habit | SWITCHING · daily workflow</a:t>
              </a:r>
            </a:p>
          </p:txBody>
        </p:sp>
        <p:sp>
          <p:nvSpPr>
            <p:cNvPr id="17" name="TextBox 17"/>
            <p:cNvSpPr txBox="1"/>
            <p:nvPr/>
          </p:nvSpPr>
          <p:spPr>
            <a:xfrm>
              <a:off x="3461004" y="4042410"/>
              <a:ext cx="4981311" cy="234696"/>
            </a:xfrm>
            <a:prstGeom prst="rect">
              <a:avLst/>
            </a:prstGeom>
            <a:noFill/>
            <a:ln>
              <a:noFill/>
            </a:ln>
          </p:spPr>
          <p:txBody>
            <a:bodyPr wrap="none" lIns="0" tIns="0" rIns="0" bIns="0" anchor="t" anchorCtr="0">
              <a:spAutoFit/>
            </a:bodyPr>
            <a:lstStyle/>
            <a:p>
              <a:pPr algn="l"/>
              <a:r>
                <a:rPr lang="en-US" sz="1200" dirty="0">
                  <a:solidFill>
                    <a:srgbClr val="F7FAFC"/>
                  </a:solidFill>
                  <a:latin typeface="+mn-lt"/>
                  <a:ea typeface="+mn-ea"/>
                  <a:cs typeface="+mn-cs"/>
                </a:rPr>
                <a:t>Claude Code · Codex · Copilot · OpenHands · Qwen · Kimi · Trae</a:t>
              </a:r>
            </a:p>
          </p:txBody>
        </p:sp>
        <p:sp>
          <p:nvSpPr>
            <p:cNvPr id="18" name="Line 18"/>
            <p:cNvSpPr/>
            <p:nvPr/>
          </p:nvSpPr>
          <p:spPr>
            <a:xfrm>
              <a:off x="5886450" y="4324350"/>
              <a:ext cx="9525" cy="114300"/>
            </a:xfrm>
            <a:custGeom>
              <a:avLst/>
              <a:gdLst/>
              <a:ahLst/>
              <a:cxnLst/>
              <a:rect l="l" t="t" r="r" b="b"/>
              <a:pathLst>
                <a:path w="9525" h="114300">
                  <a:moveTo>
                    <a:pt x="0" y="114300"/>
                  </a:moveTo>
                  <a:lnTo>
                    <a:pt x="0" y="0"/>
                  </a:lnTo>
                </a:path>
              </a:pathLst>
            </a:custGeom>
            <a:noFill/>
            <a:ln w="28575">
              <a:solidFill>
                <a:schemeClr val="accent6"/>
              </a:solidFill>
            </a:ln>
          </p:spPr>
        </p:sp>
        <p:sp>
          <p:nvSpPr>
            <p:cNvPr id="19" name="TextBox 19"/>
            <p:cNvSpPr txBox="1"/>
            <p:nvPr/>
          </p:nvSpPr>
          <p:spPr>
            <a:xfrm>
              <a:off x="6070854" y="4385310"/>
              <a:ext cx="558820" cy="234696"/>
            </a:xfrm>
            <a:prstGeom prst="rect">
              <a:avLst/>
            </a:prstGeom>
            <a:noFill/>
            <a:ln>
              <a:noFill/>
            </a:ln>
          </p:spPr>
          <p:txBody>
            <a:bodyPr wrap="none" lIns="0" tIns="0" rIns="0" bIns="0" anchor="t" anchorCtr="0">
              <a:spAutoFit/>
            </a:bodyPr>
            <a:lstStyle/>
            <a:p>
              <a:pPr algn="l"/>
              <a:r>
                <a:rPr lang="en-US" sz="1200" b="1" dirty="0">
                  <a:solidFill>
                    <a:schemeClr val="accent6"/>
                  </a:solidFill>
                  <a:latin typeface="Cascadia Mono"/>
                  <a:ea typeface="Cascadia Mono"/>
                  <a:cs typeface="Cascadia Mono"/>
                </a:rPr>
                <a:t>HABITS</a:t>
              </a:r>
            </a:p>
          </p:txBody>
        </p:sp>
        <p:sp>
          <p:nvSpPr>
            <p:cNvPr id="20" name="Rectangle 20"/>
            <p:cNvSpPr/>
            <p:nvPr/>
          </p:nvSpPr>
          <p:spPr>
            <a:xfrm>
              <a:off x="609600" y="4438650"/>
              <a:ext cx="5715000" cy="1257300"/>
            </a:xfrm>
            <a:prstGeom prst="roundRect">
              <a:avLst>
                <a:gd name="adj" fmla="val 7576"/>
              </a:avLst>
            </a:prstGeom>
            <a:solidFill>
              <a:schemeClr val="accent1"/>
            </a:solidFill>
            <a:ln w="19050">
              <a:solidFill>
                <a:schemeClr val="accent3"/>
              </a:solidFill>
            </a:ln>
          </p:spPr>
        </p:sp>
        <p:grpSp>
          <p:nvGrpSpPr>
            <p:cNvPr id="24" name="Group 24"/>
            <p:cNvGrpSpPr/>
            <p:nvPr/>
          </p:nvGrpSpPr>
          <p:grpSpPr>
            <a:xfrm>
              <a:off x="885825" y="4730750"/>
              <a:ext cx="285751" cy="254001"/>
              <a:chOff x="885825" y="4730750"/>
              <a:chExt cx="285751" cy="254001"/>
            </a:xfrm>
          </p:grpSpPr>
          <p:sp>
            <p:nvSpPr>
              <p:cNvPr id="21" name="Freeform 21"/>
              <p:cNvSpPr/>
              <p:nvPr/>
            </p:nvSpPr>
            <p:spPr>
              <a:xfrm>
                <a:off x="885825" y="4794250"/>
                <a:ext cx="63500" cy="127000"/>
              </a:xfrm>
              <a:custGeom>
                <a:avLst/>
                <a:gdLst/>
                <a:ahLst/>
                <a:cxnLst/>
                <a:rect l="l" t="t" r="r" b="b"/>
                <a:pathLst>
                  <a:path w="63500" h="127000">
                    <a:moveTo>
                      <a:pt x="63500" y="0"/>
                    </a:moveTo>
                    <a:lnTo>
                      <a:pt x="0" y="63500"/>
                    </a:lnTo>
                    <a:lnTo>
                      <a:pt x="63500" y="127000"/>
                    </a:lnTo>
                  </a:path>
                </a:pathLst>
              </a:custGeom>
              <a:noFill/>
              <a:ln w="31750">
                <a:solidFill>
                  <a:schemeClr val="accent2"/>
                </a:solidFill>
              </a:ln>
            </p:spPr>
          </p:sp>
          <p:sp>
            <p:nvSpPr>
              <p:cNvPr id="22" name="Freeform 22"/>
              <p:cNvSpPr/>
              <p:nvPr/>
            </p:nvSpPr>
            <p:spPr>
              <a:xfrm>
                <a:off x="1108076" y="4794250"/>
                <a:ext cx="63500" cy="127000"/>
              </a:xfrm>
              <a:custGeom>
                <a:avLst/>
                <a:gdLst/>
                <a:ahLst/>
                <a:cxnLst/>
                <a:rect l="l" t="t" r="r" b="b"/>
                <a:pathLst>
                  <a:path w="63500" h="127000">
                    <a:moveTo>
                      <a:pt x="0" y="0"/>
                    </a:moveTo>
                    <a:lnTo>
                      <a:pt x="63500" y="63500"/>
                    </a:lnTo>
                    <a:lnTo>
                      <a:pt x="0" y="127000"/>
                    </a:lnTo>
                  </a:path>
                </a:pathLst>
              </a:custGeom>
              <a:noFill/>
              <a:ln w="31750">
                <a:solidFill>
                  <a:schemeClr val="accent2"/>
                </a:solidFill>
              </a:ln>
            </p:spPr>
          </p:sp>
          <p:sp>
            <p:nvSpPr>
              <p:cNvPr id="23" name="Freeform 23"/>
              <p:cNvSpPr/>
              <p:nvPr/>
            </p:nvSpPr>
            <p:spPr>
              <a:xfrm>
                <a:off x="996950" y="4730750"/>
                <a:ext cx="63500" cy="254001"/>
              </a:xfrm>
              <a:custGeom>
                <a:avLst/>
                <a:gdLst/>
                <a:ahLst/>
                <a:cxnLst/>
                <a:rect l="l" t="t" r="r" b="b"/>
                <a:pathLst>
                  <a:path w="63500" h="254001">
                    <a:moveTo>
                      <a:pt x="63500" y="0"/>
                    </a:moveTo>
                    <a:lnTo>
                      <a:pt x="0" y="254001"/>
                    </a:lnTo>
                  </a:path>
                </a:pathLst>
              </a:custGeom>
              <a:noFill/>
              <a:ln w="31750">
                <a:solidFill>
                  <a:schemeClr val="accent2"/>
                </a:solidFill>
              </a:ln>
            </p:spPr>
          </p:sp>
        </p:grpSp>
        <p:sp>
          <p:nvSpPr>
            <p:cNvPr id="25" name="TextBox 25"/>
            <p:cNvSpPr txBox="1"/>
            <p:nvPr/>
          </p:nvSpPr>
          <p:spPr>
            <a:xfrm>
              <a:off x="1400556" y="4720590"/>
              <a:ext cx="2648207" cy="352044"/>
            </a:xfrm>
            <a:prstGeom prst="rect">
              <a:avLst/>
            </a:prstGeom>
            <a:noFill/>
            <a:ln>
              <a:noFill/>
            </a:ln>
          </p:spPr>
          <p:txBody>
            <a:bodyPr wrap="none" lIns="0" tIns="0" rIns="0" bIns="0" anchor="t" anchorCtr="0">
              <a:spAutoFit/>
            </a:bodyPr>
            <a:lstStyle/>
            <a:p>
              <a:pPr algn="l"/>
              <a:r>
                <a:rPr lang="en-US" sz="1800" b="1" dirty="0">
                  <a:solidFill>
                    <a:srgbClr val="F7FAFC"/>
                  </a:solidFill>
                  <a:latin typeface="+mn-lt"/>
                  <a:ea typeface="+mn-ea"/>
                  <a:cs typeface="+mn-cs"/>
                </a:rPr>
                <a:t>Runtime / framework</a:t>
              </a:r>
            </a:p>
          </p:txBody>
        </p:sp>
        <p:sp>
          <p:nvSpPr>
            <p:cNvPr id="26" name="TextBox 26"/>
            <p:cNvSpPr txBox="1"/>
            <p:nvPr/>
          </p:nvSpPr>
          <p:spPr>
            <a:xfrm>
              <a:off x="832104" y="5128260"/>
              <a:ext cx="5603853" cy="234696"/>
            </a:xfrm>
            <a:prstGeom prst="rect">
              <a:avLst/>
            </a:prstGeom>
            <a:noFill/>
            <a:ln>
              <a:noFill/>
            </a:ln>
          </p:spPr>
          <p:txBody>
            <a:bodyPr wrap="none" lIns="0" tIns="0" rIns="0" bIns="0" anchor="t" anchorCtr="0">
              <a:spAutoFit/>
            </a:bodyPr>
            <a:lstStyle/>
            <a:p>
              <a:pPr algn="l"/>
              <a:r>
                <a:rPr lang="en-US" sz="1200" dirty="0">
                  <a:solidFill>
                    <a:srgbClr val="B9F4F7"/>
                  </a:solidFill>
                  <a:latin typeface="+mn-lt"/>
                  <a:ea typeface="+mn-ea"/>
                  <a:cs typeface="+mn-cs"/>
                </a:rPr>
                <a:t>BUYER · Builder | WINS · architecture | SWITCHING · capability contract</a:t>
              </a:r>
            </a:p>
          </p:txBody>
        </p:sp>
        <p:sp>
          <p:nvSpPr>
            <p:cNvPr id="27" name="TextBox 27"/>
            <p:cNvSpPr txBox="1"/>
            <p:nvPr/>
          </p:nvSpPr>
          <p:spPr>
            <a:xfrm>
              <a:off x="832104" y="5414010"/>
              <a:ext cx="5814013" cy="234696"/>
            </a:xfrm>
            <a:prstGeom prst="rect">
              <a:avLst/>
            </a:prstGeom>
            <a:noFill/>
            <a:ln>
              <a:noFill/>
            </a:ln>
          </p:spPr>
          <p:txBody>
            <a:bodyPr wrap="none" lIns="0" tIns="0" rIns="0" bIns="0" anchor="t" anchorCtr="0">
              <a:spAutoFit/>
            </a:bodyPr>
            <a:lstStyle/>
            <a:p>
              <a:pPr algn="l"/>
              <a:r>
                <a:rPr lang="en-US" sz="1200" dirty="0">
                  <a:solidFill>
                    <a:srgbClr val="F7FAFC"/>
                  </a:solidFill>
                  <a:latin typeface="+mn-lt"/>
                  <a:ea typeface="+mn-ea"/>
                  <a:cs typeface="+mn-cs"/>
                </a:rPr>
                <a:t>Harness · AgentScope · LangGraph · OpenAI SDK · ADK · Agent Framework</a:t>
              </a:r>
            </a:p>
          </p:txBody>
        </p:sp>
      </p:grpSp>
      <p:grpSp>
        <p:nvGrpSpPr>
          <p:cNvPr id="31" name="Group 31"/>
          <p:cNvGrpSpPr/>
          <p:nvPr/>
        </p:nvGrpSpPr>
        <p:grpSpPr>
          <a:xfrm>
            <a:off x="602742" y="6293168"/>
            <a:ext cx="10986516" cy="264033"/>
            <a:chOff x="602742" y="6293168"/>
            <a:chExt cx="10986516" cy="264033"/>
          </a:xfrm>
        </p:grpSpPr>
        <p:sp>
          <p:nvSpPr>
            <p:cNvPr id="29" name="TextBox 29"/>
            <p:cNvSpPr txBox="1"/>
            <p:nvPr/>
          </p:nvSpPr>
          <p:spPr>
            <a:xfrm>
              <a:off x="602742" y="6293168"/>
              <a:ext cx="503514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K-019 · K-021 · K-022 · K-024 · K-025 · K-026 · K-033</a:t>
              </a:r>
            </a:p>
          </p:txBody>
        </p:sp>
        <p:sp>
          <p:nvSpPr>
            <p:cNvPr id="30" name="TextBox 30"/>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P21 / 24</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rgbClr val="D7E0F1">
                <a:alpha val="65000"/>
              </a:srgbClr>
            </a:solidFill>
          </a:ln>
        </p:spPr>
      </p:sp>
      <p:grpSp>
        <p:nvGrpSpPr>
          <p:cNvPr id="7" name="Group 7"/>
          <p:cNvGrpSpPr/>
          <p:nvPr/>
        </p:nvGrpSpPr>
        <p:grpSpPr>
          <a:xfrm>
            <a:off x="593598" y="387668"/>
            <a:ext cx="10995660" cy="1064133"/>
            <a:chOff x="593598" y="387668"/>
            <a:chExt cx="10995660" cy="1064133"/>
          </a:xfrm>
        </p:grpSpPr>
        <p:sp>
          <p:nvSpPr>
            <p:cNvPr id="3" name="TextBox 3"/>
            <p:cNvSpPr txBox="1"/>
            <p:nvPr/>
          </p:nvSpPr>
          <p:spPr>
            <a:xfrm>
              <a:off x="602742" y="387668"/>
              <a:ext cx="4093159"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CHINA MARKET / SAME-LAYER COMPARISON</a:t>
              </a:r>
            </a:p>
          </p:txBody>
        </p:sp>
        <p:sp>
          <p:nvSpPr>
            <p:cNvPr id="4" name="TextBox 4"/>
            <p:cNvSpPr txBox="1"/>
            <p:nvPr/>
          </p:nvSpPr>
          <p:spPr>
            <a:xfrm>
              <a:off x="593598" y="650558"/>
              <a:ext cx="10532251"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China is three competitions—not one leaderboard</a:t>
              </a:r>
            </a:p>
          </p:txBody>
        </p:sp>
        <p:sp>
          <p:nvSpPr>
            <p:cNvPr id="5" name="TextBox 5"/>
            <p:cNvSpPr txBox="1"/>
            <p:nvPr/>
          </p:nvSpPr>
          <p:spPr>
            <a:xfrm>
              <a:off x="602742" y="1187768"/>
              <a:ext cx="731954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2026-08-18 snapshot · stars and forks anchor attention, not adoption or revenue</a:t>
              </a:r>
            </a:p>
          </p:txBody>
        </p:sp>
        <p:sp>
          <p:nvSpPr>
            <p:cNvPr id="6" name="TextBox 6"/>
            <p:cNvSpPr txBox="1"/>
            <p:nvPr/>
          </p:nvSpPr>
          <p:spPr>
            <a:xfrm>
              <a:off x="9290456" y="1187768"/>
              <a:ext cx="2298802" cy="264033"/>
            </a:xfrm>
            <a:prstGeom prst="rect">
              <a:avLst/>
            </a:prstGeom>
            <a:noFill/>
            <a:ln>
              <a:noFill/>
            </a:ln>
          </p:spPr>
          <p:txBody>
            <a:bodyPr wrap="none" lIns="0" tIns="0" rIns="0" bIns="0" anchor="t" anchorCtr="0">
              <a:spAutoFit/>
            </a:bodyPr>
            <a:lstStyle/>
            <a:p>
              <a:pPr algn="r"/>
              <a:r>
                <a:rPr lang="en-US" sz="1350" dirty="0">
                  <a:solidFill>
                    <a:schemeClr val="accent6"/>
                  </a:solidFill>
                  <a:latin typeface="Cascadia Mono"/>
                  <a:ea typeface="Cascadia Mono"/>
                  <a:cs typeface="Cascadia Mono"/>
                </a:rPr>
                <a:t>NATIVE MATRIX / EDITABLE</a:t>
              </a:r>
            </a:p>
          </p:txBody>
        </p:sp>
      </p:grpSp>
      <p:graphicFrame>
        <p:nvGraphicFramePr>
          <p:cNvPr id="8" name="china-competition-matrix"/>
          <p:cNvGraphicFramePr>
            <a:graphicFrameLocks noGrp="1"/>
          </p:cNvGraphicFramePr>
          <p:nvPr/>
        </p:nvGraphicFramePr>
        <p:xfrm>
          <a:off x="609600" y="1657350"/>
          <a:ext cx="10972800" cy="3333750"/>
        </p:xfrm>
        <a:graphic>
          <a:graphicData uri="http://schemas.openxmlformats.org/drawingml/2006/table">
            <a:tbl>
              <a:tblPr firstRow="1" bandRow="0">
                <a:tableStyleId>{5C22544A-7EE6-4342-B048-85BDC9FD1C3A}</a:tableStyleId>
              </a:tblPr>
              <a:tblGrid>
                <a:gridCol w="1714500"/>
                <a:gridCol w="3333750"/>
                <a:gridCol w="2857500"/>
                <a:gridCol w="3067050"/>
              </a:tblGrid>
              <a:tr h="552450">
                <a:tc>
                  <a:txBody>
                    <a:bodyPr/>
                    <a:lstStyle/>
                    <a:p>
                      <a:pPr algn="ctr"/>
                      <a:r>
                        <a:rPr lang="en-US" sz="1200" b="1">
                          <a:solidFill>
                            <a:schemeClr val="accent1"/>
                          </a:solidFill>
                          <a:latin typeface="Aptos"/>
                          <a:ea typeface="Microsoft YaHei"/>
                          <a:cs typeface="Aptos"/>
                        </a:rPr>
                        <a:t>LAYER</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chemeClr val="lt2"/>
                    </a:solidFill>
                  </a:tcPr>
                </a:tc>
                <a:tc>
                  <a:txBody>
                    <a:bodyPr/>
                    <a:lstStyle/>
                    <a:p>
                      <a:pPr algn="ctr"/>
                      <a:r>
                        <a:rPr lang="en-US" sz="1200" b="1">
                          <a:solidFill>
                            <a:schemeClr val="accent1"/>
                          </a:solidFill>
                          <a:latin typeface="Aptos"/>
                          <a:ea typeface="Microsoft YaHei"/>
                          <a:cs typeface="Aptos"/>
                        </a:rPr>
                        <a:t>CHINA PEERS / LICENSE</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chemeClr val="lt2"/>
                    </a:solidFill>
                  </a:tcPr>
                </a:tc>
                <a:tc>
                  <a:txBody>
                    <a:bodyPr/>
                    <a:lstStyle/>
                    <a:p>
                      <a:pPr algn="ctr"/>
                      <a:r>
                        <a:rPr lang="en-US" sz="1200" b="1">
                          <a:solidFill>
                            <a:srgbClr val="9A4D00"/>
                          </a:solidFill>
                          <a:latin typeface="Aptos"/>
                          <a:ea typeface="Microsoft YaHei"/>
                          <a:cs typeface="Aptos"/>
                        </a:rPr>
                        <a:t>PUBLIC ATTENTION SNAPSHOT</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E8C2"/>
                    </a:solidFill>
                  </a:tcPr>
                </a:tc>
                <a:tc>
                  <a:txBody>
                    <a:bodyPr/>
                    <a:lstStyle/>
                    <a:p>
                      <a:pPr algn="ctr"/>
                      <a:r>
                        <a:rPr lang="en-US" sz="1200" b="1">
                          <a:solidFill>
                            <a:schemeClr val="accent1"/>
                          </a:solidFill>
                          <a:latin typeface="Aptos"/>
                          <a:ea typeface="Microsoft YaHei"/>
                          <a:cs typeface="Aptos"/>
                        </a:rPr>
                        <a:t>WINNING MECHANISM</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chemeClr val="lt2"/>
                    </a:solidFill>
                  </a:tcPr>
                </a:tc>
              </a:tr>
              <a:tr h="914400">
                <a:tc>
                  <a:txBody>
                    <a:bodyPr/>
                    <a:lstStyle/>
                    <a:p>
                      <a:pPr/>
                      <a:r>
                        <a:rPr lang="en-US" sz="1200" b="1">
                          <a:solidFill>
                            <a:schemeClr val="dk1"/>
                          </a:solidFill>
                          <a:latin typeface="Aptos"/>
                          <a:ea typeface="Microsoft YaHei"/>
                          <a:cs typeface="Aptos"/>
                        </a:rPr>
                        <a:t>Runtime</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chemeClr val="dk1"/>
                          </a:solidFill>
                          <a:latin typeface="Aptos"/>
                          <a:ea typeface="Microsoft YaHei"/>
                          <a:cs typeface="Aptos"/>
                        </a:rPr>
                        <a:t>AgentScope · Apache 2.0</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rgbClr val="9A4D00"/>
                          </a:solidFill>
                          <a:latin typeface="Aptos"/>
                          <a:ea typeface="Microsoft YaHei"/>
                          <a:cs typeface="Aptos"/>
                        </a:rPr>
                        <a:t>Harness 157,324 / 16,338 AgentScope 29,019 / 3,369</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6E8"/>
                    </a:solidFill>
                  </a:tcPr>
                </a:tc>
                <a:tc>
                  <a:txBody>
                    <a:bodyPr/>
                    <a:lstStyle/>
                    <a:p>
                      <a:pPr/>
                      <a:r>
                        <a:rPr lang="en-US" sz="1200" b="0">
                          <a:solidFill>
                            <a:schemeClr val="dk1"/>
                          </a:solidFill>
                          <a:latin typeface="Aptos"/>
                          <a:ea typeface="Microsoft YaHei"/>
                          <a:cs typeface="Aptos"/>
                        </a:rPr>
                        <a:t>open plugin runtime · explicit semantics</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r>
              <a:tr h="914400">
                <a:tc>
                  <a:txBody>
                    <a:bodyPr/>
                    <a:lstStyle/>
                    <a:p>
                      <a:pPr/>
                      <a:r>
                        <a:rPr lang="en-US" sz="1200" b="1">
                          <a:solidFill>
                            <a:schemeClr val="dk1"/>
                          </a:solidFill>
                          <a:latin typeface="Aptos"/>
                          <a:ea typeface="Microsoft YaHei"/>
                          <a:cs typeface="Aptos"/>
                        </a:rPr>
                        <a:t>Developer entry</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chemeClr val="dk1"/>
                          </a:solidFill>
                          <a:latin typeface="Aptos"/>
                          <a:ea typeface="Microsoft YaHei"/>
                          <a:cs typeface="Aptos"/>
                        </a:rPr>
                        <a:t>Qwen Code · Kimi · Trae</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rgbClr val="9A4D00"/>
                          </a:solidFill>
                          <a:latin typeface="Aptos"/>
                          <a:ea typeface="Microsoft YaHei"/>
                          <a:cs typeface="Aptos"/>
                        </a:rPr>
                        <a:t>Qwen Code 27,144 / 2,877</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6E8"/>
                    </a:solidFill>
                  </a:tcPr>
                </a:tc>
                <a:tc>
                  <a:txBody>
                    <a:bodyPr/>
                    <a:lstStyle/>
                    <a:p>
                      <a:pPr/>
                      <a:r>
                        <a:rPr lang="en-US" sz="1200" b="0">
                          <a:solidFill>
                            <a:schemeClr val="dk1"/>
                          </a:solidFill>
                          <a:latin typeface="Aptos"/>
                          <a:ea typeface="Microsoft YaHei"/>
                          <a:cs typeface="Aptos"/>
                        </a:rPr>
                        <a:t>developer entry · workflow habit · task fit</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r>
              <a:tr h="952500">
                <a:tc>
                  <a:txBody>
                    <a:bodyPr/>
                    <a:lstStyle/>
                    <a:p>
                      <a:pPr/>
                      <a:r>
                        <a:rPr lang="en-US" sz="1200" b="1">
                          <a:solidFill>
                            <a:schemeClr val="dk1"/>
                          </a:solidFill>
                          <a:latin typeface="Aptos"/>
                          <a:ea typeface="Microsoft YaHei"/>
                          <a:cs typeface="Aptos"/>
                        </a:rPr>
                        <a:t>Enterprise budget</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chemeClr val="dk1"/>
                          </a:solidFill>
                          <a:latin typeface="Aptos"/>
                          <a:ea typeface="Microsoft YaHei"/>
                          <a:cs typeface="Aptos"/>
                        </a:rPr>
                        <a:t>Dify · Coze · Model Studio · ADP</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c>
                  <a:txBody>
                    <a:bodyPr/>
                    <a:lstStyle/>
                    <a:p>
                      <a:pPr/>
                      <a:r>
                        <a:rPr lang="en-US" sz="1200" b="0">
                          <a:solidFill>
                            <a:srgbClr val="9A4D00"/>
                          </a:solidFill>
                          <a:latin typeface="Aptos"/>
                          <a:ea typeface="Microsoft YaHei"/>
                          <a:cs typeface="Aptos"/>
                        </a:rPr>
                        <a:t>Dify 152,784 / 24,135</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6E8"/>
                    </a:solidFill>
                  </a:tcPr>
                </a:tc>
                <a:tc>
                  <a:txBody>
                    <a:bodyPr/>
                    <a:lstStyle/>
                    <a:p>
                      <a:pPr/>
                      <a:r>
                        <a:rPr lang="en-US" sz="1200" b="0">
                          <a:solidFill>
                            <a:schemeClr val="dk1"/>
                          </a:solidFill>
                          <a:latin typeface="Aptos"/>
                          <a:ea typeface="Microsoft YaHei"/>
                          <a:cs typeface="Aptos"/>
                        </a:rPr>
                        <a:t>governance · procurement · support</a:t>
                      </a:r>
                    </a:p>
                  </a:txBody>
                  <a:tcPr anchor="ctr" marL="95250" marR="95250" marT="47625" marB="47625">
                    <a:lnL w="9525">
                      <a:solidFill>
                        <a:srgbClr val="A9B7D5"/>
                      </a:solidFill>
                      <a:prstDash val="solid"/>
                    </a:lnL>
                    <a:lnR w="9525">
                      <a:solidFill>
                        <a:srgbClr val="A9B7D5"/>
                      </a:solidFill>
                      <a:prstDash val="solid"/>
                    </a:lnR>
                    <a:lnT w="9525">
                      <a:solidFill>
                        <a:srgbClr val="A9B7D5"/>
                      </a:solidFill>
                      <a:prstDash val="solid"/>
                    </a:lnT>
                    <a:lnB w="9525">
                      <a:solidFill>
                        <a:srgbClr val="A9B7D5"/>
                      </a:solidFill>
                      <a:prstDash val="solid"/>
                    </a:lnB>
                    <a:solidFill>
                      <a:srgbClr val="FFFFFF"/>
                    </a:solidFill>
                  </a:tcPr>
                </a:tc>
              </a:tr>
            </a:tbl>
          </a:graphicData>
        </a:graphic>
      </p:graphicFrame>
      <p:grpSp>
        <p:nvGrpSpPr>
          <p:cNvPr id="17" name="Group 17"/>
          <p:cNvGrpSpPr/>
          <p:nvPr/>
        </p:nvGrpSpPr>
        <p:grpSpPr>
          <a:xfrm>
            <a:off x="603504" y="5128260"/>
            <a:ext cx="9437911" cy="854202"/>
            <a:chOff x="603504" y="5128260"/>
            <a:chExt cx="9437911" cy="854202"/>
          </a:xfrm>
        </p:grpSpPr>
        <p:sp>
          <p:nvSpPr>
            <p:cNvPr id="9" name="TextBox 9"/>
            <p:cNvSpPr txBox="1"/>
            <p:nvPr/>
          </p:nvSpPr>
          <p:spPr>
            <a:xfrm>
              <a:off x="603504" y="5128260"/>
              <a:ext cx="6498675" cy="234696"/>
            </a:xfrm>
            <a:prstGeom prst="rect">
              <a:avLst/>
            </a:prstGeom>
            <a:noFill/>
            <a:ln>
              <a:noFill/>
            </a:ln>
          </p:spPr>
          <p:txBody>
            <a:bodyPr wrap="none" lIns="0" tIns="0" rIns="0" bIns="0" anchor="t" anchorCtr="0">
              <a:spAutoFit/>
            </a:bodyPr>
            <a:lstStyle/>
            <a:p>
              <a:pPr algn="l"/>
              <a:r>
                <a:rPr lang="en-US" sz="1200" dirty="0">
                  <a:solidFill>
                    <a:srgbClr val="C2415B"/>
                  </a:solidFill>
                  <a:latin typeface="+mn-lt"/>
                  <a:ea typeface="+mn-ea"/>
                  <a:cs typeface="+mn-cs"/>
                </a:rPr>
                <a:t>License boundary: Dify adds conditions; some Coze features are commercial-only.</a:t>
              </a:r>
            </a:p>
          </p:txBody>
        </p:sp>
        <p:sp>
          <p:nvSpPr>
            <p:cNvPr id="10" name="TextBox 10"/>
            <p:cNvSpPr txBox="1"/>
            <p:nvPr/>
          </p:nvSpPr>
          <p:spPr>
            <a:xfrm>
              <a:off x="1040892" y="5626418"/>
              <a:ext cx="1001679"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Cascadia Mono"/>
                  <a:ea typeface="Cascadia Mono"/>
                  <a:cs typeface="Cascadia Mono"/>
                </a:rPr>
                <a:t>ATTENTION</a:t>
              </a:r>
            </a:p>
          </p:txBody>
        </p:sp>
        <p:sp>
          <p:nvSpPr>
            <p:cNvPr id="11" name="TextBox 11"/>
            <p:cNvSpPr txBox="1"/>
            <p:nvPr/>
          </p:nvSpPr>
          <p:spPr>
            <a:xfrm>
              <a:off x="3207258" y="5513070"/>
              <a:ext cx="210967" cy="469392"/>
            </a:xfrm>
            <a:prstGeom prst="rect">
              <a:avLst/>
            </a:prstGeom>
            <a:noFill/>
            <a:ln>
              <a:noFill/>
            </a:ln>
          </p:spPr>
          <p:txBody>
            <a:bodyPr wrap="none" lIns="0" tIns="0" rIns="0" bIns="0" anchor="t" anchorCtr="0">
              <a:spAutoFit/>
            </a:bodyPr>
            <a:lstStyle/>
            <a:p>
              <a:pPr algn="l"/>
              <a:r>
                <a:rPr lang="en-US" sz="2400" b="1" dirty="0">
                  <a:solidFill>
                    <a:srgbClr val="C2415B"/>
                  </a:solidFill>
                  <a:latin typeface="+mn-lt"/>
                  <a:ea typeface="+mn-ea"/>
                  <a:cs typeface="+mn-cs"/>
                </a:rPr>
                <a:t>×</a:t>
              </a:r>
            </a:p>
          </p:txBody>
        </p:sp>
        <p:sp>
          <p:nvSpPr>
            <p:cNvPr id="12" name="TextBox 12"/>
            <p:cNvSpPr txBox="1"/>
            <p:nvPr/>
          </p:nvSpPr>
          <p:spPr>
            <a:xfrm>
              <a:off x="3669792" y="5626418"/>
              <a:ext cx="165696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Cascadia Mono"/>
                  <a:ea typeface="Cascadia Mono"/>
                  <a:cs typeface="Cascadia Mono"/>
                </a:rPr>
                <a:t>EXPERIMENTATION</a:t>
              </a:r>
            </a:p>
          </p:txBody>
        </p:sp>
        <p:sp>
          <p:nvSpPr>
            <p:cNvPr id="13" name="TextBox 13"/>
            <p:cNvSpPr txBox="1"/>
            <p:nvPr/>
          </p:nvSpPr>
          <p:spPr>
            <a:xfrm>
              <a:off x="6312408" y="5513070"/>
              <a:ext cx="210967" cy="469392"/>
            </a:xfrm>
            <a:prstGeom prst="rect">
              <a:avLst/>
            </a:prstGeom>
            <a:noFill/>
            <a:ln>
              <a:noFill/>
            </a:ln>
          </p:spPr>
          <p:txBody>
            <a:bodyPr wrap="none" lIns="0" tIns="0" rIns="0" bIns="0" anchor="t" anchorCtr="0">
              <a:spAutoFit/>
            </a:bodyPr>
            <a:lstStyle/>
            <a:p>
              <a:pPr algn="l"/>
              <a:r>
                <a:rPr lang="en-US" sz="2400" b="1" dirty="0">
                  <a:solidFill>
                    <a:srgbClr val="C2415B"/>
                  </a:solidFill>
                  <a:latin typeface="+mn-lt"/>
                  <a:ea typeface="+mn-ea"/>
                  <a:cs typeface="+mn-cs"/>
                </a:rPr>
                <a:t>×</a:t>
              </a:r>
            </a:p>
          </p:txBody>
        </p:sp>
        <p:sp>
          <p:nvSpPr>
            <p:cNvPr id="14" name="TextBox 14"/>
            <p:cNvSpPr txBox="1"/>
            <p:nvPr/>
          </p:nvSpPr>
          <p:spPr>
            <a:xfrm>
              <a:off x="6793992" y="5626418"/>
              <a:ext cx="93111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Cascadia Mono"/>
                  <a:ea typeface="Cascadia Mono"/>
                  <a:cs typeface="Cascadia Mono"/>
                </a:rPr>
                <a:t>ADOPTION</a:t>
              </a:r>
            </a:p>
          </p:txBody>
        </p:sp>
        <p:sp>
          <p:nvSpPr>
            <p:cNvPr id="15" name="TextBox 15"/>
            <p:cNvSpPr txBox="1"/>
            <p:nvPr/>
          </p:nvSpPr>
          <p:spPr>
            <a:xfrm>
              <a:off x="8769858" y="5513070"/>
              <a:ext cx="210967" cy="469392"/>
            </a:xfrm>
            <a:prstGeom prst="rect">
              <a:avLst/>
            </a:prstGeom>
            <a:noFill/>
            <a:ln>
              <a:noFill/>
            </a:ln>
          </p:spPr>
          <p:txBody>
            <a:bodyPr wrap="none" lIns="0" tIns="0" rIns="0" bIns="0" anchor="t" anchorCtr="0">
              <a:spAutoFit/>
            </a:bodyPr>
            <a:lstStyle/>
            <a:p>
              <a:pPr algn="l"/>
              <a:r>
                <a:rPr lang="en-US" sz="2400" b="1" dirty="0">
                  <a:solidFill>
                    <a:srgbClr val="C2415B"/>
                  </a:solidFill>
                  <a:latin typeface="+mn-lt"/>
                  <a:ea typeface="+mn-ea"/>
                  <a:cs typeface="+mn-cs"/>
                </a:rPr>
                <a:t>×</a:t>
              </a:r>
            </a:p>
          </p:txBody>
        </p:sp>
        <p:sp>
          <p:nvSpPr>
            <p:cNvPr id="16" name="TextBox 16"/>
            <p:cNvSpPr txBox="1"/>
            <p:nvPr/>
          </p:nvSpPr>
          <p:spPr>
            <a:xfrm>
              <a:off x="9251442" y="5626418"/>
              <a:ext cx="78997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Cascadia Mono"/>
                  <a:ea typeface="Cascadia Mono"/>
                  <a:cs typeface="Cascadia Mono"/>
                </a:rPr>
                <a:t>REVENUE</a:t>
              </a:r>
            </a:p>
          </p:txBody>
        </p:sp>
      </p:grpSp>
      <p:grpSp>
        <p:nvGrpSpPr>
          <p:cNvPr id="20" name="Group 20"/>
          <p:cNvGrpSpPr/>
          <p:nvPr/>
        </p:nvGrpSpPr>
        <p:grpSpPr>
          <a:xfrm>
            <a:off x="602742" y="6293168"/>
            <a:ext cx="10986516" cy="264033"/>
            <a:chOff x="602742" y="6293168"/>
            <a:chExt cx="10986516" cy="264033"/>
          </a:xfrm>
        </p:grpSpPr>
        <p:sp>
          <p:nvSpPr>
            <p:cNvPr id="18" name="TextBox 18"/>
            <p:cNvSpPr txBox="1"/>
            <p:nvPr/>
          </p:nvSpPr>
          <p:spPr>
            <a:xfrm>
              <a:off x="602742" y="6293168"/>
              <a:ext cx="503514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K-020 · K-021 · K-022 · K-023 · K-024 · K-025 · K-027</a:t>
              </a:r>
            </a:p>
          </p:txBody>
        </p:sp>
        <p:sp>
          <p:nvSpPr>
            <p:cNvPr id="19" name="TextBox 19"/>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P22 / 24</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rgbClr val="D7E0F1">
                <a:alpha val="65000"/>
              </a:srgbClr>
            </a:solidFill>
          </a:ln>
        </p:spPr>
      </p:sp>
      <p:grpSp>
        <p:nvGrpSpPr>
          <p:cNvPr id="6" name="Group 6"/>
          <p:cNvGrpSpPr/>
          <p:nvPr/>
        </p:nvGrpSpPr>
        <p:grpSpPr>
          <a:xfrm>
            <a:off x="594360" y="387668"/>
            <a:ext cx="10496834" cy="1064133"/>
            <a:chOff x="594360" y="387668"/>
            <a:chExt cx="10496834" cy="1064133"/>
          </a:xfrm>
        </p:grpSpPr>
        <p:sp>
          <p:nvSpPr>
            <p:cNvPr id="3" name="TextBox 3"/>
            <p:cNvSpPr txBox="1"/>
            <p:nvPr/>
          </p:nvSpPr>
          <p:spPr>
            <a:xfrm>
              <a:off x="602742" y="387668"/>
              <a:ext cx="4028084" cy="264033"/>
            </a:xfrm>
            <a:prstGeom prst="rect">
              <a:avLst/>
            </a:prstGeom>
            <a:noFill/>
            <a:ln>
              <a:noFill/>
            </a:ln>
          </p:spPr>
          <p:txBody>
            <a:bodyPr wrap="none" lIns="0" tIns="0" rIns="0" bIns="0" anchor="t" anchorCtr="0">
              <a:spAutoFit/>
            </a:bodyPr>
            <a:lstStyle/>
            <a:p>
              <a:pPr algn="l"/>
              <a:r>
                <a:rPr lang="en-US" sz="1350" spc="75" dirty="0">
                  <a:solidFill>
                    <a:schemeClr val="accent3"/>
                  </a:solidFill>
                  <a:latin typeface="Cascadia Mono"/>
                  <a:ea typeface="Cascadia Mono"/>
                  <a:cs typeface="Cascadia Mono"/>
                </a:rPr>
                <a:t>REPRODUCIBLE TRIAL / EVIDENCE PIPELINE</a:t>
              </a:r>
            </a:p>
          </p:txBody>
        </p:sp>
        <p:sp>
          <p:nvSpPr>
            <p:cNvPr id="4" name="TextBox 4"/>
            <p:cNvSpPr txBox="1"/>
            <p:nvPr/>
          </p:nvSpPr>
          <p:spPr>
            <a:xfrm>
              <a:off x="594360" y="666750"/>
              <a:ext cx="10496834"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A credible trial makes every comparison replayable</a:t>
              </a:r>
            </a:p>
          </p:txBody>
        </p:sp>
        <p:sp>
          <p:nvSpPr>
            <p:cNvPr id="5" name="TextBox 5"/>
            <p:cNvSpPr txBox="1"/>
            <p:nvPr/>
          </p:nvSpPr>
          <p:spPr>
            <a:xfrm>
              <a:off x="602742" y="1187768"/>
              <a:ext cx="925225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Freeze the hypothesis, pair the systems, bind evidence to one run identity, then judge with one rubric.</a:t>
              </a:r>
            </a:p>
          </p:txBody>
        </p:sp>
      </p:grpSp>
      <p:grpSp>
        <p:nvGrpSpPr>
          <p:cNvPr id="50" name="Group 50"/>
          <p:cNvGrpSpPr/>
          <p:nvPr/>
        </p:nvGrpSpPr>
        <p:grpSpPr>
          <a:xfrm>
            <a:off x="609600" y="1809750"/>
            <a:ext cx="10972800" cy="1638300"/>
            <a:chOff x="609600" y="1809750"/>
            <a:chExt cx="10972800" cy="1638300"/>
          </a:xfrm>
        </p:grpSpPr>
        <p:sp>
          <p:nvSpPr>
            <p:cNvPr id="7" name="Rectangle 7"/>
            <p:cNvSpPr/>
            <p:nvPr/>
          </p:nvSpPr>
          <p:spPr>
            <a:xfrm>
              <a:off x="609600" y="1809750"/>
              <a:ext cx="1714500" cy="1638300"/>
            </a:xfrm>
            <a:prstGeom prst="roundRect">
              <a:avLst>
                <a:gd name="adj" fmla="val 6977"/>
              </a:avLst>
            </a:prstGeom>
            <a:solidFill>
              <a:schemeClr val="accent1"/>
            </a:solidFill>
            <a:ln w="9525">
              <a:solidFill>
                <a:schemeClr val="accent1"/>
              </a:solidFill>
            </a:ln>
          </p:spPr>
        </p:sp>
        <p:sp>
          <p:nvSpPr>
            <p:cNvPr id="8" name="TextBox 8"/>
            <p:cNvSpPr txBox="1"/>
            <p:nvPr/>
          </p:nvSpPr>
          <p:spPr>
            <a:xfrm>
              <a:off x="794004" y="1985010"/>
              <a:ext cx="1078565" cy="234696"/>
            </a:xfrm>
            <a:prstGeom prst="rect">
              <a:avLst/>
            </a:prstGeom>
            <a:noFill/>
            <a:ln>
              <a:noFill/>
            </a:ln>
          </p:spPr>
          <p:txBody>
            <a:bodyPr wrap="none" lIns="0" tIns="0" rIns="0" bIns="0" anchor="t" anchorCtr="0">
              <a:spAutoFit/>
            </a:bodyPr>
            <a:lstStyle/>
            <a:p>
              <a:pPr algn="l"/>
              <a:r>
                <a:rPr lang="en-US" sz="1200" b="1" dirty="0">
                  <a:solidFill>
                    <a:srgbClr val="6EE7F0"/>
                  </a:solidFill>
                  <a:latin typeface="Cascadia Mono"/>
                  <a:ea typeface="Cascadia Mono"/>
                  <a:cs typeface="Cascadia Mono"/>
                </a:rPr>
                <a:t>01 / CHOOSE</a:t>
              </a:r>
            </a:p>
          </p:txBody>
        </p:sp>
        <p:sp>
          <p:nvSpPr>
            <p:cNvPr id="9" name="TextBox 9"/>
            <p:cNvSpPr txBox="1"/>
            <p:nvPr/>
          </p:nvSpPr>
          <p:spPr>
            <a:xfrm>
              <a:off x="792480" y="2295525"/>
              <a:ext cx="1898313"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Freeze hypothesis</a:t>
              </a:r>
            </a:p>
          </p:txBody>
        </p:sp>
        <p:sp>
          <p:nvSpPr>
            <p:cNvPr id="10" name="TextBox 10"/>
            <p:cNvSpPr txBox="1"/>
            <p:nvPr/>
          </p:nvSpPr>
          <p:spPr>
            <a:xfrm>
              <a:off x="794004" y="2613660"/>
              <a:ext cx="1215695" cy="234696"/>
            </a:xfrm>
            <a:prstGeom prst="rect">
              <a:avLst/>
            </a:prstGeom>
            <a:noFill/>
            <a:ln>
              <a:noFill/>
            </a:ln>
          </p:spPr>
          <p:txBody>
            <a:bodyPr wrap="none" lIns="0" tIns="0" rIns="0" bIns="0" anchor="t" anchorCtr="0">
              <a:spAutoFit/>
            </a:bodyPr>
            <a:lstStyle/>
            <a:p>
              <a:pPr algn="l"/>
              <a:r>
                <a:rPr lang="en-US" sz="1200" dirty="0">
                  <a:solidFill>
                    <a:srgbClr val="DCE5F6"/>
                  </a:solidFill>
                  <a:latin typeface="+mn-lt"/>
                  <a:ea typeface="+mn-ea"/>
                  <a:cs typeface="+mn-cs"/>
                </a:rPr>
                <a:t>release · model</a:t>
              </a:r>
            </a:p>
          </p:txBody>
        </p:sp>
        <p:sp>
          <p:nvSpPr>
            <p:cNvPr id="11" name="TextBox 11"/>
            <p:cNvSpPr txBox="1"/>
            <p:nvPr/>
          </p:nvSpPr>
          <p:spPr>
            <a:xfrm>
              <a:off x="794004" y="2861310"/>
              <a:ext cx="1538783" cy="234696"/>
            </a:xfrm>
            <a:prstGeom prst="rect">
              <a:avLst/>
            </a:prstGeom>
            <a:noFill/>
            <a:ln>
              <a:noFill/>
            </a:ln>
          </p:spPr>
          <p:txBody>
            <a:bodyPr wrap="none" lIns="0" tIns="0" rIns="0" bIns="0" anchor="t" anchorCtr="0">
              <a:spAutoFit/>
            </a:bodyPr>
            <a:lstStyle/>
            <a:p>
              <a:pPr algn="l"/>
              <a:r>
                <a:rPr lang="en-US" sz="1200" dirty="0">
                  <a:solidFill>
                    <a:srgbClr val="DCE5F6"/>
                  </a:solidFill>
                  <a:latin typeface="+mn-lt"/>
                  <a:ea typeface="+mn-ea"/>
                  <a:cs typeface="+mn-cs"/>
                </a:rPr>
                <a:t>provider set · task</a:t>
              </a:r>
            </a:p>
          </p:txBody>
        </p:sp>
        <p:sp>
          <p:nvSpPr>
            <p:cNvPr id="12" name="TextBox 12"/>
            <p:cNvSpPr txBox="1"/>
            <p:nvPr/>
          </p:nvSpPr>
          <p:spPr>
            <a:xfrm>
              <a:off x="794004" y="3108960"/>
              <a:ext cx="1441856" cy="234696"/>
            </a:xfrm>
            <a:prstGeom prst="rect">
              <a:avLst/>
            </a:prstGeom>
            <a:noFill/>
            <a:ln>
              <a:noFill/>
            </a:ln>
          </p:spPr>
          <p:txBody>
            <a:bodyPr wrap="none" lIns="0" tIns="0" rIns="0" bIns="0" anchor="t" anchorCtr="0">
              <a:spAutoFit/>
            </a:bodyPr>
            <a:lstStyle/>
            <a:p>
              <a:pPr algn="l"/>
              <a:r>
                <a:rPr lang="en-US" sz="1200" dirty="0">
                  <a:solidFill>
                    <a:srgbClr val="DCE5F6"/>
                  </a:solidFill>
                  <a:latin typeface="+mn-lt"/>
                  <a:ea typeface="+mn-ea"/>
                  <a:cs typeface="+mn-cs"/>
                </a:rPr>
                <a:t>success threshold</a:t>
              </a:r>
            </a:p>
          </p:txBody>
        </p:sp>
        <p:sp>
          <p:nvSpPr>
            <p:cNvPr id="13" name="Freeform 13"/>
            <p:cNvSpPr/>
            <p:nvPr/>
          </p:nvSpPr>
          <p:spPr>
            <a:xfrm>
              <a:off x="2324100" y="2628900"/>
              <a:ext cx="323850" cy="9525"/>
            </a:xfrm>
            <a:custGeom>
              <a:avLst/>
              <a:gdLst/>
              <a:ahLst/>
              <a:cxnLst/>
              <a:rect l="l" t="t" r="r" b="b"/>
              <a:pathLst>
                <a:path w="323850" h="9525">
                  <a:moveTo>
                    <a:pt x="0" y="0"/>
                  </a:moveTo>
                  <a:lnTo>
                    <a:pt x="323850" y="0"/>
                  </a:lnTo>
                </a:path>
              </a:pathLst>
            </a:custGeom>
            <a:noFill/>
            <a:ln w="28575">
              <a:solidFill>
                <a:schemeClr val="accent3"/>
              </a:solidFill>
            </a:ln>
          </p:spPr>
        </p:sp>
        <p:sp>
          <p:nvSpPr>
            <p:cNvPr id="14" name="Freeform 14"/>
            <p:cNvSpPr/>
            <p:nvPr/>
          </p:nvSpPr>
          <p:spPr>
            <a:xfrm>
              <a:off x="2571750" y="2552700"/>
              <a:ext cx="114300" cy="152400"/>
            </a:xfrm>
            <a:custGeom>
              <a:avLst/>
              <a:gdLst/>
              <a:ahLst/>
              <a:cxnLst/>
              <a:rect l="l" t="t" r="r" b="b"/>
              <a:pathLst>
                <a:path w="114300" h="152400">
                  <a:moveTo>
                    <a:pt x="0" y="0"/>
                  </a:moveTo>
                  <a:lnTo>
                    <a:pt x="114300" y="76200"/>
                  </a:lnTo>
                  <a:lnTo>
                    <a:pt x="0" y="152400"/>
                  </a:lnTo>
                  <a:close/>
                </a:path>
              </a:pathLst>
            </a:custGeom>
            <a:solidFill>
              <a:schemeClr val="accent3"/>
            </a:solidFill>
            <a:ln>
              <a:noFill/>
            </a:ln>
          </p:spPr>
        </p:sp>
        <p:sp>
          <p:nvSpPr>
            <p:cNvPr id="15" name="Rectangle 15"/>
            <p:cNvSpPr/>
            <p:nvPr/>
          </p:nvSpPr>
          <p:spPr>
            <a:xfrm>
              <a:off x="2781300" y="1809750"/>
              <a:ext cx="1619250" cy="704850"/>
            </a:xfrm>
            <a:prstGeom prst="roundRect">
              <a:avLst>
                <a:gd name="adj" fmla="val 13514"/>
              </a:avLst>
            </a:prstGeom>
            <a:solidFill>
              <a:schemeClr val="lt2"/>
            </a:solidFill>
            <a:ln w="19050">
              <a:solidFill>
                <a:schemeClr val="accent3"/>
              </a:solidFill>
            </a:ln>
          </p:spPr>
        </p:sp>
        <p:sp>
          <p:nvSpPr>
            <p:cNvPr id="16" name="TextBox 16"/>
            <p:cNvSpPr txBox="1"/>
            <p:nvPr/>
          </p:nvSpPr>
          <p:spPr>
            <a:xfrm>
              <a:off x="2965704" y="1965960"/>
              <a:ext cx="791809"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Cascadia Mono"/>
                  <a:ea typeface="Cascadia Mono"/>
                  <a:cs typeface="Cascadia Mono"/>
                </a:rPr>
                <a:t>SYSTEM A</a:t>
              </a:r>
            </a:p>
          </p:txBody>
        </p:sp>
        <p:sp>
          <p:nvSpPr>
            <p:cNvPr id="17" name="TextBox 17"/>
            <p:cNvSpPr txBox="1"/>
            <p:nvPr/>
          </p:nvSpPr>
          <p:spPr>
            <a:xfrm>
              <a:off x="2965704" y="2213610"/>
              <a:ext cx="131262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current baseline</a:t>
              </a:r>
            </a:p>
          </p:txBody>
        </p:sp>
        <p:sp>
          <p:nvSpPr>
            <p:cNvPr id="18" name="Rectangle 18"/>
            <p:cNvSpPr/>
            <p:nvPr/>
          </p:nvSpPr>
          <p:spPr>
            <a:xfrm>
              <a:off x="2781300" y="2743200"/>
              <a:ext cx="1619250" cy="704850"/>
            </a:xfrm>
            <a:prstGeom prst="roundRect">
              <a:avLst>
                <a:gd name="adj" fmla="val 13514"/>
              </a:avLst>
            </a:prstGeom>
            <a:solidFill>
              <a:schemeClr val="lt2"/>
            </a:solidFill>
            <a:ln w="19050">
              <a:solidFill>
                <a:schemeClr val="accent3"/>
              </a:solidFill>
            </a:ln>
          </p:spPr>
        </p:sp>
        <p:sp>
          <p:nvSpPr>
            <p:cNvPr id="19" name="TextBox 19"/>
            <p:cNvSpPr txBox="1"/>
            <p:nvPr/>
          </p:nvSpPr>
          <p:spPr>
            <a:xfrm>
              <a:off x="2965704" y="2899410"/>
              <a:ext cx="791809"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Cascadia Mono"/>
                  <a:ea typeface="Cascadia Mono"/>
                  <a:cs typeface="Cascadia Mono"/>
                </a:rPr>
                <a:t>SYSTEM B</a:t>
              </a:r>
            </a:p>
          </p:txBody>
        </p:sp>
        <p:sp>
          <p:nvSpPr>
            <p:cNvPr id="20" name="TextBox 20"/>
            <p:cNvSpPr txBox="1"/>
            <p:nvPr/>
          </p:nvSpPr>
          <p:spPr>
            <a:xfrm>
              <a:off x="2965704" y="3147060"/>
              <a:ext cx="144691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Harness candidate</a:t>
              </a:r>
            </a:p>
          </p:txBody>
        </p:sp>
        <p:sp>
          <p:nvSpPr>
            <p:cNvPr id="21" name="Freeform 21"/>
            <p:cNvSpPr/>
            <p:nvPr/>
          </p:nvSpPr>
          <p:spPr>
            <a:xfrm>
              <a:off x="2686050" y="2162175"/>
              <a:ext cx="95250" cy="933450"/>
            </a:xfrm>
            <a:custGeom>
              <a:avLst/>
              <a:gdLst/>
              <a:ahLst/>
              <a:cxnLst/>
              <a:rect l="l" t="t" r="r" b="b"/>
              <a:pathLst>
                <a:path w="95250" h="933450">
                  <a:moveTo>
                    <a:pt x="0" y="466725"/>
                  </a:moveTo>
                  <a:lnTo>
                    <a:pt x="0" y="0"/>
                  </a:lnTo>
                  <a:lnTo>
                    <a:pt x="95250" y="0"/>
                  </a:lnTo>
                  <a:moveTo>
                    <a:pt x="0" y="466725"/>
                  </a:moveTo>
                  <a:lnTo>
                    <a:pt x="0" y="933450"/>
                  </a:lnTo>
                  <a:lnTo>
                    <a:pt x="95250" y="933450"/>
                  </a:lnTo>
                </a:path>
              </a:pathLst>
            </a:custGeom>
            <a:noFill/>
            <a:ln w="28575">
              <a:solidFill>
                <a:schemeClr val="accent3"/>
              </a:solidFill>
            </a:ln>
          </p:spPr>
        </p:sp>
        <p:sp>
          <p:nvSpPr>
            <p:cNvPr id="22" name="Freeform 22"/>
            <p:cNvSpPr/>
            <p:nvPr/>
          </p:nvSpPr>
          <p:spPr>
            <a:xfrm>
              <a:off x="4400550" y="2162175"/>
              <a:ext cx="342900" cy="933450"/>
            </a:xfrm>
            <a:custGeom>
              <a:avLst/>
              <a:gdLst/>
              <a:ahLst/>
              <a:cxnLst/>
              <a:rect l="l" t="t" r="r" b="b"/>
              <a:pathLst>
                <a:path w="342900" h="933450">
                  <a:moveTo>
                    <a:pt x="0" y="0"/>
                  </a:moveTo>
                  <a:lnTo>
                    <a:pt x="342900" y="0"/>
                  </a:lnTo>
                  <a:moveTo>
                    <a:pt x="0" y="933450"/>
                  </a:moveTo>
                  <a:lnTo>
                    <a:pt x="171450" y="933450"/>
                  </a:lnTo>
                  <a:lnTo>
                    <a:pt x="171450" y="466725"/>
                  </a:lnTo>
                  <a:lnTo>
                    <a:pt x="342900" y="466725"/>
                  </a:lnTo>
                </a:path>
              </a:pathLst>
            </a:custGeom>
            <a:noFill/>
            <a:ln w="28575">
              <a:solidFill>
                <a:schemeClr val="accent3"/>
              </a:solidFill>
            </a:ln>
          </p:spPr>
        </p:sp>
        <p:sp>
          <p:nvSpPr>
            <p:cNvPr id="23" name="Freeform 23"/>
            <p:cNvSpPr/>
            <p:nvPr/>
          </p:nvSpPr>
          <p:spPr>
            <a:xfrm>
              <a:off x="4667250" y="2552700"/>
              <a:ext cx="114300" cy="152400"/>
            </a:xfrm>
            <a:custGeom>
              <a:avLst/>
              <a:gdLst/>
              <a:ahLst/>
              <a:cxnLst/>
              <a:rect l="l" t="t" r="r" b="b"/>
              <a:pathLst>
                <a:path w="114300" h="152400">
                  <a:moveTo>
                    <a:pt x="0" y="0"/>
                  </a:moveTo>
                  <a:lnTo>
                    <a:pt x="114300" y="76200"/>
                  </a:lnTo>
                  <a:lnTo>
                    <a:pt x="0" y="152400"/>
                  </a:lnTo>
                  <a:close/>
                </a:path>
              </a:pathLst>
            </a:custGeom>
            <a:solidFill>
              <a:schemeClr val="accent3"/>
            </a:solidFill>
            <a:ln>
              <a:noFill/>
            </a:ln>
          </p:spPr>
        </p:sp>
        <p:sp>
          <p:nvSpPr>
            <p:cNvPr id="24" name="Rectangle 24"/>
            <p:cNvSpPr/>
            <p:nvPr/>
          </p:nvSpPr>
          <p:spPr>
            <a:xfrm>
              <a:off x="4857750" y="1809750"/>
              <a:ext cx="1524000" cy="1638300"/>
            </a:xfrm>
            <a:prstGeom prst="roundRect">
              <a:avLst>
                <a:gd name="adj" fmla="val 7500"/>
              </a:avLst>
            </a:prstGeom>
            <a:solidFill>
              <a:srgbClr val="FFFFFF"/>
            </a:solidFill>
            <a:ln w="28575">
              <a:solidFill>
                <a:schemeClr val="accent2"/>
              </a:solidFill>
            </a:ln>
          </p:spPr>
        </p:sp>
        <p:sp>
          <p:nvSpPr>
            <p:cNvPr id="25" name="TextBox 25"/>
            <p:cNvSpPr txBox="1"/>
            <p:nvPr/>
          </p:nvSpPr>
          <p:spPr>
            <a:xfrm>
              <a:off x="5042154" y="1985010"/>
              <a:ext cx="764926" cy="234696"/>
            </a:xfrm>
            <a:prstGeom prst="rect">
              <a:avLst/>
            </a:prstGeom>
            <a:noFill/>
            <a:ln>
              <a:noFill/>
            </a:ln>
          </p:spPr>
          <p:txBody>
            <a:bodyPr wrap="none" lIns="0" tIns="0" rIns="0" bIns="0" anchor="t" anchorCtr="0">
              <a:spAutoFit/>
            </a:bodyPr>
            <a:lstStyle/>
            <a:p>
              <a:pPr algn="l"/>
              <a:r>
                <a:rPr lang="en-US" sz="1200" b="1" dirty="0">
                  <a:solidFill>
                    <a:srgbClr val="008CA0"/>
                  </a:solidFill>
                  <a:latin typeface="Cascadia Mono"/>
                  <a:ea typeface="Cascadia Mono"/>
                  <a:cs typeface="Cascadia Mono"/>
                </a:rPr>
                <a:t>02 / BIND</a:t>
              </a:r>
            </a:p>
          </p:txBody>
        </p:sp>
        <p:sp>
          <p:nvSpPr>
            <p:cNvPr id="26" name="TextBox 26"/>
            <p:cNvSpPr txBox="1"/>
            <p:nvPr/>
          </p:nvSpPr>
          <p:spPr>
            <a:xfrm>
              <a:off x="5039868" y="2317432"/>
              <a:ext cx="150943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unique run_id</a:t>
              </a:r>
            </a:p>
          </p:txBody>
        </p:sp>
        <p:sp>
          <p:nvSpPr>
            <p:cNvPr id="27" name="Rectangle 27"/>
            <p:cNvSpPr/>
            <p:nvPr/>
          </p:nvSpPr>
          <p:spPr>
            <a:xfrm>
              <a:off x="5048250" y="2724150"/>
              <a:ext cx="1143000" cy="381000"/>
            </a:xfrm>
            <a:prstGeom prst="roundRect">
              <a:avLst>
                <a:gd name="adj" fmla="val 20000"/>
              </a:avLst>
            </a:prstGeom>
            <a:solidFill>
              <a:srgbClr val="E6FAFC"/>
            </a:solidFill>
            <a:ln>
              <a:noFill/>
            </a:ln>
          </p:spPr>
        </p:sp>
        <p:sp>
          <p:nvSpPr>
            <p:cNvPr id="28" name="TextBox 28"/>
            <p:cNvSpPr txBox="1"/>
            <p:nvPr/>
          </p:nvSpPr>
          <p:spPr>
            <a:xfrm>
              <a:off x="5209794" y="2842260"/>
              <a:ext cx="819912" cy="234696"/>
            </a:xfrm>
            <a:prstGeom prst="rect">
              <a:avLst/>
            </a:prstGeom>
            <a:noFill/>
            <a:ln>
              <a:noFill/>
            </a:ln>
          </p:spPr>
          <p:txBody>
            <a:bodyPr wrap="none" lIns="0" tIns="0" rIns="0" bIns="0" anchor="t" anchorCtr="0">
              <a:spAutoFit/>
            </a:bodyPr>
            <a:lstStyle/>
            <a:p>
              <a:pPr algn="ctr"/>
              <a:r>
                <a:rPr lang="en-US" sz="1200" dirty="0">
                  <a:solidFill>
                    <a:srgbClr val="008CA0"/>
                  </a:solidFill>
                  <a:latin typeface="Cascadia Mono"/>
                  <a:ea typeface="Cascadia Mono"/>
                  <a:cs typeface="Cascadia Mono"/>
                </a:rPr>
                <a:t>trial-0042</a:t>
              </a:r>
            </a:p>
          </p:txBody>
        </p:sp>
        <p:sp>
          <p:nvSpPr>
            <p:cNvPr id="29" name="TextBox 29"/>
            <p:cNvSpPr txBox="1"/>
            <p:nvPr/>
          </p:nvSpPr>
          <p:spPr>
            <a:xfrm>
              <a:off x="5042154" y="3166110"/>
              <a:ext cx="15495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one ID across paths</a:t>
              </a:r>
            </a:p>
          </p:txBody>
        </p:sp>
        <p:sp>
          <p:nvSpPr>
            <p:cNvPr id="30" name="Freeform 30"/>
            <p:cNvSpPr/>
            <p:nvPr/>
          </p:nvSpPr>
          <p:spPr>
            <a:xfrm>
              <a:off x="6381750" y="2628900"/>
              <a:ext cx="342900" cy="9525"/>
            </a:xfrm>
            <a:custGeom>
              <a:avLst/>
              <a:gdLst/>
              <a:ahLst/>
              <a:cxnLst/>
              <a:rect l="l" t="t" r="r" b="b"/>
              <a:pathLst>
                <a:path w="342900" h="9525">
                  <a:moveTo>
                    <a:pt x="0" y="0"/>
                  </a:moveTo>
                  <a:lnTo>
                    <a:pt x="342900" y="0"/>
                  </a:lnTo>
                </a:path>
              </a:pathLst>
            </a:custGeom>
            <a:noFill/>
            <a:ln w="28575">
              <a:solidFill>
                <a:schemeClr val="accent3"/>
              </a:solidFill>
            </a:ln>
          </p:spPr>
        </p:sp>
        <p:sp>
          <p:nvSpPr>
            <p:cNvPr id="31" name="Freeform 31"/>
            <p:cNvSpPr/>
            <p:nvPr/>
          </p:nvSpPr>
          <p:spPr>
            <a:xfrm>
              <a:off x="6648450" y="2552700"/>
              <a:ext cx="114300" cy="152400"/>
            </a:xfrm>
            <a:custGeom>
              <a:avLst/>
              <a:gdLst/>
              <a:ahLst/>
              <a:cxnLst/>
              <a:rect l="l" t="t" r="r" b="b"/>
              <a:pathLst>
                <a:path w="114300" h="152400">
                  <a:moveTo>
                    <a:pt x="0" y="0"/>
                  </a:moveTo>
                  <a:lnTo>
                    <a:pt x="114300" y="76200"/>
                  </a:lnTo>
                  <a:lnTo>
                    <a:pt x="0" y="152400"/>
                  </a:lnTo>
                  <a:close/>
                </a:path>
              </a:pathLst>
            </a:custGeom>
            <a:solidFill>
              <a:schemeClr val="accent3"/>
            </a:solidFill>
            <a:ln>
              <a:noFill/>
            </a:ln>
          </p:spPr>
        </p:sp>
        <p:sp>
          <p:nvSpPr>
            <p:cNvPr id="32" name="Rectangle 32"/>
            <p:cNvSpPr/>
            <p:nvPr/>
          </p:nvSpPr>
          <p:spPr>
            <a:xfrm>
              <a:off x="6838950" y="1809750"/>
              <a:ext cx="1619250" cy="1638300"/>
            </a:xfrm>
            <a:prstGeom prst="roundRect">
              <a:avLst>
                <a:gd name="adj" fmla="val 7059"/>
              </a:avLst>
            </a:prstGeom>
            <a:solidFill>
              <a:srgbClr val="FFFFFF"/>
            </a:solidFill>
            <a:ln w="19050">
              <a:solidFill>
                <a:srgbClr val="A9B7D5"/>
              </a:solidFill>
            </a:ln>
          </p:spPr>
        </p:sp>
        <p:sp>
          <p:nvSpPr>
            <p:cNvPr id="33" name="TextBox 33"/>
            <p:cNvSpPr txBox="1"/>
            <p:nvPr/>
          </p:nvSpPr>
          <p:spPr>
            <a:xfrm>
              <a:off x="7023354" y="1985010"/>
              <a:ext cx="1159215"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Cascadia Mono"/>
                  <a:ea typeface="Cascadia Mono"/>
                  <a:cs typeface="Cascadia Mono"/>
                </a:rPr>
                <a:t>03 / EVIDENCE</a:t>
              </a:r>
            </a:p>
          </p:txBody>
        </p:sp>
        <p:sp>
          <p:nvSpPr>
            <p:cNvPr id="34" name="TextBox 34"/>
            <p:cNvSpPr txBox="1"/>
            <p:nvPr/>
          </p:nvSpPr>
          <p:spPr>
            <a:xfrm>
              <a:off x="7021068" y="2279332"/>
              <a:ext cx="72811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bundle</a:t>
              </a:r>
            </a:p>
          </p:txBody>
        </p:sp>
        <p:sp>
          <p:nvSpPr>
            <p:cNvPr id="35" name="TextBox 35"/>
            <p:cNvSpPr txBox="1"/>
            <p:nvPr/>
          </p:nvSpPr>
          <p:spPr>
            <a:xfrm>
              <a:off x="7023354" y="2632710"/>
              <a:ext cx="126415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config snapshot</a:t>
              </a:r>
            </a:p>
          </p:txBody>
        </p:sp>
        <p:sp>
          <p:nvSpPr>
            <p:cNvPr id="36" name="TextBox 36"/>
            <p:cNvSpPr txBox="1"/>
            <p:nvPr/>
          </p:nvSpPr>
          <p:spPr>
            <a:xfrm>
              <a:off x="7023354" y="2880360"/>
              <a:ext cx="104607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events · logs</a:t>
              </a:r>
            </a:p>
          </p:txBody>
        </p:sp>
        <p:sp>
          <p:nvSpPr>
            <p:cNvPr id="37" name="TextBox 37"/>
            <p:cNvSpPr txBox="1"/>
            <p:nvPr/>
          </p:nvSpPr>
          <p:spPr>
            <a:xfrm>
              <a:off x="7023354" y="3128010"/>
              <a:ext cx="140147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artifacts · costs</a:t>
              </a:r>
            </a:p>
          </p:txBody>
        </p:sp>
        <p:sp>
          <p:nvSpPr>
            <p:cNvPr id="38" name="Freeform 38"/>
            <p:cNvSpPr/>
            <p:nvPr/>
          </p:nvSpPr>
          <p:spPr>
            <a:xfrm>
              <a:off x="8458200" y="2628900"/>
              <a:ext cx="342900" cy="9525"/>
            </a:xfrm>
            <a:custGeom>
              <a:avLst/>
              <a:gdLst/>
              <a:ahLst/>
              <a:cxnLst/>
              <a:rect l="l" t="t" r="r" b="b"/>
              <a:pathLst>
                <a:path w="342900" h="9525">
                  <a:moveTo>
                    <a:pt x="0" y="0"/>
                  </a:moveTo>
                  <a:lnTo>
                    <a:pt x="342900" y="0"/>
                  </a:lnTo>
                </a:path>
              </a:pathLst>
            </a:custGeom>
            <a:noFill/>
            <a:ln w="28575">
              <a:solidFill>
                <a:schemeClr val="accent3"/>
              </a:solidFill>
            </a:ln>
          </p:spPr>
        </p:sp>
        <p:sp>
          <p:nvSpPr>
            <p:cNvPr id="39" name="Freeform 39"/>
            <p:cNvSpPr/>
            <p:nvPr/>
          </p:nvSpPr>
          <p:spPr>
            <a:xfrm>
              <a:off x="8724900" y="2552700"/>
              <a:ext cx="114300" cy="152400"/>
            </a:xfrm>
            <a:custGeom>
              <a:avLst/>
              <a:gdLst/>
              <a:ahLst/>
              <a:cxnLst/>
              <a:rect l="l" t="t" r="r" b="b"/>
              <a:pathLst>
                <a:path w="114300" h="152400">
                  <a:moveTo>
                    <a:pt x="0" y="0"/>
                  </a:moveTo>
                  <a:lnTo>
                    <a:pt x="114300" y="76200"/>
                  </a:lnTo>
                  <a:lnTo>
                    <a:pt x="0" y="152400"/>
                  </a:lnTo>
                  <a:close/>
                </a:path>
              </a:pathLst>
            </a:custGeom>
            <a:solidFill>
              <a:schemeClr val="accent3"/>
            </a:solidFill>
            <a:ln>
              <a:noFill/>
            </a:ln>
          </p:spPr>
        </p:sp>
        <p:sp>
          <p:nvSpPr>
            <p:cNvPr id="40" name="Rectangle 40"/>
            <p:cNvSpPr/>
            <p:nvPr/>
          </p:nvSpPr>
          <p:spPr>
            <a:xfrm>
              <a:off x="8915400" y="1809750"/>
              <a:ext cx="2667000" cy="1638300"/>
            </a:xfrm>
            <a:prstGeom prst="roundRect">
              <a:avLst>
                <a:gd name="adj" fmla="val 6977"/>
              </a:avLst>
            </a:prstGeom>
            <a:solidFill>
              <a:srgbClr val="FFF6E8"/>
            </a:solidFill>
            <a:ln w="19050">
              <a:solidFill>
                <a:schemeClr val="accent6"/>
              </a:solidFill>
            </a:ln>
          </p:spPr>
        </p:sp>
        <p:sp>
          <p:nvSpPr>
            <p:cNvPr id="41" name="TextBox 41"/>
            <p:cNvSpPr txBox="1"/>
            <p:nvPr/>
          </p:nvSpPr>
          <p:spPr>
            <a:xfrm>
              <a:off x="9099804" y="1985010"/>
              <a:ext cx="1607271" cy="234696"/>
            </a:xfrm>
            <a:prstGeom prst="rect">
              <a:avLst/>
            </a:prstGeom>
            <a:noFill/>
            <a:ln>
              <a:noFill/>
            </a:ln>
          </p:spPr>
          <p:txBody>
            <a:bodyPr wrap="none" lIns="0" tIns="0" rIns="0" bIns="0" anchor="t" anchorCtr="0">
              <a:spAutoFit/>
            </a:bodyPr>
            <a:lstStyle/>
            <a:p>
              <a:pPr algn="l"/>
              <a:r>
                <a:rPr lang="en-US" sz="1200" b="1" dirty="0">
                  <a:solidFill>
                    <a:srgbClr val="9A4D00"/>
                  </a:solidFill>
                  <a:latin typeface="Cascadia Mono"/>
                  <a:ea typeface="Cascadia Mono"/>
                  <a:cs typeface="Cascadia Mono"/>
                </a:rPr>
                <a:t>04 / SHARED RUBRIC</a:t>
              </a:r>
            </a:p>
          </p:txBody>
        </p:sp>
        <p:sp>
          <p:nvSpPr>
            <p:cNvPr id="42" name="TextBox 42"/>
            <p:cNvSpPr txBox="1"/>
            <p:nvPr/>
          </p:nvSpPr>
          <p:spPr>
            <a:xfrm>
              <a:off x="9098280" y="2295525"/>
              <a:ext cx="156303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same outcomes</a:t>
              </a:r>
            </a:p>
          </p:txBody>
        </p:sp>
        <p:sp>
          <p:nvSpPr>
            <p:cNvPr id="43" name="Rectangle 43"/>
            <p:cNvSpPr/>
            <p:nvPr/>
          </p:nvSpPr>
          <p:spPr>
            <a:xfrm>
              <a:off x="9105900" y="2686050"/>
              <a:ext cx="685800" cy="361950"/>
            </a:xfrm>
            <a:prstGeom prst="roundRect">
              <a:avLst>
                <a:gd name="adj" fmla="val 21053"/>
              </a:avLst>
            </a:prstGeom>
            <a:solidFill>
              <a:srgbClr val="FFFFFF"/>
            </a:solidFill>
            <a:ln>
              <a:noFill/>
            </a:ln>
          </p:spPr>
        </p:sp>
        <p:sp>
          <p:nvSpPr>
            <p:cNvPr id="44" name="Rectangle 44"/>
            <p:cNvSpPr/>
            <p:nvPr/>
          </p:nvSpPr>
          <p:spPr>
            <a:xfrm>
              <a:off x="9886950" y="2686050"/>
              <a:ext cx="685800" cy="361950"/>
            </a:xfrm>
            <a:prstGeom prst="roundRect">
              <a:avLst>
                <a:gd name="adj" fmla="val 21053"/>
              </a:avLst>
            </a:prstGeom>
            <a:solidFill>
              <a:srgbClr val="FFFFFF"/>
            </a:solidFill>
            <a:ln>
              <a:noFill/>
            </a:ln>
          </p:spPr>
        </p:sp>
        <p:sp>
          <p:nvSpPr>
            <p:cNvPr id="45" name="Rectangle 45"/>
            <p:cNvSpPr/>
            <p:nvPr/>
          </p:nvSpPr>
          <p:spPr>
            <a:xfrm>
              <a:off x="10668000" y="2686050"/>
              <a:ext cx="723900" cy="361950"/>
            </a:xfrm>
            <a:prstGeom prst="roundRect">
              <a:avLst>
                <a:gd name="adj" fmla="val 21053"/>
              </a:avLst>
            </a:prstGeom>
            <a:solidFill>
              <a:srgbClr val="FFFFFF"/>
            </a:solidFill>
            <a:ln>
              <a:noFill/>
            </a:ln>
          </p:spPr>
        </p:sp>
        <p:sp>
          <p:nvSpPr>
            <p:cNvPr id="46" name="TextBox 46"/>
            <p:cNvSpPr txBox="1"/>
            <p:nvPr/>
          </p:nvSpPr>
          <p:spPr>
            <a:xfrm>
              <a:off x="9131732" y="2794635"/>
              <a:ext cx="634136"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success</a:t>
              </a:r>
            </a:p>
          </p:txBody>
        </p:sp>
        <p:sp>
          <p:nvSpPr>
            <p:cNvPr id="47" name="TextBox 47"/>
            <p:cNvSpPr txBox="1"/>
            <p:nvPr/>
          </p:nvSpPr>
          <p:spPr>
            <a:xfrm>
              <a:off x="10046056" y="2794635"/>
              <a:ext cx="367589"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cost</a:t>
              </a:r>
            </a:p>
          </p:txBody>
        </p:sp>
        <p:sp>
          <p:nvSpPr>
            <p:cNvPr id="48" name="TextBox 48"/>
            <p:cNvSpPr txBox="1"/>
            <p:nvPr/>
          </p:nvSpPr>
          <p:spPr>
            <a:xfrm>
              <a:off x="10753268" y="2794635"/>
              <a:ext cx="553364"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failure</a:t>
              </a:r>
            </a:p>
          </p:txBody>
        </p:sp>
        <p:sp>
          <p:nvSpPr>
            <p:cNvPr id="49" name="TextBox 49"/>
            <p:cNvSpPr txBox="1"/>
            <p:nvPr/>
          </p:nvSpPr>
          <p:spPr>
            <a:xfrm>
              <a:off x="9099804" y="3147060"/>
              <a:ext cx="2287725"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No post-hoc metric changes.</a:t>
              </a:r>
            </a:p>
          </p:txBody>
        </p:sp>
      </p:grpSp>
      <p:grpSp>
        <p:nvGrpSpPr>
          <p:cNvPr id="58" name="Group 58"/>
          <p:cNvGrpSpPr/>
          <p:nvPr/>
        </p:nvGrpSpPr>
        <p:grpSpPr>
          <a:xfrm>
            <a:off x="609600" y="3886200"/>
            <a:ext cx="10972800" cy="1581150"/>
            <a:chOff x="609600" y="3886200"/>
            <a:chExt cx="10972800" cy="1581150"/>
          </a:xfrm>
        </p:grpSpPr>
        <p:sp>
          <p:nvSpPr>
            <p:cNvPr id="51" name="Rectangle 51"/>
            <p:cNvSpPr/>
            <p:nvPr/>
          </p:nvSpPr>
          <p:spPr>
            <a:xfrm>
              <a:off x="609600" y="3886200"/>
              <a:ext cx="10972800" cy="1581150"/>
            </a:xfrm>
            <a:prstGeom prst="roundRect">
              <a:avLst>
                <a:gd name="adj" fmla="val 8434"/>
              </a:avLst>
            </a:prstGeom>
            <a:solidFill>
              <a:schemeClr val="accent1"/>
            </a:solidFill>
            <a:ln w="9525">
              <a:solidFill>
                <a:schemeClr val="accent1"/>
              </a:solidFill>
            </a:ln>
          </p:spPr>
        </p:sp>
        <p:sp>
          <p:nvSpPr>
            <p:cNvPr id="52" name="TextBox 52"/>
            <p:cNvSpPr txBox="1"/>
            <p:nvPr/>
          </p:nvSpPr>
          <p:spPr>
            <a:xfrm>
              <a:off x="831342" y="4083368"/>
              <a:ext cx="1344442" cy="264033"/>
            </a:xfrm>
            <a:prstGeom prst="rect">
              <a:avLst/>
            </a:prstGeom>
            <a:noFill/>
            <a:ln>
              <a:noFill/>
            </a:ln>
          </p:spPr>
          <p:txBody>
            <a:bodyPr wrap="none" lIns="0" tIns="0" rIns="0" bIns="0" anchor="t" anchorCtr="0">
              <a:spAutoFit/>
            </a:bodyPr>
            <a:lstStyle/>
            <a:p>
              <a:pPr algn="l"/>
              <a:r>
                <a:rPr lang="en-US" sz="1350" b="1" dirty="0">
                  <a:solidFill>
                    <a:srgbClr val="6EE7F0"/>
                  </a:solidFill>
                  <a:latin typeface="Cascadia Mono"/>
                  <a:ea typeface="Cascadia Mono"/>
                  <a:cs typeface="Cascadia Mono"/>
                </a:rPr>
                <a:t>DECISION GATE</a:t>
              </a:r>
            </a:p>
          </p:txBody>
        </p:sp>
        <p:sp>
          <p:nvSpPr>
            <p:cNvPr id="53" name="TextBox 53"/>
            <p:cNvSpPr txBox="1"/>
            <p:nvPr/>
          </p:nvSpPr>
          <p:spPr>
            <a:xfrm>
              <a:off x="826008" y="4370070"/>
              <a:ext cx="8415529" cy="469392"/>
            </a:xfrm>
            <a:prstGeom prst="rect">
              <a:avLst/>
            </a:prstGeom>
            <a:noFill/>
            <a:ln>
              <a:noFill/>
            </a:ln>
          </p:spPr>
          <p:txBody>
            <a:bodyPr wrap="none" lIns="0" tIns="0" rIns="0" bIns="0" anchor="t" anchorCtr="0">
              <a:spAutoFit/>
            </a:bodyPr>
            <a:lstStyle/>
            <a:p>
              <a:pPr algn="l"/>
              <a:r>
                <a:rPr lang="en-US" sz="2400" b="1" dirty="0">
                  <a:solidFill>
                    <a:srgbClr val="FFFFFF"/>
                  </a:solidFill>
                  <a:latin typeface="+mn-lt"/>
                  <a:ea typeface="+mn-ea"/>
                  <a:cs typeface="+mn-cs"/>
                </a:rPr>
                <a:t>Can the team explain the delta and repeat the run?</a:t>
              </a:r>
            </a:p>
          </p:txBody>
        </p:sp>
        <p:sp>
          <p:nvSpPr>
            <p:cNvPr id="54" name="Rectangle 54"/>
            <p:cNvSpPr/>
            <p:nvPr/>
          </p:nvSpPr>
          <p:spPr>
            <a:xfrm>
              <a:off x="838200" y="4895850"/>
              <a:ext cx="4629150" cy="381000"/>
            </a:xfrm>
            <a:prstGeom prst="roundRect">
              <a:avLst>
                <a:gd name="adj" fmla="val 20000"/>
              </a:avLst>
            </a:prstGeom>
            <a:solidFill>
              <a:srgbClr val="DFF5E5"/>
            </a:solidFill>
            <a:ln>
              <a:noFill/>
            </a:ln>
          </p:spPr>
        </p:sp>
        <p:sp>
          <p:nvSpPr>
            <p:cNvPr id="55" name="TextBox 55"/>
            <p:cNvSpPr txBox="1"/>
            <p:nvPr/>
          </p:nvSpPr>
          <p:spPr>
            <a:xfrm>
              <a:off x="1022223" y="5005864"/>
              <a:ext cx="3958728" cy="249364"/>
            </a:xfrm>
            <a:prstGeom prst="rect">
              <a:avLst/>
            </a:prstGeom>
            <a:noFill/>
            <a:ln>
              <a:noFill/>
            </a:ln>
          </p:spPr>
          <p:txBody>
            <a:bodyPr wrap="none" lIns="0" tIns="0" rIns="0" bIns="0" anchor="t" anchorCtr="0">
              <a:spAutoFit/>
            </a:bodyPr>
            <a:lstStyle/>
            <a:p>
              <a:pPr algn="l"/>
              <a:r>
                <a:rPr lang="en-US" sz="1280" b="1" dirty="0">
                  <a:solidFill>
                    <a:srgbClr val="15803D"/>
                  </a:solidFill>
                  <a:latin typeface="+mn-lt"/>
                  <a:ea typeface="+mn-ea"/>
                  <a:cs typeface="+mn-cs"/>
                </a:rPr>
                <a:t>YES → explain → replay → scale the experiment</a:t>
              </a:r>
            </a:p>
          </p:txBody>
        </p:sp>
        <p:sp>
          <p:nvSpPr>
            <p:cNvPr id="56" name="Rectangle 56"/>
            <p:cNvSpPr/>
            <p:nvPr/>
          </p:nvSpPr>
          <p:spPr>
            <a:xfrm>
              <a:off x="5657850" y="4895850"/>
              <a:ext cx="5695950" cy="381000"/>
            </a:xfrm>
            <a:prstGeom prst="roundRect">
              <a:avLst>
                <a:gd name="adj" fmla="val 20000"/>
              </a:avLst>
            </a:prstGeom>
            <a:solidFill>
              <a:srgbClr val="FCE8ED"/>
            </a:solidFill>
            <a:ln>
              <a:noFill/>
            </a:ln>
          </p:spPr>
        </p:sp>
        <p:sp>
          <p:nvSpPr>
            <p:cNvPr id="57" name="TextBox 57"/>
            <p:cNvSpPr txBox="1"/>
            <p:nvPr/>
          </p:nvSpPr>
          <p:spPr>
            <a:xfrm>
              <a:off x="5841873" y="5005864"/>
              <a:ext cx="5046372" cy="249364"/>
            </a:xfrm>
            <a:prstGeom prst="rect">
              <a:avLst/>
            </a:prstGeom>
            <a:noFill/>
            <a:ln>
              <a:noFill/>
            </a:ln>
          </p:spPr>
          <p:txBody>
            <a:bodyPr wrap="none" lIns="0" tIns="0" rIns="0" bIns="0" anchor="t" anchorCtr="0">
              <a:spAutoFit/>
            </a:bodyPr>
            <a:lstStyle/>
            <a:p>
              <a:pPr algn="l"/>
              <a:r>
                <a:rPr lang="en-US" sz="1280" b="1" dirty="0">
                  <a:solidFill>
                    <a:srgbClr val="C2415B"/>
                  </a:solidFill>
                  <a:latin typeface="+mn-lt"/>
                  <a:ea typeface="+mn-ea"/>
                  <a:cs typeface="+mn-cs"/>
                </a:rPr>
                <a:t>NO → the result is anecdote, not decision-grade evidence</a:t>
              </a:r>
            </a:p>
          </p:txBody>
        </p:sp>
      </p:grpSp>
      <p:grpSp>
        <p:nvGrpSpPr>
          <p:cNvPr id="61" name="Group 61"/>
          <p:cNvGrpSpPr/>
          <p:nvPr/>
        </p:nvGrpSpPr>
        <p:grpSpPr>
          <a:xfrm>
            <a:off x="609600" y="5715000"/>
            <a:ext cx="10972800" cy="324231"/>
            <a:chOff x="609600" y="5715000"/>
            <a:chExt cx="10972800" cy="324231"/>
          </a:xfrm>
        </p:grpSpPr>
        <p:sp>
          <p:nvSpPr>
            <p:cNvPr id="59" name="Rectangle 59"/>
            <p:cNvSpPr/>
            <p:nvPr/>
          </p:nvSpPr>
          <p:spPr>
            <a:xfrm>
              <a:off x="609600" y="5715000"/>
              <a:ext cx="10972800" cy="323850"/>
            </a:xfrm>
            <a:prstGeom prst="roundRect">
              <a:avLst>
                <a:gd name="adj" fmla="val 23529"/>
              </a:avLst>
            </a:prstGeom>
            <a:solidFill>
              <a:schemeClr val="lt2"/>
            </a:solidFill>
            <a:ln>
              <a:noFill/>
            </a:ln>
          </p:spPr>
        </p:sp>
        <p:sp>
          <p:nvSpPr>
            <p:cNvPr id="60" name="TextBox 60"/>
            <p:cNvSpPr txBox="1"/>
            <p:nvPr/>
          </p:nvSpPr>
          <p:spPr>
            <a:xfrm>
              <a:off x="774954" y="5804535"/>
              <a:ext cx="5797577"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Cascadia Mono"/>
                  <a:ea typeface="Cascadia Mono"/>
                  <a:cs typeface="Cascadia Mono"/>
                </a:rPr>
                <a:t>EVIDENCE CONTRACT · config + events + logs + artifacts + outcome + cost</a:t>
              </a:r>
            </a:p>
          </p:txBody>
        </p:sp>
      </p:grpSp>
      <p:grpSp>
        <p:nvGrpSpPr>
          <p:cNvPr id="64" name="Group 64"/>
          <p:cNvGrpSpPr/>
          <p:nvPr/>
        </p:nvGrpSpPr>
        <p:grpSpPr>
          <a:xfrm>
            <a:off x="602742" y="6293168"/>
            <a:ext cx="10986516" cy="264033"/>
            <a:chOff x="602742" y="6293168"/>
            <a:chExt cx="10986516" cy="264033"/>
          </a:xfrm>
        </p:grpSpPr>
        <p:sp>
          <p:nvSpPr>
            <p:cNvPr id="62" name="TextBox 62"/>
            <p:cNvSpPr txBox="1"/>
            <p:nvPr/>
          </p:nvSpPr>
          <p:spPr>
            <a:xfrm>
              <a:off x="602742" y="6293168"/>
              <a:ext cx="353735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scadia Mono"/>
                  <a:ea typeface="Cascadia Mono"/>
                  <a:cs typeface="Cascadia Mono"/>
                </a:rPr>
                <a:t>K-011 · K-012 · K-013 · K-016 · K-026</a:t>
              </a:r>
            </a:p>
          </p:txBody>
        </p:sp>
        <p:sp>
          <p:nvSpPr>
            <p:cNvPr id="63" name="TextBox 63"/>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ascadia Mono"/>
                  <a:ea typeface="Cascadia Mono"/>
                  <a:cs typeface="Cascadia Mono"/>
                </a:rPr>
                <a:t>P23 / 24</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1524000" y="0"/>
                </a:moveTo>
                <a:lnTo>
                  <a:pt x="1524000" y="6858000"/>
                </a:lnTo>
                <a:moveTo>
                  <a:pt x="3048000" y="0"/>
                </a:moveTo>
                <a:lnTo>
                  <a:pt x="3048000" y="6858000"/>
                </a:lnTo>
                <a:moveTo>
                  <a:pt x="4572000" y="0"/>
                </a:moveTo>
                <a:lnTo>
                  <a:pt x="4572000" y="6858000"/>
                </a:lnTo>
                <a:moveTo>
                  <a:pt x="6096000" y="0"/>
                </a:moveTo>
                <a:lnTo>
                  <a:pt x="6096000" y="6858000"/>
                </a:lnTo>
                <a:moveTo>
                  <a:pt x="7620000" y="0"/>
                </a:moveTo>
                <a:lnTo>
                  <a:pt x="7620000" y="6858000"/>
                </a:lnTo>
                <a:moveTo>
                  <a:pt x="9144000" y="0"/>
                </a:moveTo>
                <a:lnTo>
                  <a:pt x="9144000" y="6858000"/>
                </a:lnTo>
                <a:moveTo>
                  <a:pt x="10668000" y="0"/>
                </a:moveTo>
                <a:lnTo>
                  <a:pt x="10668000" y="6858000"/>
                </a:lnTo>
                <a:moveTo>
                  <a:pt x="0" y="1143000"/>
                </a:moveTo>
                <a:lnTo>
                  <a:pt x="12192000" y="1143000"/>
                </a:lnTo>
                <a:moveTo>
                  <a:pt x="0" y="2286000"/>
                </a:moveTo>
                <a:lnTo>
                  <a:pt x="12192000" y="2286000"/>
                </a:lnTo>
                <a:moveTo>
                  <a:pt x="0" y="3429000"/>
                </a:moveTo>
                <a:lnTo>
                  <a:pt x="12192000" y="3429000"/>
                </a:lnTo>
                <a:moveTo>
                  <a:pt x="0" y="4572000"/>
                </a:moveTo>
                <a:lnTo>
                  <a:pt x="12192000" y="4572000"/>
                </a:lnTo>
                <a:moveTo>
                  <a:pt x="0" y="5715000"/>
                </a:moveTo>
                <a:lnTo>
                  <a:pt x="12192000" y="5715000"/>
                </a:lnTo>
              </a:path>
            </a:pathLst>
          </a:custGeom>
          <a:noFill/>
          <a:ln w="9525">
            <a:solidFill>
              <a:schemeClr val="accent3">
                <a:alpha val="38000"/>
              </a:schemeClr>
            </a:solidFill>
          </a:ln>
        </p:spPr>
      </p:sp>
      <p:grpSp>
        <p:nvGrpSpPr>
          <p:cNvPr id="6" name="Group 6"/>
          <p:cNvGrpSpPr/>
          <p:nvPr/>
        </p:nvGrpSpPr>
        <p:grpSpPr>
          <a:xfrm>
            <a:off x="593598" y="387668"/>
            <a:ext cx="10800945" cy="1064133"/>
            <a:chOff x="593598" y="387668"/>
            <a:chExt cx="10800945" cy="1064133"/>
          </a:xfrm>
        </p:grpSpPr>
        <p:sp>
          <p:nvSpPr>
            <p:cNvPr id="3" name="TextBox 3"/>
            <p:cNvSpPr txBox="1"/>
            <p:nvPr/>
          </p:nvSpPr>
          <p:spPr>
            <a:xfrm>
              <a:off x="602742" y="387668"/>
              <a:ext cx="3988613" cy="264033"/>
            </a:xfrm>
            <a:prstGeom prst="rect">
              <a:avLst/>
            </a:prstGeom>
            <a:noFill/>
            <a:ln>
              <a:noFill/>
            </a:ln>
          </p:spPr>
          <p:txBody>
            <a:bodyPr wrap="none" lIns="0" tIns="0" rIns="0" bIns="0" anchor="t" anchorCtr="0">
              <a:spAutoFit/>
            </a:bodyPr>
            <a:lstStyle/>
            <a:p>
              <a:pPr algn="l"/>
              <a:r>
                <a:rPr lang="en-US" sz="1350" spc="75" dirty="0">
                  <a:solidFill>
                    <a:srgbClr val="6EE7F0"/>
                  </a:solidFill>
                  <a:latin typeface="Cascadia Mono"/>
                  <a:ea typeface="Cascadia Mono"/>
                  <a:cs typeface="Cascadia Mono"/>
                </a:rPr>
                <a:t>30 / 60 / 90 DAYS · GOVERNED ADOPTION</a:t>
              </a:r>
            </a:p>
          </p:txBody>
        </p:sp>
        <p:sp>
          <p:nvSpPr>
            <p:cNvPr id="4" name="TextBox 4"/>
            <p:cNvSpPr txBox="1"/>
            <p:nvPr/>
          </p:nvSpPr>
          <p:spPr>
            <a:xfrm>
              <a:off x="593598" y="650558"/>
              <a:ext cx="10800945"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mn-lt"/>
                  <a:ea typeface="+mn-ea"/>
                  <a:cs typeface="+mn-cs"/>
                </a:rPr>
                <a:t>Turn 90 days into an adoption decision—not a demo</a:t>
              </a:r>
            </a:p>
          </p:txBody>
        </p:sp>
        <p:sp>
          <p:nvSpPr>
            <p:cNvPr id="5" name="TextBox 5"/>
            <p:cNvSpPr txBox="1"/>
            <p:nvPr/>
          </p:nvSpPr>
          <p:spPr>
            <a:xfrm>
              <a:off x="602742" y="1187768"/>
              <a:ext cx="9170414" cy="264033"/>
            </a:xfrm>
            <a:prstGeom prst="rect">
              <a:avLst/>
            </a:prstGeom>
            <a:noFill/>
            <a:ln>
              <a:noFill/>
            </a:ln>
          </p:spPr>
          <p:txBody>
            <a:bodyPr wrap="none" lIns="0" tIns="0" rIns="0" bIns="0" anchor="t" anchorCtr="0">
              <a:spAutoFit/>
            </a:bodyPr>
            <a:lstStyle/>
            <a:p>
              <a:pPr algn="l"/>
              <a:r>
                <a:rPr lang="en-US" sz="1350" dirty="0">
                  <a:solidFill>
                    <a:srgbClr val="C7D2E8"/>
                  </a:solidFill>
                  <a:latin typeface="+mn-lt"/>
                  <a:ea typeface="+mn-ea"/>
                  <a:cs typeface="+mn-cs"/>
                </a:rPr>
                <a:t>Architecture, governance, and evidence are the supports; every milestone must strengthen all three.</a:t>
              </a:r>
            </a:p>
          </p:txBody>
        </p:sp>
      </p:grpSp>
      <p:grpSp>
        <p:nvGrpSpPr>
          <p:cNvPr id="19" name="Group 19"/>
          <p:cNvGrpSpPr/>
          <p:nvPr/>
        </p:nvGrpSpPr>
        <p:grpSpPr>
          <a:xfrm>
            <a:off x="609600" y="1752600"/>
            <a:ext cx="3048000" cy="3543300"/>
            <a:chOff x="609600" y="1752600"/>
            <a:chExt cx="3048000" cy="3543300"/>
          </a:xfrm>
        </p:grpSpPr>
        <p:sp>
          <p:nvSpPr>
            <p:cNvPr id="7" name="Rectangle 7"/>
            <p:cNvSpPr/>
            <p:nvPr/>
          </p:nvSpPr>
          <p:spPr>
            <a:xfrm>
              <a:off x="609600" y="1752600"/>
              <a:ext cx="3048000" cy="1047750"/>
            </a:xfrm>
            <a:prstGeom prst="roundRect">
              <a:avLst>
                <a:gd name="adj" fmla="val 10909"/>
              </a:avLst>
            </a:prstGeom>
            <a:solidFill>
              <a:srgbClr val="182747"/>
            </a:solidFill>
            <a:ln w="19050">
              <a:solidFill>
                <a:schemeClr val="accent2"/>
              </a:solidFill>
            </a:ln>
          </p:spPr>
        </p:sp>
        <p:sp>
          <p:nvSpPr>
            <p:cNvPr id="8" name="TextBox 8"/>
            <p:cNvSpPr txBox="1"/>
            <p:nvPr/>
          </p:nvSpPr>
          <p:spPr>
            <a:xfrm>
              <a:off x="812673" y="1929289"/>
              <a:ext cx="1226887" cy="249364"/>
            </a:xfrm>
            <a:prstGeom prst="rect">
              <a:avLst/>
            </a:prstGeom>
            <a:noFill/>
            <a:ln>
              <a:noFill/>
            </a:ln>
          </p:spPr>
          <p:txBody>
            <a:bodyPr wrap="none" lIns="0" tIns="0" rIns="0" bIns="0" anchor="t" anchorCtr="0">
              <a:spAutoFit/>
            </a:bodyPr>
            <a:lstStyle/>
            <a:p>
              <a:pPr algn="l"/>
              <a:r>
                <a:rPr lang="en-US" sz="1280" b="1" dirty="0">
                  <a:solidFill>
                    <a:srgbClr val="6EE7F0"/>
                  </a:solidFill>
                  <a:latin typeface="Cascadia Mono"/>
                  <a:ea typeface="Cascadia Mono"/>
                  <a:cs typeface="Cascadia Mono"/>
                </a:rPr>
                <a:t>ARCHITECTURE</a:t>
              </a:r>
            </a:p>
          </p:txBody>
        </p:sp>
        <p:sp>
          <p:nvSpPr>
            <p:cNvPr id="9" name="TextBox 9"/>
            <p:cNvSpPr txBox="1"/>
            <p:nvPr/>
          </p:nvSpPr>
          <p:spPr>
            <a:xfrm>
              <a:off x="812292" y="2235518"/>
              <a:ext cx="2404884"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Plugin seams stay explicit</a:t>
              </a:r>
            </a:p>
          </p:txBody>
        </p:sp>
        <p:sp>
          <p:nvSpPr>
            <p:cNvPr id="10" name="TextBox 10"/>
            <p:cNvSpPr txBox="1"/>
            <p:nvPr/>
          </p:nvSpPr>
          <p:spPr>
            <a:xfrm>
              <a:off x="813054" y="2499360"/>
              <a:ext cx="2790749" cy="234696"/>
            </a:xfrm>
            <a:prstGeom prst="rect">
              <a:avLst/>
            </a:prstGeom>
            <a:noFill/>
            <a:ln>
              <a:noFill/>
            </a:ln>
          </p:spPr>
          <p:txBody>
            <a:bodyPr wrap="none" lIns="0" tIns="0" rIns="0" bIns="0" anchor="t" anchorCtr="0">
              <a:spAutoFit/>
            </a:bodyPr>
            <a:lstStyle/>
            <a:p>
              <a:pPr algn="l"/>
              <a:r>
                <a:rPr lang="en-US" sz="1200" dirty="0">
                  <a:solidFill>
                    <a:srgbClr val="C7D2E8"/>
                  </a:solidFill>
                  <a:latin typeface="+mn-lt"/>
                  <a:ea typeface="+mn-ea"/>
                  <a:cs typeface="+mn-cs"/>
                </a:rPr>
                <a:t>runtime · provider · tool · context</a:t>
              </a:r>
            </a:p>
          </p:txBody>
        </p:sp>
        <p:sp>
          <p:nvSpPr>
            <p:cNvPr id="11" name="Rectangle 11"/>
            <p:cNvSpPr/>
            <p:nvPr/>
          </p:nvSpPr>
          <p:spPr>
            <a:xfrm>
              <a:off x="609600" y="3000375"/>
              <a:ext cx="3048000" cy="1047750"/>
            </a:xfrm>
            <a:prstGeom prst="roundRect">
              <a:avLst>
                <a:gd name="adj" fmla="val 10909"/>
              </a:avLst>
            </a:prstGeom>
            <a:solidFill>
              <a:srgbClr val="182747"/>
            </a:solidFill>
            <a:ln w="19050">
              <a:solidFill>
                <a:schemeClr val="accent6"/>
              </a:solidFill>
            </a:ln>
          </p:spPr>
        </p:sp>
        <p:sp>
          <p:nvSpPr>
            <p:cNvPr id="12" name="TextBox 12"/>
            <p:cNvSpPr txBox="1"/>
            <p:nvPr/>
          </p:nvSpPr>
          <p:spPr>
            <a:xfrm>
              <a:off x="812673" y="3177064"/>
              <a:ext cx="1102626" cy="249364"/>
            </a:xfrm>
            <a:prstGeom prst="rect">
              <a:avLst/>
            </a:prstGeom>
            <a:noFill/>
            <a:ln>
              <a:noFill/>
            </a:ln>
          </p:spPr>
          <p:txBody>
            <a:bodyPr wrap="none" lIns="0" tIns="0" rIns="0" bIns="0" anchor="t" anchorCtr="0">
              <a:spAutoFit/>
            </a:bodyPr>
            <a:lstStyle/>
            <a:p>
              <a:pPr algn="l"/>
              <a:r>
                <a:rPr lang="en-US" sz="1280" b="1" dirty="0">
                  <a:solidFill>
                    <a:srgbClr val="F8C56D"/>
                  </a:solidFill>
                  <a:latin typeface="Cascadia Mono"/>
                  <a:ea typeface="Cascadia Mono"/>
                  <a:cs typeface="Cascadia Mono"/>
                </a:rPr>
                <a:t>GOVERNANCE</a:t>
              </a:r>
            </a:p>
          </p:txBody>
        </p:sp>
        <p:sp>
          <p:nvSpPr>
            <p:cNvPr id="13" name="TextBox 13"/>
            <p:cNvSpPr txBox="1"/>
            <p:nvPr/>
          </p:nvSpPr>
          <p:spPr>
            <a:xfrm>
              <a:off x="812292" y="3483292"/>
              <a:ext cx="2271810"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Policy wraps every seam</a:t>
              </a:r>
            </a:p>
          </p:txBody>
        </p:sp>
        <p:sp>
          <p:nvSpPr>
            <p:cNvPr id="14" name="TextBox 14"/>
            <p:cNvSpPr txBox="1"/>
            <p:nvPr/>
          </p:nvSpPr>
          <p:spPr>
            <a:xfrm>
              <a:off x="813054" y="3747135"/>
              <a:ext cx="2806903" cy="234696"/>
            </a:xfrm>
            <a:prstGeom prst="rect">
              <a:avLst/>
            </a:prstGeom>
            <a:noFill/>
            <a:ln>
              <a:noFill/>
            </a:ln>
          </p:spPr>
          <p:txBody>
            <a:bodyPr wrap="none" lIns="0" tIns="0" rIns="0" bIns="0" anchor="t" anchorCtr="0">
              <a:spAutoFit/>
            </a:bodyPr>
            <a:lstStyle/>
            <a:p>
              <a:pPr algn="l"/>
              <a:r>
                <a:rPr lang="en-US" sz="1200" dirty="0">
                  <a:solidFill>
                    <a:srgbClr val="C7D2E8"/>
                  </a:solidFill>
                  <a:latin typeface="+mn-lt"/>
                  <a:ea typeface="+mn-ea"/>
                  <a:cs typeface="+mn-cs"/>
                </a:rPr>
                <a:t>identity · approval · secret · audit</a:t>
              </a:r>
            </a:p>
          </p:txBody>
        </p:sp>
        <p:sp>
          <p:nvSpPr>
            <p:cNvPr id="15" name="Rectangle 15"/>
            <p:cNvSpPr/>
            <p:nvPr/>
          </p:nvSpPr>
          <p:spPr>
            <a:xfrm>
              <a:off x="609600" y="4248150"/>
              <a:ext cx="3048000" cy="1047750"/>
            </a:xfrm>
            <a:prstGeom prst="roundRect">
              <a:avLst>
                <a:gd name="adj" fmla="val 10909"/>
              </a:avLst>
            </a:prstGeom>
            <a:solidFill>
              <a:srgbClr val="182747"/>
            </a:solidFill>
            <a:ln w="19050">
              <a:solidFill>
                <a:srgbClr val="65C77A"/>
              </a:solidFill>
            </a:ln>
          </p:spPr>
        </p:sp>
        <p:sp>
          <p:nvSpPr>
            <p:cNvPr id="16" name="TextBox 16"/>
            <p:cNvSpPr txBox="1"/>
            <p:nvPr/>
          </p:nvSpPr>
          <p:spPr>
            <a:xfrm>
              <a:off x="812673" y="4424839"/>
              <a:ext cx="806312" cy="249364"/>
            </a:xfrm>
            <a:prstGeom prst="rect">
              <a:avLst/>
            </a:prstGeom>
            <a:noFill/>
            <a:ln>
              <a:noFill/>
            </a:ln>
          </p:spPr>
          <p:txBody>
            <a:bodyPr wrap="none" lIns="0" tIns="0" rIns="0" bIns="0" anchor="t" anchorCtr="0">
              <a:spAutoFit/>
            </a:bodyPr>
            <a:lstStyle/>
            <a:p>
              <a:pPr algn="l"/>
              <a:r>
                <a:rPr lang="en-US" sz="1280" b="1" dirty="0">
                  <a:solidFill>
                    <a:srgbClr val="86E49B"/>
                  </a:solidFill>
                  <a:latin typeface="Cascadia Mono"/>
                  <a:ea typeface="Cascadia Mono"/>
                  <a:cs typeface="Cascadia Mono"/>
                </a:rPr>
                <a:t>EVIDENCE</a:t>
              </a:r>
            </a:p>
          </p:txBody>
        </p:sp>
        <p:sp>
          <p:nvSpPr>
            <p:cNvPr id="17" name="TextBox 17"/>
            <p:cNvSpPr txBox="1"/>
            <p:nvPr/>
          </p:nvSpPr>
          <p:spPr>
            <a:xfrm>
              <a:off x="812292" y="4731068"/>
              <a:ext cx="2501113"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One run_id binds the story</a:t>
              </a:r>
            </a:p>
          </p:txBody>
        </p:sp>
        <p:sp>
          <p:nvSpPr>
            <p:cNvPr id="18" name="TextBox 18"/>
            <p:cNvSpPr txBox="1"/>
            <p:nvPr/>
          </p:nvSpPr>
          <p:spPr>
            <a:xfrm>
              <a:off x="813054" y="4994910"/>
              <a:ext cx="1991106" cy="234696"/>
            </a:xfrm>
            <a:prstGeom prst="rect">
              <a:avLst/>
            </a:prstGeom>
            <a:noFill/>
            <a:ln>
              <a:noFill/>
            </a:ln>
          </p:spPr>
          <p:txBody>
            <a:bodyPr wrap="none" lIns="0" tIns="0" rIns="0" bIns="0" anchor="t" anchorCtr="0">
              <a:spAutoFit/>
            </a:bodyPr>
            <a:lstStyle/>
            <a:p>
              <a:pPr algn="l"/>
              <a:r>
                <a:rPr lang="en-US" sz="1200" dirty="0">
                  <a:solidFill>
                    <a:srgbClr val="C7D2E8"/>
                  </a:solidFill>
                  <a:latin typeface="+mn-lt"/>
                  <a:ea typeface="+mn-ea"/>
                  <a:cs typeface="+mn-cs"/>
                </a:rPr>
                <a:t>events · logs · artifacts</a:t>
              </a:r>
            </a:p>
          </p:txBody>
        </p:sp>
      </p:grpSp>
      <p:grpSp>
        <p:nvGrpSpPr>
          <p:cNvPr id="46" name="Group 46"/>
          <p:cNvGrpSpPr/>
          <p:nvPr/>
        </p:nvGrpSpPr>
        <p:grpSpPr>
          <a:xfrm>
            <a:off x="4095750" y="1866900"/>
            <a:ext cx="7486650" cy="3438525"/>
            <a:chOff x="4095750" y="1866900"/>
            <a:chExt cx="7486650" cy="3438525"/>
          </a:xfrm>
        </p:grpSpPr>
        <p:sp>
          <p:nvSpPr>
            <p:cNvPr id="20" name="Freeform 20"/>
            <p:cNvSpPr/>
            <p:nvPr/>
          </p:nvSpPr>
          <p:spPr>
            <a:xfrm>
              <a:off x="4095750" y="5295900"/>
              <a:ext cx="7486650" cy="9525"/>
            </a:xfrm>
            <a:custGeom>
              <a:avLst/>
              <a:gdLst/>
              <a:ahLst/>
              <a:cxnLst/>
              <a:rect l="l" t="t" r="r" b="b"/>
              <a:pathLst>
                <a:path w="7486650" h="9525">
                  <a:moveTo>
                    <a:pt x="0" y="0"/>
                  </a:moveTo>
                  <a:lnTo>
                    <a:pt x="7486650" y="0"/>
                  </a:lnTo>
                </a:path>
              </a:pathLst>
            </a:custGeom>
            <a:noFill/>
            <a:ln w="19050">
              <a:solidFill>
                <a:srgbClr val="60739F"/>
              </a:solidFill>
            </a:ln>
          </p:spPr>
        </p:sp>
        <p:sp>
          <p:nvSpPr>
            <p:cNvPr id="21" name="Rectangle 21"/>
            <p:cNvSpPr/>
            <p:nvPr/>
          </p:nvSpPr>
          <p:spPr>
            <a:xfrm>
              <a:off x="4324350" y="3771900"/>
              <a:ext cx="2095500" cy="1524000"/>
            </a:xfrm>
            <a:prstGeom prst="roundRect">
              <a:avLst>
                <a:gd name="adj" fmla="val 7500"/>
              </a:avLst>
            </a:prstGeom>
            <a:solidFill>
              <a:schemeClr val="lt2"/>
            </a:solidFill>
            <a:ln w="19050">
              <a:solidFill>
                <a:srgbClr val="A9B7D5"/>
              </a:solidFill>
            </a:ln>
          </p:spPr>
        </p:sp>
        <p:sp>
          <p:nvSpPr>
            <p:cNvPr id="22" name="TextBox 22"/>
            <p:cNvSpPr txBox="1"/>
            <p:nvPr/>
          </p:nvSpPr>
          <p:spPr>
            <a:xfrm>
              <a:off x="4527042" y="3959542"/>
              <a:ext cx="1455336"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Cascadia Mono"/>
                  <a:ea typeface="Cascadia Mono"/>
                  <a:cs typeface="Cascadia Mono"/>
                </a:rPr>
                <a:t>DAY 30 / PROVE</a:t>
              </a:r>
            </a:p>
          </p:txBody>
        </p:sp>
        <p:sp>
          <p:nvSpPr>
            <p:cNvPr id="23" name="TextBox 23"/>
            <p:cNvSpPr txBox="1"/>
            <p:nvPr/>
          </p:nvSpPr>
          <p:spPr>
            <a:xfrm>
              <a:off x="4526661" y="4284821"/>
              <a:ext cx="2228958"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Freeze the experiment</a:t>
              </a:r>
            </a:p>
          </p:txBody>
        </p:sp>
        <p:sp>
          <p:nvSpPr>
            <p:cNvPr id="24" name="TextBox 24"/>
            <p:cNvSpPr txBox="1"/>
            <p:nvPr/>
          </p:nvSpPr>
          <p:spPr>
            <a:xfrm>
              <a:off x="4527804" y="4594860"/>
              <a:ext cx="1508912"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paired A/B baseline</a:t>
              </a:r>
            </a:p>
          </p:txBody>
        </p:sp>
        <p:sp>
          <p:nvSpPr>
            <p:cNvPr id="25" name="TextBox 25"/>
            <p:cNvSpPr txBox="1"/>
            <p:nvPr/>
          </p:nvSpPr>
          <p:spPr>
            <a:xfrm>
              <a:off x="4527804" y="4823460"/>
              <a:ext cx="179725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owners + unique run_id</a:t>
              </a:r>
            </a:p>
          </p:txBody>
        </p:sp>
        <p:sp>
          <p:nvSpPr>
            <p:cNvPr id="26" name="TextBox 26"/>
            <p:cNvSpPr txBox="1"/>
            <p:nvPr/>
          </p:nvSpPr>
          <p:spPr>
            <a:xfrm>
              <a:off x="4527804" y="5052060"/>
              <a:ext cx="175686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shared success rubric</a:t>
              </a:r>
            </a:p>
          </p:txBody>
        </p:sp>
        <p:sp>
          <p:nvSpPr>
            <p:cNvPr id="27" name="Rectangle 27"/>
            <p:cNvSpPr/>
            <p:nvPr/>
          </p:nvSpPr>
          <p:spPr>
            <a:xfrm>
              <a:off x="6629400" y="2819400"/>
              <a:ext cx="2095500" cy="2476500"/>
            </a:xfrm>
            <a:prstGeom prst="roundRect">
              <a:avLst>
                <a:gd name="adj" fmla="val 5455"/>
              </a:avLst>
            </a:prstGeom>
            <a:solidFill>
              <a:srgbClr val="FFF6E8"/>
            </a:solidFill>
            <a:ln w="19050">
              <a:solidFill>
                <a:schemeClr val="accent6"/>
              </a:solidFill>
            </a:ln>
          </p:spPr>
        </p:sp>
        <p:sp>
          <p:nvSpPr>
            <p:cNvPr id="28" name="TextBox 28"/>
            <p:cNvSpPr txBox="1"/>
            <p:nvPr/>
          </p:nvSpPr>
          <p:spPr>
            <a:xfrm>
              <a:off x="6832092" y="3007042"/>
              <a:ext cx="1566230" cy="264033"/>
            </a:xfrm>
            <a:prstGeom prst="rect">
              <a:avLst/>
            </a:prstGeom>
            <a:noFill/>
            <a:ln>
              <a:noFill/>
            </a:ln>
          </p:spPr>
          <p:txBody>
            <a:bodyPr wrap="none" lIns="0" tIns="0" rIns="0" bIns="0" anchor="t" anchorCtr="0">
              <a:spAutoFit/>
            </a:bodyPr>
            <a:lstStyle/>
            <a:p>
              <a:pPr algn="l"/>
              <a:r>
                <a:rPr lang="en-US" sz="1350" b="1" dirty="0">
                  <a:solidFill>
                    <a:srgbClr val="9A4D00"/>
                  </a:solidFill>
                  <a:latin typeface="Cascadia Mono"/>
                  <a:ea typeface="Cascadia Mono"/>
                  <a:cs typeface="Cascadia Mono"/>
                </a:rPr>
                <a:t>DAY 60 / GOVERN</a:t>
              </a:r>
            </a:p>
          </p:txBody>
        </p:sp>
        <p:sp>
          <p:nvSpPr>
            <p:cNvPr id="29" name="TextBox 29"/>
            <p:cNvSpPr txBox="1"/>
            <p:nvPr/>
          </p:nvSpPr>
          <p:spPr>
            <a:xfrm>
              <a:off x="6831711" y="3332321"/>
              <a:ext cx="2158179"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Build the control shell</a:t>
              </a:r>
            </a:p>
          </p:txBody>
        </p:sp>
        <p:sp>
          <p:nvSpPr>
            <p:cNvPr id="30" name="TextBox 30"/>
            <p:cNvSpPr txBox="1"/>
            <p:nvPr/>
          </p:nvSpPr>
          <p:spPr>
            <a:xfrm>
              <a:off x="6832854" y="3661410"/>
              <a:ext cx="113492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policy adapter</a:t>
              </a:r>
            </a:p>
          </p:txBody>
        </p:sp>
        <p:sp>
          <p:nvSpPr>
            <p:cNvPr id="31" name="TextBox 31"/>
            <p:cNvSpPr txBox="1"/>
            <p:nvPr/>
          </p:nvSpPr>
          <p:spPr>
            <a:xfrm>
              <a:off x="6832854" y="3909060"/>
              <a:ext cx="2079955"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identity + secret controls</a:t>
              </a:r>
            </a:p>
          </p:txBody>
        </p:sp>
        <p:sp>
          <p:nvSpPr>
            <p:cNvPr id="32" name="TextBox 32"/>
            <p:cNvSpPr txBox="1"/>
            <p:nvPr/>
          </p:nvSpPr>
          <p:spPr>
            <a:xfrm>
              <a:off x="6832854" y="4156710"/>
              <a:ext cx="163570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audit sink + evidence</a:t>
              </a:r>
            </a:p>
          </p:txBody>
        </p:sp>
        <p:sp>
          <p:nvSpPr>
            <p:cNvPr id="33" name="TextBox 33"/>
            <p:cNvSpPr txBox="1"/>
            <p:nvPr/>
          </p:nvSpPr>
          <p:spPr>
            <a:xfrm>
              <a:off x="6832854" y="4404360"/>
              <a:ext cx="195072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replay + failure exercise</a:t>
              </a:r>
            </a:p>
          </p:txBody>
        </p:sp>
        <p:sp>
          <p:nvSpPr>
            <p:cNvPr id="34" name="TextBox 34"/>
            <p:cNvSpPr txBox="1"/>
            <p:nvPr/>
          </p:nvSpPr>
          <p:spPr>
            <a:xfrm>
              <a:off x="6832854" y="4823460"/>
              <a:ext cx="1952312" cy="234696"/>
            </a:xfrm>
            <a:prstGeom prst="rect">
              <a:avLst/>
            </a:prstGeom>
            <a:noFill/>
            <a:ln>
              <a:noFill/>
            </a:ln>
          </p:spPr>
          <p:txBody>
            <a:bodyPr wrap="none" lIns="0" tIns="0" rIns="0" bIns="0" anchor="t" anchorCtr="0">
              <a:spAutoFit/>
            </a:bodyPr>
            <a:lstStyle/>
            <a:p>
              <a:pPr algn="l"/>
              <a:r>
                <a:rPr lang="en-US" sz="1200" b="1" dirty="0">
                  <a:solidFill>
                    <a:srgbClr val="9A4D00"/>
                  </a:solidFill>
                  <a:latin typeface="+mn-lt"/>
                  <a:ea typeface="+mn-ea"/>
                  <a:cs typeface="+mn-cs"/>
                </a:rPr>
                <a:t>Gate: explain + repeat?</a:t>
              </a:r>
            </a:p>
          </p:txBody>
        </p:sp>
        <p:sp>
          <p:nvSpPr>
            <p:cNvPr id="35" name="Rectangle 35"/>
            <p:cNvSpPr/>
            <p:nvPr/>
          </p:nvSpPr>
          <p:spPr>
            <a:xfrm>
              <a:off x="8934450" y="1866900"/>
              <a:ext cx="2419350" cy="3429000"/>
            </a:xfrm>
            <a:prstGeom prst="roundRect">
              <a:avLst>
                <a:gd name="adj" fmla="val 4724"/>
              </a:avLst>
            </a:prstGeom>
            <a:solidFill>
              <a:srgbClr val="E5F7EA"/>
            </a:solidFill>
            <a:ln w="19050">
              <a:solidFill>
                <a:srgbClr val="65C77A"/>
              </a:solidFill>
            </a:ln>
          </p:spPr>
        </p:sp>
        <p:sp>
          <p:nvSpPr>
            <p:cNvPr id="36" name="TextBox 36"/>
            <p:cNvSpPr txBox="1"/>
            <p:nvPr/>
          </p:nvSpPr>
          <p:spPr>
            <a:xfrm>
              <a:off x="9137142" y="2054542"/>
              <a:ext cx="1475499" cy="264033"/>
            </a:xfrm>
            <a:prstGeom prst="rect">
              <a:avLst/>
            </a:prstGeom>
            <a:noFill/>
            <a:ln>
              <a:noFill/>
            </a:ln>
          </p:spPr>
          <p:txBody>
            <a:bodyPr wrap="none" lIns="0" tIns="0" rIns="0" bIns="0" anchor="t" anchorCtr="0">
              <a:spAutoFit/>
            </a:bodyPr>
            <a:lstStyle/>
            <a:p>
              <a:pPr algn="l"/>
              <a:r>
                <a:rPr lang="en-US" sz="1350" b="1" dirty="0">
                  <a:solidFill>
                    <a:srgbClr val="15803D"/>
                  </a:solidFill>
                  <a:latin typeface="Cascadia Mono"/>
                  <a:ea typeface="Cascadia Mono"/>
                  <a:cs typeface="Cascadia Mono"/>
                </a:rPr>
                <a:t>DAY 90 / DECIDE</a:t>
              </a:r>
            </a:p>
          </p:txBody>
        </p:sp>
        <p:sp>
          <p:nvSpPr>
            <p:cNvPr id="37" name="TextBox 37"/>
            <p:cNvSpPr txBox="1"/>
            <p:nvPr/>
          </p:nvSpPr>
          <p:spPr>
            <a:xfrm>
              <a:off x="9136761" y="2379821"/>
              <a:ext cx="2128300"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Adopt with conditions</a:t>
              </a:r>
            </a:p>
          </p:txBody>
        </p:sp>
        <p:sp>
          <p:nvSpPr>
            <p:cNvPr id="38" name="TextBox 38"/>
            <p:cNvSpPr txBox="1"/>
            <p:nvPr/>
          </p:nvSpPr>
          <p:spPr>
            <a:xfrm>
              <a:off x="9137904" y="2727960"/>
              <a:ext cx="188747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production owner + SLO</a:t>
              </a:r>
            </a:p>
          </p:txBody>
        </p:sp>
        <p:sp>
          <p:nvSpPr>
            <p:cNvPr id="39" name="TextBox 39"/>
            <p:cNvSpPr txBox="1"/>
            <p:nvPr/>
          </p:nvSpPr>
          <p:spPr>
            <a:xfrm>
              <a:off x="9137904" y="2975610"/>
              <a:ext cx="2031492"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approved provider + tools</a:t>
              </a:r>
            </a:p>
          </p:txBody>
        </p:sp>
        <p:sp>
          <p:nvSpPr>
            <p:cNvPr id="40" name="TextBox 40"/>
            <p:cNvSpPr txBox="1"/>
            <p:nvPr/>
          </p:nvSpPr>
          <p:spPr>
            <a:xfrm>
              <a:off x="9137904" y="3223260"/>
              <a:ext cx="186187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rollback + incident path</a:t>
              </a:r>
            </a:p>
          </p:txBody>
        </p:sp>
        <p:sp>
          <p:nvSpPr>
            <p:cNvPr id="41" name="TextBox 41"/>
            <p:cNvSpPr txBox="1"/>
            <p:nvPr/>
          </p:nvSpPr>
          <p:spPr>
            <a:xfrm>
              <a:off x="9137904" y="3470910"/>
              <a:ext cx="182950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adoption + finance KPIs</a:t>
              </a:r>
            </a:p>
          </p:txBody>
        </p:sp>
        <p:sp>
          <p:nvSpPr>
            <p:cNvPr id="42" name="Rectangle 42"/>
            <p:cNvSpPr/>
            <p:nvPr/>
          </p:nvSpPr>
          <p:spPr>
            <a:xfrm>
              <a:off x="9144000" y="3905250"/>
              <a:ext cx="2000250" cy="514350"/>
            </a:xfrm>
            <a:prstGeom prst="roundRect">
              <a:avLst>
                <a:gd name="adj" fmla="val 16667"/>
              </a:avLst>
            </a:prstGeom>
            <a:solidFill>
              <a:srgbClr val="15803D"/>
            </a:solidFill>
            <a:ln>
              <a:noFill/>
            </a:ln>
          </p:spPr>
        </p:sp>
        <p:sp>
          <p:nvSpPr>
            <p:cNvPr id="43" name="TextBox 43"/>
            <p:cNvSpPr txBox="1"/>
            <p:nvPr/>
          </p:nvSpPr>
          <p:spPr>
            <a:xfrm>
              <a:off x="9502148" y="4073842"/>
              <a:ext cx="1283955"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Cascadia Mono"/>
                  <a:ea typeface="Cascadia Mono"/>
                  <a:cs typeface="Cascadia Mono"/>
                </a:rPr>
                <a:t>PASS → ADOPT</a:t>
              </a:r>
            </a:p>
          </p:txBody>
        </p:sp>
        <p:sp>
          <p:nvSpPr>
            <p:cNvPr id="44" name="Rectangle 44"/>
            <p:cNvSpPr/>
            <p:nvPr/>
          </p:nvSpPr>
          <p:spPr>
            <a:xfrm>
              <a:off x="9144000" y="4552950"/>
              <a:ext cx="2000250" cy="514350"/>
            </a:xfrm>
            <a:prstGeom prst="roundRect">
              <a:avLst>
                <a:gd name="adj" fmla="val 16667"/>
              </a:avLst>
            </a:prstGeom>
            <a:solidFill>
              <a:srgbClr val="FCE8ED"/>
            </a:solidFill>
            <a:ln>
              <a:noFill/>
            </a:ln>
          </p:spPr>
        </p:sp>
        <p:sp>
          <p:nvSpPr>
            <p:cNvPr id="45" name="TextBox 45"/>
            <p:cNvSpPr txBox="1"/>
            <p:nvPr/>
          </p:nvSpPr>
          <p:spPr>
            <a:xfrm>
              <a:off x="9229954" y="4721542"/>
              <a:ext cx="1828343" cy="264033"/>
            </a:xfrm>
            <a:prstGeom prst="rect">
              <a:avLst/>
            </a:prstGeom>
            <a:noFill/>
            <a:ln>
              <a:noFill/>
            </a:ln>
          </p:spPr>
          <p:txBody>
            <a:bodyPr wrap="none" lIns="0" tIns="0" rIns="0" bIns="0" anchor="t" anchorCtr="0">
              <a:spAutoFit/>
            </a:bodyPr>
            <a:lstStyle/>
            <a:p>
              <a:pPr algn="ctr"/>
              <a:r>
                <a:rPr lang="en-US" sz="1350" b="1" dirty="0">
                  <a:solidFill>
                    <a:srgbClr val="C2415B"/>
                  </a:solidFill>
                  <a:latin typeface="Cascadia Mono"/>
                  <a:ea typeface="Cascadia Mono"/>
                  <a:cs typeface="Cascadia Mono"/>
                </a:rPr>
                <a:t>HOLD → CLOSE GAPS</a:t>
              </a:r>
            </a:p>
          </p:txBody>
        </p:sp>
      </p:grpSp>
      <p:grpSp>
        <p:nvGrpSpPr>
          <p:cNvPr id="49" name="Group 49"/>
          <p:cNvGrpSpPr/>
          <p:nvPr/>
        </p:nvGrpSpPr>
        <p:grpSpPr>
          <a:xfrm>
            <a:off x="609600" y="5562600"/>
            <a:ext cx="10972800" cy="514350"/>
            <a:chOff x="609600" y="5562600"/>
            <a:chExt cx="10972800" cy="514350"/>
          </a:xfrm>
        </p:grpSpPr>
        <p:sp>
          <p:nvSpPr>
            <p:cNvPr id="47" name="Rectangle 47"/>
            <p:cNvSpPr/>
            <p:nvPr/>
          </p:nvSpPr>
          <p:spPr>
            <a:xfrm>
              <a:off x="609600" y="5562600"/>
              <a:ext cx="10972800" cy="514350"/>
            </a:xfrm>
            <a:prstGeom prst="roundRect">
              <a:avLst>
                <a:gd name="adj" fmla="val 18519"/>
              </a:avLst>
            </a:prstGeom>
            <a:solidFill>
              <a:srgbClr val="22345B"/>
            </a:solidFill>
            <a:ln w="9525">
              <a:solidFill>
                <a:schemeClr val="accent3"/>
              </a:solidFill>
            </a:ln>
          </p:spPr>
        </p:sp>
        <p:sp>
          <p:nvSpPr>
            <p:cNvPr id="48" name="TextBox 48"/>
            <p:cNvSpPr txBox="1"/>
            <p:nvPr/>
          </p:nvSpPr>
          <p:spPr>
            <a:xfrm>
              <a:off x="831342" y="5740718"/>
              <a:ext cx="8874287"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Proceed only when architecture + governance + evidence are jointly explainable and repeatable.</a:t>
              </a:r>
            </a:p>
          </p:txBody>
        </p:sp>
      </p:grpSp>
      <p:grpSp>
        <p:nvGrpSpPr>
          <p:cNvPr id="52" name="Group 52"/>
          <p:cNvGrpSpPr/>
          <p:nvPr/>
        </p:nvGrpSpPr>
        <p:grpSpPr>
          <a:xfrm>
            <a:off x="602742" y="6293168"/>
            <a:ext cx="10986516" cy="264033"/>
            <a:chOff x="602742" y="6293168"/>
            <a:chExt cx="10986516" cy="264033"/>
          </a:xfrm>
        </p:grpSpPr>
        <p:sp>
          <p:nvSpPr>
            <p:cNvPr id="50" name="TextBox 50"/>
            <p:cNvSpPr txBox="1"/>
            <p:nvPr/>
          </p:nvSpPr>
          <p:spPr>
            <a:xfrm>
              <a:off x="602742" y="6293168"/>
              <a:ext cx="2788463" cy="264033"/>
            </a:xfrm>
            <a:prstGeom prst="rect">
              <a:avLst/>
            </a:prstGeom>
            <a:noFill/>
            <a:ln>
              <a:noFill/>
            </a:ln>
          </p:spPr>
          <p:txBody>
            <a:bodyPr wrap="none" lIns="0" tIns="0" rIns="0" bIns="0" anchor="t" anchorCtr="0">
              <a:spAutoFit/>
            </a:bodyPr>
            <a:lstStyle/>
            <a:p>
              <a:pPr algn="l"/>
              <a:r>
                <a:rPr lang="en-US" sz="1350" dirty="0">
                  <a:solidFill>
                    <a:srgbClr val="A9B7D5"/>
                  </a:solidFill>
                  <a:latin typeface="Cascadia Mono"/>
                  <a:ea typeface="Cascadia Mono"/>
                  <a:cs typeface="Cascadia Mono"/>
                </a:rPr>
                <a:t>K-011 · K-013 · K-019 · K-026</a:t>
              </a:r>
            </a:p>
          </p:txBody>
        </p:sp>
        <p:sp>
          <p:nvSpPr>
            <p:cNvPr id="51" name="TextBox 51"/>
            <p:cNvSpPr txBox="1"/>
            <p:nvPr/>
          </p:nvSpPr>
          <p:spPr>
            <a:xfrm>
              <a:off x="10826648" y="6293168"/>
              <a:ext cx="762610" cy="264033"/>
            </a:xfrm>
            <a:prstGeom prst="rect">
              <a:avLst/>
            </a:prstGeom>
            <a:noFill/>
            <a:ln>
              <a:noFill/>
            </a:ln>
          </p:spPr>
          <p:txBody>
            <a:bodyPr wrap="none" lIns="0" tIns="0" rIns="0" bIns="0" anchor="t" anchorCtr="0">
              <a:spAutoFit/>
            </a:bodyPr>
            <a:lstStyle/>
            <a:p>
              <a:pPr algn="r"/>
              <a:r>
                <a:rPr lang="en-US" sz="1350" dirty="0">
                  <a:solidFill>
                    <a:srgbClr val="6EE7F0"/>
                  </a:solidFill>
                  <a:latin typeface="Cascadia Mono"/>
                  <a:ea typeface="Cascadia Mono"/>
                  <a:cs typeface="Cascadia Mono"/>
                </a:rPr>
                <a:t>P24 / 24</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epseek-harness-system-learning-en">
  <a:themeElements>
    <a:clrScheme name="deepseek-harness-system-learning-en">
      <a:dk1>
        <a:srgbClr val="101828"/>
      </a:dk1>
      <a:lt1>
        <a:srgbClr val="F7FAFC"/>
      </a:lt1>
      <a:dk2>
        <a:srgbClr val="1F497D"/>
      </a:dk2>
      <a:lt2>
        <a:srgbClr val="E8EEF7"/>
      </a:lt2>
      <a:accent1>
        <a:srgbClr val="101B35"/>
      </a:accent1>
      <a:accent2>
        <a:srgbClr val="00C2D7"/>
      </a:accent2>
      <a:accent3>
        <a:srgbClr val="3448A8"/>
      </a:accent3>
      <a:accent4>
        <a:srgbClr val="101B35"/>
      </a:accent4>
      <a:accent5>
        <a:srgbClr val="475467"/>
      </a:accent5>
      <a:accent6>
        <a:srgbClr val="D97706"/>
      </a:accent6>
      <a:hlink>
        <a:srgbClr val="00C2D7"/>
      </a:hlink>
      <a:folHlink>
        <a:srgbClr val="3448A8"/>
      </a:folHlink>
    </a:clrScheme>
    <a:fontScheme name="deepseek-harness-system-learning-en">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epseek-harness-system-learning-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epseek-harness-system-learning-en">
  <a:themeElements>
    <a:clrScheme name="deepseek-harness-system-learning-en">
      <a:dk1>
        <a:srgbClr val="101828"/>
      </a:dk1>
      <a:lt1>
        <a:srgbClr val="F7FAFC"/>
      </a:lt1>
      <a:dk2>
        <a:srgbClr val="1F497D"/>
      </a:dk2>
      <a:lt2>
        <a:srgbClr val="E8EEF7"/>
      </a:lt2>
      <a:accent1>
        <a:srgbClr val="101B35"/>
      </a:accent1>
      <a:accent2>
        <a:srgbClr val="00C2D7"/>
      </a:accent2>
      <a:accent3>
        <a:srgbClr val="3448A8"/>
      </a:accent3>
      <a:accent4>
        <a:srgbClr val="101B35"/>
      </a:accent4>
      <a:accent5>
        <a:srgbClr val="475467"/>
      </a:accent5>
      <a:accent6>
        <a:srgbClr val="D97706"/>
      </a:accent6>
      <a:hlink>
        <a:srgbClr val="00C2D7"/>
      </a:hlink>
      <a:folHlink>
        <a:srgbClr val="3448A8"/>
      </a:folHlink>
    </a:clrScheme>
    <a:fontScheme name="deepseek-harness-system-learning-en">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epseek-harness-system-learning-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2026-08-18T23:54:15Z</dcterms:created>
  <dcterms:modified xsi:type="dcterms:W3CDTF">2026-08-18T23:54:15Z</dcterms:modified>
  <cp:category/>
  <cp:contentStatus/>
</cp:coreProperties>
</file>