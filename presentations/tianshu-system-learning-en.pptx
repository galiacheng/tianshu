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  <Relationship Id="rId26"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Tianshu is a system for moving from knowledge to wisdom through nine explicit skill contracts and durable artifacts. Learn, quiz, and practice develop understanding and evidence; mental models, ideas, brainstorming, and judgment turn that material into reusable reasoning and decisions; presentation makes the validated result communicable. The central principle is that progress becomes trustworthy when it survives as an artifact rather than disappearing with the conversation.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chat is useful for explanation and steering, but its context is transient. A canvas adds inspectable interactive state and is therefore a better place to develop a draft. The repository is the highest-persistence lane because it preserves validated results as Git-visible artifacts. Use each surface for its strength, and move durable work toward files that can be reviewed, resumed, and governed.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Copilot session is a governed workbench rather than an unstructured prompt stream. Intent selects a skill contract, the contract constrains which tools and canvas interactions are legitimate, and validation turns activity into evidence. Only then should the result become a Git-visible file. This sequence keeps execution aligned with the requested state change.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system is a graph, not a mandatory conveyor belt. Knowledge may feed models, ideas may enter reasoning, and validated reasoning may become a presentation, but the dotted handoffs remain optional. The right next edge depends on which durable state must change. This flexibility prevents a workflow from pretending that every artifact needs every downstream transformation.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Do not ask which skill comes next by habit; ask which durable state should change. Use Learn when the target is understanding, Practice when the target is observed evidence, Build Mental Model when reasoning must become reusable, Judge when a verdict is required, and Knowledge to PPTX when the validated content must become a presentation. Owner selection is the first control point because each skill has different authority and a different stop condition.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Learn produces source-backed curriculum but cannot claim observed evidence, while Quiz creates deterministic assessment without mutating that curriculum. Practice produces bounded observed evidence, and Build Mental Model turns reasoning into a reusable model only when it states its boundary and next test. Brainstorm keeps candidate mechanisms distinct, whereas Judge requires an admitted model before issuing a basis-gated verdict. Idea captures raw wording after a secret check, Dream synthesizes with provenance and copies and verifies before removal, and Knowledge to PPTX compiles validated design artifacts without promoting unsupported claims.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nine skills form five workflow families: knowledge, mental models, ideas, reasoning, and presentation. Each family preserves a different kind of truth, so their outputs are not interchangeable. Curriculum is not laboratory evidence, a raw idea is not a verdict, and a polished deck is not permission to rewrite the underlying facts. Keeping these evidence contracts separate is what makes handoffs auditable.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Learn, Quiz, and Practice form an evidence loop with deliberately separate responsibilities. Learn creates source-backed curriculum, Quiz projects that curriculum into a deterministic assessment, and Practice runs a bounded experiment that produces observed evidence. Results return to the curriculum only through approved maintenance. The separation keeps a test score or lab outcome from silently rewriting the textbook.</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durable mental model moves through seed, explore, refine, draft, and done states, with parked as an honest alternative when progress should pause. At every stage, record the use, mechanism, boundary, discriminator, and next test. Those fields turn an attractive explanation into a falsifiable reasoning tool. Maturity is not polish alone; it is clearer scope and stronger discrimination.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Idea is the faithful intake path: preserve the exact raw wording, run a secret check before writing, and save one durable record. Dream is a later, explicit curation path that synthesizes related ideas, preserves provenance, and copies and verifies before anything is removed or archived. The handoff is intentionally delayed rather than automatic. Capture protects the origin; synthesis protects recoverability.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Brainstorm begins by framing and grounding the problem, then creates materially distinct candidates rather than cosmetic variations. Judge does not simply pick a favorite; it first admits the durable mental model that supplies the evaluation basis. From there, each candidate can be expanded, stopped, or parked. Divergence creates options, while the proof obligation makes convergence defensible.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Knowledge to PPTX behaves like a compiler for validated design. The knowledge map holds facts, deck design defines the narrative, the style guide establishes the visual system, and validation closes the gate before PPT Master executes the deck. Final quality assurance proves that the exported presentation still matches those inputs. Typed design artifacts prevent visual polish from promoting unsupported claims.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 producer owns the truth of the artifact it creates, but a consumer opens a new contract rather than inheriting unlimited authority. The handoff gate must identify the artifact path, the consumer's purpose, and the stop condition. This makes authorization explicit before work resumes. A successful upstream result is therefore evidence for the next step, not permission for arbitrary mutation.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In this worked handoff, Learn owns the approved curriculum at docs slash tianshu slash deep slash zero two knowledge loop dot markdown. Practice consumes it only to validate one selected claim, and its gate requires approved lab scope plus an observable criterion. Practice may not mutate the curriculum during the lab. If the experiment contradicts the source, the return path is a maintenance proposal rather than a silent edit.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Safety is a guarded state transition owned by the active skill. First treat incoming content as data and preserve its truth status; then obtain exact authorization and inspect the destination for collisions. Apply recovery operations in safe order, and validate that the final status remains truthful. The route is trust, truth status, authorization, destination, recovery, and validation.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Not every workflow should end in a mutation. Blocked means a prerequisite is missing, parked means a verdict input remains unresolved, and partial means some trustworthy evidence survives even though the work is incomplete. Failed means the criterion was not met, while no change means no mutation was justified. Recording the last trustworthy state makes all five outcomes resumable instead of disguising them as success.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Operate every workflow through six verbs: predict, authorize, act, observe, classify, and preserve. Prediction establishes an expected effect, authorization confirms the right to proceed, and action performs the bounded change. Observation gathers evidence, classification names the truthful outcome, and preservation stores the artifact plus its evidence. The loop is complete only when another session can inspect and resume it.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capstone network begins with learning and assessment, then may practice one claim to create evidence and build a bounded model from that result. Brainstorming and judgment can use the model to support a decision, while capture and synthesis maintain the related idea bank. Any validated branch may then compile into a presentation. The edges stay reversible and optional, handoffs carry evidence, and an honest stop is preferable to an unsupported continuation.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Choose the owner, pass the gate, and preserve the artifact. Artifacts are the system's memory, contracts protect meaning, and honest stops keep work resumable. The final commitment is operational rather than rhetorical: durable files carry context across sessions, while gates make progress trustworthy.</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tianshu-system-learning-en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tianshu-system-learning-en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pattFill prst="smGrid">
            <a:fgClr>
              <a:schemeClr val="accent3">
                <a:alpha val="18000"/>
              </a:schemeClr>
            </a:fgClr>
            <a:bgClr>
              <a:schemeClr val="accent1"/>
            </a:bgClr>
          </a:pattFill>
          <a:ln>
            <a:noFill/>
          </a:ln>
        </p:spPr>
      </p:sp>
      <p:grpSp>
        <p:nvGrpSpPr>
          <p:cNvPr id="6" name="Group 6"/>
          <p:cNvGrpSpPr/>
          <p:nvPr/>
        </p:nvGrpSpPr>
        <p:grpSpPr>
          <a:xfrm>
            <a:off x="669798" y="730568"/>
            <a:ext cx="5997496" cy="1541716"/>
            <a:chOff x="669798" y="730568"/>
            <a:chExt cx="5997496" cy="1541716"/>
          </a:xfrm>
        </p:grpSpPr>
        <p:sp>
          <p:nvSpPr>
            <p:cNvPr id="3" name="TextBox 3"/>
            <p:cNvSpPr txBox="1"/>
            <p:nvPr/>
          </p:nvSpPr>
          <p:spPr>
            <a:xfrm>
              <a:off x="678942" y="730568"/>
              <a:ext cx="3091434" cy="264033"/>
            </a:xfrm>
            <a:prstGeom prst="rect">
              <a:avLst/>
            </a:prstGeom>
            <a:noFill/>
            <a:ln>
              <a:noFill/>
            </a:ln>
          </p:spPr>
          <p:txBody>
            <a:bodyPr wrap="none" lIns="0" tIns="0" rIns="0" bIns="0" anchor="t" anchorCtr="0">
              <a:spAutoFit/>
            </a:bodyPr>
            <a:lstStyle/>
            <a:p>
              <a:pPr algn="l"/>
              <a:r>
                <a:rPr lang="en-US" sz="1350" spc="150" dirty="0">
                  <a:solidFill>
                    <a:srgbClr val="F4F1E8"/>
                  </a:solidFill>
                  <a:latin typeface="Cascadia Mono"/>
                  <a:ea typeface="Cascadia Mono"/>
                  <a:cs typeface="Cascadia Mono"/>
                </a:rPr>
                <a:t>TIANSHU // SYSTEM LEARNING</a:t>
              </a:r>
            </a:p>
          </p:txBody>
        </p:sp>
        <p:sp>
          <p:nvSpPr>
            <p:cNvPr id="4" name="TextBox 4"/>
            <p:cNvSpPr txBox="1"/>
            <p:nvPr/>
          </p:nvSpPr>
          <p:spPr>
            <a:xfrm>
              <a:off x="669798" y="1355408"/>
              <a:ext cx="5754919"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From Knowledge to Wisdom</a:t>
              </a:r>
            </a:p>
          </p:txBody>
        </p:sp>
        <p:sp>
          <p:nvSpPr>
            <p:cNvPr id="5" name="TextBox 5"/>
            <p:cNvSpPr txBox="1"/>
            <p:nvPr/>
          </p:nvSpPr>
          <p:spPr>
            <a:xfrm>
              <a:off x="676656" y="1920240"/>
              <a:ext cx="5990638" cy="352044"/>
            </a:xfrm>
            <a:prstGeom prst="rect">
              <a:avLst/>
            </a:prstGeom>
            <a:noFill/>
            <a:ln>
              <a:noFill/>
            </a:ln>
          </p:spPr>
          <p:txBody>
            <a:bodyPr wrap="none" lIns="0" tIns="0" rIns="0" bIns="0" anchor="t" anchorCtr="0">
              <a:spAutoFit/>
            </a:bodyPr>
            <a:lstStyle/>
            <a:p>
              <a:pPr algn="l"/>
              <a:r>
                <a:rPr lang="en-US" sz="1800" dirty="0">
                  <a:solidFill>
                    <a:srgbClr val="B7D8D8"/>
                  </a:solidFill>
                  <a:latin typeface="+mn-lt"/>
                  <a:ea typeface="+mn-ea"/>
                  <a:cs typeface="+mn-cs"/>
                </a:rPr>
                <a:t>Nine skills. Explicit contracts. Durable artifacts.</a:t>
              </a:r>
            </a:p>
          </p:txBody>
        </p:sp>
      </p:grpSp>
      <p:grpSp>
        <p:nvGrpSpPr>
          <p:cNvPr id="39" name="Group 39"/>
          <p:cNvGrpSpPr/>
          <p:nvPr/>
        </p:nvGrpSpPr>
        <p:grpSpPr>
          <a:xfrm>
            <a:off x="3048000" y="2686050"/>
            <a:ext cx="7067550" cy="2933700"/>
            <a:chOff x="3048000" y="2686050"/>
            <a:chExt cx="7067550" cy="2933700"/>
          </a:xfrm>
        </p:grpSpPr>
        <p:sp>
          <p:nvSpPr>
            <p:cNvPr id="7" name="Line 7"/>
            <p:cNvSpPr/>
            <p:nvPr/>
          </p:nvSpPr>
          <p:spPr>
            <a:xfrm>
              <a:off x="6096000" y="3009900"/>
              <a:ext cx="9525" cy="1085850"/>
            </a:xfrm>
            <a:custGeom>
              <a:avLst/>
              <a:gdLst/>
              <a:ahLst/>
              <a:cxnLst/>
              <a:rect l="l" t="t" r="r" b="b"/>
              <a:pathLst>
                <a:path w="9525" h="1085850">
                  <a:moveTo>
                    <a:pt x="0" y="1085850"/>
                  </a:moveTo>
                  <a:lnTo>
                    <a:pt x="0" y="0"/>
                  </a:lnTo>
                </a:path>
              </a:pathLst>
            </a:custGeom>
            <a:noFill/>
            <a:ln w="28575">
              <a:solidFill>
                <a:schemeClr val="accent3"/>
              </a:solidFill>
            </a:ln>
          </p:spPr>
        </p:sp>
        <p:sp>
          <p:nvSpPr>
            <p:cNvPr id="8" name="Line 8"/>
            <p:cNvSpPr/>
            <p:nvPr/>
          </p:nvSpPr>
          <p:spPr>
            <a:xfrm>
              <a:off x="6096000" y="3295650"/>
              <a:ext cx="1714500" cy="800100"/>
            </a:xfrm>
            <a:custGeom>
              <a:avLst/>
              <a:gdLst/>
              <a:ahLst/>
              <a:cxnLst/>
              <a:rect l="l" t="t" r="r" b="b"/>
              <a:pathLst>
                <a:path w="1714500" h="800100">
                  <a:moveTo>
                    <a:pt x="0" y="800100"/>
                  </a:moveTo>
                  <a:lnTo>
                    <a:pt x="1714500" y="0"/>
                  </a:lnTo>
                </a:path>
              </a:pathLst>
            </a:custGeom>
            <a:noFill/>
            <a:ln w="28575">
              <a:solidFill>
                <a:schemeClr val="accent3"/>
              </a:solidFill>
            </a:ln>
          </p:spPr>
        </p:sp>
        <p:sp>
          <p:nvSpPr>
            <p:cNvPr id="9" name="Line 9"/>
            <p:cNvSpPr/>
            <p:nvPr/>
          </p:nvSpPr>
          <p:spPr>
            <a:xfrm>
              <a:off x="6096000" y="4095750"/>
              <a:ext cx="2457450" cy="19050"/>
            </a:xfrm>
            <a:custGeom>
              <a:avLst/>
              <a:gdLst/>
              <a:ahLst/>
              <a:cxnLst/>
              <a:rect l="l" t="t" r="r" b="b"/>
              <a:pathLst>
                <a:path w="2457450" h="19050">
                  <a:moveTo>
                    <a:pt x="0" y="0"/>
                  </a:moveTo>
                  <a:lnTo>
                    <a:pt x="2457450" y="19050"/>
                  </a:lnTo>
                </a:path>
              </a:pathLst>
            </a:custGeom>
            <a:noFill/>
            <a:ln w="28575">
              <a:solidFill>
                <a:schemeClr val="accent3"/>
              </a:solidFill>
            </a:ln>
          </p:spPr>
        </p:sp>
        <p:sp>
          <p:nvSpPr>
            <p:cNvPr id="10" name="Line 10"/>
            <p:cNvSpPr/>
            <p:nvPr/>
          </p:nvSpPr>
          <p:spPr>
            <a:xfrm>
              <a:off x="6096000" y="4095750"/>
              <a:ext cx="1714500" cy="895350"/>
            </a:xfrm>
            <a:custGeom>
              <a:avLst/>
              <a:gdLst/>
              <a:ahLst/>
              <a:cxnLst/>
              <a:rect l="l" t="t" r="r" b="b"/>
              <a:pathLst>
                <a:path w="1714500" h="895350">
                  <a:moveTo>
                    <a:pt x="0" y="0"/>
                  </a:moveTo>
                  <a:lnTo>
                    <a:pt x="1714500" y="895350"/>
                  </a:lnTo>
                </a:path>
              </a:pathLst>
            </a:custGeom>
            <a:noFill/>
            <a:ln w="28575">
              <a:solidFill>
                <a:schemeClr val="accent3"/>
              </a:solidFill>
            </a:ln>
          </p:spPr>
        </p:sp>
        <p:sp>
          <p:nvSpPr>
            <p:cNvPr id="11" name="Line 11"/>
            <p:cNvSpPr/>
            <p:nvPr/>
          </p:nvSpPr>
          <p:spPr>
            <a:xfrm>
              <a:off x="6096000" y="4095750"/>
              <a:ext cx="9525" cy="1257300"/>
            </a:xfrm>
            <a:custGeom>
              <a:avLst/>
              <a:gdLst/>
              <a:ahLst/>
              <a:cxnLst/>
              <a:rect l="l" t="t" r="r" b="b"/>
              <a:pathLst>
                <a:path w="9525" h="1257300">
                  <a:moveTo>
                    <a:pt x="0" y="0"/>
                  </a:moveTo>
                  <a:lnTo>
                    <a:pt x="0" y="1257300"/>
                  </a:lnTo>
                </a:path>
              </a:pathLst>
            </a:custGeom>
            <a:noFill/>
            <a:ln w="28575">
              <a:solidFill>
                <a:schemeClr val="accent3"/>
              </a:solidFill>
            </a:ln>
          </p:spPr>
        </p:sp>
        <p:sp>
          <p:nvSpPr>
            <p:cNvPr id="12" name="Line 12"/>
            <p:cNvSpPr/>
            <p:nvPr/>
          </p:nvSpPr>
          <p:spPr>
            <a:xfrm>
              <a:off x="4381500" y="4095750"/>
              <a:ext cx="1714500" cy="895350"/>
            </a:xfrm>
            <a:custGeom>
              <a:avLst/>
              <a:gdLst/>
              <a:ahLst/>
              <a:cxnLst/>
              <a:rect l="l" t="t" r="r" b="b"/>
              <a:pathLst>
                <a:path w="1714500" h="895350">
                  <a:moveTo>
                    <a:pt x="1714500" y="0"/>
                  </a:moveTo>
                  <a:lnTo>
                    <a:pt x="0" y="895350"/>
                  </a:lnTo>
                </a:path>
              </a:pathLst>
            </a:custGeom>
            <a:noFill/>
            <a:ln w="28575">
              <a:solidFill>
                <a:schemeClr val="accent3"/>
              </a:solidFill>
            </a:ln>
          </p:spPr>
        </p:sp>
        <p:sp>
          <p:nvSpPr>
            <p:cNvPr id="13" name="Line 13"/>
            <p:cNvSpPr/>
            <p:nvPr/>
          </p:nvSpPr>
          <p:spPr>
            <a:xfrm>
              <a:off x="3638550" y="4095750"/>
              <a:ext cx="2457450" cy="19050"/>
            </a:xfrm>
            <a:custGeom>
              <a:avLst/>
              <a:gdLst/>
              <a:ahLst/>
              <a:cxnLst/>
              <a:rect l="l" t="t" r="r" b="b"/>
              <a:pathLst>
                <a:path w="2457450" h="19050">
                  <a:moveTo>
                    <a:pt x="2457450" y="0"/>
                  </a:moveTo>
                  <a:lnTo>
                    <a:pt x="0" y="19050"/>
                  </a:lnTo>
                </a:path>
              </a:pathLst>
            </a:custGeom>
            <a:noFill/>
            <a:ln w="28575">
              <a:solidFill>
                <a:schemeClr val="accent3"/>
              </a:solidFill>
            </a:ln>
          </p:spPr>
        </p:sp>
        <p:sp>
          <p:nvSpPr>
            <p:cNvPr id="14" name="Line 14"/>
            <p:cNvSpPr/>
            <p:nvPr/>
          </p:nvSpPr>
          <p:spPr>
            <a:xfrm>
              <a:off x="4381500" y="3295650"/>
              <a:ext cx="1714500" cy="800100"/>
            </a:xfrm>
            <a:custGeom>
              <a:avLst/>
              <a:gdLst/>
              <a:ahLst/>
              <a:cxnLst/>
              <a:rect l="l" t="t" r="r" b="b"/>
              <a:pathLst>
                <a:path w="1714500" h="800100">
                  <a:moveTo>
                    <a:pt x="1714500" y="800100"/>
                  </a:moveTo>
                  <a:lnTo>
                    <a:pt x="0" y="0"/>
                  </a:lnTo>
                </a:path>
              </a:pathLst>
            </a:custGeom>
            <a:noFill/>
            <a:ln w="28575">
              <a:solidFill>
                <a:schemeClr val="accent3"/>
              </a:solidFill>
            </a:ln>
          </p:spPr>
        </p:sp>
        <p:sp>
          <p:nvSpPr>
            <p:cNvPr id="15" name="Line 15"/>
            <p:cNvSpPr/>
            <p:nvPr/>
          </p:nvSpPr>
          <p:spPr>
            <a:xfrm>
              <a:off x="6096000" y="4095750"/>
              <a:ext cx="3429000" cy="1123950"/>
            </a:xfrm>
            <a:custGeom>
              <a:avLst/>
              <a:gdLst/>
              <a:ahLst/>
              <a:cxnLst/>
              <a:rect l="l" t="t" r="r" b="b"/>
              <a:pathLst>
                <a:path w="3429000" h="1123950">
                  <a:moveTo>
                    <a:pt x="0" y="0"/>
                  </a:moveTo>
                  <a:lnTo>
                    <a:pt x="3429000" y="1123950"/>
                  </a:lnTo>
                </a:path>
              </a:pathLst>
            </a:custGeom>
            <a:noFill/>
            <a:ln w="19050">
              <a:solidFill>
                <a:schemeClr val="accent3"/>
              </a:solidFill>
              <a:custDash>
                <a:ds d="450000" sp="350000"/>
              </a:custDash>
            </a:ln>
          </p:spPr>
        </p:sp>
        <p:sp>
          <p:nvSpPr>
            <p:cNvPr id="16" name="Rectangle 16"/>
            <p:cNvSpPr/>
            <p:nvPr/>
          </p:nvSpPr>
          <p:spPr>
            <a:xfrm>
              <a:off x="5219700" y="3638550"/>
              <a:ext cx="1752600" cy="914400"/>
            </a:xfrm>
            <a:prstGeom prst="roundRect">
              <a:avLst>
                <a:gd name="adj" fmla="val 8333"/>
              </a:avLst>
            </a:prstGeom>
            <a:solidFill>
              <a:schemeClr val="lt1"/>
            </a:solidFill>
            <a:ln w="28575">
              <a:solidFill>
                <a:schemeClr val="accent2"/>
              </a:solidFill>
            </a:ln>
          </p:spPr>
        </p:sp>
        <p:sp>
          <p:nvSpPr>
            <p:cNvPr id="17" name="TextBox 17"/>
            <p:cNvSpPr txBox="1"/>
            <p:nvPr/>
          </p:nvSpPr>
          <p:spPr>
            <a:xfrm>
              <a:off x="5761330" y="3851910"/>
              <a:ext cx="669341"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ascadia Mono"/>
                  <a:ea typeface="Cascadia Mono"/>
                  <a:cs typeface="Cascadia Mono"/>
                </a:rPr>
                <a:t>DURABLE</a:t>
              </a:r>
            </a:p>
          </p:txBody>
        </p:sp>
        <p:sp>
          <p:nvSpPr>
            <p:cNvPr id="18" name="TextBox 18"/>
            <p:cNvSpPr txBox="1"/>
            <p:nvPr/>
          </p:nvSpPr>
          <p:spPr>
            <a:xfrm>
              <a:off x="5529026" y="4072890"/>
              <a:ext cx="1133947"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j-lt"/>
                  <a:ea typeface="+mj-ea"/>
                  <a:cs typeface="+mj-cs"/>
                </a:rPr>
                <a:t>ARTIFACT</a:t>
              </a:r>
            </a:p>
          </p:txBody>
        </p:sp>
        <p:grpSp>
          <p:nvGrpSpPr>
            <p:cNvPr id="28" name="Group 28"/>
            <p:cNvGrpSpPr/>
            <p:nvPr/>
          </p:nvGrpSpPr>
          <p:grpSpPr>
            <a:xfrm>
              <a:off x="3048000" y="2686050"/>
              <a:ext cx="7067550" cy="2933700"/>
              <a:chOff x="3048000" y="2686050"/>
              <a:chExt cx="7067550" cy="2933700"/>
            </a:xfrm>
          </p:grpSpPr>
          <p:sp>
            <p:nvSpPr>
              <p:cNvPr id="19" name="Rectangle 19"/>
              <p:cNvSpPr/>
              <p:nvPr/>
            </p:nvSpPr>
            <p:spPr>
              <a:xfrm>
                <a:off x="5505450" y="2686050"/>
                <a:ext cx="1181100" cy="533400"/>
              </a:xfrm>
              <a:prstGeom prst="roundRect">
                <a:avLst>
                  <a:gd name="adj" fmla="val 10714"/>
                </a:avLst>
              </a:prstGeom>
              <a:solidFill>
                <a:schemeClr val="accent1"/>
              </a:solidFill>
              <a:ln w="19050">
                <a:solidFill>
                  <a:srgbClr val="A8D4D5"/>
                </a:solidFill>
              </a:ln>
            </p:spPr>
          </p:sp>
          <p:sp>
            <p:nvSpPr>
              <p:cNvPr id="20" name="Rectangle 20"/>
              <p:cNvSpPr/>
              <p:nvPr/>
            </p:nvSpPr>
            <p:spPr>
              <a:xfrm>
                <a:off x="7219950" y="3028950"/>
                <a:ext cx="1181100" cy="533400"/>
              </a:xfrm>
              <a:prstGeom prst="roundRect">
                <a:avLst>
                  <a:gd name="adj" fmla="val 10714"/>
                </a:avLst>
              </a:prstGeom>
              <a:solidFill>
                <a:schemeClr val="accent1"/>
              </a:solidFill>
              <a:ln w="19050">
                <a:solidFill>
                  <a:srgbClr val="A8D4D5"/>
                </a:solidFill>
              </a:ln>
            </p:spPr>
          </p:sp>
          <p:sp>
            <p:nvSpPr>
              <p:cNvPr id="21" name="Rectangle 21"/>
              <p:cNvSpPr/>
              <p:nvPr/>
            </p:nvSpPr>
            <p:spPr>
              <a:xfrm>
                <a:off x="7962900" y="3848100"/>
                <a:ext cx="1181100" cy="533400"/>
              </a:xfrm>
              <a:prstGeom prst="roundRect">
                <a:avLst>
                  <a:gd name="adj" fmla="val 10714"/>
                </a:avLst>
              </a:prstGeom>
              <a:solidFill>
                <a:schemeClr val="accent1"/>
              </a:solidFill>
              <a:ln w="19050">
                <a:solidFill>
                  <a:srgbClr val="A8D4D5"/>
                </a:solidFill>
              </a:ln>
            </p:spPr>
          </p:sp>
          <p:sp>
            <p:nvSpPr>
              <p:cNvPr id="22" name="Rectangle 22"/>
              <p:cNvSpPr/>
              <p:nvPr/>
            </p:nvSpPr>
            <p:spPr>
              <a:xfrm>
                <a:off x="7219950" y="4724400"/>
                <a:ext cx="1181100" cy="533400"/>
              </a:xfrm>
              <a:prstGeom prst="roundRect">
                <a:avLst>
                  <a:gd name="adj" fmla="val 10714"/>
                </a:avLst>
              </a:prstGeom>
              <a:solidFill>
                <a:schemeClr val="accent1"/>
              </a:solidFill>
              <a:ln w="19050">
                <a:solidFill>
                  <a:srgbClr val="A8D4D5"/>
                </a:solidFill>
              </a:ln>
            </p:spPr>
          </p:sp>
          <p:sp>
            <p:nvSpPr>
              <p:cNvPr id="23" name="Rectangle 23"/>
              <p:cNvSpPr/>
              <p:nvPr/>
            </p:nvSpPr>
            <p:spPr>
              <a:xfrm>
                <a:off x="5505450" y="5086350"/>
                <a:ext cx="1181100" cy="533400"/>
              </a:xfrm>
              <a:prstGeom prst="roundRect">
                <a:avLst>
                  <a:gd name="adj" fmla="val 10714"/>
                </a:avLst>
              </a:prstGeom>
              <a:solidFill>
                <a:schemeClr val="accent1"/>
              </a:solidFill>
              <a:ln w="19050">
                <a:solidFill>
                  <a:srgbClr val="A8D4D5"/>
                </a:solidFill>
              </a:ln>
            </p:spPr>
          </p:sp>
          <p:sp>
            <p:nvSpPr>
              <p:cNvPr id="24" name="Rectangle 24"/>
              <p:cNvSpPr/>
              <p:nvPr/>
            </p:nvSpPr>
            <p:spPr>
              <a:xfrm>
                <a:off x="3790950" y="4724400"/>
                <a:ext cx="1181100" cy="533400"/>
              </a:xfrm>
              <a:prstGeom prst="roundRect">
                <a:avLst>
                  <a:gd name="adj" fmla="val 10714"/>
                </a:avLst>
              </a:prstGeom>
              <a:solidFill>
                <a:schemeClr val="accent1"/>
              </a:solidFill>
              <a:ln w="19050">
                <a:solidFill>
                  <a:srgbClr val="A8D4D5"/>
                </a:solidFill>
              </a:ln>
            </p:spPr>
          </p:sp>
          <p:sp>
            <p:nvSpPr>
              <p:cNvPr id="25" name="Rectangle 25"/>
              <p:cNvSpPr/>
              <p:nvPr/>
            </p:nvSpPr>
            <p:spPr>
              <a:xfrm>
                <a:off x="3048000" y="3848100"/>
                <a:ext cx="1181100" cy="533400"/>
              </a:xfrm>
              <a:prstGeom prst="roundRect">
                <a:avLst>
                  <a:gd name="adj" fmla="val 10714"/>
                </a:avLst>
              </a:prstGeom>
              <a:solidFill>
                <a:schemeClr val="accent1"/>
              </a:solidFill>
              <a:ln w="19050">
                <a:solidFill>
                  <a:srgbClr val="A8D4D5"/>
                </a:solidFill>
              </a:ln>
            </p:spPr>
          </p:sp>
          <p:sp>
            <p:nvSpPr>
              <p:cNvPr id="26" name="Rectangle 26"/>
              <p:cNvSpPr/>
              <p:nvPr/>
            </p:nvSpPr>
            <p:spPr>
              <a:xfrm>
                <a:off x="3790950" y="3028950"/>
                <a:ext cx="1181100" cy="533400"/>
              </a:xfrm>
              <a:prstGeom prst="roundRect">
                <a:avLst>
                  <a:gd name="adj" fmla="val 10714"/>
                </a:avLst>
              </a:prstGeom>
              <a:solidFill>
                <a:schemeClr val="accent1"/>
              </a:solidFill>
              <a:ln w="19050">
                <a:solidFill>
                  <a:srgbClr val="A8D4D5"/>
                </a:solidFill>
              </a:ln>
            </p:spPr>
          </p:sp>
          <p:sp>
            <p:nvSpPr>
              <p:cNvPr id="27" name="Rectangle 27"/>
              <p:cNvSpPr/>
              <p:nvPr/>
            </p:nvSpPr>
            <p:spPr>
              <a:xfrm>
                <a:off x="8934450" y="4953000"/>
                <a:ext cx="1181100" cy="533400"/>
              </a:xfrm>
              <a:prstGeom prst="roundRect">
                <a:avLst>
                  <a:gd name="adj" fmla="val 10714"/>
                </a:avLst>
              </a:prstGeom>
              <a:solidFill>
                <a:schemeClr val="accent1"/>
              </a:solidFill>
              <a:ln w="19050">
                <a:solidFill>
                  <a:srgbClr val="A8D4D5"/>
                </a:solidFill>
              </a:ln>
            </p:spPr>
          </p:sp>
        </p:grpSp>
        <p:grpSp>
          <p:nvGrpSpPr>
            <p:cNvPr id="38" name="Group 38"/>
            <p:cNvGrpSpPr/>
            <p:nvPr/>
          </p:nvGrpSpPr>
          <p:grpSpPr>
            <a:xfrm>
              <a:off x="3133655" y="2873692"/>
              <a:ext cx="6750875" cy="2664333"/>
              <a:chOff x="3133655" y="2873692"/>
              <a:chExt cx="6750875" cy="2664333"/>
            </a:xfrm>
          </p:grpSpPr>
          <p:sp>
            <p:nvSpPr>
              <p:cNvPr id="29" name="TextBox 29"/>
              <p:cNvSpPr txBox="1"/>
              <p:nvPr/>
            </p:nvSpPr>
            <p:spPr>
              <a:xfrm>
                <a:off x="5836425" y="2873692"/>
                <a:ext cx="519151"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Learn</a:t>
                </a:r>
              </a:p>
            </p:txBody>
          </p:sp>
          <p:sp>
            <p:nvSpPr>
              <p:cNvPr id="30" name="TextBox 30"/>
              <p:cNvSpPr txBox="1"/>
              <p:nvPr/>
            </p:nvSpPr>
            <p:spPr>
              <a:xfrm>
                <a:off x="7605510" y="3216592"/>
                <a:ext cx="409980"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Quiz</a:t>
                </a:r>
              </a:p>
            </p:txBody>
          </p:sp>
          <p:sp>
            <p:nvSpPr>
              <p:cNvPr id="31" name="TextBox 31"/>
              <p:cNvSpPr txBox="1"/>
              <p:nvPr/>
            </p:nvSpPr>
            <p:spPr>
              <a:xfrm>
                <a:off x="8166820" y="4035742"/>
                <a:ext cx="773261"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Practice</a:t>
                </a:r>
              </a:p>
            </p:txBody>
          </p:sp>
          <p:sp>
            <p:nvSpPr>
              <p:cNvPr id="32" name="TextBox 32"/>
              <p:cNvSpPr txBox="1"/>
              <p:nvPr/>
            </p:nvSpPr>
            <p:spPr>
              <a:xfrm>
                <a:off x="7555520" y="4912042"/>
                <a:ext cx="509961"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Model</a:t>
                </a:r>
              </a:p>
            </p:txBody>
          </p:sp>
          <p:sp>
            <p:nvSpPr>
              <p:cNvPr id="33" name="TextBox 33"/>
              <p:cNvSpPr txBox="1"/>
              <p:nvPr/>
            </p:nvSpPr>
            <p:spPr>
              <a:xfrm>
                <a:off x="5909441" y="5273992"/>
                <a:ext cx="373118"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Idea</a:t>
                </a:r>
              </a:p>
            </p:txBody>
          </p:sp>
          <p:sp>
            <p:nvSpPr>
              <p:cNvPr id="34" name="TextBox 34"/>
              <p:cNvSpPr txBox="1"/>
              <p:nvPr/>
            </p:nvSpPr>
            <p:spPr>
              <a:xfrm>
                <a:off x="4103545" y="4912042"/>
                <a:ext cx="555909"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Dream</a:t>
                </a:r>
              </a:p>
            </p:txBody>
          </p:sp>
          <p:sp>
            <p:nvSpPr>
              <p:cNvPr id="35" name="TextBox 35"/>
              <p:cNvSpPr txBox="1"/>
              <p:nvPr/>
            </p:nvSpPr>
            <p:spPr>
              <a:xfrm>
                <a:off x="3133655" y="4035742"/>
                <a:ext cx="1009789"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Brainstorm</a:t>
                </a:r>
              </a:p>
            </p:txBody>
          </p:sp>
          <p:sp>
            <p:nvSpPr>
              <p:cNvPr id="36" name="TextBox 36"/>
              <p:cNvSpPr txBox="1"/>
              <p:nvPr/>
            </p:nvSpPr>
            <p:spPr>
              <a:xfrm>
                <a:off x="4121925" y="3216592"/>
                <a:ext cx="519151"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Judge</a:t>
                </a:r>
              </a:p>
            </p:txBody>
          </p:sp>
          <p:sp>
            <p:nvSpPr>
              <p:cNvPr id="37" name="TextBox 37"/>
              <p:cNvSpPr txBox="1"/>
              <p:nvPr/>
            </p:nvSpPr>
            <p:spPr>
              <a:xfrm>
                <a:off x="9165469" y="5140642"/>
                <a:ext cx="719061" cy="264033"/>
              </a:xfrm>
              <a:prstGeom prst="rect">
                <a:avLst/>
              </a:prstGeom>
              <a:noFill/>
              <a:ln>
                <a:noFill/>
              </a:ln>
            </p:spPr>
            <p:txBody>
              <a:bodyPr wrap="none" lIns="0" tIns="0" rIns="0" bIns="0" anchor="t" anchorCtr="0">
                <a:spAutoFit/>
              </a:bodyPr>
              <a:lstStyle/>
              <a:p>
                <a:pPr algn="ctr"/>
                <a:r>
                  <a:rPr lang="en-US" sz="1350" dirty="0">
                    <a:solidFill>
                      <a:srgbClr val="F4F1E8"/>
                    </a:solidFill>
                    <a:latin typeface="+mn-lt"/>
                    <a:ea typeface="+mn-ea"/>
                    <a:cs typeface="+mn-cs"/>
                  </a:rPr>
                  <a:t>Present</a:t>
                </a:r>
              </a:p>
            </p:txBody>
          </p:sp>
        </p:grpSp>
      </p:grpSp>
      <p:grpSp>
        <p:nvGrpSpPr>
          <p:cNvPr id="42" name="Group 42"/>
          <p:cNvGrpSpPr/>
          <p:nvPr/>
        </p:nvGrpSpPr>
        <p:grpSpPr>
          <a:xfrm>
            <a:off x="679704" y="6271260"/>
            <a:ext cx="10832592" cy="234696"/>
            <a:chOff x="679704" y="6271260"/>
            <a:chExt cx="10832592" cy="234696"/>
          </a:xfrm>
        </p:grpSpPr>
        <p:sp>
          <p:nvSpPr>
            <p:cNvPr id="40" name="TextBox 40"/>
            <p:cNvSpPr txBox="1"/>
            <p:nvPr/>
          </p:nvSpPr>
          <p:spPr>
            <a:xfrm>
              <a:off x="679704" y="6271260"/>
              <a:ext cx="3146146"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ascadia Mono"/>
                  <a:ea typeface="Cascadia Mono"/>
                  <a:cs typeface="Cascadia Mono"/>
                </a:rPr>
                <a:t>docs/tianshu · governed artifact graph</a:t>
              </a:r>
            </a:p>
          </p:txBody>
        </p:sp>
        <p:sp>
          <p:nvSpPr>
            <p:cNvPr id="41" name="TextBox 41"/>
            <p:cNvSpPr txBox="1"/>
            <p:nvPr/>
          </p:nvSpPr>
          <p:spPr>
            <a:xfrm>
              <a:off x="11322406" y="62712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ascadia Mono"/>
                  <a:ea typeface="Cascadia Mono"/>
                  <a:cs typeface="Cascadia Mono"/>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654368"/>
            <a:ext cx="10349550" cy="884872"/>
            <a:chOff x="594360" y="654368"/>
            <a:chExt cx="10349550" cy="884872"/>
          </a:xfrm>
        </p:grpSpPr>
        <p:sp>
          <p:nvSpPr>
            <p:cNvPr id="2" name="TextBox 2"/>
            <p:cNvSpPr txBox="1"/>
            <p:nvPr/>
          </p:nvSpPr>
          <p:spPr>
            <a:xfrm>
              <a:off x="602742" y="654368"/>
              <a:ext cx="1741932"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01 / DURABLE WORK</a:t>
              </a:r>
            </a:p>
          </p:txBody>
        </p:sp>
        <p:sp>
          <p:nvSpPr>
            <p:cNvPr id="3" name="TextBox 3"/>
            <p:cNvSpPr txBox="1"/>
            <p:nvPr/>
          </p:nvSpPr>
          <p:spPr>
            <a:xfrm>
              <a:off x="594360" y="952500"/>
              <a:ext cx="10349550"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Chat is a conversation; artifacts are the memory</a:t>
              </a:r>
            </a:p>
          </p:txBody>
        </p:sp>
      </p:grpSp>
      <p:grpSp>
        <p:nvGrpSpPr>
          <p:cNvPr id="22" name="Group 22"/>
          <p:cNvGrpSpPr/>
          <p:nvPr/>
        </p:nvGrpSpPr>
        <p:grpSpPr>
          <a:xfrm>
            <a:off x="800100" y="1638300"/>
            <a:ext cx="11122603" cy="3667506"/>
            <a:chOff x="800100" y="1638300"/>
            <a:chExt cx="11122603" cy="3667506"/>
          </a:xfrm>
        </p:grpSpPr>
        <p:sp>
          <p:nvSpPr>
            <p:cNvPr id="5" name="Line 5"/>
            <p:cNvSpPr/>
            <p:nvPr/>
          </p:nvSpPr>
          <p:spPr>
            <a:xfrm>
              <a:off x="2381250" y="4857750"/>
              <a:ext cx="7524750" cy="1"/>
            </a:xfrm>
            <a:prstGeom prst="line">
              <a:avLst/>
            </a:prstGeom>
            <a:noFill/>
            <a:ln w="38100">
              <a:solidFill>
                <a:schemeClr val="accent3"/>
              </a:solidFill>
              <a:tailEnd type="triangle" w="lg" len="lg"/>
            </a:ln>
          </p:spPr>
        </p:sp>
        <p:sp>
          <p:nvSpPr>
            <p:cNvPr id="6" name="TextBox 6"/>
            <p:cNvSpPr txBox="1"/>
            <p:nvPr/>
          </p:nvSpPr>
          <p:spPr>
            <a:xfrm>
              <a:off x="8005267" y="5071110"/>
              <a:ext cx="1906829" cy="234696"/>
            </a:xfrm>
            <a:prstGeom prst="rect">
              <a:avLst/>
            </a:prstGeom>
            <a:noFill/>
            <a:ln>
              <a:noFill/>
            </a:ln>
          </p:spPr>
          <p:txBody>
            <a:bodyPr wrap="none" lIns="0" tIns="0" rIns="0" bIns="0" anchor="t" anchorCtr="0">
              <a:spAutoFit/>
            </a:bodyPr>
            <a:lstStyle/>
            <a:p>
              <a:pPr algn="r"/>
              <a:r>
                <a:rPr lang="en-US" sz="1200" dirty="0">
                  <a:solidFill>
                    <a:schemeClr val="accent3"/>
                  </a:solidFill>
                  <a:latin typeface="Consolas"/>
                  <a:ea typeface="Consolas"/>
                  <a:cs typeface="Consolas"/>
                </a:rPr>
                <a:t>INCREASING PERSISTENCE</a:t>
              </a:r>
            </a:p>
          </p:txBody>
        </p:sp>
        <p:grpSp>
          <p:nvGrpSpPr>
            <p:cNvPr id="11" name="Group 11"/>
            <p:cNvGrpSpPr/>
            <p:nvPr/>
          </p:nvGrpSpPr>
          <p:grpSpPr>
            <a:xfrm>
              <a:off x="800100" y="2095500"/>
              <a:ext cx="3048000" cy="2381250"/>
              <a:chOff x="800100" y="2095500"/>
              <a:chExt cx="3048000" cy="2381250"/>
            </a:xfrm>
          </p:grpSpPr>
          <p:sp>
            <p:nvSpPr>
              <p:cNvPr id="7" name="Rectangle 7"/>
              <p:cNvSpPr/>
              <p:nvPr/>
            </p:nvSpPr>
            <p:spPr>
              <a:xfrm>
                <a:off x="800100" y="2095500"/>
                <a:ext cx="3048000" cy="2381250"/>
              </a:xfrm>
              <a:prstGeom prst="roundRect">
                <a:avLst>
                  <a:gd name="adj" fmla="val 3200"/>
                </a:avLst>
              </a:prstGeom>
              <a:solidFill>
                <a:schemeClr val="lt2"/>
              </a:solidFill>
              <a:ln w="19050">
                <a:solidFill>
                  <a:srgbClr val="8EA0A6"/>
                </a:solidFill>
              </a:ln>
            </p:spPr>
          </p:sp>
          <p:sp>
            <p:nvSpPr>
              <p:cNvPr id="8" name="TextBox 8"/>
              <p:cNvSpPr txBox="1"/>
              <p:nvPr/>
            </p:nvSpPr>
            <p:spPr>
              <a:xfrm>
                <a:off x="1054608" y="2293620"/>
                <a:ext cx="812963"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CHAT</a:t>
                </a:r>
              </a:p>
            </p:txBody>
          </p:sp>
          <p:sp>
            <p:nvSpPr>
              <p:cNvPr id="9" name="TextBox 9"/>
              <p:cNvSpPr txBox="1"/>
              <p:nvPr/>
            </p:nvSpPr>
            <p:spPr>
              <a:xfrm>
                <a:off x="1057656" y="2834640"/>
                <a:ext cx="2315799" cy="352044"/>
              </a:xfrm>
              <a:prstGeom prst="rect">
                <a:avLst/>
              </a:prstGeom>
              <a:noFill/>
              <a:ln>
                <a:noFill/>
              </a:ln>
            </p:spPr>
            <p:txBody>
              <a:bodyPr wrap="none" lIns="0" tIns="0" rIns="0" bIns="0" anchor="t" anchorCtr="0">
                <a:spAutoFit/>
              </a:bodyPr>
              <a:lstStyle/>
              <a:p>
                <a:pPr algn="l"/>
                <a:r>
                  <a:rPr lang="en-US" sz="1800" dirty="0">
                    <a:solidFill>
                      <a:srgbClr val="49616C"/>
                    </a:solidFill>
                    <a:latin typeface="+mn-lt"/>
                    <a:ea typeface="+mn-ea"/>
                    <a:cs typeface="+mn-cs"/>
                  </a:rPr>
                  <a:t>Explains and steers</a:t>
                </a:r>
              </a:p>
            </p:txBody>
          </p:sp>
          <p:sp>
            <p:nvSpPr>
              <p:cNvPr id="10" name="TextBox 10"/>
              <p:cNvSpPr txBox="1"/>
              <p:nvPr/>
            </p:nvSpPr>
            <p:spPr>
              <a:xfrm>
                <a:off x="1059942" y="3454718"/>
                <a:ext cx="1622088"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transient context</a:t>
                </a:r>
              </a:p>
            </p:txBody>
          </p:sp>
        </p:grpSp>
        <p:grpSp>
          <p:nvGrpSpPr>
            <p:cNvPr id="16" name="Group 16"/>
            <p:cNvGrpSpPr/>
            <p:nvPr/>
          </p:nvGrpSpPr>
          <p:grpSpPr>
            <a:xfrm>
              <a:off x="4572000" y="1866900"/>
              <a:ext cx="3048000" cy="2609850"/>
              <a:chOff x="4572000" y="1866900"/>
              <a:chExt cx="3048000" cy="2609850"/>
            </a:xfrm>
          </p:grpSpPr>
          <p:sp>
            <p:nvSpPr>
              <p:cNvPr id="12" name="Rectangle 12"/>
              <p:cNvSpPr/>
              <p:nvPr/>
            </p:nvSpPr>
            <p:spPr>
              <a:xfrm>
                <a:off x="4572000" y="1866900"/>
                <a:ext cx="3048000" cy="2609850"/>
              </a:xfrm>
              <a:prstGeom prst="roundRect">
                <a:avLst>
                  <a:gd name="adj" fmla="val 2920"/>
                </a:avLst>
              </a:prstGeom>
              <a:solidFill>
                <a:srgbClr val="E8F0ED"/>
              </a:solidFill>
              <a:ln w="19050">
                <a:solidFill>
                  <a:schemeClr val="accent3"/>
                </a:solidFill>
              </a:ln>
            </p:spPr>
          </p:sp>
          <p:sp>
            <p:nvSpPr>
              <p:cNvPr id="13" name="TextBox 13"/>
              <p:cNvSpPr txBox="1"/>
              <p:nvPr/>
            </p:nvSpPr>
            <p:spPr>
              <a:xfrm>
                <a:off x="4826508" y="2103120"/>
                <a:ext cx="1207252" cy="469392"/>
              </a:xfrm>
              <a:prstGeom prst="rect">
                <a:avLst/>
              </a:prstGeom>
              <a:noFill/>
              <a:ln>
                <a:noFill/>
              </a:ln>
            </p:spPr>
            <p:txBody>
              <a:bodyPr wrap="none" lIns="0" tIns="0" rIns="0" bIns="0" anchor="t" anchorCtr="0">
                <a:spAutoFit/>
              </a:bodyPr>
              <a:lstStyle/>
              <a:p>
                <a:pPr algn="l"/>
                <a:r>
                  <a:rPr lang="en-US" sz="2400" b="1" dirty="0">
                    <a:solidFill>
                      <a:schemeClr val="dk1"/>
                    </a:solidFill>
                    <a:latin typeface="+mj-lt"/>
                    <a:ea typeface="+mj-ea"/>
                    <a:cs typeface="+mj-cs"/>
                  </a:rPr>
                  <a:t>CANVAS</a:t>
                </a:r>
              </a:p>
            </p:txBody>
          </p:sp>
          <p:sp>
            <p:nvSpPr>
              <p:cNvPr id="14" name="TextBox 14"/>
              <p:cNvSpPr txBox="1"/>
              <p:nvPr/>
            </p:nvSpPr>
            <p:spPr>
              <a:xfrm>
                <a:off x="4829556" y="2644140"/>
                <a:ext cx="2788136" cy="352044"/>
              </a:xfrm>
              <a:prstGeom prst="rect">
                <a:avLst/>
              </a:prstGeom>
              <a:noFill/>
              <a:ln>
                <a:noFill/>
              </a:ln>
            </p:spPr>
            <p:txBody>
              <a:bodyPr wrap="none" lIns="0" tIns="0" rIns="0" bIns="0" anchor="t" anchorCtr="0">
                <a:spAutoFit/>
              </a:bodyPr>
              <a:lstStyle/>
              <a:p>
                <a:pPr algn="l"/>
                <a:r>
                  <a:rPr lang="en-US" sz="1800" dirty="0">
                    <a:solidFill>
                      <a:srgbClr val="49616C"/>
                    </a:solidFill>
                    <a:latin typeface="+mn-lt"/>
                    <a:ea typeface="+mn-ea"/>
                    <a:cs typeface="+mn-cs"/>
                  </a:rPr>
                  <a:t>Holds interactive state</a:t>
                </a:r>
              </a:p>
            </p:txBody>
          </p:sp>
          <p:sp>
            <p:nvSpPr>
              <p:cNvPr id="15" name="TextBox 15"/>
              <p:cNvSpPr txBox="1"/>
              <p:nvPr/>
            </p:nvSpPr>
            <p:spPr>
              <a:xfrm>
                <a:off x="4831842" y="3283268"/>
                <a:ext cx="1576654"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inspectable draft</a:t>
                </a:r>
              </a:p>
            </p:txBody>
          </p:sp>
        </p:grpSp>
        <p:grpSp>
          <p:nvGrpSpPr>
            <p:cNvPr id="21" name="Group 21"/>
            <p:cNvGrpSpPr/>
            <p:nvPr/>
          </p:nvGrpSpPr>
          <p:grpSpPr>
            <a:xfrm>
              <a:off x="8343900" y="1638300"/>
              <a:ext cx="3578803" cy="2838450"/>
              <a:chOff x="8343900" y="1638300"/>
              <a:chExt cx="3578803" cy="2838450"/>
            </a:xfrm>
          </p:grpSpPr>
          <p:sp>
            <p:nvSpPr>
              <p:cNvPr id="17" name="Rectangle 17"/>
              <p:cNvSpPr/>
              <p:nvPr/>
            </p:nvSpPr>
            <p:spPr>
              <a:xfrm>
                <a:off x="8343900" y="1638300"/>
                <a:ext cx="3048000" cy="2838450"/>
              </a:xfrm>
              <a:prstGeom prst="roundRect">
                <a:avLst>
                  <a:gd name="adj" fmla="val 2685"/>
                </a:avLst>
              </a:prstGeom>
              <a:solidFill>
                <a:schemeClr val="accent1"/>
              </a:solidFill>
              <a:ln w="28575">
                <a:solidFill>
                  <a:schemeClr val="accent2"/>
                </a:solidFill>
              </a:ln>
            </p:spPr>
          </p:sp>
          <p:sp>
            <p:nvSpPr>
              <p:cNvPr id="18" name="TextBox 18"/>
              <p:cNvSpPr txBox="1"/>
              <p:nvPr/>
            </p:nvSpPr>
            <p:spPr>
              <a:xfrm>
                <a:off x="8598408" y="1893570"/>
                <a:ext cx="2049597" cy="469392"/>
              </a:xfrm>
              <a:prstGeom prst="rect">
                <a:avLst/>
              </a:prstGeom>
              <a:noFill/>
              <a:ln>
                <a:noFill/>
              </a:ln>
            </p:spPr>
            <p:txBody>
              <a:bodyPr wrap="none" lIns="0" tIns="0" rIns="0" bIns="0" anchor="t" anchorCtr="0">
                <a:spAutoFit/>
              </a:bodyPr>
              <a:lstStyle/>
              <a:p>
                <a:pPr algn="l"/>
                <a:r>
                  <a:rPr lang="en-US" sz="2400" b="1" dirty="0">
                    <a:solidFill>
                      <a:srgbClr val="F4F1E8"/>
                    </a:solidFill>
                    <a:latin typeface="+mj-lt"/>
                    <a:ea typeface="+mj-ea"/>
                    <a:cs typeface="+mj-cs"/>
                  </a:rPr>
                  <a:t>REPOSITORY</a:t>
                </a:r>
              </a:p>
            </p:txBody>
          </p:sp>
          <p:sp>
            <p:nvSpPr>
              <p:cNvPr id="19" name="TextBox 19"/>
              <p:cNvSpPr txBox="1"/>
              <p:nvPr/>
            </p:nvSpPr>
            <p:spPr>
              <a:xfrm>
                <a:off x="8601456" y="2434590"/>
                <a:ext cx="3321247" cy="352044"/>
              </a:xfrm>
              <a:prstGeom prst="rect">
                <a:avLst/>
              </a:prstGeom>
              <a:noFill/>
              <a:ln>
                <a:noFill/>
              </a:ln>
            </p:spPr>
            <p:txBody>
              <a:bodyPr wrap="none" lIns="0" tIns="0" rIns="0" bIns="0" anchor="t" anchorCtr="0">
                <a:spAutoFit/>
              </a:bodyPr>
              <a:lstStyle/>
              <a:p>
                <a:pPr algn="l"/>
                <a:r>
                  <a:rPr lang="en-US" sz="1800" dirty="0">
                    <a:solidFill>
                      <a:srgbClr val="C9E0E0"/>
                    </a:solidFill>
                    <a:latin typeface="+mn-lt"/>
                    <a:ea typeface="+mn-ea"/>
                    <a:cs typeface="+mn-cs"/>
                  </a:rPr>
                  <a:t>Preserves validated results</a:t>
                </a:r>
              </a:p>
            </p:txBody>
          </p:sp>
          <p:sp>
            <p:nvSpPr>
              <p:cNvPr id="20" name="TextBox 20"/>
              <p:cNvSpPr txBox="1"/>
              <p:nvPr/>
            </p:nvSpPr>
            <p:spPr>
              <a:xfrm>
                <a:off x="8603742" y="3073718"/>
                <a:ext cx="1745647"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Git-visible artifact</a:t>
                </a:r>
              </a:p>
            </p:txBody>
          </p:sp>
        </p:grpSp>
      </p:grpSp>
      <p:grpSp>
        <p:nvGrpSpPr>
          <p:cNvPr id="25" name="Group 25"/>
          <p:cNvGrpSpPr/>
          <p:nvPr/>
        </p:nvGrpSpPr>
        <p:grpSpPr>
          <a:xfrm>
            <a:off x="603504" y="6233160"/>
            <a:ext cx="10984992" cy="234696"/>
            <a:chOff x="603504" y="6233160"/>
            <a:chExt cx="10984992" cy="234696"/>
          </a:xfrm>
        </p:grpSpPr>
        <p:sp>
          <p:nvSpPr>
            <p:cNvPr id="23" name="TextBox 23"/>
            <p:cNvSpPr txBox="1"/>
            <p:nvPr/>
          </p:nvSpPr>
          <p:spPr>
            <a:xfrm>
              <a:off x="603504" y="6233160"/>
              <a:ext cx="1812950"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K-002 · K-003 · K-020</a:t>
              </a:r>
            </a:p>
          </p:txBody>
        </p:sp>
        <p:sp>
          <p:nvSpPr>
            <p:cNvPr id="24" name="TextBox 24"/>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02</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654368"/>
            <a:ext cx="9077595" cy="917067"/>
            <a:chOff x="593598" y="654368"/>
            <a:chExt cx="9077595" cy="917067"/>
          </a:xfrm>
        </p:grpSpPr>
        <p:sp>
          <p:nvSpPr>
            <p:cNvPr id="2" name="TextBox 2"/>
            <p:cNvSpPr txBox="1"/>
            <p:nvPr/>
          </p:nvSpPr>
          <p:spPr>
            <a:xfrm>
              <a:off x="602742" y="654368"/>
              <a:ext cx="1703527"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WORKBENCH MODEL</a:t>
              </a:r>
            </a:p>
          </p:txBody>
        </p:sp>
        <p:sp>
          <p:nvSpPr>
            <p:cNvPr id="3" name="TextBox 3"/>
            <p:cNvSpPr txBox="1"/>
            <p:nvPr/>
          </p:nvSpPr>
          <p:spPr>
            <a:xfrm>
              <a:off x="593598" y="955358"/>
              <a:ext cx="9077595"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A Copilot session is a governed workbench</a:t>
              </a:r>
            </a:p>
          </p:txBody>
        </p:sp>
      </p:grpSp>
      <p:grpSp>
        <p:nvGrpSpPr>
          <p:cNvPr id="23" name="Group 23"/>
          <p:cNvGrpSpPr/>
          <p:nvPr/>
        </p:nvGrpSpPr>
        <p:grpSpPr>
          <a:xfrm>
            <a:off x="666750" y="2781300"/>
            <a:ext cx="10858500" cy="1295400"/>
            <a:chOff x="666750" y="2781300"/>
            <a:chExt cx="10858500" cy="1295400"/>
          </a:xfrm>
        </p:grpSpPr>
        <p:sp>
          <p:nvSpPr>
            <p:cNvPr id="5" name="Line 5"/>
            <p:cNvSpPr/>
            <p:nvPr/>
          </p:nvSpPr>
          <p:spPr>
            <a:xfrm>
              <a:off x="1524000" y="3429000"/>
              <a:ext cx="9048750" cy="1"/>
            </a:xfrm>
            <a:prstGeom prst="line">
              <a:avLst/>
            </a:prstGeom>
            <a:noFill/>
            <a:ln w="38100">
              <a:solidFill>
                <a:schemeClr val="accent2"/>
              </a:solidFill>
              <a:tailEnd type="triangle" w="lg" len="lg"/>
            </a:ln>
          </p:spPr>
        </p:sp>
        <p:grpSp>
          <p:nvGrpSpPr>
            <p:cNvPr id="11" name="Group 11"/>
            <p:cNvGrpSpPr/>
            <p:nvPr/>
          </p:nvGrpSpPr>
          <p:grpSpPr>
            <a:xfrm>
              <a:off x="666750" y="2781300"/>
              <a:ext cx="10858500" cy="1295400"/>
              <a:chOff x="666750" y="2781300"/>
              <a:chExt cx="10858500" cy="1295400"/>
            </a:xfrm>
          </p:grpSpPr>
          <p:sp>
            <p:nvSpPr>
              <p:cNvPr id="6" name="Rectangle 6"/>
              <p:cNvSpPr/>
              <p:nvPr/>
            </p:nvSpPr>
            <p:spPr>
              <a:xfrm>
                <a:off x="666750" y="2781300"/>
                <a:ext cx="1809750" cy="1295400"/>
              </a:xfrm>
              <a:prstGeom prst="roundRect">
                <a:avLst>
                  <a:gd name="adj" fmla="val 5882"/>
                </a:avLst>
              </a:prstGeom>
              <a:solidFill>
                <a:schemeClr val="accent1"/>
              </a:solidFill>
              <a:ln w="19050">
                <a:solidFill>
                  <a:srgbClr val="7FB1B5"/>
                </a:solidFill>
              </a:ln>
            </p:spPr>
          </p:sp>
          <p:sp>
            <p:nvSpPr>
              <p:cNvPr id="7" name="Rectangle 7"/>
              <p:cNvSpPr/>
              <p:nvPr/>
            </p:nvSpPr>
            <p:spPr>
              <a:xfrm>
                <a:off x="2857500" y="2781300"/>
                <a:ext cx="1809750" cy="1295400"/>
              </a:xfrm>
              <a:prstGeom prst="roundRect">
                <a:avLst>
                  <a:gd name="adj" fmla="val 5882"/>
                </a:avLst>
              </a:prstGeom>
              <a:solidFill>
                <a:schemeClr val="accent1"/>
              </a:solidFill>
              <a:ln w="19050">
                <a:solidFill>
                  <a:srgbClr val="7FB1B5"/>
                </a:solidFill>
              </a:ln>
            </p:spPr>
          </p:sp>
          <p:sp>
            <p:nvSpPr>
              <p:cNvPr id="8" name="Rectangle 8"/>
              <p:cNvSpPr/>
              <p:nvPr/>
            </p:nvSpPr>
            <p:spPr>
              <a:xfrm>
                <a:off x="5048250" y="2781300"/>
                <a:ext cx="1809750" cy="1295400"/>
              </a:xfrm>
              <a:prstGeom prst="roundRect">
                <a:avLst>
                  <a:gd name="adj" fmla="val 5882"/>
                </a:avLst>
              </a:prstGeom>
              <a:solidFill>
                <a:schemeClr val="accent1"/>
              </a:solidFill>
              <a:ln w="19050">
                <a:solidFill>
                  <a:srgbClr val="7FB1B5"/>
                </a:solidFill>
              </a:ln>
            </p:spPr>
          </p:sp>
          <p:sp>
            <p:nvSpPr>
              <p:cNvPr id="9" name="Rectangle 9"/>
              <p:cNvSpPr/>
              <p:nvPr/>
            </p:nvSpPr>
            <p:spPr>
              <a:xfrm>
                <a:off x="7239000" y="2781300"/>
                <a:ext cx="1809750" cy="1295400"/>
              </a:xfrm>
              <a:prstGeom prst="roundRect">
                <a:avLst>
                  <a:gd name="adj" fmla="val 5882"/>
                </a:avLst>
              </a:prstGeom>
              <a:solidFill>
                <a:schemeClr val="accent1"/>
              </a:solidFill>
              <a:ln w="19050">
                <a:solidFill>
                  <a:srgbClr val="7FB1B5"/>
                </a:solidFill>
              </a:ln>
            </p:spPr>
          </p:sp>
          <p:sp>
            <p:nvSpPr>
              <p:cNvPr id="10" name="Rectangle 10"/>
              <p:cNvSpPr/>
              <p:nvPr/>
            </p:nvSpPr>
            <p:spPr>
              <a:xfrm>
                <a:off x="9429750" y="2781300"/>
                <a:ext cx="2095500" cy="1295400"/>
              </a:xfrm>
              <a:prstGeom prst="roundRect">
                <a:avLst>
                  <a:gd name="adj" fmla="val 5882"/>
                </a:avLst>
              </a:prstGeom>
              <a:solidFill>
                <a:schemeClr val="accent1"/>
              </a:solidFill>
              <a:ln w="19050">
                <a:solidFill>
                  <a:srgbClr val="7FB1B5"/>
                </a:solidFill>
              </a:ln>
            </p:spPr>
          </p:sp>
        </p:grpSp>
        <p:grpSp>
          <p:nvGrpSpPr>
            <p:cNvPr id="22" name="Group 22"/>
            <p:cNvGrpSpPr/>
            <p:nvPr/>
          </p:nvGrpSpPr>
          <p:grpSpPr>
            <a:xfrm>
              <a:off x="1189463" y="3073718"/>
              <a:ext cx="10221456" cy="703516"/>
              <a:chOff x="1189463" y="3073718"/>
              <a:chExt cx="10221456" cy="703516"/>
            </a:xfrm>
          </p:grpSpPr>
          <p:sp>
            <p:nvSpPr>
              <p:cNvPr id="12" name="TextBox 12"/>
              <p:cNvSpPr txBox="1"/>
              <p:nvPr/>
            </p:nvSpPr>
            <p:spPr>
              <a:xfrm>
                <a:off x="1459814" y="3073718"/>
                <a:ext cx="22362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01</a:t>
                </a:r>
              </a:p>
            </p:txBody>
          </p:sp>
          <p:sp>
            <p:nvSpPr>
              <p:cNvPr id="13" name="TextBox 13"/>
              <p:cNvSpPr txBox="1"/>
              <p:nvPr/>
            </p:nvSpPr>
            <p:spPr>
              <a:xfrm>
                <a:off x="1189463" y="3425190"/>
                <a:ext cx="764324"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Intent</a:t>
                </a:r>
              </a:p>
            </p:txBody>
          </p:sp>
          <p:sp>
            <p:nvSpPr>
              <p:cNvPr id="14" name="TextBox 14"/>
              <p:cNvSpPr txBox="1"/>
              <p:nvPr/>
            </p:nvSpPr>
            <p:spPr>
              <a:xfrm>
                <a:off x="3650564" y="3073718"/>
                <a:ext cx="22362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02</a:t>
                </a:r>
              </a:p>
            </p:txBody>
          </p:sp>
          <p:sp>
            <p:nvSpPr>
              <p:cNvPr id="15" name="TextBox 15"/>
              <p:cNvSpPr txBox="1"/>
              <p:nvPr/>
            </p:nvSpPr>
            <p:spPr>
              <a:xfrm>
                <a:off x="2937938" y="3425190"/>
                <a:ext cx="1648874"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Skill contract</a:t>
                </a:r>
              </a:p>
            </p:txBody>
          </p:sp>
          <p:sp>
            <p:nvSpPr>
              <p:cNvPr id="16" name="TextBox 16"/>
              <p:cNvSpPr txBox="1"/>
              <p:nvPr/>
            </p:nvSpPr>
            <p:spPr>
              <a:xfrm>
                <a:off x="5841314" y="3073718"/>
                <a:ext cx="22362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03</a:t>
                </a:r>
              </a:p>
            </p:txBody>
          </p:sp>
          <p:sp>
            <p:nvSpPr>
              <p:cNvPr id="17" name="TextBox 17"/>
              <p:cNvSpPr txBox="1"/>
              <p:nvPr/>
            </p:nvSpPr>
            <p:spPr>
              <a:xfrm>
                <a:off x="5097600" y="3425190"/>
                <a:ext cx="1711050"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Tools + canvas</a:t>
                </a:r>
              </a:p>
            </p:txBody>
          </p:sp>
          <p:sp>
            <p:nvSpPr>
              <p:cNvPr id="18" name="TextBox 18"/>
              <p:cNvSpPr txBox="1"/>
              <p:nvPr/>
            </p:nvSpPr>
            <p:spPr>
              <a:xfrm>
                <a:off x="8032064" y="3073718"/>
                <a:ext cx="22362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04</a:t>
                </a:r>
              </a:p>
            </p:txBody>
          </p:sp>
          <p:sp>
            <p:nvSpPr>
              <p:cNvPr id="19" name="TextBox 19"/>
              <p:cNvSpPr txBox="1"/>
              <p:nvPr/>
            </p:nvSpPr>
            <p:spPr>
              <a:xfrm>
                <a:off x="7555973" y="3425190"/>
                <a:ext cx="1175804"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Validation</a:t>
                </a:r>
              </a:p>
            </p:txBody>
          </p:sp>
          <p:sp>
            <p:nvSpPr>
              <p:cNvPr id="20" name="TextBox 20"/>
              <p:cNvSpPr txBox="1"/>
              <p:nvPr/>
            </p:nvSpPr>
            <p:spPr>
              <a:xfrm>
                <a:off x="10365689" y="3073718"/>
                <a:ext cx="22362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05</a:t>
                </a:r>
              </a:p>
            </p:txBody>
          </p:sp>
          <p:sp>
            <p:nvSpPr>
              <p:cNvPr id="21" name="TextBox 21"/>
              <p:cNvSpPr txBox="1"/>
              <p:nvPr/>
            </p:nvSpPr>
            <p:spPr>
              <a:xfrm>
                <a:off x="9544080" y="3425190"/>
                <a:ext cx="1866839"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Git-visible files</a:t>
                </a:r>
              </a:p>
            </p:txBody>
          </p:sp>
        </p:grpSp>
      </p:grpSp>
      <p:grpSp>
        <p:nvGrpSpPr>
          <p:cNvPr id="26" name="Group 26"/>
          <p:cNvGrpSpPr/>
          <p:nvPr/>
        </p:nvGrpSpPr>
        <p:grpSpPr>
          <a:xfrm>
            <a:off x="2476500" y="5143500"/>
            <a:ext cx="7239000" cy="590550"/>
            <a:chOff x="2476500" y="5143500"/>
            <a:chExt cx="7239000" cy="590550"/>
          </a:xfrm>
        </p:grpSpPr>
        <p:sp>
          <p:nvSpPr>
            <p:cNvPr id="24" name="Rectangle 24"/>
            <p:cNvSpPr/>
            <p:nvPr/>
          </p:nvSpPr>
          <p:spPr>
            <a:xfrm>
              <a:off x="2476500" y="5143500"/>
              <a:ext cx="7239000" cy="590550"/>
            </a:xfrm>
            <a:prstGeom prst="roundRect">
              <a:avLst>
                <a:gd name="adj" fmla="val 9677"/>
              </a:avLst>
            </a:prstGeom>
            <a:solidFill>
              <a:schemeClr val="dk1"/>
            </a:solidFill>
            <a:ln w="19050">
              <a:solidFill>
                <a:schemeClr val="accent3"/>
              </a:solidFill>
            </a:ln>
          </p:spPr>
        </p:sp>
        <p:sp>
          <p:nvSpPr>
            <p:cNvPr id="25" name="TextBox 25"/>
            <p:cNvSpPr txBox="1"/>
            <p:nvPr/>
          </p:nvSpPr>
          <p:spPr>
            <a:xfrm>
              <a:off x="2714692" y="5320665"/>
              <a:ext cx="6762617" cy="352044"/>
            </a:xfrm>
            <a:prstGeom prst="rect">
              <a:avLst/>
            </a:prstGeom>
            <a:noFill/>
            <a:ln>
              <a:noFill/>
            </a:ln>
          </p:spPr>
          <p:txBody>
            <a:bodyPr wrap="none" lIns="0" tIns="0" rIns="0" bIns="0" anchor="t" anchorCtr="0">
              <a:spAutoFit/>
            </a:bodyPr>
            <a:lstStyle/>
            <a:p>
              <a:pPr algn="ctr"/>
              <a:r>
                <a:rPr lang="en-US" sz="1800" dirty="0">
                  <a:solidFill>
                    <a:srgbClr val="F4F1E8"/>
                  </a:solidFill>
                  <a:latin typeface="+mn-lt"/>
                  <a:ea typeface="+mn-ea"/>
                  <a:cs typeface="+mn-cs"/>
                </a:rPr>
                <a:t>Intent selects a contract; validation produces evidence.</a:t>
              </a:r>
            </a:p>
          </p:txBody>
        </p:sp>
      </p:grpSp>
      <p:grpSp>
        <p:nvGrpSpPr>
          <p:cNvPr id="29" name="Group 29"/>
          <p:cNvGrpSpPr/>
          <p:nvPr/>
        </p:nvGrpSpPr>
        <p:grpSpPr>
          <a:xfrm>
            <a:off x="603504" y="6233160"/>
            <a:ext cx="10984992" cy="234696"/>
            <a:chOff x="603504" y="6233160"/>
            <a:chExt cx="10984992" cy="234696"/>
          </a:xfrm>
        </p:grpSpPr>
        <p:sp>
          <p:nvSpPr>
            <p:cNvPr id="27" name="TextBox 27"/>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K-002 · K-003</a:t>
              </a:r>
            </a:p>
          </p:txBody>
        </p:sp>
        <p:sp>
          <p:nvSpPr>
            <p:cNvPr id="28" name="TextBox 28"/>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03</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654368"/>
            <a:ext cx="9175401" cy="917067"/>
            <a:chOff x="593598" y="654368"/>
            <a:chExt cx="9175401" cy="917067"/>
          </a:xfrm>
        </p:grpSpPr>
        <p:sp>
          <p:nvSpPr>
            <p:cNvPr id="2" name="TextBox 2"/>
            <p:cNvSpPr txBox="1"/>
            <p:nvPr/>
          </p:nvSpPr>
          <p:spPr>
            <a:xfrm>
              <a:off x="602742" y="654368"/>
              <a:ext cx="1396289"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ARTIFACT GRAPH</a:t>
              </a:r>
            </a:p>
          </p:txBody>
        </p:sp>
        <p:sp>
          <p:nvSpPr>
            <p:cNvPr id="3" name="TextBox 3"/>
            <p:cNvSpPr txBox="1"/>
            <p:nvPr/>
          </p:nvSpPr>
          <p:spPr>
            <a:xfrm>
              <a:off x="593598" y="955358"/>
              <a:ext cx="9175401"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j-lt"/>
                  <a:ea typeface="+mj-ea"/>
                  <a:cs typeface="+mj-cs"/>
                </a:rPr>
                <a:t>The system is a graph—not a conveyor belt</a:t>
              </a:r>
            </a:p>
          </p:txBody>
        </p:sp>
      </p:grpSp>
      <p:grpSp>
        <p:nvGrpSpPr>
          <p:cNvPr id="22" name="Group 22"/>
          <p:cNvGrpSpPr/>
          <p:nvPr/>
        </p:nvGrpSpPr>
        <p:grpSpPr>
          <a:xfrm>
            <a:off x="1714500" y="2000250"/>
            <a:ext cx="9931146" cy="2857500"/>
            <a:chOff x="1714500" y="2000250"/>
            <a:chExt cx="9931146" cy="2857500"/>
          </a:xfrm>
        </p:grpSpPr>
        <p:sp>
          <p:nvSpPr>
            <p:cNvPr id="5" name="Freeform 5"/>
            <p:cNvSpPr/>
            <p:nvPr/>
          </p:nvSpPr>
          <p:spPr>
            <a:xfrm>
              <a:off x="2667000" y="2000250"/>
              <a:ext cx="3143250" cy="857250"/>
            </a:xfrm>
            <a:custGeom>
              <a:avLst/>
              <a:gdLst/>
              <a:ahLst/>
              <a:cxnLst/>
              <a:rect l="l" t="t" r="r" b="b"/>
              <a:pathLst>
                <a:path w="3143250" h="857250">
                  <a:moveTo>
                    <a:pt x="0" y="857250"/>
                  </a:moveTo>
                  <a:cubicBezTo>
                    <a:pt x="1047750" y="0"/>
                    <a:pt x="2190750" y="95250"/>
                    <a:pt x="3143250" y="857250"/>
                  </a:cubicBezTo>
                </a:path>
              </a:pathLst>
            </a:custGeom>
            <a:noFill/>
            <a:ln w="28575">
              <a:solidFill>
                <a:schemeClr val="accent3"/>
              </a:solidFill>
              <a:tailEnd type="triangle" w="lg" len="lg"/>
            </a:ln>
          </p:spPr>
        </p:sp>
        <p:sp>
          <p:nvSpPr>
            <p:cNvPr id="6" name="Freeform 6"/>
            <p:cNvSpPr/>
            <p:nvPr/>
          </p:nvSpPr>
          <p:spPr>
            <a:xfrm>
              <a:off x="5810250" y="2095500"/>
              <a:ext cx="3524250" cy="762000"/>
            </a:xfrm>
            <a:custGeom>
              <a:avLst/>
              <a:gdLst/>
              <a:ahLst/>
              <a:cxnLst/>
              <a:rect l="l" t="t" r="r" b="b"/>
              <a:pathLst>
                <a:path w="3524250" h="762000">
                  <a:moveTo>
                    <a:pt x="0" y="762000"/>
                  </a:moveTo>
                  <a:cubicBezTo>
                    <a:pt x="1047750" y="0"/>
                    <a:pt x="2286000" y="95250"/>
                    <a:pt x="3524250" y="762000"/>
                  </a:cubicBezTo>
                </a:path>
              </a:pathLst>
            </a:custGeom>
            <a:noFill/>
            <a:ln w="28575">
              <a:solidFill>
                <a:schemeClr val="accent3"/>
              </a:solidFill>
              <a:tailEnd type="triangle" w="lg" len="lg"/>
            </a:ln>
          </p:spPr>
        </p:sp>
        <p:sp>
          <p:nvSpPr>
            <p:cNvPr id="7" name="Freeform 7"/>
            <p:cNvSpPr/>
            <p:nvPr/>
          </p:nvSpPr>
          <p:spPr>
            <a:xfrm>
              <a:off x="5810250" y="2857500"/>
              <a:ext cx="3524250" cy="1905000"/>
            </a:xfrm>
            <a:custGeom>
              <a:avLst/>
              <a:gdLst/>
              <a:ahLst/>
              <a:cxnLst/>
              <a:rect l="l" t="t" r="r" b="b"/>
              <a:pathLst>
                <a:path w="3524250" h="1905000">
                  <a:moveTo>
                    <a:pt x="3524250" y="0"/>
                  </a:moveTo>
                  <a:cubicBezTo>
                    <a:pt x="3048000" y="1524000"/>
                    <a:pt x="1333500" y="1905000"/>
                    <a:pt x="0" y="1238250"/>
                  </a:cubicBezTo>
                </a:path>
              </a:pathLst>
            </a:custGeom>
            <a:noFill/>
            <a:ln w="28575">
              <a:solidFill>
                <a:schemeClr val="accent2"/>
              </a:solidFill>
              <a:custDash>
                <a:ds d="333333" sp="266667"/>
              </a:custDash>
              <a:tailEnd type="triangle" w="lg" len="lg"/>
            </a:ln>
          </p:spPr>
        </p:sp>
        <p:sp>
          <p:nvSpPr>
            <p:cNvPr id="8" name="Freeform 8"/>
            <p:cNvSpPr/>
            <p:nvPr/>
          </p:nvSpPr>
          <p:spPr>
            <a:xfrm>
              <a:off x="2667000" y="2857500"/>
              <a:ext cx="3143250" cy="2000250"/>
            </a:xfrm>
            <a:custGeom>
              <a:avLst/>
              <a:gdLst/>
              <a:ahLst/>
              <a:cxnLst/>
              <a:rect l="l" t="t" r="r" b="b"/>
              <a:pathLst>
                <a:path w="3143250" h="2000250">
                  <a:moveTo>
                    <a:pt x="3143250" y="1238250"/>
                  </a:moveTo>
                  <a:cubicBezTo>
                    <a:pt x="1809750" y="2000250"/>
                    <a:pt x="381000" y="1524000"/>
                    <a:pt x="0" y="0"/>
                  </a:cubicBezTo>
                </a:path>
              </a:pathLst>
            </a:custGeom>
            <a:noFill/>
            <a:ln w="28575">
              <a:solidFill>
                <a:schemeClr val="accent2"/>
              </a:solidFill>
              <a:custDash>
                <a:ds d="333333" sp="266667"/>
              </a:custDash>
              <a:tailEnd type="triangle" w="lg" len="lg"/>
            </a:ln>
          </p:spPr>
        </p:sp>
        <p:grpSp>
          <p:nvGrpSpPr>
            <p:cNvPr id="14" name="Group 14"/>
            <p:cNvGrpSpPr/>
            <p:nvPr/>
          </p:nvGrpSpPr>
          <p:grpSpPr>
            <a:xfrm>
              <a:off x="1714500" y="2381250"/>
              <a:ext cx="8572500" cy="2286000"/>
              <a:chOff x="1714500" y="2381250"/>
              <a:chExt cx="8572500" cy="2286000"/>
            </a:xfrm>
          </p:grpSpPr>
          <p:sp>
            <p:nvSpPr>
              <p:cNvPr id="9" name="Rectangle 9"/>
              <p:cNvSpPr/>
              <p:nvPr/>
            </p:nvSpPr>
            <p:spPr>
              <a:xfrm>
                <a:off x="1714500" y="2381250"/>
                <a:ext cx="1905000" cy="952500"/>
              </a:xfrm>
              <a:prstGeom prst="roundRect">
                <a:avLst>
                  <a:gd name="adj" fmla="val 8000"/>
                </a:avLst>
              </a:prstGeom>
              <a:solidFill>
                <a:schemeClr val="lt2"/>
              </a:solidFill>
              <a:ln w="19050">
                <a:solidFill>
                  <a:schemeClr val="accent1"/>
                </a:solidFill>
              </a:ln>
            </p:spPr>
          </p:sp>
          <p:sp>
            <p:nvSpPr>
              <p:cNvPr id="10" name="Rectangle 10"/>
              <p:cNvSpPr/>
              <p:nvPr/>
            </p:nvSpPr>
            <p:spPr>
              <a:xfrm>
                <a:off x="4857750" y="2381250"/>
                <a:ext cx="1905000" cy="952500"/>
              </a:xfrm>
              <a:prstGeom prst="roundRect">
                <a:avLst>
                  <a:gd name="adj" fmla="val 8000"/>
                </a:avLst>
              </a:prstGeom>
              <a:solidFill>
                <a:schemeClr val="lt2"/>
              </a:solidFill>
              <a:ln w="19050">
                <a:solidFill>
                  <a:schemeClr val="accent1"/>
                </a:solidFill>
              </a:ln>
            </p:spPr>
          </p:sp>
          <p:sp>
            <p:nvSpPr>
              <p:cNvPr id="11" name="Rectangle 11"/>
              <p:cNvSpPr/>
              <p:nvPr/>
            </p:nvSpPr>
            <p:spPr>
              <a:xfrm>
                <a:off x="8382000" y="2381250"/>
                <a:ext cx="1905000" cy="952500"/>
              </a:xfrm>
              <a:prstGeom prst="roundRect">
                <a:avLst>
                  <a:gd name="adj" fmla="val 8000"/>
                </a:avLst>
              </a:prstGeom>
              <a:solidFill>
                <a:schemeClr val="lt2"/>
              </a:solidFill>
              <a:ln w="19050">
                <a:solidFill>
                  <a:schemeClr val="accent1"/>
                </a:solidFill>
              </a:ln>
            </p:spPr>
          </p:sp>
          <p:sp>
            <p:nvSpPr>
              <p:cNvPr id="12" name="Rectangle 12"/>
              <p:cNvSpPr/>
              <p:nvPr/>
            </p:nvSpPr>
            <p:spPr>
              <a:xfrm>
                <a:off x="3905250" y="3714750"/>
                <a:ext cx="1905000" cy="952500"/>
              </a:xfrm>
              <a:prstGeom prst="roundRect">
                <a:avLst>
                  <a:gd name="adj" fmla="val 8000"/>
                </a:avLst>
              </a:prstGeom>
              <a:solidFill>
                <a:schemeClr val="lt2"/>
              </a:solidFill>
              <a:ln w="19050">
                <a:solidFill>
                  <a:schemeClr val="accent1"/>
                </a:solidFill>
              </a:ln>
            </p:spPr>
          </p:sp>
          <p:sp>
            <p:nvSpPr>
              <p:cNvPr id="13" name="Rectangle 13"/>
              <p:cNvSpPr/>
              <p:nvPr/>
            </p:nvSpPr>
            <p:spPr>
              <a:xfrm>
                <a:off x="6572250" y="3714750"/>
                <a:ext cx="1905000" cy="952500"/>
              </a:xfrm>
              <a:prstGeom prst="roundRect">
                <a:avLst>
                  <a:gd name="adj" fmla="val 8000"/>
                </a:avLst>
              </a:prstGeom>
              <a:solidFill>
                <a:schemeClr val="lt2"/>
              </a:solidFill>
              <a:ln w="19050">
                <a:solidFill>
                  <a:schemeClr val="accent1"/>
                </a:solidFill>
              </a:ln>
            </p:spPr>
          </p:sp>
        </p:grpSp>
        <p:grpSp>
          <p:nvGrpSpPr>
            <p:cNvPr id="20" name="Group 20"/>
            <p:cNvGrpSpPr/>
            <p:nvPr/>
          </p:nvGrpSpPr>
          <p:grpSpPr>
            <a:xfrm>
              <a:off x="1977542" y="2751772"/>
              <a:ext cx="7715307" cy="1714881"/>
              <a:chOff x="1977542" y="2751772"/>
              <a:chExt cx="7715307" cy="1714881"/>
            </a:xfrm>
          </p:grpSpPr>
          <p:sp>
            <p:nvSpPr>
              <p:cNvPr id="15" name="TextBox 15"/>
              <p:cNvSpPr txBox="1"/>
              <p:nvPr/>
            </p:nvSpPr>
            <p:spPr>
              <a:xfrm>
                <a:off x="1977542" y="2751772"/>
                <a:ext cx="1378915"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Knowledge</a:t>
                </a:r>
              </a:p>
            </p:txBody>
          </p:sp>
          <p:sp>
            <p:nvSpPr>
              <p:cNvPr id="16" name="TextBox 16"/>
              <p:cNvSpPr txBox="1"/>
              <p:nvPr/>
            </p:nvSpPr>
            <p:spPr>
              <a:xfrm>
                <a:off x="5348212" y="2751772"/>
                <a:ext cx="924075"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Models</a:t>
                </a:r>
              </a:p>
            </p:txBody>
          </p:sp>
          <p:sp>
            <p:nvSpPr>
              <p:cNvPr id="17" name="TextBox 17"/>
              <p:cNvSpPr txBox="1"/>
              <p:nvPr/>
            </p:nvSpPr>
            <p:spPr>
              <a:xfrm>
                <a:off x="8976150" y="2751772"/>
                <a:ext cx="716699"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Ideas</a:t>
                </a:r>
              </a:p>
            </p:txBody>
          </p:sp>
          <p:sp>
            <p:nvSpPr>
              <p:cNvPr id="18" name="TextBox 18"/>
              <p:cNvSpPr txBox="1"/>
              <p:nvPr/>
            </p:nvSpPr>
            <p:spPr>
              <a:xfrm>
                <a:off x="4196029" y="4085272"/>
                <a:ext cx="1323442"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Reasoning</a:t>
                </a:r>
              </a:p>
            </p:txBody>
          </p:sp>
          <p:sp>
            <p:nvSpPr>
              <p:cNvPr id="19" name="TextBox 19"/>
              <p:cNvSpPr txBox="1"/>
              <p:nvPr/>
            </p:nvSpPr>
            <p:spPr>
              <a:xfrm>
                <a:off x="6635577" y="4085272"/>
                <a:ext cx="1778347" cy="381381"/>
              </a:xfrm>
              <a:prstGeom prst="rect">
                <a:avLst/>
              </a:prstGeom>
              <a:noFill/>
              <a:ln>
                <a:noFill/>
              </a:ln>
            </p:spPr>
            <p:txBody>
              <a:bodyPr wrap="none" lIns="0" tIns="0" rIns="0" bIns="0" anchor="t" anchorCtr="0">
                <a:spAutoFit/>
              </a:bodyPr>
              <a:lstStyle/>
              <a:p>
                <a:pPr algn="ctr"/>
                <a:r>
                  <a:rPr lang="en-US" sz="1950" b="1" dirty="0">
                    <a:solidFill>
                      <a:schemeClr val="dk1"/>
                    </a:solidFill>
                    <a:latin typeface="+mj-lt"/>
                    <a:ea typeface="+mj-ea"/>
                    <a:cs typeface="+mj-cs"/>
                  </a:rPr>
                  <a:t>Presentation</a:t>
                </a:r>
              </a:p>
            </p:txBody>
          </p:sp>
        </p:grpSp>
        <p:sp>
          <p:nvSpPr>
            <p:cNvPr id="21" name="TextBox 21"/>
            <p:cNvSpPr txBox="1"/>
            <p:nvPr/>
          </p:nvSpPr>
          <p:spPr>
            <a:xfrm>
              <a:off x="9614154" y="4423410"/>
              <a:ext cx="2031492"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Consolas"/>
                  <a:ea typeface="Consolas"/>
                  <a:cs typeface="Consolas"/>
                </a:rPr>
                <a:t>dotted = optional handoff</a:t>
              </a:r>
            </a:p>
          </p:txBody>
        </p:sp>
      </p:grpSp>
      <p:grpSp>
        <p:nvGrpSpPr>
          <p:cNvPr id="25" name="Group 25"/>
          <p:cNvGrpSpPr/>
          <p:nvPr/>
        </p:nvGrpSpPr>
        <p:grpSpPr>
          <a:xfrm>
            <a:off x="603504" y="6233160"/>
            <a:ext cx="10984992" cy="234696"/>
            <a:chOff x="603504" y="6233160"/>
            <a:chExt cx="10984992" cy="234696"/>
          </a:xfrm>
        </p:grpSpPr>
        <p:sp>
          <p:nvSpPr>
            <p:cNvPr id="23" name="TextBox 23"/>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K-004 · K-006</a:t>
              </a:r>
            </a:p>
          </p:txBody>
        </p:sp>
        <p:sp>
          <p:nvSpPr>
            <p:cNvPr id="24" name="TextBox 24"/>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04</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654368"/>
            <a:ext cx="6450940" cy="1284922"/>
            <a:chOff x="594360" y="654368"/>
            <a:chExt cx="6450940" cy="1284922"/>
          </a:xfrm>
        </p:grpSpPr>
        <p:sp>
          <p:nvSpPr>
            <p:cNvPr id="2" name="TextBox 2"/>
            <p:cNvSpPr txBox="1"/>
            <p:nvPr/>
          </p:nvSpPr>
          <p:spPr>
            <a:xfrm>
              <a:off x="602742" y="654368"/>
              <a:ext cx="1617116"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OWNER SELECTION</a:t>
              </a:r>
            </a:p>
          </p:txBody>
        </p:sp>
        <p:sp>
          <p:nvSpPr>
            <p:cNvPr id="3" name="TextBox 3"/>
            <p:cNvSpPr txBox="1"/>
            <p:nvPr/>
          </p:nvSpPr>
          <p:spPr>
            <a:xfrm>
              <a:off x="594360" y="933450"/>
              <a:ext cx="6450940" cy="586740"/>
            </a:xfrm>
            <a:prstGeom prst="rect">
              <a:avLst/>
            </a:prstGeom>
            <a:noFill/>
            <a:ln>
              <a:noFill/>
            </a:ln>
          </p:spPr>
          <p:txBody>
            <a:bodyPr wrap="none" lIns="0" tIns="0" rIns="0" bIns="0" anchor="t" anchorCtr="0">
              <a:spAutoFit/>
            </a:bodyPr>
            <a:lstStyle/>
            <a:p>
              <a:pPr algn="l"/>
              <a:r>
                <a:rPr lang="en-US" sz="3000" b="1" dirty="0">
                  <a:solidFill>
                    <a:srgbClr val="F4F1E8"/>
                  </a:solidFill>
                  <a:latin typeface="+mj-lt"/>
                  <a:ea typeface="+mj-ea"/>
                  <a:cs typeface="+mj-cs"/>
                </a:rPr>
                <a:t>Do not ask “what comes next?”</a:t>
              </a:r>
            </a:p>
          </p:txBody>
        </p:sp>
        <p:sp>
          <p:nvSpPr>
            <p:cNvPr id="4" name="TextBox 4"/>
            <p:cNvSpPr txBox="1"/>
            <p:nvPr/>
          </p:nvSpPr>
          <p:spPr>
            <a:xfrm>
              <a:off x="594360" y="1352550"/>
              <a:ext cx="5538326" cy="586740"/>
            </a:xfrm>
            <a:prstGeom prst="rect">
              <a:avLst/>
            </a:prstGeom>
            <a:noFill/>
            <a:ln>
              <a:noFill/>
            </a:ln>
          </p:spPr>
          <p:txBody>
            <a:bodyPr wrap="none" lIns="0" tIns="0" rIns="0" bIns="0" anchor="t" anchorCtr="0">
              <a:spAutoFit/>
            </a:bodyPr>
            <a:lstStyle/>
            <a:p>
              <a:pPr algn="l"/>
              <a:r>
                <a:rPr lang="en-US" sz="3000" b="1" dirty="0">
                  <a:solidFill>
                    <a:schemeClr val="accent2"/>
                  </a:solidFill>
                  <a:latin typeface="+mj-lt"/>
                  <a:ea typeface="+mj-ea"/>
                  <a:cs typeface="+mj-cs"/>
                </a:rPr>
                <a:t>Ask “what should change?”</a:t>
              </a:r>
            </a:p>
          </p:txBody>
        </p:sp>
      </p:grpSp>
      <p:grpSp>
        <p:nvGrpSpPr>
          <p:cNvPr id="31" name="Group 31"/>
          <p:cNvGrpSpPr/>
          <p:nvPr/>
        </p:nvGrpSpPr>
        <p:grpSpPr>
          <a:xfrm>
            <a:off x="819150" y="2171700"/>
            <a:ext cx="10553700" cy="3219450"/>
            <a:chOff x="819150" y="2171700"/>
            <a:chExt cx="10553700" cy="3219450"/>
          </a:xfrm>
        </p:grpSpPr>
        <p:sp>
          <p:nvSpPr>
            <p:cNvPr id="6" name="Polygon 6"/>
            <p:cNvSpPr/>
            <p:nvPr/>
          </p:nvSpPr>
          <p:spPr>
            <a:xfrm>
              <a:off x="4953000" y="2171700"/>
              <a:ext cx="2286000" cy="1943100"/>
            </a:xfrm>
            <a:custGeom>
              <a:avLst/>
              <a:gdLst/>
              <a:ahLst/>
              <a:cxnLst/>
              <a:rect l="l" t="t" r="r" b="b"/>
              <a:pathLst>
                <a:path w="2286000" h="1943100">
                  <a:moveTo>
                    <a:pt x="1143000" y="0"/>
                  </a:moveTo>
                  <a:lnTo>
                    <a:pt x="2286000" y="971550"/>
                  </a:lnTo>
                  <a:lnTo>
                    <a:pt x="1143000" y="1943100"/>
                  </a:lnTo>
                  <a:lnTo>
                    <a:pt x="0" y="971550"/>
                  </a:lnTo>
                  <a:close/>
                </a:path>
              </a:pathLst>
            </a:custGeom>
            <a:solidFill>
              <a:schemeClr val="lt1"/>
            </a:solidFill>
            <a:ln w="28575">
              <a:solidFill>
                <a:schemeClr val="accent2"/>
              </a:solidFill>
            </a:ln>
          </p:spPr>
        </p:sp>
        <p:sp>
          <p:nvSpPr>
            <p:cNvPr id="7" name="TextBox 7"/>
            <p:cNvSpPr txBox="1"/>
            <p:nvPr/>
          </p:nvSpPr>
          <p:spPr>
            <a:xfrm>
              <a:off x="5547970" y="2842260"/>
              <a:ext cx="1096061"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onsolas"/>
                  <a:ea typeface="Consolas"/>
                  <a:cs typeface="Consolas"/>
                </a:rPr>
                <a:t>NEXT DURABLE</a:t>
              </a:r>
            </a:p>
          </p:txBody>
        </p:sp>
        <p:sp>
          <p:nvSpPr>
            <p:cNvPr id="8" name="TextBox 8"/>
            <p:cNvSpPr txBox="1"/>
            <p:nvPr/>
          </p:nvSpPr>
          <p:spPr>
            <a:xfrm>
              <a:off x="5233309" y="3063240"/>
              <a:ext cx="1725381"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j-lt"/>
                  <a:ea typeface="+mj-ea"/>
                  <a:cs typeface="+mj-cs"/>
                </a:rPr>
                <a:t>STATE CHANGE</a:t>
              </a:r>
            </a:p>
          </p:txBody>
        </p:sp>
        <p:grpSp>
          <p:nvGrpSpPr>
            <p:cNvPr id="14" name="Group 14"/>
            <p:cNvGrpSpPr/>
            <p:nvPr/>
          </p:nvGrpSpPr>
          <p:grpSpPr>
            <a:xfrm>
              <a:off x="819150" y="2514600"/>
              <a:ext cx="10553700" cy="2876550"/>
              <a:chOff x="819150" y="2514600"/>
              <a:chExt cx="10553700" cy="2876550"/>
            </a:xfrm>
          </p:grpSpPr>
          <p:sp>
            <p:nvSpPr>
              <p:cNvPr id="9" name="Rectangle 9"/>
              <p:cNvSpPr/>
              <p:nvPr/>
            </p:nvSpPr>
            <p:spPr>
              <a:xfrm>
                <a:off x="819150" y="2514600"/>
                <a:ext cx="2476500" cy="685800"/>
              </a:xfrm>
              <a:prstGeom prst="roundRect">
                <a:avLst>
                  <a:gd name="adj" fmla="val 8333"/>
                </a:avLst>
              </a:prstGeom>
              <a:solidFill>
                <a:schemeClr val="dk1"/>
              </a:solidFill>
              <a:ln w="19050">
                <a:solidFill>
                  <a:srgbClr val="7FB1B5"/>
                </a:solidFill>
              </a:ln>
            </p:spPr>
          </p:sp>
          <p:sp>
            <p:nvSpPr>
              <p:cNvPr id="10" name="Rectangle 10"/>
              <p:cNvSpPr/>
              <p:nvPr/>
            </p:nvSpPr>
            <p:spPr>
              <a:xfrm>
                <a:off x="819150" y="3657600"/>
                <a:ext cx="2476500" cy="685800"/>
              </a:xfrm>
              <a:prstGeom prst="roundRect">
                <a:avLst>
                  <a:gd name="adj" fmla="val 8333"/>
                </a:avLst>
              </a:prstGeom>
              <a:solidFill>
                <a:schemeClr val="dk1"/>
              </a:solidFill>
              <a:ln w="19050">
                <a:solidFill>
                  <a:srgbClr val="7FB1B5"/>
                </a:solidFill>
              </a:ln>
            </p:spPr>
          </p:sp>
          <p:sp>
            <p:nvSpPr>
              <p:cNvPr id="11" name="Rectangle 11"/>
              <p:cNvSpPr/>
              <p:nvPr/>
            </p:nvSpPr>
            <p:spPr>
              <a:xfrm>
                <a:off x="8896350" y="2514600"/>
                <a:ext cx="2476500" cy="685800"/>
              </a:xfrm>
              <a:prstGeom prst="roundRect">
                <a:avLst>
                  <a:gd name="adj" fmla="val 8333"/>
                </a:avLst>
              </a:prstGeom>
              <a:solidFill>
                <a:schemeClr val="dk1"/>
              </a:solidFill>
              <a:ln w="19050">
                <a:solidFill>
                  <a:srgbClr val="7FB1B5"/>
                </a:solidFill>
              </a:ln>
            </p:spPr>
          </p:sp>
          <p:sp>
            <p:nvSpPr>
              <p:cNvPr id="12" name="Rectangle 12"/>
              <p:cNvSpPr/>
              <p:nvPr/>
            </p:nvSpPr>
            <p:spPr>
              <a:xfrm>
                <a:off x="8896350" y="3657600"/>
                <a:ext cx="2476500" cy="685800"/>
              </a:xfrm>
              <a:prstGeom prst="roundRect">
                <a:avLst>
                  <a:gd name="adj" fmla="val 8333"/>
                </a:avLst>
              </a:prstGeom>
              <a:solidFill>
                <a:schemeClr val="dk1"/>
              </a:solidFill>
              <a:ln w="19050">
                <a:solidFill>
                  <a:srgbClr val="7FB1B5"/>
                </a:solidFill>
              </a:ln>
            </p:spPr>
          </p:sp>
          <p:sp>
            <p:nvSpPr>
              <p:cNvPr id="13" name="Rectangle 13"/>
              <p:cNvSpPr/>
              <p:nvPr/>
            </p:nvSpPr>
            <p:spPr>
              <a:xfrm>
                <a:off x="4857750" y="4705350"/>
                <a:ext cx="2476500" cy="685800"/>
              </a:xfrm>
              <a:prstGeom prst="roundRect">
                <a:avLst>
                  <a:gd name="adj" fmla="val 8333"/>
                </a:avLst>
              </a:prstGeom>
              <a:solidFill>
                <a:schemeClr val="dk1"/>
              </a:solidFill>
              <a:ln w="19050">
                <a:solidFill>
                  <a:srgbClr val="7FB1B5"/>
                </a:solidFill>
              </a:ln>
            </p:spPr>
          </p:sp>
        </p:grpSp>
        <p:grpSp>
          <p:nvGrpSpPr>
            <p:cNvPr id="25" name="Group 25"/>
            <p:cNvGrpSpPr/>
            <p:nvPr/>
          </p:nvGrpSpPr>
          <p:grpSpPr>
            <a:xfrm>
              <a:off x="1059180" y="2638425"/>
              <a:ext cx="9970389" cy="2731770"/>
              <a:chOff x="1059180" y="2638425"/>
              <a:chExt cx="9970389" cy="2731770"/>
            </a:xfrm>
          </p:grpSpPr>
          <p:sp>
            <p:nvSpPr>
              <p:cNvPr id="15" name="TextBox 15"/>
              <p:cNvSpPr txBox="1"/>
              <p:nvPr/>
            </p:nvSpPr>
            <p:spPr>
              <a:xfrm>
                <a:off x="1059180" y="2638425"/>
                <a:ext cx="1414624" cy="293370"/>
              </a:xfrm>
              <a:prstGeom prst="rect">
                <a:avLst/>
              </a:prstGeom>
              <a:noFill/>
              <a:ln>
                <a:noFill/>
              </a:ln>
            </p:spPr>
            <p:txBody>
              <a:bodyPr wrap="none" lIns="0" tIns="0" rIns="0" bIns="0" anchor="t" anchorCtr="0">
                <a:spAutoFit/>
              </a:bodyPr>
              <a:lstStyle/>
              <a:p>
                <a:pPr algn="l"/>
                <a:r>
                  <a:rPr lang="en-US" sz="1500" dirty="0">
                    <a:solidFill>
                      <a:srgbClr val="F4F1E8"/>
                    </a:solidFill>
                    <a:latin typeface="+mn-lt"/>
                    <a:ea typeface="+mn-ea"/>
                    <a:cs typeface="+mn-cs"/>
                  </a:rPr>
                  <a:t>Understanding</a:t>
                </a:r>
              </a:p>
            </p:txBody>
          </p:sp>
          <p:sp>
            <p:nvSpPr>
              <p:cNvPr id="16" name="TextBox 16"/>
              <p:cNvSpPr txBox="1"/>
              <p:nvPr/>
            </p:nvSpPr>
            <p:spPr>
              <a:xfrm>
                <a:off x="1059180" y="2886075"/>
                <a:ext cx="520065" cy="293370"/>
              </a:xfrm>
              <a:prstGeom prst="rect">
                <a:avLst/>
              </a:prstGeom>
              <a:noFill/>
              <a:ln>
                <a:noFill/>
              </a:ln>
            </p:spPr>
            <p:txBody>
              <a:bodyPr wrap="none" lIns="0" tIns="0" rIns="0" bIns="0" anchor="t" anchorCtr="0">
                <a:spAutoFit/>
              </a:bodyPr>
              <a:lstStyle/>
              <a:p>
                <a:pPr algn="l"/>
                <a:r>
                  <a:rPr lang="en-US" sz="1500" dirty="0">
                    <a:solidFill>
                      <a:schemeClr val="accent2"/>
                    </a:solidFill>
                    <a:latin typeface="+mn-lt"/>
                    <a:ea typeface="+mn-ea"/>
                    <a:cs typeface="+mn-cs"/>
                  </a:rPr>
                  <a:t>learn</a:t>
                </a:r>
              </a:p>
            </p:txBody>
          </p:sp>
          <p:sp>
            <p:nvSpPr>
              <p:cNvPr id="17" name="TextBox 17"/>
              <p:cNvSpPr txBox="1"/>
              <p:nvPr/>
            </p:nvSpPr>
            <p:spPr>
              <a:xfrm>
                <a:off x="1059180" y="3781425"/>
                <a:ext cx="1849172" cy="293370"/>
              </a:xfrm>
              <a:prstGeom prst="rect">
                <a:avLst/>
              </a:prstGeom>
              <a:noFill/>
              <a:ln>
                <a:noFill/>
              </a:ln>
            </p:spPr>
            <p:txBody>
              <a:bodyPr wrap="none" lIns="0" tIns="0" rIns="0" bIns="0" anchor="t" anchorCtr="0">
                <a:spAutoFit/>
              </a:bodyPr>
              <a:lstStyle/>
              <a:p>
                <a:pPr algn="l"/>
                <a:r>
                  <a:rPr lang="en-US" sz="1500" dirty="0">
                    <a:solidFill>
                      <a:srgbClr val="F4F1E8"/>
                    </a:solidFill>
                    <a:latin typeface="+mn-lt"/>
                    <a:ea typeface="+mn-ea"/>
                    <a:cs typeface="+mn-cs"/>
                  </a:rPr>
                  <a:t>Observed evidence</a:t>
                </a:r>
              </a:p>
            </p:txBody>
          </p:sp>
          <p:sp>
            <p:nvSpPr>
              <p:cNvPr id="18" name="TextBox 18"/>
              <p:cNvSpPr txBox="1"/>
              <p:nvPr/>
            </p:nvSpPr>
            <p:spPr>
              <a:xfrm>
                <a:off x="1059180" y="4029075"/>
                <a:ext cx="853250" cy="293370"/>
              </a:xfrm>
              <a:prstGeom prst="rect">
                <a:avLst/>
              </a:prstGeom>
              <a:noFill/>
              <a:ln>
                <a:noFill/>
              </a:ln>
            </p:spPr>
            <p:txBody>
              <a:bodyPr wrap="none" lIns="0" tIns="0" rIns="0" bIns="0" anchor="t" anchorCtr="0">
                <a:spAutoFit/>
              </a:bodyPr>
              <a:lstStyle/>
              <a:p>
                <a:pPr algn="l"/>
                <a:r>
                  <a:rPr lang="en-US" sz="1500" dirty="0">
                    <a:solidFill>
                      <a:schemeClr val="accent2"/>
                    </a:solidFill>
                    <a:latin typeface="+mn-lt"/>
                    <a:ea typeface="+mn-ea"/>
                    <a:cs typeface="+mn-cs"/>
                  </a:rPr>
                  <a:t>practice</a:t>
                </a:r>
              </a:p>
            </p:txBody>
          </p:sp>
          <p:sp>
            <p:nvSpPr>
              <p:cNvPr id="19" name="TextBox 19"/>
              <p:cNvSpPr txBox="1"/>
              <p:nvPr/>
            </p:nvSpPr>
            <p:spPr>
              <a:xfrm>
                <a:off x="9136380" y="2638425"/>
                <a:ext cx="1869052" cy="293370"/>
              </a:xfrm>
              <a:prstGeom prst="rect">
                <a:avLst/>
              </a:prstGeom>
              <a:noFill/>
              <a:ln>
                <a:noFill/>
              </a:ln>
            </p:spPr>
            <p:txBody>
              <a:bodyPr wrap="none" lIns="0" tIns="0" rIns="0" bIns="0" anchor="t" anchorCtr="0">
                <a:spAutoFit/>
              </a:bodyPr>
              <a:lstStyle/>
              <a:p>
                <a:pPr algn="l"/>
                <a:r>
                  <a:rPr lang="en-US" sz="1500" dirty="0">
                    <a:solidFill>
                      <a:srgbClr val="F4F1E8"/>
                    </a:solidFill>
                    <a:latin typeface="+mn-lt"/>
                    <a:ea typeface="+mn-ea"/>
                    <a:cs typeface="+mn-cs"/>
                  </a:rPr>
                  <a:t>Reusable reasoning</a:t>
                </a:r>
              </a:p>
            </p:txBody>
          </p:sp>
          <p:sp>
            <p:nvSpPr>
              <p:cNvPr id="20" name="TextBox 20"/>
              <p:cNvSpPr txBox="1"/>
              <p:nvPr/>
            </p:nvSpPr>
            <p:spPr>
              <a:xfrm>
                <a:off x="9136380" y="2886075"/>
                <a:ext cx="1893189" cy="293370"/>
              </a:xfrm>
              <a:prstGeom prst="rect">
                <a:avLst/>
              </a:prstGeom>
              <a:noFill/>
              <a:ln>
                <a:noFill/>
              </a:ln>
            </p:spPr>
            <p:txBody>
              <a:bodyPr wrap="none" lIns="0" tIns="0" rIns="0" bIns="0" anchor="t" anchorCtr="0">
                <a:spAutoFit/>
              </a:bodyPr>
              <a:lstStyle/>
              <a:p>
                <a:pPr algn="l"/>
                <a:r>
                  <a:rPr lang="en-US" sz="1500" dirty="0">
                    <a:solidFill>
                      <a:schemeClr val="accent2"/>
                    </a:solidFill>
                    <a:latin typeface="+mn-lt"/>
                    <a:ea typeface="+mn-ea"/>
                    <a:cs typeface="+mn-cs"/>
                  </a:rPr>
                  <a:t>build-mental-model</a:t>
                </a:r>
              </a:p>
            </p:txBody>
          </p:sp>
          <p:sp>
            <p:nvSpPr>
              <p:cNvPr id="21" name="TextBox 21"/>
              <p:cNvSpPr txBox="1"/>
              <p:nvPr/>
            </p:nvSpPr>
            <p:spPr>
              <a:xfrm>
                <a:off x="9136380" y="3781425"/>
                <a:ext cx="748066" cy="293370"/>
              </a:xfrm>
              <a:prstGeom prst="rect">
                <a:avLst/>
              </a:prstGeom>
              <a:noFill/>
              <a:ln>
                <a:noFill/>
              </a:ln>
            </p:spPr>
            <p:txBody>
              <a:bodyPr wrap="none" lIns="0" tIns="0" rIns="0" bIns="0" anchor="t" anchorCtr="0">
                <a:spAutoFit/>
              </a:bodyPr>
              <a:lstStyle/>
              <a:p>
                <a:pPr algn="l"/>
                <a:r>
                  <a:rPr lang="en-US" sz="1500" dirty="0">
                    <a:solidFill>
                      <a:srgbClr val="F4F1E8"/>
                    </a:solidFill>
                    <a:latin typeface="+mn-lt"/>
                    <a:ea typeface="+mn-ea"/>
                    <a:cs typeface="+mn-cs"/>
                  </a:rPr>
                  <a:t>Verdict</a:t>
                </a:r>
              </a:p>
            </p:txBody>
          </p:sp>
          <p:sp>
            <p:nvSpPr>
              <p:cNvPr id="22" name="TextBox 22"/>
              <p:cNvSpPr txBox="1"/>
              <p:nvPr/>
            </p:nvSpPr>
            <p:spPr>
              <a:xfrm>
                <a:off x="9136380" y="4029075"/>
                <a:ext cx="520065" cy="293370"/>
              </a:xfrm>
              <a:prstGeom prst="rect">
                <a:avLst/>
              </a:prstGeom>
              <a:noFill/>
              <a:ln>
                <a:noFill/>
              </a:ln>
            </p:spPr>
            <p:txBody>
              <a:bodyPr wrap="none" lIns="0" tIns="0" rIns="0" bIns="0" anchor="t" anchorCtr="0">
                <a:spAutoFit/>
              </a:bodyPr>
              <a:lstStyle/>
              <a:p>
                <a:pPr algn="l"/>
                <a:r>
                  <a:rPr lang="en-US" sz="1500" dirty="0">
                    <a:solidFill>
                      <a:schemeClr val="accent2"/>
                    </a:solidFill>
                    <a:latin typeface="+mn-lt"/>
                    <a:ea typeface="+mn-ea"/>
                    <a:cs typeface="+mn-cs"/>
                  </a:rPr>
                  <a:t>judge</a:t>
                </a:r>
              </a:p>
            </p:txBody>
          </p:sp>
          <p:sp>
            <p:nvSpPr>
              <p:cNvPr id="23" name="TextBox 23"/>
              <p:cNvSpPr txBox="1"/>
              <p:nvPr/>
            </p:nvSpPr>
            <p:spPr>
              <a:xfrm>
                <a:off x="5097780" y="4829175"/>
                <a:ext cx="1303544" cy="293370"/>
              </a:xfrm>
              <a:prstGeom prst="rect">
                <a:avLst/>
              </a:prstGeom>
              <a:noFill/>
              <a:ln>
                <a:noFill/>
              </a:ln>
            </p:spPr>
            <p:txBody>
              <a:bodyPr wrap="none" lIns="0" tIns="0" rIns="0" bIns="0" anchor="t" anchorCtr="0">
                <a:spAutoFit/>
              </a:bodyPr>
              <a:lstStyle/>
              <a:p>
                <a:pPr algn="l"/>
                <a:r>
                  <a:rPr lang="en-US" sz="1500" dirty="0">
                    <a:solidFill>
                      <a:srgbClr val="F4F1E8"/>
                    </a:solidFill>
                    <a:latin typeface="+mn-lt"/>
                    <a:ea typeface="+mn-ea"/>
                    <a:cs typeface="+mn-cs"/>
                  </a:rPr>
                  <a:t>Presentation</a:t>
                </a:r>
              </a:p>
            </p:txBody>
          </p:sp>
          <p:sp>
            <p:nvSpPr>
              <p:cNvPr id="24" name="TextBox 24"/>
              <p:cNvSpPr txBox="1"/>
              <p:nvPr/>
            </p:nvSpPr>
            <p:spPr>
              <a:xfrm>
                <a:off x="5097780" y="5076825"/>
                <a:ext cx="1893189" cy="293370"/>
              </a:xfrm>
              <a:prstGeom prst="rect">
                <a:avLst/>
              </a:prstGeom>
              <a:noFill/>
              <a:ln>
                <a:noFill/>
              </a:ln>
            </p:spPr>
            <p:txBody>
              <a:bodyPr wrap="none" lIns="0" tIns="0" rIns="0" bIns="0" anchor="t" anchorCtr="0">
                <a:spAutoFit/>
              </a:bodyPr>
              <a:lstStyle/>
              <a:p>
                <a:pPr algn="l"/>
                <a:r>
                  <a:rPr lang="en-US" sz="1500" dirty="0">
                    <a:solidFill>
                      <a:schemeClr val="accent2"/>
                    </a:solidFill>
                    <a:latin typeface="+mn-lt"/>
                    <a:ea typeface="+mn-ea"/>
                    <a:cs typeface="+mn-cs"/>
                  </a:rPr>
                  <a:t>knowledge-to-pptx</a:t>
                </a:r>
              </a:p>
            </p:txBody>
          </p:sp>
        </p:grpSp>
        <p:sp>
          <p:nvSpPr>
            <p:cNvPr id="26" name="Line 26"/>
            <p:cNvSpPr/>
            <p:nvPr/>
          </p:nvSpPr>
          <p:spPr>
            <a:xfrm flipH="1" flipV="1">
              <a:off x="3333750" y="2857500"/>
              <a:ext cx="1619250" cy="95250"/>
            </a:xfrm>
            <a:prstGeom prst="line">
              <a:avLst/>
            </a:prstGeom>
            <a:noFill/>
            <a:ln w="28575">
              <a:solidFill>
                <a:schemeClr val="accent3"/>
              </a:solidFill>
              <a:tailEnd type="triangle" w="lg" len="lg"/>
            </a:ln>
          </p:spPr>
        </p:sp>
        <p:sp>
          <p:nvSpPr>
            <p:cNvPr id="27" name="Line 27"/>
            <p:cNvSpPr/>
            <p:nvPr/>
          </p:nvSpPr>
          <p:spPr>
            <a:xfrm flipH="1">
              <a:off x="3333750" y="3619500"/>
              <a:ext cx="1714500" cy="381000"/>
            </a:xfrm>
            <a:prstGeom prst="line">
              <a:avLst/>
            </a:prstGeom>
            <a:noFill/>
            <a:ln w="28575">
              <a:solidFill>
                <a:schemeClr val="accent3"/>
              </a:solidFill>
              <a:tailEnd type="triangle" w="lg" len="lg"/>
            </a:ln>
          </p:spPr>
        </p:sp>
        <p:sp>
          <p:nvSpPr>
            <p:cNvPr id="28" name="Line 28"/>
            <p:cNvSpPr/>
            <p:nvPr/>
          </p:nvSpPr>
          <p:spPr>
            <a:xfrm flipV="1">
              <a:off x="7239000" y="2857500"/>
              <a:ext cx="1619250" cy="95250"/>
            </a:xfrm>
            <a:prstGeom prst="line">
              <a:avLst/>
            </a:prstGeom>
            <a:noFill/>
            <a:ln w="28575">
              <a:solidFill>
                <a:schemeClr val="accent3"/>
              </a:solidFill>
              <a:tailEnd type="triangle" w="lg" len="lg"/>
            </a:ln>
          </p:spPr>
        </p:sp>
        <p:sp>
          <p:nvSpPr>
            <p:cNvPr id="29" name="Line 29"/>
            <p:cNvSpPr/>
            <p:nvPr/>
          </p:nvSpPr>
          <p:spPr>
            <a:xfrm>
              <a:off x="7143750" y="3619500"/>
              <a:ext cx="1714500" cy="381000"/>
            </a:xfrm>
            <a:prstGeom prst="line">
              <a:avLst/>
            </a:prstGeom>
            <a:noFill/>
            <a:ln w="28575">
              <a:solidFill>
                <a:schemeClr val="accent3"/>
              </a:solidFill>
              <a:tailEnd type="triangle" w="lg" len="lg"/>
            </a:ln>
          </p:spPr>
        </p:sp>
        <p:sp>
          <p:nvSpPr>
            <p:cNvPr id="30" name="Line 30"/>
            <p:cNvSpPr/>
            <p:nvPr/>
          </p:nvSpPr>
          <p:spPr>
            <a:xfrm>
              <a:off x="6096000" y="4114800"/>
              <a:ext cx="1" cy="552450"/>
            </a:xfrm>
            <a:prstGeom prst="line">
              <a:avLst/>
            </a:prstGeom>
            <a:noFill/>
            <a:ln w="28575">
              <a:solidFill>
                <a:schemeClr val="accent3"/>
              </a:solidFill>
              <a:tailEnd type="triangle" w="lg" len="lg"/>
            </a:ln>
          </p:spPr>
        </p:sp>
      </p:grpSp>
      <p:grpSp>
        <p:nvGrpSpPr>
          <p:cNvPr id="34" name="Group 34"/>
          <p:cNvGrpSpPr/>
          <p:nvPr/>
        </p:nvGrpSpPr>
        <p:grpSpPr>
          <a:xfrm>
            <a:off x="603504" y="6233160"/>
            <a:ext cx="10984992" cy="234696"/>
            <a:chOff x="603504" y="6233160"/>
            <a:chExt cx="10984992" cy="234696"/>
          </a:xfrm>
        </p:grpSpPr>
        <p:sp>
          <p:nvSpPr>
            <p:cNvPr id="32" name="TextBox 32"/>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K-005 · K-014</a:t>
              </a:r>
            </a:p>
          </p:txBody>
        </p:sp>
        <p:sp>
          <p:nvSpPr>
            <p:cNvPr id="33" name="TextBox 33"/>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05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78168"/>
            <a:ext cx="7104743" cy="865822"/>
            <a:chOff x="594360" y="578168"/>
            <a:chExt cx="7104743" cy="865822"/>
          </a:xfrm>
        </p:grpSpPr>
        <p:sp>
          <p:nvSpPr>
            <p:cNvPr id="2" name="TextBox 2"/>
            <p:cNvSpPr txBox="1"/>
            <p:nvPr/>
          </p:nvSpPr>
          <p:spPr>
            <a:xfrm>
              <a:off x="602742" y="578168"/>
              <a:ext cx="1588313"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CONTRACT LEDGER</a:t>
              </a:r>
            </a:p>
          </p:txBody>
        </p:sp>
        <p:sp>
          <p:nvSpPr>
            <p:cNvPr id="3" name="TextBox 3"/>
            <p:cNvSpPr txBox="1"/>
            <p:nvPr/>
          </p:nvSpPr>
          <p:spPr>
            <a:xfrm>
              <a:off x="594360" y="857250"/>
              <a:ext cx="7104743"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Nine skills, nine narrow contracts</a:t>
              </a:r>
            </a:p>
          </p:txBody>
        </p:sp>
      </p:grpSp>
      <p:graphicFrame>
        <p:nvGraphicFramePr>
          <p:cNvPr id="5" name="skill-contract-grid"/>
          <p:cNvGraphicFramePr>
            <a:graphicFrameLocks noGrp="1"/>
          </p:cNvGraphicFramePr>
          <p:nvPr/>
        </p:nvGraphicFramePr>
        <p:xfrm>
          <a:off x="609600" y="1504950"/>
          <a:ext cx="10972800" cy="4191000"/>
        </p:xfrm>
        <a:graphic>
          <a:graphicData uri="http://schemas.openxmlformats.org/drawingml/2006/table">
            <a:tbl>
              <a:tblPr firstRow="1" bandRow="0">
                <a:tableStyleId>{5C22544A-7EE6-4342-B048-85BDC9FD1C3A}</a:tableStyleId>
              </a:tblPr>
              <a:tblGrid>
                <a:gridCol w="2310064"/>
                <a:gridCol w="4042610"/>
                <a:gridCol w="4620126"/>
              </a:tblGrid>
              <a:tr h="419100">
                <a:tc>
                  <a:txBody>
                    <a:bodyPr/>
                    <a:lstStyle/>
                    <a:p>
                      <a:pPr algn="ctr"/>
                      <a:r>
                        <a:rPr lang="en-US" sz="1350" b="1">
                          <a:solidFill>
                            <a:srgbClr val="FFFFFF"/>
                          </a:solidFill>
                          <a:latin typeface="Aptos"/>
                          <a:ea typeface="Microsoft YaHei"/>
                          <a:cs typeface="Aptos"/>
                        </a:rPr>
                        <a:t>Skill</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accent1"/>
                    </a:solidFill>
                  </a:tcPr>
                </a:tc>
                <a:tc>
                  <a:txBody>
                    <a:bodyPr/>
                    <a:lstStyle/>
                    <a:p>
                      <a:pPr algn="ctr"/>
                      <a:r>
                        <a:rPr lang="en-US" sz="1350" b="1">
                          <a:solidFill>
                            <a:srgbClr val="FFFFFF"/>
                          </a:solidFill>
                          <a:latin typeface="Aptos"/>
                          <a:ea typeface="Microsoft YaHei"/>
                          <a:cs typeface="Aptos"/>
                        </a:rPr>
                        <a:t>Durable result</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accent1"/>
                    </a:solidFill>
                  </a:tcPr>
                </a:tc>
                <a:tc>
                  <a:txBody>
                    <a:bodyPr/>
                    <a:lstStyle/>
                    <a:p>
                      <a:pPr algn="ctr"/>
                      <a:r>
                        <a:rPr lang="en-US" sz="1350" b="1">
                          <a:solidFill>
                            <a:srgbClr val="FFFFFF"/>
                          </a:solidFill>
                          <a:latin typeface="Aptos"/>
                          <a:ea typeface="Microsoft YaHei"/>
                          <a:cs typeface="Aptos"/>
                        </a:rPr>
                        <a:t>Critical boundary</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accent1"/>
                    </a:solidFill>
                  </a:tcPr>
                </a:tc>
              </a:tr>
              <a:tr h="419100">
                <a:tc>
                  <a:txBody>
                    <a:bodyPr/>
                    <a:lstStyle/>
                    <a:p>
                      <a:pPr/>
                      <a:r>
                        <a:rPr lang="en-US" sz="1350" b="0">
                          <a:solidFill>
                            <a:srgbClr val="1F2937"/>
                          </a:solidFill>
                          <a:latin typeface="Aptos"/>
                          <a:ea typeface="Microsoft YaHei"/>
                          <a:cs typeface="Aptos"/>
                        </a:rPr>
                        <a:t>learn</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source-backed curriculum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does not claim observed evidence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419100">
                <a:tc>
                  <a:txBody>
                    <a:bodyPr/>
                    <a:lstStyle/>
                    <a:p>
                      <a:pPr/>
                      <a:r>
                        <a:rPr lang="en-US" sz="1350" b="0">
                          <a:solidFill>
                            <a:srgbClr val="1F2937"/>
                          </a:solidFill>
                          <a:latin typeface="Aptos"/>
                          <a:ea typeface="Microsoft YaHei"/>
                          <a:cs typeface="Aptos"/>
                        </a:rPr>
                        <a:t>quiz</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deterministic assessment</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does not mutate curriculum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419100">
                <a:tc>
                  <a:txBody>
                    <a:bodyPr/>
                    <a:lstStyle/>
                    <a:p>
                      <a:pPr/>
                      <a:r>
                        <a:rPr lang="en-US" sz="1350" b="0">
                          <a:solidFill>
                            <a:srgbClr val="1F2937"/>
                          </a:solidFill>
                          <a:latin typeface="Aptos"/>
                          <a:ea typeface="Microsoft YaHei"/>
                          <a:cs typeface="Aptos"/>
                        </a:rPr>
                        <a:t>practice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observed lab evidence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bounded experiment only</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419100">
                <a:tc>
                  <a:txBody>
                    <a:bodyPr/>
                    <a:lstStyle/>
                    <a:p>
                      <a:pPr/>
                      <a:r>
                        <a:rPr lang="en-US" sz="1350" b="0">
                          <a:solidFill>
                            <a:srgbClr val="1F2937"/>
                          </a:solidFill>
                          <a:latin typeface="Aptos"/>
                          <a:ea typeface="Microsoft YaHei"/>
                          <a:cs typeface="Aptos"/>
                        </a:rPr>
                        <a:t>build-mental-model</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reusable reasoning model</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state boundary and next test</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419100">
                <a:tc>
                  <a:txBody>
                    <a:bodyPr/>
                    <a:lstStyle/>
                    <a:p>
                      <a:pPr/>
                      <a:r>
                        <a:rPr lang="en-US" sz="1350" b="0">
                          <a:solidFill>
                            <a:srgbClr val="1F2937"/>
                          </a:solidFill>
                          <a:latin typeface="Aptos"/>
                          <a:ea typeface="Microsoft YaHei"/>
                          <a:cs typeface="Aptos"/>
                        </a:rPr>
                        <a:t>brainstorm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distinct mechanisms</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candidates remain independent</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419100">
                <a:tc>
                  <a:txBody>
                    <a:bodyPr/>
                    <a:lstStyle/>
                    <a:p>
                      <a:pPr/>
                      <a:r>
                        <a:rPr lang="en-US" sz="1350" b="0">
                          <a:solidFill>
                            <a:srgbClr val="1F2937"/>
                          </a:solidFill>
                          <a:latin typeface="Aptos"/>
                          <a:ea typeface="Microsoft YaHei"/>
                          <a:cs typeface="Aptos"/>
                        </a:rPr>
                        <a:t>judge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basis-gated verdict</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requires an admitted model</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419100">
                <a:tc>
                  <a:txBody>
                    <a:bodyPr/>
                    <a:lstStyle/>
                    <a:p>
                      <a:pPr/>
                      <a:r>
                        <a:rPr lang="en-US" sz="1350" b="0">
                          <a:solidFill>
                            <a:srgbClr val="1F2937"/>
                          </a:solidFill>
                          <a:latin typeface="Aptos"/>
                          <a:ea typeface="Microsoft YaHei"/>
                          <a:cs typeface="Aptos"/>
                        </a:rPr>
                        <a:t>idea</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faithful raw capture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secret check before write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419100">
                <a:tc>
                  <a:txBody>
                    <a:bodyPr/>
                    <a:lstStyle/>
                    <a:p>
                      <a:pPr/>
                      <a:r>
                        <a:rPr lang="en-US" sz="1350" b="0">
                          <a:solidFill>
                            <a:srgbClr val="1F2937"/>
                          </a:solidFill>
                          <a:latin typeface="Aptos"/>
                          <a:ea typeface="Microsoft YaHei"/>
                          <a:cs typeface="Aptos"/>
                        </a:rPr>
                        <a:t>dream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provenance-linked synthesis</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copy and verify before remove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419100">
                <a:tc>
                  <a:txBody>
                    <a:bodyPr/>
                    <a:lstStyle/>
                    <a:p>
                      <a:pPr/>
                      <a:r>
                        <a:rPr lang="en-US" sz="1350" b="0">
                          <a:solidFill>
                            <a:srgbClr val="1F2937"/>
                          </a:solidFill>
                          <a:latin typeface="Aptos"/>
                          <a:ea typeface="Microsoft YaHei"/>
                          <a:cs typeface="Aptos"/>
                        </a:rPr>
                        <a:t>knowledge-to-pptx</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validated design artifacts</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350" b="0">
                          <a:solidFill>
                            <a:srgbClr val="1F2937"/>
                          </a:solidFill>
                          <a:latin typeface="Aptos"/>
                          <a:ea typeface="Microsoft YaHei"/>
                          <a:cs typeface="Aptos"/>
                        </a:rPr>
                        <a:t>facts stay source-backed</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bl>
          </a:graphicData>
        </a:graphic>
      </p:graphicFrame>
      <p:grpSp>
        <p:nvGrpSpPr>
          <p:cNvPr id="8" name="Group 8"/>
          <p:cNvGrpSpPr/>
          <p:nvPr/>
        </p:nvGrpSpPr>
        <p:grpSpPr>
          <a:xfrm>
            <a:off x="603504" y="6233160"/>
            <a:ext cx="10984992" cy="234696"/>
            <a:chOff x="603504" y="6233160"/>
            <a:chExt cx="10984992" cy="234696"/>
          </a:xfrm>
        </p:grpSpPr>
        <p:sp>
          <p:nvSpPr>
            <p:cNvPr id="6" name="TextBox 6"/>
            <p:cNvSpPr txBox="1"/>
            <p:nvPr/>
          </p:nvSpPr>
          <p:spPr>
            <a:xfrm>
              <a:off x="603504" y="6233160"/>
              <a:ext cx="1812950"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K-001 · K-005 · K-006</a:t>
              </a:r>
            </a:p>
          </p:txBody>
        </p:sp>
        <p:sp>
          <p:nvSpPr>
            <p:cNvPr id="7" name="TextBox 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06</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844868"/>
            <a:ext cx="10487664" cy="1031367"/>
            <a:chOff x="593598" y="844868"/>
            <a:chExt cx="10487664" cy="1031367"/>
          </a:xfrm>
        </p:grpSpPr>
        <p:sp>
          <p:nvSpPr>
            <p:cNvPr id="2" name="TextBox 2"/>
            <p:cNvSpPr txBox="1"/>
            <p:nvPr/>
          </p:nvSpPr>
          <p:spPr>
            <a:xfrm>
              <a:off x="602742" y="844868"/>
              <a:ext cx="3076499"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SECTION 03 / WORKFLOW FAMILIES</a:t>
              </a:r>
            </a:p>
          </p:txBody>
        </p:sp>
        <p:sp>
          <p:nvSpPr>
            <p:cNvPr id="3" name="TextBox 3"/>
            <p:cNvSpPr txBox="1"/>
            <p:nvPr/>
          </p:nvSpPr>
          <p:spPr>
            <a:xfrm>
              <a:off x="593598" y="1260158"/>
              <a:ext cx="10487664"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Five workflow families, five evidence contracts</a:t>
              </a:r>
            </a:p>
          </p:txBody>
        </p:sp>
      </p:grpSp>
      <p:grpSp>
        <p:nvGrpSpPr>
          <p:cNvPr id="24" name="Group 24"/>
          <p:cNvGrpSpPr/>
          <p:nvPr/>
        </p:nvGrpSpPr>
        <p:grpSpPr>
          <a:xfrm>
            <a:off x="1238250" y="3314700"/>
            <a:ext cx="9715500" cy="990600"/>
            <a:chOff x="1238250" y="3314700"/>
            <a:chExt cx="9715500" cy="990600"/>
          </a:xfrm>
        </p:grpSpPr>
        <p:sp>
          <p:nvSpPr>
            <p:cNvPr id="5" name="Line 5"/>
            <p:cNvSpPr/>
            <p:nvPr/>
          </p:nvSpPr>
          <p:spPr>
            <a:xfrm>
              <a:off x="1524000" y="3810000"/>
              <a:ext cx="9144000" cy="9525"/>
            </a:xfrm>
            <a:custGeom>
              <a:avLst/>
              <a:gdLst/>
              <a:ahLst/>
              <a:cxnLst/>
              <a:rect l="l" t="t" r="r" b="b"/>
              <a:pathLst>
                <a:path w="9144000" h="9525">
                  <a:moveTo>
                    <a:pt x="0" y="0"/>
                  </a:moveTo>
                  <a:lnTo>
                    <a:pt x="9144000" y="0"/>
                  </a:lnTo>
                </a:path>
              </a:pathLst>
            </a:custGeom>
            <a:noFill/>
            <a:ln w="38100">
              <a:solidFill>
                <a:schemeClr val="accent3"/>
              </a:solidFill>
            </a:ln>
          </p:spPr>
        </p:sp>
        <p:grpSp>
          <p:nvGrpSpPr>
            <p:cNvPr id="11" name="Group 11"/>
            <p:cNvGrpSpPr/>
            <p:nvPr/>
          </p:nvGrpSpPr>
          <p:grpSpPr>
            <a:xfrm>
              <a:off x="1238250" y="3314700"/>
              <a:ext cx="9715500" cy="990600"/>
              <a:chOff x="1238250" y="3314700"/>
              <a:chExt cx="9715500" cy="990600"/>
            </a:xfrm>
          </p:grpSpPr>
          <p:sp>
            <p:nvSpPr>
              <p:cNvPr id="6" name="Rectangle 6"/>
              <p:cNvSpPr/>
              <p:nvPr/>
            </p:nvSpPr>
            <p:spPr>
              <a:xfrm>
                <a:off x="1238250" y="3314700"/>
                <a:ext cx="1714500" cy="990600"/>
              </a:xfrm>
              <a:prstGeom prst="roundRect">
                <a:avLst>
                  <a:gd name="adj" fmla="val 5769"/>
                </a:avLst>
              </a:prstGeom>
              <a:solidFill>
                <a:schemeClr val="accent1"/>
              </a:solidFill>
              <a:ln w="28575">
                <a:solidFill>
                  <a:srgbClr val="F4F1E8"/>
                </a:solidFill>
              </a:ln>
            </p:spPr>
          </p:sp>
          <p:sp>
            <p:nvSpPr>
              <p:cNvPr id="7" name="Rectangle 7"/>
              <p:cNvSpPr/>
              <p:nvPr/>
            </p:nvSpPr>
            <p:spPr>
              <a:xfrm>
                <a:off x="3238500" y="3314700"/>
                <a:ext cx="1714500" cy="990600"/>
              </a:xfrm>
              <a:prstGeom prst="roundRect">
                <a:avLst>
                  <a:gd name="adj" fmla="val 5769"/>
                </a:avLst>
              </a:prstGeom>
              <a:solidFill>
                <a:schemeClr val="accent1"/>
              </a:solidFill>
              <a:ln w="28575">
                <a:solidFill>
                  <a:srgbClr val="F4F1E8"/>
                </a:solidFill>
              </a:ln>
            </p:spPr>
          </p:sp>
          <p:sp>
            <p:nvSpPr>
              <p:cNvPr id="8" name="Rectangle 8"/>
              <p:cNvSpPr/>
              <p:nvPr/>
            </p:nvSpPr>
            <p:spPr>
              <a:xfrm>
                <a:off x="5238750" y="3314700"/>
                <a:ext cx="1714500" cy="990600"/>
              </a:xfrm>
              <a:prstGeom prst="roundRect">
                <a:avLst>
                  <a:gd name="adj" fmla="val 5769"/>
                </a:avLst>
              </a:prstGeom>
              <a:solidFill>
                <a:schemeClr val="accent1"/>
              </a:solidFill>
              <a:ln w="28575">
                <a:solidFill>
                  <a:srgbClr val="F4F1E8"/>
                </a:solidFill>
              </a:ln>
            </p:spPr>
          </p:sp>
          <p:sp>
            <p:nvSpPr>
              <p:cNvPr id="9" name="Rectangle 9"/>
              <p:cNvSpPr/>
              <p:nvPr/>
            </p:nvSpPr>
            <p:spPr>
              <a:xfrm>
                <a:off x="7239000" y="3314700"/>
                <a:ext cx="1714500" cy="990600"/>
              </a:xfrm>
              <a:prstGeom prst="roundRect">
                <a:avLst>
                  <a:gd name="adj" fmla="val 5769"/>
                </a:avLst>
              </a:prstGeom>
              <a:solidFill>
                <a:schemeClr val="accent1"/>
              </a:solidFill>
              <a:ln w="28575">
                <a:solidFill>
                  <a:srgbClr val="F4F1E8"/>
                </a:solidFill>
              </a:ln>
            </p:spPr>
          </p:sp>
          <p:sp>
            <p:nvSpPr>
              <p:cNvPr id="10" name="Rectangle 10"/>
              <p:cNvSpPr/>
              <p:nvPr/>
            </p:nvSpPr>
            <p:spPr>
              <a:xfrm>
                <a:off x="9239250" y="3314700"/>
                <a:ext cx="1714500" cy="990600"/>
              </a:xfrm>
              <a:prstGeom prst="roundRect">
                <a:avLst>
                  <a:gd name="adj" fmla="val 5769"/>
                </a:avLst>
              </a:prstGeom>
              <a:solidFill>
                <a:schemeClr val="accent1"/>
              </a:solidFill>
              <a:ln w="28575">
                <a:solidFill>
                  <a:srgbClr val="F4F1E8"/>
                </a:solidFill>
              </a:ln>
            </p:spPr>
          </p:sp>
        </p:grpSp>
        <p:grpSp>
          <p:nvGrpSpPr>
            <p:cNvPr id="17" name="Group 17"/>
            <p:cNvGrpSpPr/>
            <p:nvPr/>
          </p:nvGrpSpPr>
          <p:grpSpPr>
            <a:xfrm>
              <a:off x="1512113" y="3717608"/>
              <a:ext cx="9336765" cy="322707"/>
              <a:chOff x="1512113" y="3717608"/>
              <a:chExt cx="9336765" cy="322707"/>
            </a:xfrm>
          </p:grpSpPr>
          <p:sp>
            <p:nvSpPr>
              <p:cNvPr id="12" name="TextBox 12"/>
              <p:cNvSpPr txBox="1"/>
              <p:nvPr/>
            </p:nvSpPr>
            <p:spPr>
              <a:xfrm>
                <a:off x="1512113" y="3717608"/>
                <a:ext cx="1166774"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Knowledge</a:t>
                </a:r>
              </a:p>
            </p:txBody>
          </p:sp>
          <p:sp>
            <p:nvSpPr>
              <p:cNvPr id="13" name="TextBox 13"/>
              <p:cNvSpPr txBox="1"/>
              <p:nvPr/>
            </p:nvSpPr>
            <p:spPr>
              <a:xfrm>
                <a:off x="3290648" y="3717608"/>
                <a:ext cx="1610203"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Mental models</a:t>
                </a:r>
              </a:p>
            </p:txBody>
          </p:sp>
          <p:sp>
            <p:nvSpPr>
              <p:cNvPr id="14" name="TextBox 14"/>
              <p:cNvSpPr txBox="1"/>
              <p:nvPr/>
            </p:nvSpPr>
            <p:spPr>
              <a:xfrm>
                <a:off x="5792781" y="3717608"/>
                <a:ext cx="606438"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Ideas</a:t>
                </a:r>
              </a:p>
            </p:txBody>
          </p:sp>
          <p:sp>
            <p:nvSpPr>
              <p:cNvPr id="15" name="TextBox 15"/>
              <p:cNvSpPr txBox="1"/>
              <p:nvPr/>
            </p:nvSpPr>
            <p:spPr>
              <a:xfrm>
                <a:off x="7536332" y="3717608"/>
                <a:ext cx="1119835"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Reasoning</a:t>
                </a:r>
              </a:p>
            </p:txBody>
          </p:sp>
          <p:sp>
            <p:nvSpPr>
              <p:cNvPr id="16" name="TextBox 16"/>
              <p:cNvSpPr txBox="1"/>
              <p:nvPr/>
            </p:nvSpPr>
            <p:spPr>
              <a:xfrm>
                <a:off x="9344123" y="3717608"/>
                <a:ext cx="1504755"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Presentation</a:t>
                </a:r>
              </a:p>
            </p:txBody>
          </p:sp>
        </p:grpSp>
        <p:grpSp>
          <p:nvGrpSpPr>
            <p:cNvPr id="23" name="Group 23"/>
            <p:cNvGrpSpPr/>
            <p:nvPr/>
          </p:nvGrpSpPr>
          <p:grpSpPr>
            <a:xfrm>
              <a:off x="1981200" y="3676650"/>
              <a:ext cx="8229600" cy="228600"/>
              <a:chOff x="1981200" y="3676650"/>
              <a:chExt cx="8229600" cy="228600"/>
            </a:xfrm>
          </p:grpSpPr>
          <p:sp>
            <p:nvSpPr>
              <p:cNvPr id="18" name="Rectangle 18"/>
              <p:cNvSpPr/>
              <p:nvPr/>
            </p:nvSpPr>
            <p:spPr>
              <a:xfrm>
                <a:off x="1981200" y="3676650"/>
                <a:ext cx="228600" cy="228600"/>
              </a:xfrm>
              <a:prstGeom prst="rect">
                <a:avLst/>
              </a:prstGeom>
              <a:solidFill>
                <a:schemeClr val="accent2"/>
              </a:solidFill>
              <a:ln>
                <a:noFill/>
              </a:ln>
            </p:spPr>
          </p:sp>
          <p:sp>
            <p:nvSpPr>
              <p:cNvPr id="19" name="Rectangle 19"/>
              <p:cNvSpPr/>
              <p:nvPr/>
            </p:nvSpPr>
            <p:spPr>
              <a:xfrm>
                <a:off x="3981450" y="3676650"/>
                <a:ext cx="228600" cy="228600"/>
              </a:xfrm>
              <a:prstGeom prst="rect">
                <a:avLst/>
              </a:prstGeom>
              <a:solidFill>
                <a:schemeClr val="accent2"/>
              </a:solidFill>
              <a:ln>
                <a:noFill/>
              </a:ln>
            </p:spPr>
          </p:sp>
          <p:sp>
            <p:nvSpPr>
              <p:cNvPr id="20" name="Rectangle 20"/>
              <p:cNvSpPr/>
              <p:nvPr/>
            </p:nvSpPr>
            <p:spPr>
              <a:xfrm>
                <a:off x="5981700" y="3676650"/>
                <a:ext cx="228600" cy="228600"/>
              </a:xfrm>
              <a:prstGeom prst="rect">
                <a:avLst/>
              </a:prstGeom>
              <a:solidFill>
                <a:schemeClr val="accent2"/>
              </a:solidFill>
              <a:ln>
                <a:noFill/>
              </a:ln>
            </p:spPr>
          </p:sp>
          <p:sp>
            <p:nvSpPr>
              <p:cNvPr id="21" name="Rectangle 21"/>
              <p:cNvSpPr/>
              <p:nvPr/>
            </p:nvSpPr>
            <p:spPr>
              <a:xfrm>
                <a:off x="7981950" y="3676650"/>
                <a:ext cx="228600" cy="228600"/>
              </a:xfrm>
              <a:prstGeom prst="rect">
                <a:avLst/>
              </a:prstGeom>
              <a:solidFill>
                <a:schemeClr val="accent2"/>
              </a:solidFill>
              <a:ln>
                <a:noFill/>
              </a:ln>
            </p:spPr>
          </p:sp>
          <p:sp>
            <p:nvSpPr>
              <p:cNvPr id="22" name="Rectangle 22"/>
              <p:cNvSpPr/>
              <p:nvPr/>
            </p:nvSpPr>
            <p:spPr>
              <a:xfrm>
                <a:off x="9982200" y="3676650"/>
                <a:ext cx="228600" cy="228600"/>
              </a:xfrm>
              <a:prstGeom prst="rect">
                <a:avLst/>
              </a:prstGeom>
              <a:solidFill>
                <a:schemeClr val="accent2"/>
              </a:solidFill>
              <a:ln>
                <a:noFill/>
              </a:ln>
            </p:spPr>
          </p:sp>
        </p:grpSp>
      </p:grpSp>
      <p:sp>
        <p:nvSpPr>
          <p:cNvPr id="25" name="TextBox 25"/>
          <p:cNvSpPr txBox="1"/>
          <p:nvPr/>
        </p:nvSpPr>
        <p:spPr>
          <a:xfrm>
            <a:off x="3193149" y="5444490"/>
            <a:ext cx="5805703" cy="352044"/>
          </a:xfrm>
          <a:prstGeom prst="rect">
            <a:avLst/>
          </a:prstGeom>
          <a:noFill/>
          <a:ln>
            <a:noFill/>
          </a:ln>
        </p:spPr>
        <p:txBody>
          <a:bodyPr wrap="none" lIns="0" tIns="0" rIns="0" bIns="0" anchor="t" anchorCtr="0">
            <a:spAutoFit/>
          </a:bodyPr>
          <a:lstStyle/>
          <a:p>
            <a:pPr algn="ctr"/>
            <a:r>
              <a:rPr lang="en-US" sz="1800" dirty="0">
                <a:solidFill>
                  <a:srgbClr val="B7D8D8"/>
                </a:solidFill>
                <a:latin typeface="+mn-lt"/>
                <a:ea typeface="+mn-ea"/>
                <a:cs typeface="+mn-cs"/>
              </a:rPr>
              <a:t>Each family preserves a different kind of truth.</a:t>
            </a:r>
          </a:p>
        </p:txBody>
      </p:sp>
      <p:grpSp>
        <p:nvGrpSpPr>
          <p:cNvPr id="28" name="Group 28"/>
          <p:cNvGrpSpPr/>
          <p:nvPr/>
        </p:nvGrpSpPr>
        <p:grpSpPr>
          <a:xfrm>
            <a:off x="603504" y="6233160"/>
            <a:ext cx="10984992" cy="234696"/>
            <a:chOff x="603504" y="6233160"/>
            <a:chExt cx="10984992" cy="234696"/>
          </a:xfrm>
        </p:grpSpPr>
        <p:sp>
          <p:nvSpPr>
            <p:cNvPr id="26" name="TextBox 26"/>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K-006</a:t>
              </a:r>
            </a:p>
          </p:txBody>
        </p:sp>
        <p:sp>
          <p:nvSpPr>
            <p:cNvPr id="27" name="TextBox 2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07</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97218"/>
            <a:ext cx="9756150" cy="865822"/>
            <a:chOff x="594360" y="597218"/>
            <a:chExt cx="9756150" cy="865822"/>
          </a:xfrm>
        </p:grpSpPr>
        <p:sp>
          <p:nvSpPr>
            <p:cNvPr id="2" name="TextBox 2"/>
            <p:cNvSpPr txBox="1"/>
            <p:nvPr/>
          </p:nvSpPr>
          <p:spPr>
            <a:xfrm>
              <a:off x="602742" y="597218"/>
              <a:ext cx="2452421"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KNOWLEDGE EVIDENCE LOOP</a:t>
              </a:r>
            </a:p>
          </p:txBody>
        </p:sp>
        <p:sp>
          <p:nvSpPr>
            <p:cNvPr id="3" name="TextBox 3"/>
            <p:cNvSpPr txBox="1"/>
            <p:nvPr/>
          </p:nvSpPr>
          <p:spPr>
            <a:xfrm>
              <a:off x="594360" y="876300"/>
              <a:ext cx="9756150"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Textbook, exam, and laboratory stay separate</a:t>
              </a:r>
            </a:p>
          </p:txBody>
        </p:sp>
      </p:grpSp>
      <p:grpSp>
        <p:nvGrpSpPr>
          <p:cNvPr id="20" name="Group 20"/>
          <p:cNvGrpSpPr/>
          <p:nvPr/>
        </p:nvGrpSpPr>
        <p:grpSpPr>
          <a:xfrm>
            <a:off x="2000250" y="1143000"/>
            <a:ext cx="8191500" cy="4753356"/>
            <a:chOff x="2000250" y="1143000"/>
            <a:chExt cx="8191500" cy="4753356"/>
          </a:xfrm>
        </p:grpSpPr>
        <p:sp>
          <p:nvSpPr>
            <p:cNvPr id="5" name="Freeform 5"/>
            <p:cNvSpPr/>
            <p:nvPr/>
          </p:nvSpPr>
          <p:spPr>
            <a:xfrm>
              <a:off x="2857500" y="2000250"/>
              <a:ext cx="6477000" cy="2362200"/>
            </a:xfrm>
            <a:custGeom>
              <a:avLst/>
              <a:gdLst/>
              <a:ahLst/>
              <a:cxnLst/>
              <a:rect l="l" t="t" r="r" b="b"/>
              <a:pathLst>
                <a:path w="6477000" h="2362200">
                  <a:moveTo>
                    <a:pt x="3238500" y="0"/>
                  </a:moveTo>
                  <a:lnTo>
                    <a:pt x="6477000" y="2362200"/>
                  </a:lnTo>
                  <a:lnTo>
                    <a:pt x="0" y="2362200"/>
                  </a:lnTo>
                  <a:close/>
                </a:path>
              </a:pathLst>
            </a:custGeom>
            <a:noFill/>
            <a:ln w="38100">
              <a:solidFill>
                <a:schemeClr val="accent3"/>
              </a:solidFill>
              <a:tailEnd type="triangle" w="lg" len="lg"/>
            </a:ln>
          </p:spPr>
        </p:sp>
        <p:grpSp>
          <p:nvGrpSpPr>
            <p:cNvPr id="9" name="Group 9"/>
            <p:cNvGrpSpPr/>
            <p:nvPr/>
          </p:nvGrpSpPr>
          <p:grpSpPr>
            <a:xfrm>
              <a:off x="2000250" y="1143000"/>
              <a:ext cx="8191500" cy="4076700"/>
              <a:chOff x="2000250" y="1143000"/>
              <a:chExt cx="8191500" cy="4076700"/>
            </a:xfrm>
          </p:grpSpPr>
          <p:sp>
            <p:nvSpPr>
              <p:cNvPr id="6" name="Ellipse 6"/>
              <p:cNvSpPr/>
              <p:nvPr/>
            </p:nvSpPr>
            <p:spPr>
              <a:xfrm>
                <a:off x="5238750" y="1143000"/>
                <a:ext cx="1714500" cy="1714500"/>
              </a:xfrm>
              <a:prstGeom prst="ellipse">
                <a:avLst/>
              </a:prstGeom>
              <a:solidFill>
                <a:schemeClr val="lt2"/>
              </a:solidFill>
              <a:ln w="28575">
                <a:solidFill>
                  <a:schemeClr val="accent1"/>
                </a:solidFill>
              </a:ln>
            </p:spPr>
          </p:sp>
          <p:sp>
            <p:nvSpPr>
              <p:cNvPr id="7" name="Ellipse 7"/>
              <p:cNvSpPr/>
              <p:nvPr/>
            </p:nvSpPr>
            <p:spPr>
              <a:xfrm>
                <a:off x="2000250" y="3505200"/>
                <a:ext cx="1714500" cy="1714500"/>
              </a:xfrm>
              <a:prstGeom prst="ellipse">
                <a:avLst/>
              </a:prstGeom>
              <a:solidFill>
                <a:schemeClr val="lt2"/>
              </a:solidFill>
              <a:ln w="28575">
                <a:solidFill>
                  <a:schemeClr val="accent1"/>
                </a:solidFill>
              </a:ln>
            </p:spPr>
          </p:sp>
          <p:sp>
            <p:nvSpPr>
              <p:cNvPr id="8" name="Ellipse 8"/>
              <p:cNvSpPr/>
              <p:nvPr/>
            </p:nvSpPr>
            <p:spPr>
              <a:xfrm>
                <a:off x="8477250" y="3505200"/>
                <a:ext cx="1714500" cy="1714500"/>
              </a:xfrm>
              <a:prstGeom prst="ellipse">
                <a:avLst/>
              </a:prstGeom>
              <a:solidFill>
                <a:schemeClr val="lt2"/>
              </a:solidFill>
              <a:ln w="28575">
                <a:solidFill>
                  <a:schemeClr val="accent1"/>
                </a:solidFill>
              </a:ln>
            </p:spPr>
          </p:sp>
        </p:grpSp>
        <p:grpSp>
          <p:nvGrpSpPr>
            <p:cNvPr id="13" name="Group 13"/>
            <p:cNvGrpSpPr/>
            <p:nvPr/>
          </p:nvGrpSpPr>
          <p:grpSpPr>
            <a:xfrm>
              <a:off x="2509670" y="1849755"/>
              <a:ext cx="7486300" cy="2772918"/>
              <a:chOff x="2509670" y="1849755"/>
              <a:chExt cx="7486300" cy="2772918"/>
            </a:xfrm>
          </p:grpSpPr>
          <p:sp>
            <p:nvSpPr>
              <p:cNvPr id="10" name="TextBox 10"/>
              <p:cNvSpPr txBox="1"/>
              <p:nvPr/>
            </p:nvSpPr>
            <p:spPr>
              <a:xfrm>
                <a:off x="5654078" y="1849755"/>
                <a:ext cx="883844" cy="410718"/>
              </a:xfrm>
              <a:prstGeom prst="rect">
                <a:avLst/>
              </a:prstGeom>
              <a:noFill/>
              <a:ln>
                <a:noFill/>
              </a:ln>
            </p:spPr>
            <p:txBody>
              <a:bodyPr wrap="none" lIns="0" tIns="0" rIns="0" bIns="0" anchor="t" anchorCtr="0">
                <a:spAutoFit/>
              </a:bodyPr>
              <a:lstStyle/>
              <a:p>
                <a:pPr algn="ctr"/>
                <a:r>
                  <a:rPr lang="en-US" sz="2100" b="1" dirty="0">
                    <a:solidFill>
                      <a:schemeClr val="dk1"/>
                    </a:solidFill>
                    <a:latin typeface="+mj-lt"/>
                    <a:ea typeface="+mj-ea"/>
                    <a:cs typeface="+mj-cs"/>
                  </a:rPr>
                  <a:t>LEARN</a:t>
                </a:r>
              </a:p>
            </p:txBody>
          </p:sp>
          <p:sp>
            <p:nvSpPr>
              <p:cNvPr id="11" name="TextBox 11"/>
              <p:cNvSpPr txBox="1"/>
              <p:nvPr/>
            </p:nvSpPr>
            <p:spPr>
              <a:xfrm>
                <a:off x="2509670" y="4211955"/>
                <a:ext cx="695660" cy="410718"/>
              </a:xfrm>
              <a:prstGeom prst="rect">
                <a:avLst/>
              </a:prstGeom>
              <a:noFill/>
              <a:ln>
                <a:noFill/>
              </a:ln>
            </p:spPr>
            <p:txBody>
              <a:bodyPr wrap="none" lIns="0" tIns="0" rIns="0" bIns="0" anchor="t" anchorCtr="0">
                <a:spAutoFit/>
              </a:bodyPr>
              <a:lstStyle/>
              <a:p>
                <a:pPr algn="ctr"/>
                <a:r>
                  <a:rPr lang="en-US" sz="2100" b="1" dirty="0">
                    <a:solidFill>
                      <a:schemeClr val="dk1"/>
                    </a:solidFill>
                    <a:latin typeface="+mj-lt"/>
                    <a:ea typeface="+mj-ea"/>
                    <a:cs typeface="+mj-cs"/>
                  </a:rPr>
                  <a:t>QUIZ</a:t>
                </a:r>
              </a:p>
            </p:txBody>
          </p:sp>
          <p:sp>
            <p:nvSpPr>
              <p:cNvPr id="12" name="TextBox 12"/>
              <p:cNvSpPr txBox="1"/>
              <p:nvPr/>
            </p:nvSpPr>
            <p:spPr>
              <a:xfrm>
                <a:off x="8673031" y="4211955"/>
                <a:ext cx="1322939" cy="410718"/>
              </a:xfrm>
              <a:prstGeom prst="rect">
                <a:avLst/>
              </a:prstGeom>
              <a:noFill/>
              <a:ln>
                <a:noFill/>
              </a:ln>
            </p:spPr>
            <p:txBody>
              <a:bodyPr wrap="none" lIns="0" tIns="0" rIns="0" bIns="0" anchor="t" anchorCtr="0">
                <a:spAutoFit/>
              </a:bodyPr>
              <a:lstStyle/>
              <a:p>
                <a:pPr algn="ctr"/>
                <a:r>
                  <a:rPr lang="en-US" sz="2100" b="1" dirty="0">
                    <a:solidFill>
                      <a:schemeClr val="dk1"/>
                    </a:solidFill>
                    <a:latin typeface="+mj-lt"/>
                    <a:ea typeface="+mj-ea"/>
                    <a:cs typeface="+mj-cs"/>
                  </a:rPr>
                  <a:t>PRACTICE</a:t>
                </a:r>
              </a:p>
            </p:txBody>
          </p:sp>
        </p:grpSp>
        <p:grpSp>
          <p:nvGrpSpPr>
            <p:cNvPr id="17" name="Group 17"/>
            <p:cNvGrpSpPr/>
            <p:nvPr/>
          </p:nvGrpSpPr>
          <p:grpSpPr>
            <a:xfrm>
              <a:off x="3077146" y="2981325"/>
              <a:ext cx="6148769" cy="1969770"/>
              <a:chOff x="3077146" y="2981325"/>
              <a:chExt cx="6148769" cy="1969770"/>
            </a:xfrm>
          </p:grpSpPr>
          <p:sp>
            <p:nvSpPr>
              <p:cNvPr id="14" name="TextBox 14"/>
              <p:cNvSpPr txBox="1"/>
              <p:nvPr/>
            </p:nvSpPr>
            <p:spPr>
              <a:xfrm>
                <a:off x="4811173" y="2981325"/>
                <a:ext cx="2569655" cy="293370"/>
              </a:xfrm>
              <a:prstGeom prst="rect">
                <a:avLst/>
              </a:prstGeom>
              <a:noFill/>
              <a:ln>
                <a:noFill/>
              </a:ln>
            </p:spPr>
            <p:txBody>
              <a:bodyPr wrap="none" lIns="0" tIns="0" rIns="0" bIns="0" anchor="t" anchorCtr="0">
                <a:spAutoFit/>
              </a:bodyPr>
              <a:lstStyle/>
              <a:p>
                <a:pPr algn="ctr"/>
                <a:r>
                  <a:rPr lang="en-US" sz="1500" dirty="0">
                    <a:solidFill>
                      <a:srgbClr val="49616C"/>
                    </a:solidFill>
                    <a:latin typeface="+mn-lt"/>
                    <a:ea typeface="+mn-ea"/>
                    <a:cs typeface="+mn-cs"/>
                  </a:rPr>
                  <a:t>source-backed curriculum</a:t>
                </a:r>
              </a:p>
            </p:txBody>
          </p:sp>
          <p:sp>
            <p:nvSpPr>
              <p:cNvPr id="15" name="TextBox 15"/>
              <p:cNvSpPr txBox="1"/>
              <p:nvPr/>
            </p:nvSpPr>
            <p:spPr>
              <a:xfrm>
                <a:off x="3077146" y="4657725"/>
                <a:ext cx="2418207" cy="293370"/>
              </a:xfrm>
              <a:prstGeom prst="rect">
                <a:avLst/>
              </a:prstGeom>
              <a:noFill/>
              <a:ln>
                <a:noFill/>
              </a:ln>
            </p:spPr>
            <p:txBody>
              <a:bodyPr wrap="none" lIns="0" tIns="0" rIns="0" bIns="0" anchor="t" anchorCtr="0">
                <a:spAutoFit/>
              </a:bodyPr>
              <a:lstStyle/>
              <a:p>
                <a:pPr algn="ctr"/>
                <a:r>
                  <a:rPr lang="en-US" sz="1500" dirty="0">
                    <a:solidFill>
                      <a:srgbClr val="49616C"/>
                    </a:solidFill>
                    <a:latin typeface="+mn-lt"/>
                    <a:ea typeface="+mn-ea"/>
                    <a:cs typeface="+mn-cs"/>
                  </a:rPr>
                  <a:t>deterministic projection</a:t>
                </a:r>
              </a:p>
            </p:txBody>
          </p:sp>
          <p:sp>
            <p:nvSpPr>
              <p:cNvPr id="16" name="TextBox 16"/>
              <p:cNvSpPr txBox="1"/>
              <p:nvPr/>
            </p:nvSpPr>
            <p:spPr>
              <a:xfrm>
                <a:off x="6585585" y="4657725"/>
                <a:ext cx="2640330" cy="293370"/>
              </a:xfrm>
              <a:prstGeom prst="rect">
                <a:avLst/>
              </a:prstGeom>
              <a:noFill/>
              <a:ln>
                <a:noFill/>
              </a:ln>
            </p:spPr>
            <p:txBody>
              <a:bodyPr wrap="none" lIns="0" tIns="0" rIns="0" bIns="0" anchor="t" anchorCtr="0">
                <a:spAutoFit/>
              </a:bodyPr>
              <a:lstStyle/>
              <a:p>
                <a:pPr algn="ctr"/>
                <a:r>
                  <a:rPr lang="en-US" sz="1500" dirty="0">
                    <a:solidFill>
                      <a:srgbClr val="49616C"/>
                    </a:solidFill>
                    <a:latin typeface="+mn-lt"/>
                    <a:ea typeface="+mn-ea"/>
                    <a:cs typeface="+mn-cs"/>
                  </a:rPr>
                  <a:t>bounded observed evidence</a:t>
                </a:r>
              </a:p>
            </p:txBody>
          </p:sp>
        </p:grpSp>
        <p:sp>
          <p:nvSpPr>
            <p:cNvPr id="18" name="Freeform 18"/>
            <p:cNvSpPr/>
            <p:nvPr/>
          </p:nvSpPr>
          <p:spPr>
            <a:xfrm>
              <a:off x="3333750" y="5143500"/>
              <a:ext cx="5524500" cy="666750"/>
            </a:xfrm>
            <a:custGeom>
              <a:avLst/>
              <a:gdLst/>
              <a:ahLst/>
              <a:cxnLst/>
              <a:rect l="l" t="t" r="r" b="b"/>
              <a:pathLst>
                <a:path w="5524500" h="666750">
                  <a:moveTo>
                    <a:pt x="5524500" y="0"/>
                  </a:moveTo>
                  <a:cubicBezTo>
                    <a:pt x="4572000" y="666750"/>
                    <a:pt x="952500" y="666750"/>
                    <a:pt x="0" y="0"/>
                  </a:cubicBezTo>
                </a:path>
              </a:pathLst>
            </a:custGeom>
            <a:noFill/>
            <a:ln w="28575">
              <a:solidFill>
                <a:schemeClr val="accent2"/>
              </a:solidFill>
              <a:custDash>
                <a:ds d="333333" sp="266667"/>
              </a:custDash>
              <a:tailEnd type="triangle" w="lg" len="lg"/>
            </a:ln>
          </p:spPr>
        </p:sp>
        <p:sp>
          <p:nvSpPr>
            <p:cNvPr id="19" name="TextBox 19"/>
            <p:cNvSpPr txBox="1"/>
            <p:nvPr/>
          </p:nvSpPr>
          <p:spPr>
            <a:xfrm>
              <a:off x="5043907" y="5661660"/>
              <a:ext cx="2104187" cy="234696"/>
            </a:xfrm>
            <a:prstGeom prst="rect">
              <a:avLst/>
            </a:prstGeom>
            <a:noFill/>
            <a:ln>
              <a:noFill/>
            </a:ln>
          </p:spPr>
          <p:txBody>
            <a:bodyPr wrap="none" lIns="0" tIns="0" rIns="0" bIns="0" anchor="t" anchorCtr="0">
              <a:spAutoFit/>
            </a:bodyPr>
            <a:lstStyle/>
            <a:p>
              <a:pPr algn="ctr"/>
              <a:r>
                <a:rPr lang="en-US" sz="1200" dirty="0">
                  <a:solidFill>
                    <a:schemeClr val="accent2"/>
                  </a:solidFill>
                  <a:latin typeface="Consolas"/>
                  <a:ea typeface="Consolas"/>
                  <a:cs typeface="Consolas"/>
                </a:rPr>
                <a:t>approved maintenance only</a:t>
              </a:r>
            </a:p>
          </p:txBody>
        </p:sp>
      </p:grpSp>
      <p:grpSp>
        <p:nvGrpSpPr>
          <p:cNvPr id="23" name="Group 23"/>
          <p:cNvGrpSpPr/>
          <p:nvPr/>
        </p:nvGrpSpPr>
        <p:grpSpPr>
          <a:xfrm>
            <a:off x="603504" y="6233160"/>
            <a:ext cx="10984992" cy="234696"/>
            <a:chOff x="603504" y="6233160"/>
            <a:chExt cx="10984992" cy="234696"/>
          </a:xfrm>
        </p:grpSpPr>
        <p:sp>
          <p:nvSpPr>
            <p:cNvPr id="21" name="TextBox 21"/>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K-007 · K-008</a:t>
              </a:r>
            </a:p>
          </p:txBody>
        </p:sp>
        <p:sp>
          <p:nvSpPr>
            <p:cNvPr id="22" name="TextBox 22"/>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08</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654368"/>
            <a:ext cx="9440893" cy="917067"/>
            <a:chOff x="593598" y="654368"/>
            <a:chExt cx="9440893" cy="917067"/>
          </a:xfrm>
        </p:grpSpPr>
        <p:sp>
          <p:nvSpPr>
            <p:cNvPr id="2" name="TextBox 2"/>
            <p:cNvSpPr txBox="1"/>
            <p:nvPr/>
          </p:nvSpPr>
          <p:spPr>
            <a:xfrm>
              <a:off x="602742" y="654368"/>
              <a:ext cx="2241194"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MENTAL MODEL MATURITY</a:t>
              </a:r>
            </a:p>
          </p:txBody>
        </p:sp>
        <p:sp>
          <p:nvSpPr>
            <p:cNvPr id="3" name="TextBox 3"/>
            <p:cNvSpPr txBox="1"/>
            <p:nvPr/>
          </p:nvSpPr>
          <p:spPr>
            <a:xfrm>
              <a:off x="593598" y="955358"/>
              <a:ext cx="9440893"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Insight becomes durable through a lifecycle</a:t>
              </a:r>
            </a:p>
          </p:txBody>
        </p:sp>
      </p:grpSp>
      <p:grpSp>
        <p:nvGrpSpPr>
          <p:cNvPr id="22" name="Group 22"/>
          <p:cNvGrpSpPr/>
          <p:nvPr/>
        </p:nvGrpSpPr>
        <p:grpSpPr>
          <a:xfrm>
            <a:off x="857250" y="1524000"/>
            <a:ext cx="10382250" cy="3840289"/>
            <a:chOff x="857250" y="1524000"/>
            <a:chExt cx="10382250" cy="3840289"/>
          </a:xfrm>
        </p:grpSpPr>
        <p:sp>
          <p:nvSpPr>
            <p:cNvPr id="5" name="Freeform 5"/>
            <p:cNvSpPr/>
            <p:nvPr/>
          </p:nvSpPr>
          <p:spPr>
            <a:xfrm>
              <a:off x="1428750" y="1524000"/>
              <a:ext cx="9144000" cy="1905000"/>
            </a:xfrm>
            <a:custGeom>
              <a:avLst/>
              <a:gdLst/>
              <a:ahLst/>
              <a:cxnLst/>
              <a:rect l="l" t="t" r="r" b="b"/>
              <a:pathLst>
                <a:path w="9144000" h="1905000">
                  <a:moveTo>
                    <a:pt x="0" y="1905000"/>
                  </a:moveTo>
                  <a:cubicBezTo>
                    <a:pt x="2000250" y="0"/>
                    <a:pt x="5810250" y="0"/>
                    <a:pt x="9144000" y="1905000"/>
                  </a:cubicBezTo>
                </a:path>
              </a:pathLst>
            </a:custGeom>
            <a:noFill/>
            <a:ln w="38100">
              <a:solidFill>
                <a:schemeClr val="accent3"/>
              </a:solidFill>
              <a:tailEnd type="triangle" w="lg" len="lg"/>
            </a:ln>
          </p:spPr>
        </p:sp>
        <p:grpSp>
          <p:nvGrpSpPr>
            <p:cNvPr id="11" name="Group 11"/>
            <p:cNvGrpSpPr/>
            <p:nvPr/>
          </p:nvGrpSpPr>
          <p:grpSpPr>
            <a:xfrm>
              <a:off x="857250" y="2000250"/>
              <a:ext cx="10382250" cy="1790700"/>
              <a:chOff x="857250" y="2000250"/>
              <a:chExt cx="10382250" cy="1790700"/>
            </a:xfrm>
          </p:grpSpPr>
          <p:sp>
            <p:nvSpPr>
              <p:cNvPr id="6" name="Rectangle 6"/>
              <p:cNvSpPr/>
              <p:nvPr/>
            </p:nvSpPr>
            <p:spPr>
              <a:xfrm>
                <a:off x="857250" y="3105150"/>
                <a:ext cx="1524000" cy="685800"/>
              </a:xfrm>
              <a:prstGeom prst="roundRect">
                <a:avLst>
                  <a:gd name="adj" fmla="val 8333"/>
                </a:avLst>
              </a:prstGeom>
              <a:solidFill>
                <a:schemeClr val="dk1"/>
              </a:solidFill>
              <a:ln w="19050">
                <a:solidFill>
                  <a:srgbClr val="7FB1B5"/>
                </a:solidFill>
              </a:ln>
            </p:spPr>
          </p:sp>
          <p:sp>
            <p:nvSpPr>
              <p:cNvPr id="7" name="Rectangle 7"/>
              <p:cNvSpPr/>
              <p:nvPr/>
            </p:nvSpPr>
            <p:spPr>
              <a:xfrm>
                <a:off x="2857500" y="2343150"/>
                <a:ext cx="1714500" cy="685800"/>
              </a:xfrm>
              <a:prstGeom prst="roundRect">
                <a:avLst>
                  <a:gd name="adj" fmla="val 8333"/>
                </a:avLst>
              </a:prstGeom>
              <a:solidFill>
                <a:schemeClr val="dk1"/>
              </a:solidFill>
              <a:ln w="19050">
                <a:solidFill>
                  <a:srgbClr val="7FB1B5"/>
                </a:solidFill>
              </a:ln>
            </p:spPr>
          </p:sp>
          <p:sp>
            <p:nvSpPr>
              <p:cNvPr id="8" name="Rectangle 8"/>
              <p:cNvSpPr/>
              <p:nvPr/>
            </p:nvSpPr>
            <p:spPr>
              <a:xfrm>
                <a:off x="5143500" y="2000250"/>
                <a:ext cx="1714500" cy="685800"/>
              </a:xfrm>
              <a:prstGeom prst="roundRect">
                <a:avLst>
                  <a:gd name="adj" fmla="val 8333"/>
                </a:avLst>
              </a:prstGeom>
              <a:solidFill>
                <a:schemeClr val="dk1"/>
              </a:solidFill>
              <a:ln w="19050">
                <a:solidFill>
                  <a:srgbClr val="7FB1B5"/>
                </a:solidFill>
              </a:ln>
            </p:spPr>
          </p:sp>
          <p:sp>
            <p:nvSpPr>
              <p:cNvPr id="9" name="Rectangle 9"/>
              <p:cNvSpPr/>
              <p:nvPr/>
            </p:nvSpPr>
            <p:spPr>
              <a:xfrm>
                <a:off x="7429500" y="2343150"/>
                <a:ext cx="1714500" cy="685800"/>
              </a:xfrm>
              <a:prstGeom prst="roundRect">
                <a:avLst>
                  <a:gd name="adj" fmla="val 8333"/>
                </a:avLst>
              </a:prstGeom>
              <a:solidFill>
                <a:schemeClr val="dk1"/>
              </a:solidFill>
              <a:ln w="19050">
                <a:solidFill>
                  <a:srgbClr val="7FB1B5"/>
                </a:solidFill>
              </a:ln>
            </p:spPr>
          </p:sp>
          <p:sp>
            <p:nvSpPr>
              <p:cNvPr id="10" name="Rectangle 10"/>
              <p:cNvSpPr/>
              <p:nvPr/>
            </p:nvSpPr>
            <p:spPr>
              <a:xfrm>
                <a:off x="9715500" y="3105150"/>
                <a:ext cx="1524000" cy="685800"/>
              </a:xfrm>
              <a:prstGeom prst="roundRect">
                <a:avLst>
                  <a:gd name="adj" fmla="val 8333"/>
                </a:avLst>
              </a:prstGeom>
              <a:solidFill>
                <a:schemeClr val="dk1"/>
              </a:solidFill>
              <a:ln w="19050">
                <a:solidFill>
                  <a:srgbClr val="7FB1B5"/>
                </a:solidFill>
              </a:ln>
            </p:spPr>
          </p:sp>
        </p:grpSp>
        <p:grpSp>
          <p:nvGrpSpPr>
            <p:cNvPr id="17" name="Group 17"/>
            <p:cNvGrpSpPr/>
            <p:nvPr/>
          </p:nvGrpSpPr>
          <p:grpSpPr>
            <a:xfrm>
              <a:off x="1339794" y="2241232"/>
              <a:ext cx="9441805" cy="1427607"/>
              <a:chOff x="1339794" y="2241232"/>
              <a:chExt cx="9441805" cy="1427607"/>
            </a:xfrm>
          </p:grpSpPr>
          <p:sp>
            <p:nvSpPr>
              <p:cNvPr id="12" name="TextBox 12"/>
              <p:cNvSpPr txBox="1"/>
              <p:nvPr/>
            </p:nvSpPr>
            <p:spPr>
              <a:xfrm>
                <a:off x="1339794" y="3346132"/>
                <a:ext cx="558912"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SEED</a:t>
                </a:r>
              </a:p>
            </p:txBody>
          </p:sp>
          <p:sp>
            <p:nvSpPr>
              <p:cNvPr id="13" name="TextBox 13"/>
              <p:cNvSpPr txBox="1"/>
              <p:nvPr/>
            </p:nvSpPr>
            <p:spPr>
              <a:xfrm>
                <a:off x="3207346" y="2584132"/>
                <a:ext cx="1014809"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EXPLORE</a:t>
                </a:r>
              </a:p>
            </p:txBody>
          </p:sp>
          <p:sp>
            <p:nvSpPr>
              <p:cNvPr id="14" name="TextBox 14"/>
              <p:cNvSpPr txBox="1"/>
              <p:nvPr/>
            </p:nvSpPr>
            <p:spPr>
              <a:xfrm>
                <a:off x="5616561" y="2241232"/>
                <a:ext cx="768378"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REFINE</a:t>
                </a:r>
              </a:p>
            </p:txBody>
          </p:sp>
          <p:sp>
            <p:nvSpPr>
              <p:cNvPr id="15" name="TextBox 15"/>
              <p:cNvSpPr txBox="1"/>
              <p:nvPr/>
            </p:nvSpPr>
            <p:spPr>
              <a:xfrm>
                <a:off x="7939526" y="2584132"/>
                <a:ext cx="694449"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DRAFT</a:t>
                </a:r>
              </a:p>
            </p:txBody>
          </p:sp>
          <p:sp>
            <p:nvSpPr>
              <p:cNvPr id="16" name="TextBox 16"/>
              <p:cNvSpPr txBox="1"/>
              <p:nvPr/>
            </p:nvSpPr>
            <p:spPr>
              <a:xfrm>
                <a:off x="10173401" y="3346132"/>
                <a:ext cx="608198"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DONE</a:t>
                </a:r>
              </a:p>
            </p:txBody>
          </p:sp>
        </p:grpSp>
        <p:sp>
          <p:nvSpPr>
            <p:cNvPr id="18" name="Freeform 18"/>
            <p:cNvSpPr/>
            <p:nvPr/>
          </p:nvSpPr>
          <p:spPr>
            <a:xfrm>
              <a:off x="4095750" y="2686050"/>
              <a:ext cx="2000250" cy="1866900"/>
            </a:xfrm>
            <a:custGeom>
              <a:avLst/>
              <a:gdLst/>
              <a:ahLst/>
              <a:cxnLst/>
              <a:rect l="l" t="t" r="r" b="b"/>
              <a:pathLst>
                <a:path w="2000250" h="1866900">
                  <a:moveTo>
                    <a:pt x="1905000" y="0"/>
                  </a:moveTo>
                  <a:cubicBezTo>
                    <a:pt x="2000250" y="1314450"/>
                    <a:pt x="1047750" y="1866900"/>
                    <a:pt x="0" y="1866900"/>
                  </a:cubicBezTo>
                </a:path>
              </a:pathLst>
            </a:custGeom>
            <a:noFill/>
            <a:ln w="28575">
              <a:solidFill>
                <a:schemeClr val="accent2"/>
              </a:solidFill>
              <a:custDash>
                <a:ds d="300000" sp="233333"/>
              </a:custDash>
              <a:tailEnd type="triangle" w="lg" len="lg"/>
            </a:ln>
          </p:spPr>
        </p:sp>
        <p:sp>
          <p:nvSpPr>
            <p:cNvPr id="19" name="Rectangle 19"/>
            <p:cNvSpPr/>
            <p:nvPr/>
          </p:nvSpPr>
          <p:spPr>
            <a:xfrm>
              <a:off x="2667000" y="4210050"/>
              <a:ext cx="1524000" cy="685800"/>
            </a:xfrm>
            <a:prstGeom prst="roundRect">
              <a:avLst>
                <a:gd name="adj" fmla="val 8333"/>
              </a:avLst>
            </a:prstGeom>
            <a:solidFill>
              <a:schemeClr val="accent1"/>
            </a:solidFill>
            <a:ln w="28575">
              <a:solidFill>
                <a:schemeClr val="accent2"/>
              </a:solidFill>
            </a:ln>
          </p:spPr>
        </p:sp>
        <p:sp>
          <p:nvSpPr>
            <p:cNvPr id="20" name="TextBox 20"/>
            <p:cNvSpPr txBox="1"/>
            <p:nvPr/>
          </p:nvSpPr>
          <p:spPr>
            <a:xfrm>
              <a:off x="3014007" y="4451032"/>
              <a:ext cx="829986" cy="322707"/>
            </a:xfrm>
            <a:prstGeom prst="rect">
              <a:avLst/>
            </a:prstGeom>
            <a:noFill/>
            <a:ln>
              <a:noFill/>
            </a:ln>
          </p:spPr>
          <p:txBody>
            <a:bodyPr wrap="none" lIns="0" tIns="0" rIns="0" bIns="0" anchor="t" anchorCtr="0">
              <a:spAutoFit/>
            </a:bodyPr>
            <a:lstStyle/>
            <a:p>
              <a:pPr algn="ctr"/>
              <a:r>
                <a:rPr lang="en-US" sz="1650" b="1" dirty="0">
                  <a:solidFill>
                    <a:schemeClr val="accent2"/>
                  </a:solidFill>
                  <a:latin typeface="+mn-lt"/>
                  <a:ea typeface="+mn-ea"/>
                  <a:cs typeface="+mn-cs"/>
                </a:rPr>
                <a:t>PARKED</a:t>
              </a:r>
            </a:p>
          </p:txBody>
        </p:sp>
        <p:sp>
          <p:nvSpPr>
            <p:cNvPr id="21" name="TextBox 21"/>
            <p:cNvSpPr txBox="1"/>
            <p:nvPr/>
          </p:nvSpPr>
          <p:spPr>
            <a:xfrm>
              <a:off x="3079257" y="5041582"/>
              <a:ext cx="6033486" cy="322707"/>
            </a:xfrm>
            <a:prstGeom prst="rect">
              <a:avLst/>
            </a:prstGeom>
            <a:noFill/>
            <a:ln>
              <a:noFill/>
            </a:ln>
          </p:spPr>
          <p:txBody>
            <a:bodyPr wrap="none" lIns="0" tIns="0" rIns="0" bIns="0" anchor="t" anchorCtr="0">
              <a:spAutoFit/>
            </a:bodyPr>
            <a:lstStyle/>
            <a:p>
              <a:pPr algn="ctr"/>
              <a:r>
                <a:rPr lang="en-US" sz="1650" dirty="0">
                  <a:solidFill>
                    <a:srgbClr val="B7D8D8"/>
                  </a:solidFill>
                  <a:latin typeface="+mn-lt"/>
                  <a:ea typeface="+mn-ea"/>
                  <a:cs typeface="+mn-cs"/>
                </a:rPr>
                <a:t>Use · mechanism · boundary · discriminator · next test</a:t>
              </a:r>
            </a:p>
          </p:txBody>
        </p:sp>
      </p:grpSp>
      <p:grpSp>
        <p:nvGrpSpPr>
          <p:cNvPr id="25" name="Group 25"/>
          <p:cNvGrpSpPr/>
          <p:nvPr/>
        </p:nvGrpSpPr>
        <p:grpSpPr>
          <a:xfrm>
            <a:off x="603504" y="6233160"/>
            <a:ext cx="10984992" cy="234696"/>
            <a:chOff x="603504" y="6233160"/>
            <a:chExt cx="10984992" cy="234696"/>
          </a:xfrm>
        </p:grpSpPr>
        <p:sp>
          <p:nvSpPr>
            <p:cNvPr id="23" name="TextBox 23"/>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K-009</a:t>
              </a:r>
            </a:p>
          </p:txBody>
        </p:sp>
        <p:sp>
          <p:nvSpPr>
            <p:cNvPr id="24" name="TextBox 24"/>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09</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654368"/>
            <a:ext cx="6563400" cy="917067"/>
            <a:chOff x="593598" y="654368"/>
            <a:chExt cx="6563400" cy="917067"/>
          </a:xfrm>
        </p:grpSpPr>
        <p:sp>
          <p:nvSpPr>
            <p:cNvPr id="2" name="TextBox 2"/>
            <p:cNvSpPr txBox="1"/>
            <p:nvPr/>
          </p:nvSpPr>
          <p:spPr>
            <a:xfrm>
              <a:off x="602742" y="654368"/>
              <a:ext cx="1828343"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IDEA BANK LIFECYCLE</a:t>
              </a:r>
            </a:p>
          </p:txBody>
        </p:sp>
        <p:sp>
          <p:nvSpPr>
            <p:cNvPr id="3" name="TextBox 3"/>
            <p:cNvSpPr txBox="1"/>
            <p:nvPr/>
          </p:nvSpPr>
          <p:spPr>
            <a:xfrm>
              <a:off x="593598" y="955358"/>
              <a:ext cx="6563400" cy="616077"/>
            </a:xfrm>
            <a:prstGeom prst="rect">
              <a:avLst/>
            </a:prstGeom>
            <a:noFill/>
            <a:ln>
              <a:noFill/>
            </a:ln>
          </p:spPr>
          <p:txBody>
            <a:bodyPr wrap="none" lIns="0" tIns="0" rIns="0" bIns="0" anchor="t" anchorCtr="0">
              <a:spAutoFit/>
            </a:bodyPr>
            <a:lstStyle/>
            <a:p>
              <a:pPr algn="l"/>
              <a:r>
                <a:rPr lang="en-US" sz="3150" b="1" dirty="0">
                  <a:solidFill>
                    <a:schemeClr val="dk1"/>
                  </a:solidFill>
                  <a:latin typeface="+mj-lt"/>
                  <a:ea typeface="+mj-ea"/>
                  <a:cs typeface="+mj-cs"/>
                </a:rPr>
                <a:t>Idea captures; Dream curates</a:t>
              </a:r>
            </a:p>
          </p:txBody>
        </p:sp>
      </p:grpSp>
      <p:grpSp>
        <p:nvGrpSpPr>
          <p:cNvPr id="19" name="Group 19"/>
          <p:cNvGrpSpPr/>
          <p:nvPr/>
        </p:nvGrpSpPr>
        <p:grpSpPr>
          <a:xfrm>
            <a:off x="762000" y="2000250"/>
            <a:ext cx="10960611" cy="3668839"/>
            <a:chOff x="762000" y="2000250"/>
            <a:chExt cx="10960611" cy="3668839"/>
          </a:xfrm>
        </p:grpSpPr>
        <p:sp>
          <p:nvSpPr>
            <p:cNvPr id="5" name="Rectangle 5"/>
            <p:cNvSpPr/>
            <p:nvPr/>
          </p:nvSpPr>
          <p:spPr>
            <a:xfrm>
              <a:off x="762000" y="2000250"/>
              <a:ext cx="4572000" cy="3143250"/>
            </a:xfrm>
            <a:prstGeom prst="roundRect">
              <a:avLst>
                <a:gd name="adj" fmla="val 2424"/>
              </a:avLst>
            </a:prstGeom>
            <a:solidFill>
              <a:schemeClr val="lt2"/>
            </a:solidFill>
            <a:ln w="19050">
              <a:solidFill>
                <a:schemeClr val="accent3"/>
              </a:solidFill>
            </a:ln>
          </p:spPr>
        </p:sp>
        <p:sp>
          <p:nvSpPr>
            <p:cNvPr id="6" name="Rectangle 6"/>
            <p:cNvSpPr/>
            <p:nvPr/>
          </p:nvSpPr>
          <p:spPr>
            <a:xfrm>
              <a:off x="6858000" y="2000250"/>
              <a:ext cx="4572000" cy="3143250"/>
            </a:xfrm>
            <a:prstGeom prst="roundRect">
              <a:avLst>
                <a:gd name="adj" fmla="val 2424"/>
              </a:avLst>
            </a:prstGeom>
            <a:solidFill>
              <a:schemeClr val="lt2"/>
            </a:solidFill>
            <a:ln w="19050">
              <a:solidFill>
                <a:schemeClr val="accent1"/>
              </a:solidFill>
            </a:ln>
          </p:spPr>
        </p:sp>
        <p:sp>
          <p:nvSpPr>
            <p:cNvPr id="7" name="TextBox 7"/>
            <p:cNvSpPr txBox="1"/>
            <p:nvPr/>
          </p:nvSpPr>
          <p:spPr>
            <a:xfrm>
              <a:off x="1130808" y="2312670"/>
              <a:ext cx="3579708" cy="469392"/>
            </a:xfrm>
            <a:prstGeom prst="rect">
              <a:avLst/>
            </a:prstGeom>
            <a:noFill/>
            <a:ln>
              <a:noFill/>
            </a:ln>
          </p:spPr>
          <p:txBody>
            <a:bodyPr wrap="none" lIns="0" tIns="0" rIns="0" bIns="0" anchor="t" anchorCtr="0">
              <a:spAutoFit/>
            </a:bodyPr>
            <a:lstStyle/>
            <a:p>
              <a:pPr algn="l"/>
              <a:r>
                <a:rPr lang="en-US" sz="2400" b="1" dirty="0">
                  <a:solidFill>
                    <a:schemeClr val="accent3"/>
                  </a:solidFill>
                  <a:latin typeface="+mj-lt"/>
                  <a:ea typeface="+mj-ea"/>
                  <a:cs typeface="+mj-cs"/>
                </a:rPr>
                <a:t>IDEA / faithful intake</a:t>
              </a:r>
            </a:p>
          </p:txBody>
        </p:sp>
        <p:sp>
          <p:nvSpPr>
            <p:cNvPr id="8" name="TextBox 8"/>
            <p:cNvSpPr txBox="1"/>
            <p:nvPr/>
          </p:nvSpPr>
          <p:spPr>
            <a:xfrm>
              <a:off x="7228332" y="2345055"/>
              <a:ext cx="4494279"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j-lt"/>
                  <a:ea typeface="+mj-ea"/>
                  <a:cs typeface="+mj-cs"/>
                </a:rPr>
                <a:t>DREAM / conservative curation</a:t>
              </a:r>
            </a:p>
          </p:txBody>
        </p:sp>
        <p:grpSp>
          <p:nvGrpSpPr>
            <p:cNvPr id="15" name="Group 15"/>
            <p:cNvGrpSpPr/>
            <p:nvPr/>
          </p:nvGrpSpPr>
          <p:grpSpPr>
            <a:xfrm>
              <a:off x="1134618" y="3003232"/>
              <a:ext cx="9619122" cy="1237107"/>
              <a:chOff x="1134618" y="3003232"/>
              <a:chExt cx="9619122" cy="1237107"/>
            </a:xfrm>
          </p:grpSpPr>
          <p:sp>
            <p:nvSpPr>
              <p:cNvPr id="9" name="TextBox 9"/>
              <p:cNvSpPr txBox="1"/>
              <p:nvPr/>
            </p:nvSpPr>
            <p:spPr>
              <a:xfrm>
                <a:off x="1134618" y="3003232"/>
                <a:ext cx="325660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1 Preserve exact raw wording</a:t>
                </a:r>
              </a:p>
            </p:txBody>
          </p:sp>
          <p:sp>
            <p:nvSpPr>
              <p:cNvPr id="10" name="TextBox 10"/>
              <p:cNvSpPr txBox="1"/>
              <p:nvPr/>
            </p:nvSpPr>
            <p:spPr>
              <a:xfrm>
                <a:off x="1134618" y="3460432"/>
                <a:ext cx="3523122"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2 Run secret check before write</a:t>
                </a:r>
              </a:p>
            </p:txBody>
          </p:sp>
          <p:sp>
            <p:nvSpPr>
              <p:cNvPr id="11" name="TextBox 11"/>
              <p:cNvSpPr txBox="1"/>
              <p:nvPr/>
            </p:nvSpPr>
            <p:spPr>
              <a:xfrm>
                <a:off x="1134618" y="3917632"/>
                <a:ext cx="280116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3 Save one durable record</a:t>
                </a:r>
              </a:p>
            </p:txBody>
          </p:sp>
          <p:sp>
            <p:nvSpPr>
              <p:cNvPr id="12" name="TextBox 12"/>
              <p:cNvSpPr txBox="1"/>
              <p:nvPr/>
            </p:nvSpPr>
            <p:spPr>
              <a:xfrm>
                <a:off x="7230618" y="3003232"/>
                <a:ext cx="2578064"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1 Invoke explicitly later</a:t>
                </a:r>
              </a:p>
            </p:txBody>
          </p:sp>
          <p:sp>
            <p:nvSpPr>
              <p:cNvPr id="13" name="TextBox 13"/>
              <p:cNvSpPr txBox="1"/>
              <p:nvPr/>
            </p:nvSpPr>
            <p:spPr>
              <a:xfrm>
                <a:off x="7230618" y="3460432"/>
                <a:ext cx="3523122"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2 Copy and verify before remove</a:t>
                </a:r>
              </a:p>
            </p:txBody>
          </p:sp>
          <p:sp>
            <p:nvSpPr>
              <p:cNvPr id="14" name="TextBox 14"/>
              <p:cNvSpPr txBox="1"/>
              <p:nvPr/>
            </p:nvSpPr>
            <p:spPr>
              <a:xfrm>
                <a:off x="7230618" y="3917632"/>
                <a:ext cx="3178350"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3 Audit synthesis and archive</a:t>
                </a:r>
              </a:p>
            </p:txBody>
          </p:sp>
        </p:grpSp>
        <p:sp>
          <p:nvSpPr>
            <p:cNvPr id="16" name="Line 16"/>
            <p:cNvSpPr/>
            <p:nvPr/>
          </p:nvSpPr>
          <p:spPr>
            <a:xfrm>
              <a:off x="5334000" y="3571875"/>
              <a:ext cx="1485900" cy="1"/>
            </a:xfrm>
            <a:prstGeom prst="line">
              <a:avLst/>
            </a:prstGeom>
            <a:noFill/>
            <a:ln w="38100">
              <a:solidFill>
                <a:schemeClr val="accent2"/>
              </a:solidFill>
              <a:custDash>
                <a:ds d="250000" sp="200000"/>
              </a:custDash>
              <a:tailEnd type="triangle" w="lg" len="lg"/>
            </a:ln>
          </p:spPr>
        </p:sp>
        <p:sp>
          <p:nvSpPr>
            <p:cNvPr id="17" name="TextBox 17"/>
            <p:cNvSpPr txBox="1"/>
            <p:nvPr/>
          </p:nvSpPr>
          <p:spPr>
            <a:xfrm>
              <a:off x="5368747" y="3223260"/>
              <a:ext cx="1454506" cy="234696"/>
            </a:xfrm>
            <a:prstGeom prst="rect">
              <a:avLst/>
            </a:prstGeom>
            <a:noFill/>
            <a:ln>
              <a:noFill/>
            </a:ln>
          </p:spPr>
          <p:txBody>
            <a:bodyPr wrap="none" lIns="0" tIns="0" rIns="0" bIns="0" anchor="t" anchorCtr="0">
              <a:spAutoFit/>
            </a:bodyPr>
            <a:lstStyle/>
            <a:p>
              <a:pPr algn="ctr"/>
              <a:r>
                <a:rPr lang="en-US" sz="1200" dirty="0">
                  <a:solidFill>
                    <a:schemeClr val="accent2"/>
                  </a:solidFill>
                  <a:latin typeface="Consolas"/>
                  <a:ea typeface="Consolas"/>
                  <a:cs typeface="Consolas"/>
                </a:rPr>
                <a:t>LATER INVOCATION</a:t>
              </a:r>
            </a:p>
          </p:txBody>
        </p:sp>
        <p:sp>
          <p:nvSpPr>
            <p:cNvPr id="18" name="TextBox 18"/>
            <p:cNvSpPr txBox="1"/>
            <p:nvPr/>
          </p:nvSpPr>
          <p:spPr>
            <a:xfrm>
              <a:off x="1691479" y="5346382"/>
              <a:ext cx="8809041" cy="322707"/>
            </a:xfrm>
            <a:prstGeom prst="rect">
              <a:avLst/>
            </a:prstGeom>
            <a:noFill/>
            <a:ln>
              <a:noFill/>
            </a:ln>
          </p:spPr>
          <p:txBody>
            <a:bodyPr wrap="none" lIns="0" tIns="0" rIns="0" bIns="0" anchor="t" anchorCtr="0">
              <a:spAutoFit/>
            </a:bodyPr>
            <a:lstStyle/>
            <a:p>
              <a:pPr algn="ctr"/>
              <a:r>
                <a:rPr lang="en-US" sz="1650" dirty="0">
                  <a:solidFill>
                    <a:srgbClr val="49616C"/>
                  </a:solidFill>
                  <a:latin typeface="+mn-lt"/>
                  <a:ea typeface="+mn-ea"/>
                  <a:cs typeface="+mn-cs"/>
                </a:rPr>
                <a:t>Capture preserves wording; synthesis preserves provenance and recoverability.</a:t>
              </a:r>
            </a:p>
          </p:txBody>
        </p:sp>
      </p:grpSp>
      <p:grpSp>
        <p:nvGrpSpPr>
          <p:cNvPr id="22" name="Group 22"/>
          <p:cNvGrpSpPr/>
          <p:nvPr/>
        </p:nvGrpSpPr>
        <p:grpSpPr>
          <a:xfrm>
            <a:off x="603504" y="6233160"/>
            <a:ext cx="10984992" cy="234696"/>
            <a:chOff x="603504" y="6233160"/>
            <a:chExt cx="10984992" cy="234696"/>
          </a:xfrm>
        </p:grpSpPr>
        <p:sp>
          <p:nvSpPr>
            <p:cNvPr id="20" name="TextBox 20"/>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K-010</a:t>
              </a:r>
            </a:p>
          </p:txBody>
        </p:sp>
        <p:sp>
          <p:nvSpPr>
            <p:cNvPr id="21" name="TextBox 21"/>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10</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97218"/>
            <a:ext cx="6711315" cy="1303972"/>
            <a:chOff x="594360" y="597218"/>
            <a:chExt cx="6711315" cy="1303972"/>
          </a:xfrm>
        </p:grpSpPr>
        <p:sp>
          <p:nvSpPr>
            <p:cNvPr id="2" name="TextBox 2"/>
            <p:cNvSpPr txBox="1"/>
            <p:nvPr/>
          </p:nvSpPr>
          <p:spPr>
            <a:xfrm>
              <a:off x="602742" y="597218"/>
              <a:ext cx="1511503"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REASONING LOOP</a:t>
              </a:r>
            </a:p>
          </p:txBody>
        </p:sp>
        <p:sp>
          <p:nvSpPr>
            <p:cNvPr id="3" name="TextBox 3"/>
            <p:cNvSpPr txBox="1"/>
            <p:nvPr/>
          </p:nvSpPr>
          <p:spPr>
            <a:xfrm>
              <a:off x="594360" y="876300"/>
              <a:ext cx="6711315" cy="1024890"/>
            </a:xfrm>
            <a:prstGeom prst="rect">
              <a:avLst/>
            </a:prstGeom>
            <a:noFill/>
            <a:ln>
              <a:noFill/>
            </a:ln>
          </p:spPr>
          <p:txBody>
            <a:bodyPr wrap="none" lIns="0" tIns="0" rIns="0" bIns="0" anchor="t" anchorCtr="0">
              <a:spAutoFit/>
            </a:bodyPr>
            <a:lstStyle/>
            <a:p>
              <a:pPr algn="l">
                <a:lnSpc>
                  <a:spcPts val="3450"/>
                </a:lnSpc>
              </a:pPr>
              <a:r>
                <a:rPr lang="en-US" sz="3000" b="1" dirty="0">
                  <a:solidFill>
                    <a:srgbClr val="F4F1E8"/>
                  </a:solidFill>
                  <a:latin typeface="+mj-lt"/>
                  <a:ea typeface="+mj-ea"/>
                  <a:cs typeface="+mj-cs"/>
                </a:rPr>
                <a:t>Brainstorm diverges;</a:t>
              </a:r>
              <a:br/>
              <a:r>
                <a:rPr lang="en-US" sz="3000" b="1" dirty="0">
                  <a:solidFill>
                    <a:srgbClr val="F4F1E8"/>
                  </a:solidFill>
                  <a:latin typeface="+mj-lt"/>
                  <a:ea typeface="+mj-ea"/>
                  <a:cs typeface="+mj-cs"/>
                </a:rPr>
                <a:t>Judge carries the proof obligation</a:t>
              </a:r>
            </a:p>
          </p:txBody>
        </p:sp>
      </p:grpSp>
      <p:grpSp>
        <p:nvGrpSpPr>
          <p:cNvPr id="36" name="Group 36"/>
          <p:cNvGrpSpPr/>
          <p:nvPr/>
        </p:nvGrpSpPr>
        <p:grpSpPr>
          <a:xfrm>
            <a:off x="762000" y="1905000"/>
            <a:ext cx="9906000" cy="2971800"/>
            <a:chOff x="762000" y="1905000"/>
            <a:chExt cx="9906000" cy="2971800"/>
          </a:xfrm>
        </p:grpSpPr>
        <p:sp>
          <p:nvSpPr>
            <p:cNvPr id="5" name="Rectangle 5"/>
            <p:cNvSpPr/>
            <p:nvPr/>
          </p:nvSpPr>
          <p:spPr>
            <a:xfrm>
              <a:off x="762000" y="2914650"/>
              <a:ext cx="1809750" cy="952500"/>
            </a:xfrm>
            <a:prstGeom prst="roundRect">
              <a:avLst>
                <a:gd name="adj" fmla="val 6000"/>
              </a:avLst>
            </a:prstGeom>
            <a:solidFill>
              <a:schemeClr val="dk1"/>
            </a:solidFill>
            <a:ln w="19050">
              <a:solidFill>
                <a:srgbClr val="7FB1B5"/>
              </a:solidFill>
            </a:ln>
          </p:spPr>
        </p:sp>
        <p:sp>
          <p:nvSpPr>
            <p:cNvPr id="6" name="TextBox 6"/>
            <p:cNvSpPr txBox="1"/>
            <p:nvPr/>
          </p:nvSpPr>
          <p:spPr>
            <a:xfrm>
              <a:off x="1295008" y="3127058"/>
              <a:ext cx="743735"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FRAME</a:t>
              </a:r>
            </a:p>
          </p:txBody>
        </p:sp>
        <p:sp>
          <p:nvSpPr>
            <p:cNvPr id="7" name="TextBox 7"/>
            <p:cNvSpPr txBox="1"/>
            <p:nvPr/>
          </p:nvSpPr>
          <p:spPr>
            <a:xfrm>
              <a:off x="1182957" y="3454718"/>
              <a:ext cx="967835" cy="264033"/>
            </a:xfrm>
            <a:prstGeom prst="rect">
              <a:avLst/>
            </a:prstGeom>
            <a:noFill/>
            <a:ln>
              <a:noFill/>
            </a:ln>
          </p:spPr>
          <p:txBody>
            <a:bodyPr wrap="none" lIns="0" tIns="0" rIns="0" bIns="0" anchor="t" anchorCtr="0">
              <a:spAutoFit/>
            </a:bodyPr>
            <a:lstStyle/>
            <a:p>
              <a:pPr algn="ctr"/>
              <a:r>
                <a:rPr lang="en-US" sz="1350" dirty="0">
                  <a:solidFill>
                    <a:srgbClr val="7FB1B5"/>
                  </a:solidFill>
                  <a:latin typeface="+mn-lt"/>
                  <a:ea typeface="+mn-ea"/>
                  <a:cs typeface="+mn-cs"/>
                </a:rPr>
                <a:t>and ground</a:t>
              </a:r>
            </a:p>
          </p:txBody>
        </p:sp>
        <p:grpSp>
          <p:nvGrpSpPr>
            <p:cNvPr id="11" name="Group 11"/>
            <p:cNvGrpSpPr/>
            <p:nvPr/>
          </p:nvGrpSpPr>
          <p:grpSpPr>
            <a:xfrm>
              <a:off x="3238500" y="1905000"/>
              <a:ext cx="1809750" cy="2971800"/>
              <a:chOff x="3238500" y="1905000"/>
              <a:chExt cx="1809750" cy="2971800"/>
            </a:xfrm>
          </p:grpSpPr>
          <p:sp>
            <p:nvSpPr>
              <p:cNvPr id="8" name="Rectangle 8"/>
              <p:cNvSpPr/>
              <p:nvPr/>
            </p:nvSpPr>
            <p:spPr>
              <a:xfrm>
                <a:off x="3238500" y="1905000"/>
                <a:ext cx="1809750" cy="704850"/>
              </a:xfrm>
              <a:prstGeom prst="roundRect">
                <a:avLst>
                  <a:gd name="adj" fmla="val 8108"/>
                </a:avLst>
              </a:prstGeom>
              <a:solidFill>
                <a:schemeClr val="dk1"/>
              </a:solidFill>
              <a:ln w="19050">
                <a:solidFill>
                  <a:srgbClr val="7FB1B5"/>
                </a:solidFill>
              </a:ln>
            </p:spPr>
          </p:sp>
          <p:sp>
            <p:nvSpPr>
              <p:cNvPr id="9" name="Rectangle 9"/>
              <p:cNvSpPr/>
              <p:nvPr/>
            </p:nvSpPr>
            <p:spPr>
              <a:xfrm>
                <a:off x="3238500" y="3038475"/>
                <a:ext cx="1809750" cy="704850"/>
              </a:xfrm>
              <a:prstGeom prst="roundRect">
                <a:avLst>
                  <a:gd name="adj" fmla="val 8108"/>
                </a:avLst>
              </a:prstGeom>
              <a:solidFill>
                <a:schemeClr val="dk1"/>
              </a:solidFill>
              <a:ln w="19050">
                <a:solidFill>
                  <a:srgbClr val="7FB1B5"/>
                </a:solidFill>
              </a:ln>
            </p:spPr>
          </p:sp>
          <p:sp>
            <p:nvSpPr>
              <p:cNvPr id="10" name="Rectangle 10"/>
              <p:cNvSpPr/>
              <p:nvPr/>
            </p:nvSpPr>
            <p:spPr>
              <a:xfrm>
                <a:off x="3238500" y="4171950"/>
                <a:ext cx="1809750" cy="704850"/>
              </a:xfrm>
              <a:prstGeom prst="roundRect">
                <a:avLst>
                  <a:gd name="adj" fmla="val 8108"/>
                </a:avLst>
              </a:prstGeom>
              <a:solidFill>
                <a:schemeClr val="dk1"/>
              </a:solidFill>
              <a:ln w="19050">
                <a:solidFill>
                  <a:srgbClr val="7FB1B5"/>
                </a:solidFill>
              </a:ln>
            </p:spPr>
          </p:sp>
        </p:grpSp>
        <p:grpSp>
          <p:nvGrpSpPr>
            <p:cNvPr id="15" name="Group 15"/>
            <p:cNvGrpSpPr/>
            <p:nvPr/>
          </p:nvGrpSpPr>
          <p:grpSpPr>
            <a:xfrm>
              <a:off x="3569056" y="2171700"/>
              <a:ext cx="1148639" cy="2560320"/>
              <a:chOff x="3569056" y="2171700"/>
              <a:chExt cx="1148639" cy="2560320"/>
            </a:xfrm>
          </p:grpSpPr>
          <p:sp>
            <p:nvSpPr>
              <p:cNvPr id="12" name="TextBox 12"/>
              <p:cNvSpPr txBox="1"/>
              <p:nvPr/>
            </p:nvSpPr>
            <p:spPr>
              <a:xfrm>
                <a:off x="3569056" y="2171700"/>
                <a:ext cx="1148639" cy="293370"/>
              </a:xfrm>
              <a:prstGeom prst="rect">
                <a:avLst/>
              </a:prstGeom>
              <a:noFill/>
              <a:ln>
                <a:noFill/>
              </a:ln>
            </p:spPr>
            <p:txBody>
              <a:bodyPr wrap="none" lIns="0" tIns="0" rIns="0" bIns="0" anchor="t" anchorCtr="0">
                <a:spAutoFit/>
              </a:bodyPr>
              <a:lstStyle/>
              <a:p>
                <a:pPr algn="ctr"/>
                <a:r>
                  <a:rPr lang="en-US" sz="1500" dirty="0">
                    <a:solidFill>
                      <a:srgbClr val="F4F1E8"/>
                    </a:solidFill>
                    <a:latin typeface="+mn-lt"/>
                    <a:ea typeface="+mn-ea"/>
                    <a:cs typeface="+mn-cs"/>
                  </a:rPr>
                  <a:t>Candidate A</a:t>
                </a:r>
              </a:p>
            </p:txBody>
          </p:sp>
          <p:sp>
            <p:nvSpPr>
              <p:cNvPr id="13" name="TextBox 13"/>
              <p:cNvSpPr txBox="1"/>
              <p:nvPr/>
            </p:nvSpPr>
            <p:spPr>
              <a:xfrm>
                <a:off x="3569056" y="3305175"/>
                <a:ext cx="1148639" cy="293370"/>
              </a:xfrm>
              <a:prstGeom prst="rect">
                <a:avLst/>
              </a:prstGeom>
              <a:noFill/>
              <a:ln>
                <a:noFill/>
              </a:ln>
            </p:spPr>
            <p:txBody>
              <a:bodyPr wrap="none" lIns="0" tIns="0" rIns="0" bIns="0" anchor="t" anchorCtr="0">
                <a:spAutoFit/>
              </a:bodyPr>
              <a:lstStyle/>
              <a:p>
                <a:pPr algn="ctr"/>
                <a:r>
                  <a:rPr lang="en-US" sz="1500" dirty="0">
                    <a:solidFill>
                      <a:srgbClr val="F4F1E8"/>
                    </a:solidFill>
                    <a:latin typeface="+mn-lt"/>
                    <a:ea typeface="+mn-ea"/>
                    <a:cs typeface="+mn-cs"/>
                  </a:rPr>
                  <a:t>Candidate B</a:t>
                </a:r>
              </a:p>
            </p:txBody>
          </p:sp>
          <p:sp>
            <p:nvSpPr>
              <p:cNvPr id="14" name="TextBox 14"/>
              <p:cNvSpPr txBox="1"/>
              <p:nvPr/>
            </p:nvSpPr>
            <p:spPr>
              <a:xfrm>
                <a:off x="3569056" y="4438650"/>
                <a:ext cx="1148639" cy="293370"/>
              </a:xfrm>
              <a:prstGeom prst="rect">
                <a:avLst/>
              </a:prstGeom>
              <a:noFill/>
              <a:ln>
                <a:noFill/>
              </a:ln>
            </p:spPr>
            <p:txBody>
              <a:bodyPr wrap="none" lIns="0" tIns="0" rIns="0" bIns="0" anchor="t" anchorCtr="0">
                <a:spAutoFit/>
              </a:bodyPr>
              <a:lstStyle/>
              <a:p>
                <a:pPr algn="ctr"/>
                <a:r>
                  <a:rPr lang="en-US" sz="1500" dirty="0">
                    <a:solidFill>
                      <a:srgbClr val="F4F1E8"/>
                    </a:solidFill>
                    <a:latin typeface="+mn-lt"/>
                    <a:ea typeface="+mn-ea"/>
                    <a:cs typeface="+mn-cs"/>
                  </a:rPr>
                  <a:t>Candidate C</a:t>
                </a:r>
              </a:p>
            </p:txBody>
          </p:sp>
        </p:grpSp>
        <p:sp>
          <p:nvSpPr>
            <p:cNvPr id="16" name="Polygon 16"/>
            <p:cNvSpPr/>
            <p:nvPr/>
          </p:nvSpPr>
          <p:spPr>
            <a:xfrm>
              <a:off x="5619750" y="2266950"/>
              <a:ext cx="1905000" cy="2247900"/>
            </a:xfrm>
            <a:custGeom>
              <a:avLst/>
              <a:gdLst/>
              <a:ahLst/>
              <a:cxnLst/>
              <a:rect l="l" t="t" r="r" b="b"/>
              <a:pathLst>
                <a:path w="1905000" h="2247900">
                  <a:moveTo>
                    <a:pt x="952500" y="0"/>
                  </a:moveTo>
                  <a:lnTo>
                    <a:pt x="1905000" y="1123950"/>
                  </a:lnTo>
                  <a:lnTo>
                    <a:pt x="952500" y="2247900"/>
                  </a:lnTo>
                  <a:lnTo>
                    <a:pt x="0" y="1123950"/>
                  </a:lnTo>
                  <a:close/>
                </a:path>
              </a:pathLst>
            </a:custGeom>
            <a:solidFill>
              <a:schemeClr val="lt1"/>
            </a:solidFill>
            <a:ln w="28575">
              <a:solidFill>
                <a:schemeClr val="accent2"/>
              </a:solidFill>
            </a:ln>
          </p:spPr>
        </p:sp>
        <p:sp>
          <p:nvSpPr>
            <p:cNvPr id="17" name="TextBox 17"/>
            <p:cNvSpPr txBox="1"/>
            <p:nvPr/>
          </p:nvSpPr>
          <p:spPr>
            <a:xfrm>
              <a:off x="6041288" y="3128010"/>
              <a:ext cx="1061923"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onsolas"/>
                  <a:ea typeface="Consolas"/>
                  <a:cs typeface="Consolas"/>
                </a:rPr>
                <a:t>ADMIT MODEL</a:t>
              </a:r>
            </a:p>
          </p:txBody>
        </p:sp>
        <p:sp>
          <p:nvSpPr>
            <p:cNvPr id="18" name="TextBox 18"/>
            <p:cNvSpPr txBox="1"/>
            <p:nvPr/>
          </p:nvSpPr>
          <p:spPr>
            <a:xfrm>
              <a:off x="6225026" y="3365182"/>
              <a:ext cx="694449" cy="322707"/>
            </a:xfrm>
            <a:prstGeom prst="rect">
              <a:avLst/>
            </a:prstGeom>
            <a:noFill/>
            <a:ln>
              <a:noFill/>
            </a:ln>
          </p:spPr>
          <p:txBody>
            <a:bodyPr wrap="none" lIns="0" tIns="0" rIns="0" bIns="0" anchor="t" anchorCtr="0">
              <a:spAutoFit/>
            </a:bodyPr>
            <a:lstStyle/>
            <a:p>
              <a:pPr algn="ctr"/>
              <a:r>
                <a:rPr lang="en-US" sz="1650" b="1" dirty="0">
                  <a:solidFill>
                    <a:schemeClr val="accent1"/>
                  </a:solidFill>
                  <a:latin typeface="+mn-lt"/>
                  <a:ea typeface="+mn-ea"/>
                  <a:cs typeface="+mn-cs"/>
                </a:rPr>
                <a:t>JUDGE</a:t>
              </a:r>
            </a:p>
          </p:txBody>
        </p:sp>
        <p:grpSp>
          <p:nvGrpSpPr>
            <p:cNvPr id="22" name="Group 22"/>
            <p:cNvGrpSpPr/>
            <p:nvPr/>
          </p:nvGrpSpPr>
          <p:grpSpPr>
            <a:xfrm>
              <a:off x="8382000" y="1905000"/>
              <a:ext cx="2286000" cy="2971800"/>
              <a:chOff x="8382000" y="1905000"/>
              <a:chExt cx="2286000" cy="2971800"/>
            </a:xfrm>
          </p:grpSpPr>
          <p:sp>
            <p:nvSpPr>
              <p:cNvPr id="19" name="Rectangle 19"/>
              <p:cNvSpPr/>
              <p:nvPr/>
            </p:nvSpPr>
            <p:spPr>
              <a:xfrm>
                <a:off x="8382000" y="1905000"/>
                <a:ext cx="2286000" cy="704850"/>
              </a:xfrm>
              <a:prstGeom prst="roundRect">
                <a:avLst>
                  <a:gd name="adj" fmla="val 8108"/>
                </a:avLst>
              </a:prstGeom>
              <a:solidFill>
                <a:schemeClr val="dk1"/>
              </a:solidFill>
              <a:ln w="28575">
                <a:solidFill>
                  <a:schemeClr val="accent3"/>
                </a:solidFill>
              </a:ln>
            </p:spPr>
          </p:sp>
          <p:sp>
            <p:nvSpPr>
              <p:cNvPr id="20" name="Rectangle 20"/>
              <p:cNvSpPr/>
              <p:nvPr/>
            </p:nvSpPr>
            <p:spPr>
              <a:xfrm>
                <a:off x="8382000" y="3038475"/>
                <a:ext cx="2286000" cy="704850"/>
              </a:xfrm>
              <a:prstGeom prst="roundRect">
                <a:avLst>
                  <a:gd name="adj" fmla="val 8108"/>
                </a:avLst>
              </a:prstGeom>
              <a:solidFill>
                <a:schemeClr val="dk1"/>
              </a:solidFill>
              <a:ln w="28575">
                <a:solidFill>
                  <a:schemeClr val="accent2"/>
                </a:solidFill>
              </a:ln>
            </p:spPr>
          </p:sp>
          <p:sp>
            <p:nvSpPr>
              <p:cNvPr id="21" name="Rectangle 21"/>
              <p:cNvSpPr/>
              <p:nvPr/>
            </p:nvSpPr>
            <p:spPr>
              <a:xfrm>
                <a:off x="8382000" y="4171950"/>
                <a:ext cx="2286000" cy="704850"/>
              </a:xfrm>
              <a:prstGeom prst="roundRect">
                <a:avLst>
                  <a:gd name="adj" fmla="val 8108"/>
                </a:avLst>
              </a:prstGeom>
              <a:solidFill>
                <a:schemeClr val="dk1"/>
              </a:solidFill>
              <a:ln w="28575">
                <a:solidFill>
                  <a:srgbClr val="7FB1B5"/>
                </a:solidFill>
              </a:ln>
            </p:spPr>
          </p:sp>
        </p:grpSp>
        <p:grpSp>
          <p:nvGrpSpPr>
            <p:cNvPr id="26" name="Group 26"/>
            <p:cNvGrpSpPr/>
            <p:nvPr/>
          </p:nvGrpSpPr>
          <p:grpSpPr>
            <a:xfrm>
              <a:off x="9110007" y="2155508"/>
              <a:ext cx="829986" cy="2589657"/>
              <a:chOff x="9110007" y="2155508"/>
              <a:chExt cx="829986" cy="2589657"/>
            </a:xfrm>
          </p:grpSpPr>
          <p:sp>
            <p:nvSpPr>
              <p:cNvPr id="23" name="TextBox 23"/>
              <p:cNvSpPr txBox="1"/>
              <p:nvPr/>
            </p:nvSpPr>
            <p:spPr>
              <a:xfrm>
                <a:off x="9110007" y="2155508"/>
                <a:ext cx="829986"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EXPAND</a:t>
                </a:r>
              </a:p>
            </p:txBody>
          </p:sp>
          <p:sp>
            <p:nvSpPr>
              <p:cNvPr id="24" name="TextBox 24"/>
              <p:cNvSpPr txBox="1"/>
              <p:nvPr/>
            </p:nvSpPr>
            <p:spPr>
              <a:xfrm>
                <a:off x="9220901" y="3288982"/>
                <a:ext cx="608198"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STOP</a:t>
                </a:r>
              </a:p>
            </p:txBody>
          </p:sp>
          <p:sp>
            <p:nvSpPr>
              <p:cNvPr id="25" name="TextBox 25"/>
              <p:cNvSpPr txBox="1"/>
              <p:nvPr/>
            </p:nvSpPr>
            <p:spPr>
              <a:xfrm>
                <a:off x="9245544" y="4422458"/>
                <a:ext cx="558912" cy="322707"/>
              </a:xfrm>
              <a:prstGeom prst="rect">
                <a:avLst/>
              </a:prstGeom>
              <a:noFill/>
              <a:ln>
                <a:noFill/>
              </a:ln>
            </p:spPr>
            <p:txBody>
              <a:bodyPr wrap="none" lIns="0" tIns="0" rIns="0" bIns="0" anchor="t" anchorCtr="0">
                <a:spAutoFit/>
              </a:bodyPr>
              <a:lstStyle/>
              <a:p>
                <a:pPr algn="ctr"/>
                <a:r>
                  <a:rPr lang="en-US" sz="1650" b="1" dirty="0">
                    <a:solidFill>
                      <a:srgbClr val="F4F1E8"/>
                    </a:solidFill>
                    <a:latin typeface="+mn-lt"/>
                    <a:ea typeface="+mn-ea"/>
                    <a:cs typeface="+mn-cs"/>
                  </a:rPr>
                  <a:t>PARK</a:t>
                </a:r>
              </a:p>
            </p:txBody>
          </p:sp>
        </p:grpSp>
        <p:sp>
          <p:nvSpPr>
            <p:cNvPr id="27" name="Line 27"/>
            <p:cNvSpPr/>
            <p:nvPr/>
          </p:nvSpPr>
          <p:spPr>
            <a:xfrm flipV="1">
              <a:off x="2571750" y="2257425"/>
              <a:ext cx="628650" cy="1133475"/>
            </a:xfrm>
            <a:prstGeom prst="line">
              <a:avLst/>
            </a:prstGeom>
            <a:noFill/>
            <a:ln w="28575">
              <a:solidFill>
                <a:schemeClr val="accent3"/>
              </a:solidFill>
              <a:tailEnd type="triangle" w="lg" len="lg"/>
            </a:ln>
          </p:spPr>
        </p:sp>
        <p:sp>
          <p:nvSpPr>
            <p:cNvPr id="28" name="Line 28"/>
            <p:cNvSpPr/>
            <p:nvPr/>
          </p:nvSpPr>
          <p:spPr>
            <a:xfrm>
              <a:off x="2571750" y="3390900"/>
              <a:ext cx="628650" cy="1"/>
            </a:xfrm>
            <a:prstGeom prst="line">
              <a:avLst/>
            </a:prstGeom>
            <a:noFill/>
            <a:ln w="28575">
              <a:solidFill>
                <a:schemeClr val="accent3"/>
              </a:solidFill>
              <a:tailEnd type="triangle" w="lg" len="lg"/>
            </a:ln>
          </p:spPr>
        </p:sp>
        <p:sp>
          <p:nvSpPr>
            <p:cNvPr id="29" name="Line 29"/>
            <p:cNvSpPr/>
            <p:nvPr/>
          </p:nvSpPr>
          <p:spPr>
            <a:xfrm>
              <a:off x="2571750" y="3390900"/>
              <a:ext cx="628650" cy="1133475"/>
            </a:xfrm>
            <a:prstGeom prst="line">
              <a:avLst/>
            </a:prstGeom>
            <a:noFill/>
            <a:ln w="28575">
              <a:solidFill>
                <a:schemeClr val="accent3"/>
              </a:solidFill>
              <a:tailEnd type="triangle" w="lg" len="lg"/>
            </a:ln>
          </p:spPr>
        </p:sp>
        <p:sp>
          <p:nvSpPr>
            <p:cNvPr id="30" name="Line 30"/>
            <p:cNvSpPr/>
            <p:nvPr/>
          </p:nvSpPr>
          <p:spPr>
            <a:xfrm>
              <a:off x="5048250" y="2257425"/>
              <a:ext cx="685800" cy="600075"/>
            </a:xfrm>
            <a:custGeom>
              <a:avLst/>
              <a:gdLst/>
              <a:ahLst/>
              <a:cxnLst/>
              <a:rect l="l" t="t" r="r" b="b"/>
              <a:pathLst>
                <a:path w="685800" h="600075">
                  <a:moveTo>
                    <a:pt x="0" y="0"/>
                  </a:moveTo>
                  <a:lnTo>
                    <a:pt x="685800" y="600075"/>
                  </a:lnTo>
                </a:path>
              </a:pathLst>
            </a:custGeom>
            <a:noFill/>
            <a:ln w="28575">
              <a:solidFill>
                <a:schemeClr val="accent3"/>
              </a:solidFill>
            </a:ln>
          </p:spPr>
        </p:sp>
        <p:sp>
          <p:nvSpPr>
            <p:cNvPr id="31" name="Line 31"/>
            <p:cNvSpPr/>
            <p:nvPr/>
          </p:nvSpPr>
          <p:spPr>
            <a:xfrm>
              <a:off x="5048250" y="3390900"/>
              <a:ext cx="571500" cy="9525"/>
            </a:xfrm>
            <a:custGeom>
              <a:avLst/>
              <a:gdLst/>
              <a:ahLst/>
              <a:cxnLst/>
              <a:rect l="l" t="t" r="r" b="b"/>
              <a:pathLst>
                <a:path w="571500" h="9525">
                  <a:moveTo>
                    <a:pt x="0" y="0"/>
                  </a:moveTo>
                  <a:lnTo>
                    <a:pt x="571500" y="0"/>
                  </a:lnTo>
                </a:path>
              </a:pathLst>
            </a:custGeom>
            <a:noFill/>
            <a:ln w="28575">
              <a:solidFill>
                <a:schemeClr val="accent3"/>
              </a:solidFill>
            </a:ln>
          </p:spPr>
        </p:sp>
        <p:sp>
          <p:nvSpPr>
            <p:cNvPr id="32" name="Line 32"/>
            <p:cNvSpPr/>
            <p:nvPr/>
          </p:nvSpPr>
          <p:spPr>
            <a:xfrm>
              <a:off x="5048250" y="3924300"/>
              <a:ext cx="685800" cy="600075"/>
            </a:xfrm>
            <a:custGeom>
              <a:avLst/>
              <a:gdLst/>
              <a:ahLst/>
              <a:cxnLst/>
              <a:rect l="l" t="t" r="r" b="b"/>
              <a:pathLst>
                <a:path w="685800" h="600075">
                  <a:moveTo>
                    <a:pt x="0" y="600075"/>
                  </a:moveTo>
                  <a:lnTo>
                    <a:pt x="685800" y="0"/>
                  </a:lnTo>
                </a:path>
              </a:pathLst>
            </a:custGeom>
            <a:noFill/>
            <a:ln w="28575">
              <a:solidFill>
                <a:schemeClr val="accent3"/>
              </a:solidFill>
            </a:ln>
          </p:spPr>
        </p:sp>
        <p:sp>
          <p:nvSpPr>
            <p:cNvPr id="33" name="Line 33"/>
            <p:cNvSpPr/>
            <p:nvPr/>
          </p:nvSpPr>
          <p:spPr>
            <a:xfrm flipV="1">
              <a:off x="7524750" y="2257425"/>
              <a:ext cx="819150" cy="600075"/>
            </a:xfrm>
            <a:prstGeom prst="line">
              <a:avLst/>
            </a:prstGeom>
            <a:noFill/>
            <a:ln w="28575">
              <a:solidFill>
                <a:schemeClr val="accent3"/>
              </a:solidFill>
              <a:tailEnd type="triangle" w="lg" len="lg"/>
            </a:ln>
          </p:spPr>
        </p:sp>
        <p:sp>
          <p:nvSpPr>
            <p:cNvPr id="34" name="Line 34"/>
            <p:cNvSpPr/>
            <p:nvPr/>
          </p:nvSpPr>
          <p:spPr>
            <a:xfrm>
              <a:off x="7524750" y="3390900"/>
              <a:ext cx="819150" cy="1"/>
            </a:xfrm>
            <a:prstGeom prst="line">
              <a:avLst/>
            </a:prstGeom>
            <a:noFill/>
            <a:ln w="28575">
              <a:solidFill>
                <a:schemeClr val="accent3"/>
              </a:solidFill>
              <a:tailEnd type="triangle" w="lg" len="lg"/>
            </a:ln>
          </p:spPr>
        </p:sp>
        <p:sp>
          <p:nvSpPr>
            <p:cNvPr id="35" name="Line 35"/>
            <p:cNvSpPr/>
            <p:nvPr/>
          </p:nvSpPr>
          <p:spPr>
            <a:xfrm>
              <a:off x="7524750" y="3924300"/>
              <a:ext cx="819150" cy="600075"/>
            </a:xfrm>
            <a:prstGeom prst="line">
              <a:avLst/>
            </a:prstGeom>
            <a:noFill/>
            <a:ln w="28575">
              <a:solidFill>
                <a:schemeClr val="accent3"/>
              </a:solidFill>
              <a:tailEnd type="triangle" w="lg" len="lg"/>
            </a:ln>
          </p:spPr>
        </p:sp>
      </p:grpSp>
      <p:grpSp>
        <p:nvGrpSpPr>
          <p:cNvPr id="39" name="Group 39"/>
          <p:cNvGrpSpPr/>
          <p:nvPr/>
        </p:nvGrpSpPr>
        <p:grpSpPr>
          <a:xfrm>
            <a:off x="603504" y="6233160"/>
            <a:ext cx="10984992" cy="234696"/>
            <a:chOff x="603504" y="6233160"/>
            <a:chExt cx="10984992" cy="234696"/>
          </a:xfrm>
        </p:grpSpPr>
        <p:sp>
          <p:nvSpPr>
            <p:cNvPr id="37" name="TextBox 37"/>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K-011 · K-012</a:t>
              </a:r>
            </a:p>
          </p:txBody>
        </p:sp>
        <p:sp>
          <p:nvSpPr>
            <p:cNvPr id="38" name="TextBox 38"/>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11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97218"/>
            <a:ext cx="8270804" cy="865822"/>
            <a:chOff x="594360" y="597218"/>
            <a:chExt cx="8270804" cy="865822"/>
          </a:xfrm>
        </p:grpSpPr>
        <p:sp>
          <p:nvSpPr>
            <p:cNvPr id="2" name="TextBox 2"/>
            <p:cNvSpPr txBox="1"/>
            <p:nvPr/>
          </p:nvSpPr>
          <p:spPr>
            <a:xfrm>
              <a:off x="602742" y="597218"/>
              <a:ext cx="2202790"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PRESENTATION COMPILER</a:t>
              </a:r>
            </a:p>
          </p:txBody>
        </p:sp>
        <p:sp>
          <p:nvSpPr>
            <p:cNvPr id="3" name="TextBox 3"/>
            <p:cNvSpPr txBox="1"/>
            <p:nvPr/>
          </p:nvSpPr>
          <p:spPr>
            <a:xfrm>
              <a:off x="594360" y="876300"/>
              <a:ext cx="8270804"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A deck is compiled from validated design</a:t>
              </a:r>
            </a:p>
          </p:txBody>
        </p:sp>
      </p:grpSp>
      <p:grpSp>
        <p:nvGrpSpPr>
          <p:cNvPr id="28" name="Group 28"/>
          <p:cNvGrpSpPr/>
          <p:nvPr/>
        </p:nvGrpSpPr>
        <p:grpSpPr>
          <a:xfrm>
            <a:off x="381000" y="2838450"/>
            <a:ext cx="11144250" cy="2005584"/>
            <a:chOff x="381000" y="2838450"/>
            <a:chExt cx="11144250" cy="2005584"/>
          </a:xfrm>
        </p:grpSpPr>
        <p:sp>
          <p:nvSpPr>
            <p:cNvPr id="5" name="Line 5"/>
            <p:cNvSpPr/>
            <p:nvPr/>
          </p:nvSpPr>
          <p:spPr>
            <a:xfrm>
              <a:off x="952500" y="3429000"/>
              <a:ext cx="10382250" cy="1"/>
            </a:xfrm>
            <a:prstGeom prst="line">
              <a:avLst/>
            </a:prstGeom>
            <a:noFill/>
            <a:ln w="38100">
              <a:solidFill>
                <a:schemeClr val="accent3"/>
              </a:solidFill>
              <a:tailEnd type="triangle" w="lg" len="lg"/>
            </a:ln>
          </p:spPr>
        </p:sp>
        <p:grpSp>
          <p:nvGrpSpPr>
            <p:cNvPr id="12" name="Group 12"/>
            <p:cNvGrpSpPr/>
            <p:nvPr/>
          </p:nvGrpSpPr>
          <p:grpSpPr>
            <a:xfrm>
              <a:off x="381000" y="2838450"/>
              <a:ext cx="11144250" cy="1181100"/>
              <a:chOff x="381000" y="2838450"/>
              <a:chExt cx="11144250" cy="1181100"/>
            </a:xfrm>
          </p:grpSpPr>
          <p:sp>
            <p:nvSpPr>
              <p:cNvPr id="6" name="Rectangle 6"/>
              <p:cNvSpPr/>
              <p:nvPr/>
            </p:nvSpPr>
            <p:spPr>
              <a:xfrm>
                <a:off x="381000" y="2838450"/>
                <a:ext cx="1714500" cy="1181100"/>
              </a:xfrm>
              <a:prstGeom prst="roundRect">
                <a:avLst>
                  <a:gd name="adj" fmla="val 4839"/>
                </a:avLst>
              </a:prstGeom>
              <a:solidFill>
                <a:schemeClr val="lt2"/>
              </a:solidFill>
              <a:ln w="19050">
                <a:solidFill>
                  <a:schemeClr val="accent1"/>
                </a:solidFill>
              </a:ln>
            </p:spPr>
          </p:sp>
          <p:sp>
            <p:nvSpPr>
              <p:cNvPr id="7" name="Rectangle 7"/>
              <p:cNvSpPr/>
              <p:nvPr/>
            </p:nvSpPr>
            <p:spPr>
              <a:xfrm>
                <a:off x="2266950" y="2838450"/>
                <a:ext cx="1714500" cy="1181100"/>
              </a:xfrm>
              <a:prstGeom prst="roundRect">
                <a:avLst>
                  <a:gd name="adj" fmla="val 4839"/>
                </a:avLst>
              </a:prstGeom>
              <a:solidFill>
                <a:schemeClr val="lt2"/>
              </a:solidFill>
              <a:ln w="19050">
                <a:solidFill>
                  <a:schemeClr val="accent1"/>
                </a:solidFill>
              </a:ln>
            </p:spPr>
          </p:sp>
          <p:sp>
            <p:nvSpPr>
              <p:cNvPr id="8" name="Rectangle 8"/>
              <p:cNvSpPr/>
              <p:nvPr/>
            </p:nvSpPr>
            <p:spPr>
              <a:xfrm>
                <a:off x="4152900" y="2838450"/>
                <a:ext cx="1714500" cy="1181100"/>
              </a:xfrm>
              <a:prstGeom prst="roundRect">
                <a:avLst>
                  <a:gd name="adj" fmla="val 4839"/>
                </a:avLst>
              </a:prstGeom>
              <a:solidFill>
                <a:schemeClr val="lt2"/>
              </a:solidFill>
              <a:ln w="19050">
                <a:solidFill>
                  <a:schemeClr val="accent1"/>
                </a:solidFill>
              </a:ln>
            </p:spPr>
          </p:sp>
          <p:sp>
            <p:nvSpPr>
              <p:cNvPr id="9" name="Rectangle 9"/>
              <p:cNvSpPr/>
              <p:nvPr/>
            </p:nvSpPr>
            <p:spPr>
              <a:xfrm>
                <a:off x="6038850" y="2838450"/>
                <a:ext cx="1714500" cy="1181100"/>
              </a:xfrm>
              <a:prstGeom prst="roundRect">
                <a:avLst>
                  <a:gd name="adj" fmla="val 4839"/>
                </a:avLst>
              </a:prstGeom>
              <a:solidFill>
                <a:schemeClr val="lt2"/>
              </a:solidFill>
              <a:ln w="19050">
                <a:solidFill>
                  <a:schemeClr val="accent1"/>
                </a:solidFill>
              </a:ln>
            </p:spPr>
          </p:sp>
          <p:sp>
            <p:nvSpPr>
              <p:cNvPr id="10" name="Rectangle 10"/>
              <p:cNvSpPr/>
              <p:nvPr/>
            </p:nvSpPr>
            <p:spPr>
              <a:xfrm>
                <a:off x="7924800" y="2838450"/>
                <a:ext cx="1714500" cy="1181100"/>
              </a:xfrm>
              <a:prstGeom prst="roundRect">
                <a:avLst>
                  <a:gd name="adj" fmla="val 4839"/>
                </a:avLst>
              </a:prstGeom>
              <a:solidFill>
                <a:schemeClr val="lt2"/>
              </a:solidFill>
              <a:ln w="19050">
                <a:solidFill>
                  <a:schemeClr val="accent1"/>
                </a:solidFill>
              </a:ln>
            </p:spPr>
          </p:sp>
          <p:sp>
            <p:nvSpPr>
              <p:cNvPr id="11" name="Rectangle 11"/>
              <p:cNvSpPr/>
              <p:nvPr/>
            </p:nvSpPr>
            <p:spPr>
              <a:xfrm>
                <a:off x="9810750" y="2838450"/>
                <a:ext cx="1714500" cy="1181100"/>
              </a:xfrm>
              <a:prstGeom prst="roundRect">
                <a:avLst>
                  <a:gd name="adj" fmla="val 4839"/>
                </a:avLst>
              </a:prstGeom>
              <a:solidFill>
                <a:schemeClr val="lt2"/>
              </a:solidFill>
              <a:ln w="19050">
                <a:solidFill>
                  <a:schemeClr val="accent1"/>
                </a:solidFill>
              </a:ln>
            </p:spPr>
          </p:sp>
        </p:grpSp>
        <p:grpSp>
          <p:nvGrpSpPr>
            <p:cNvPr id="19" name="Group 19"/>
            <p:cNvGrpSpPr/>
            <p:nvPr/>
          </p:nvGrpSpPr>
          <p:grpSpPr>
            <a:xfrm>
              <a:off x="642518" y="3185160"/>
              <a:ext cx="10347580" cy="234696"/>
              <a:chOff x="642518" y="3185160"/>
              <a:chExt cx="10347580" cy="234696"/>
            </a:xfrm>
          </p:grpSpPr>
          <p:sp>
            <p:nvSpPr>
              <p:cNvPr id="13" name="TextBox 13"/>
              <p:cNvSpPr txBox="1"/>
              <p:nvPr/>
            </p:nvSpPr>
            <p:spPr>
              <a:xfrm>
                <a:off x="642518" y="3185160"/>
                <a:ext cx="119146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knowledge-map</a:t>
                </a:r>
              </a:p>
            </p:txBody>
          </p:sp>
          <p:sp>
            <p:nvSpPr>
              <p:cNvPr id="14" name="TextBox 14"/>
              <p:cNvSpPr txBox="1"/>
              <p:nvPr/>
            </p:nvSpPr>
            <p:spPr>
              <a:xfrm>
                <a:off x="2649626" y="3185160"/>
                <a:ext cx="949147"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deck-design</a:t>
                </a:r>
              </a:p>
            </p:txBody>
          </p:sp>
          <p:sp>
            <p:nvSpPr>
              <p:cNvPr id="15" name="TextBox 15"/>
              <p:cNvSpPr txBox="1"/>
              <p:nvPr/>
            </p:nvSpPr>
            <p:spPr>
              <a:xfrm>
                <a:off x="4555769" y="3185160"/>
                <a:ext cx="908761"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style-guide</a:t>
                </a:r>
              </a:p>
            </p:txBody>
          </p:sp>
          <p:sp>
            <p:nvSpPr>
              <p:cNvPr id="16" name="TextBox 16"/>
              <p:cNvSpPr txBox="1"/>
              <p:nvPr/>
            </p:nvSpPr>
            <p:spPr>
              <a:xfrm>
                <a:off x="6506337" y="3185160"/>
                <a:ext cx="779526"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validation</a:t>
                </a:r>
              </a:p>
            </p:txBody>
          </p:sp>
          <p:sp>
            <p:nvSpPr>
              <p:cNvPr id="17" name="TextBox 17"/>
              <p:cNvSpPr txBox="1"/>
              <p:nvPr/>
            </p:nvSpPr>
            <p:spPr>
              <a:xfrm>
                <a:off x="8324672" y="3185160"/>
                <a:ext cx="914756"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PPT Master</a:t>
                </a:r>
              </a:p>
            </p:txBody>
          </p:sp>
          <p:sp>
            <p:nvSpPr>
              <p:cNvPr id="18" name="TextBox 18"/>
              <p:cNvSpPr txBox="1"/>
              <p:nvPr/>
            </p:nvSpPr>
            <p:spPr>
              <a:xfrm>
                <a:off x="10345903" y="3185160"/>
                <a:ext cx="644195"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Consolas"/>
                    <a:ea typeface="Consolas"/>
                    <a:cs typeface="Consolas"/>
                  </a:rPr>
                  <a:t>final QA</a:t>
                </a:r>
              </a:p>
            </p:txBody>
          </p:sp>
        </p:grpSp>
        <p:grpSp>
          <p:nvGrpSpPr>
            <p:cNvPr id="26" name="Group 26"/>
            <p:cNvGrpSpPr/>
            <p:nvPr/>
          </p:nvGrpSpPr>
          <p:grpSpPr>
            <a:xfrm>
              <a:off x="954157" y="3569018"/>
              <a:ext cx="10018098" cy="264033"/>
              <a:chOff x="954157" y="3569018"/>
              <a:chExt cx="10018098" cy="264033"/>
            </a:xfrm>
          </p:grpSpPr>
          <p:sp>
            <p:nvSpPr>
              <p:cNvPr id="20" name="TextBox 20"/>
              <p:cNvSpPr txBox="1"/>
              <p:nvPr/>
            </p:nvSpPr>
            <p:spPr>
              <a:xfrm>
                <a:off x="954157" y="3569018"/>
                <a:ext cx="568185"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FACTS</a:t>
                </a:r>
              </a:p>
            </p:txBody>
          </p:sp>
          <p:sp>
            <p:nvSpPr>
              <p:cNvPr id="21" name="TextBox 21"/>
              <p:cNvSpPr txBox="1"/>
              <p:nvPr/>
            </p:nvSpPr>
            <p:spPr>
              <a:xfrm>
                <a:off x="2643523" y="3569018"/>
                <a:ext cx="961354"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NARRATIVE</a:t>
                </a:r>
              </a:p>
            </p:txBody>
          </p:sp>
          <p:sp>
            <p:nvSpPr>
              <p:cNvPr id="22" name="TextBox 22"/>
              <p:cNvSpPr txBox="1"/>
              <p:nvPr/>
            </p:nvSpPr>
            <p:spPr>
              <a:xfrm>
                <a:off x="4312726" y="3569018"/>
                <a:ext cx="1394849"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VISUAL SYSTEM</a:t>
                </a:r>
              </a:p>
            </p:txBody>
          </p:sp>
          <p:sp>
            <p:nvSpPr>
              <p:cNvPr id="23" name="TextBox 23"/>
              <p:cNvSpPr txBox="1"/>
              <p:nvPr/>
            </p:nvSpPr>
            <p:spPr>
              <a:xfrm>
                <a:off x="6667454" y="3569018"/>
                <a:ext cx="457291"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GATE</a:t>
                </a:r>
              </a:p>
            </p:txBody>
          </p:sp>
          <p:sp>
            <p:nvSpPr>
              <p:cNvPr id="24" name="TextBox 24"/>
              <p:cNvSpPr txBox="1"/>
              <p:nvPr/>
            </p:nvSpPr>
            <p:spPr>
              <a:xfrm>
                <a:off x="8387063" y="3569018"/>
                <a:ext cx="789973"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EXECUTE</a:t>
                </a:r>
              </a:p>
            </p:txBody>
          </p:sp>
          <p:sp>
            <p:nvSpPr>
              <p:cNvPr id="25" name="TextBox 25"/>
              <p:cNvSpPr txBox="1"/>
              <p:nvPr/>
            </p:nvSpPr>
            <p:spPr>
              <a:xfrm>
                <a:off x="10363745" y="3569018"/>
                <a:ext cx="608510"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PROVE</a:t>
                </a:r>
              </a:p>
            </p:txBody>
          </p:sp>
        </p:grpSp>
        <p:sp>
          <p:nvSpPr>
            <p:cNvPr id="27" name="TextBox 27"/>
            <p:cNvSpPr txBox="1"/>
            <p:nvPr/>
          </p:nvSpPr>
          <p:spPr>
            <a:xfrm>
              <a:off x="1291126" y="4491990"/>
              <a:ext cx="9609748" cy="352044"/>
            </a:xfrm>
            <a:prstGeom prst="rect">
              <a:avLst/>
            </a:prstGeom>
            <a:noFill/>
            <a:ln>
              <a:noFill/>
            </a:ln>
          </p:spPr>
          <p:txBody>
            <a:bodyPr wrap="none" lIns="0" tIns="0" rIns="0" bIns="0" anchor="t" anchorCtr="0">
              <a:spAutoFit/>
            </a:bodyPr>
            <a:lstStyle/>
            <a:p>
              <a:pPr algn="ctr"/>
              <a:r>
                <a:rPr lang="en-US" sz="1800" dirty="0">
                  <a:solidFill>
                    <a:srgbClr val="49616C"/>
                  </a:solidFill>
                  <a:latin typeface="+mn-lt"/>
                  <a:ea typeface="+mn-ea"/>
                  <a:cs typeface="+mn-cs"/>
                </a:rPr>
                <a:t>Typed design artifacts prevent visual polish from promoting unsupported claims.</a:t>
              </a:r>
            </a:p>
          </p:txBody>
        </p:sp>
      </p:grpSp>
      <p:grpSp>
        <p:nvGrpSpPr>
          <p:cNvPr id="31" name="Group 31"/>
          <p:cNvGrpSpPr/>
          <p:nvPr/>
        </p:nvGrpSpPr>
        <p:grpSpPr>
          <a:xfrm>
            <a:off x="603504" y="6233160"/>
            <a:ext cx="10984992" cy="234696"/>
            <a:chOff x="603504" y="6233160"/>
            <a:chExt cx="10984992" cy="234696"/>
          </a:xfrm>
        </p:grpSpPr>
        <p:sp>
          <p:nvSpPr>
            <p:cNvPr id="29" name="TextBox 29"/>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K-013</a:t>
              </a:r>
            </a:p>
          </p:txBody>
        </p:sp>
        <p:sp>
          <p:nvSpPr>
            <p:cNvPr id="30" name="TextBox 30"/>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12</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844868"/>
            <a:ext cx="5834573" cy="1107567"/>
            <a:chOff x="593598" y="844868"/>
            <a:chExt cx="5834573" cy="1107567"/>
          </a:xfrm>
        </p:grpSpPr>
        <p:sp>
          <p:nvSpPr>
            <p:cNvPr id="2" name="TextBox 2"/>
            <p:cNvSpPr txBox="1"/>
            <p:nvPr/>
          </p:nvSpPr>
          <p:spPr>
            <a:xfrm>
              <a:off x="602742" y="844868"/>
              <a:ext cx="2116379"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SECTION 04 / HANDOFFS</a:t>
              </a:r>
            </a:p>
          </p:txBody>
        </p:sp>
        <p:sp>
          <p:nvSpPr>
            <p:cNvPr id="3" name="TextBox 3"/>
            <p:cNvSpPr txBox="1"/>
            <p:nvPr/>
          </p:nvSpPr>
          <p:spPr>
            <a:xfrm>
              <a:off x="593598" y="1336358"/>
              <a:ext cx="5834573"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Handoffs reopen authority</a:t>
              </a:r>
            </a:p>
          </p:txBody>
        </p:sp>
      </p:grpSp>
      <p:grpSp>
        <p:nvGrpSpPr>
          <p:cNvPr id="16" name="Group 16"/>
          <p:cNvGrpSpPr/>
          <p:nvPr/>
        </p:nvGrpSpPr>
        <p:grpSpPr>
          <a:xfrm>
            <a:off x="952500" y="2800350"/>
            <a:ext cx="10287000" cy="2106739"/>
            <a:chOff x="952500" y="2800350"/>
            <a:chExt cx="10287000" cy="2106739"/>
          </a:xfrm>
        </p:grpSpPr>
        <p:sp>
          <p:nvSpPr>
            <p:cNvPr id="5" name="Rectangle 5"/>
            <p:cNvSpPr/>
            <p:nvPr/>
          </p:nvSpPr>
          <p:spPr>
            <a:xfrm>
              <a:off x="952500" y="2857500"/>
              <a:ext cx="3429000" cy="1428750"/>
            </a:xfrm>
            <a:prstGeom prst="roundRect">
              <a:avLst>
                <a:gd name="adj" fmla="val 5333"/>
              </a:avLst>
            </a:prstGeom>
            <a:solidFill>
              <a:schemeClr val="dk1"/>
            </a:solidFill>
            <a:ln w="19050">
              <a:solidFill>
                <a:srgbClr val="7FB1B5"/>
              </a:solidFill>
            </a:ln>
          </p:spPr>
        </p:sp>
        <p:sp>
          <p:nvSpPr>
            <p:cNvPr id="6" name="TextBox 6"/>
            <p:cNvSpPr txBox="1"/>
            <p:nvPr/>
          </p:nvSpPr>
          <p:spPr>
            <a:xfrm>
              <a:off x="1934962" y="3164205"/>
              <a:ext cx="1464076" cy="410718"/>
            </a:xfrm>
            <a:prstGeom prst="rect">
              <a:avLst/>
            </a:prstGeom>
            <a:noFill/>
            <a:ln>
              <a:noFill/>
            </a:ln>
          </p:spPr>
          <p:txBody>
            <a:bodyPr wrap="none" lIns="0" tIns="0" rIns="0" bIns="0" anchor="t" anchorCtr="0">
              <a:spAutoFit/>
            </a:bodyPr>
            <a:lstStyle/>
            <a:p>
              <a:pPr algn="ctr"/>
              <a:r>
                <a:rPr lang="en-US" sz="2100" b="1" dirty="0">
                  <a:solidFill>
                    <a:srgbClr val="F4F1E8"/>
                  </a:solidFill>
                  <a:latin typeface="+mj-lt"/>
                  <a:ea typeface="+mj-ea"/>
                  <a:cs typeface="+mj-cs"/>
                </a:rPr>
                <a:t>PRODUCER</a:t>
              </a:r>
            </a:p>
          </p:txBody>
        </p:sp>
        <p:sp>
          <p:nvSpPr>
            <p:cNvPr id="7" name="TextBox 7"/>
            <p:cNvSpPr txBox="1"/>
            <p:nvPr/>
          </p:nvSpPr>
          <p:spPr>
            <a:xfrm>
              <a:off x="1861261" y="3661410"/>
              <a:ext cx="1611478" cy="234696"/>
            </a:xfrm>
            <a:prstGeom prst="rect">
              <a:avLst/>
            </a:prstGeom>
            <a:noFill/>
            <a:ln>
              <a:noFill/>
            </a:ln>
          </p:spPr>
          <p:txBody>
            <a:bodyPr wrap="none" lIns="0" tIns="0" rIns="0" bIns="0" anchor="t" anchorCtr="0">
              <a:spAutoFit/>
            </a:bodyPr>
            <a:lstStyle/>
            <a:p>
              <a:pPr algn="ctr"/>
              <a:r>
                <a:rPr lang="en-US" sz="1200" dirty="0">
                  <a:solidFill>
                    <a:srgbClr val="7FB1B5"/>
                  </a:solidFill>
                  <a:latin typeface="Consolas"/>
                  <a:ea typeface="Consolas"/>
                  <a:cs typeface="Consolas"/>
                </a:rPr>
                <a:t>owns artifact truth</a:t>
              </a:r>
            </a:p>
          </p:txBody>
        </p:sp>
        <p:sp>
          <p:nvSpPr>
            <p:cNvPr id="8" name="Rectangle 8"/>
            <p:cNvSpPr/>
            <p:nvPr/>
          </p:nvSpPr>
          <p:spPr>
            <a:xfrm>
              <a:off x="7810500" y="2857500"/>
              <a:ext cx="3429000" cy="1428750"/>
            </a:xfrm>
            <a:prstGeom prst="roundRect">
              <a:avLst>
                <a:gd name="adj" fmla="val 5333"/>
              </a:avLst>
            </a:prstGeom>
            <a:solidFill>
              <a:schemeClr val="dk1"/>
            </a:solidFill>
            <a:ln w="19050">
              <a:solidFill>
                <a:srgbClr val="7FB1B5"/>
              </a:solidFill>
            </a:ln>
          </p:spPr>
        </p:sp>
        <p:sp>
          <p:nvSpPr>
            <p:cNvPr id="9" name="TextBox 9"/>
            <p:cNvSpPr txBox="1"/>
            <p:nvPr/>
          </p:nvSpPr>
          <p:spPr>
            <a:xfrm>
              <a:off x="8761598" y="3164205"/>
              <a:ext cx="1526804" cy="410718"/>
            </a:xfrm>
            <a:prstGeom prst="rect">
              <a:avLst/>
            </a:prstGeom>
            <a:noFill/>
            <a:ln>
              <a:noFill/>
            </a:ln>
          </p:spPr>
          <p:txBody>
            <a:bodyPr wrap="none" lIns="0" tIns="0" rIns="0" bIns="0" anchor="t" anchorCtr="0">
              <a:spAutoFit/>
            </a:bodyPr>
            <a:lstStyle/>
            <a:p>
              <a:pPr algn="ctr"/>
              <a:r>
                <a:rPr lang="en-US" sz="2100" b="1" dirty="0">
                  <a:solidFill>
                    <a:srgbClr val="F4F1E8"/>
                  </a:solidFill>
                  <a:latin typeface="+mj-lt"/>
                  <a:ea typeface="+mj-ea"/>
                  <a:cs typeface="+mj-cs"/>
                </a:rPr>
                <a:t>CONSUMER</a:t>
              </a:r>
            </a:p>
          </p:txBody>
        </p:sp>
        <p:sp>
          <p:nvSpPr>
            <p:cNvPr id="10" name="TextBox 10"/>
            <p:cNvSpPr txBox="1"/>
            <p:nvPr/>
          </p:nvSpPr>
          <p:spPr>
            <a:xfrm>
              <a:off x="8674837" y="3661410"/>
              <a:ext cx="1700327" cy="234696"/>
            </a:xfrm>
            <a:prstGeom prst="rect">
              <a:avLst/>
            </a:prstGeom>
            <a:noFill/>
            <a:ln>
              <a:noFill/>
            </a:ln>
          </p:spPr>
          <p:txBody>
            <a:bodyPr wrap="none" lIns="0" tIns="0" rIns="0" bIns="0" anchor="t" anchorCtr="0">
              <a:spAutoFit/>
            </a:bodyPr>
            <a:lstStyle/>
            <a:p>
              <a:pPr algn="ctr"/>
              <a:r>
                <a:rPr lang="en-US" sz="1200" dirty="0">
                  <a:solidFill>
                    <a:srgbClr val="7FB1B5"/>
                  </a:solidFill>
                  <a:latin typeface="Consolas"/>
                  <a:ea typeface="Consolas"/>
                  <a:cs typeface="Consolas"/>
                </a:rPr>
                <a:t>opens a new contract</a:t>
              </a:r>
            </a:p>
          </p:txBody>
        </p:sp>
        <p:sp>
          <p:nvSpPr>
            <p:cNvPr id="11" name="Line 11"/>
            <p:cNvSpPr/>
            <p:nvPr/>
          </p:nvSpPr>
          <p:spPr>
            <a:xfrm>
              <a:off x="4381500" y="3571875"/>
              <a:ext cx="3390900" cy="1"/>
            </a:xfrm>
            <a:prstGeom prst="line">
              <a:avLst/>
            </a:prstGeom>
            <a:noFill/>
            <a:ln w="76200">
              <a:solidFill>
                <a:schemeClr val="accent2"/>
              </a:solidFill>
              <a:tailEnd type="triangle" w="lg" len="lg"/>
            </a:ln>
          </p:spPr>
        </p:sp>
        <p:sp>
          <p:nvSpPr>
            <p:cNvPr id="12" name="Rectangle 12"/>
            <p:cNvSpPr/>
            <p:nvPr/>
          </p:nvSpPr>
          <p:spPr>
            <a:xfrm>
              <a:off x="5619750" y="2800350"/>
              <a:ext cx="952500" cy="1543050"/>
            </a:xfrm>
            <a:prstGeom prst="rect">
              <a:avLst/>
            </a:prstGeom>
            <a:solidFill>
              <a:schemeClr val="accent1"/>
            </a:solidFill>
            <a:ln w="28575">
              <a:solidFill>
                <a:schemeClr val="accent2"/>
              </a:solidFill>
            </a:ln>
          </p:spPr>
        </p:sp>
        <p:sp>
          <p:nvSpPr>
            <p:cNvPr id="13" name="TextBox 13"/>
            <p:cNvSpPr txBox="1"/>
            <p:nvPr/>
          </p:nvSpPr>
          <p:spPr>
            <a:xfrm>
              <a:off x="5867354" y="3378518"/>
              <a:ext cx="457291"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Consolas"/>
                  <a:ea typeface="Consolas"/>
                  <a:cs typeface="Consolas"/>
                </a:rPr>
                <a:t>GATE</a:t>
              </a:r>
            </a:p>
          </p:txBody>
        </p:sp>
        <p:sp>
          <p:nvSpPr>
            <p:cNvPr id="14" name="TextBox 14"/>
            <p:cNvSpPr txBox="1"/>
            <p:nvPr/>
          </p:nvSpPr>
          <p:spPr>
            <a:xfrm>
              <a:off x="5758491" y="3715702"/>
              <a:ext cx="675018" cy="205359"/>
            </a:xfrm>
            <a:prstGeom prst="rect">
              <a:avLst/>
            </a:prstGeom>
            <a:noFill/>
            <a:ln>
              <a:noFill/>
            </a:ln>
          </p:spPr>
          <p:txBody>
            <a:bodyPr wrap="none" lIns="0" tIns="0" rIns="0" bIns="0" anchor="t" anchorCtr="0">
              <a:spAutoFit/>
            </a:bodyPr>
            <a:lstStyle/>
            <a:p>
              <a:pPr algn="ctr"/>
              <a:r>
                <a:rPr lang="en-US" sz="1050" dirty="0">
                  <a:solidFill>
                    <a:srgbClr val="F4F1E8"/>
                  </a:solidFill>
                  <a:latin typeface="Consolas"/>
                  <a:ea typeface="Consolas"/>
                  <a:cs typeface="Consolas"/>
                </a:rPr>
                <a:t>authorize</a:t>
              </a:r>
            </a:p>
          </p:txBody>
        </p:sp>
        <p:sp>
          <p:nvSpPr>
            <p:cNvPr id="15" name="TextBox 15"/>
            <p:cNvSpPr txBox="1"/>
            <p:nvPr/>
          </p:nvSpPr>
          <p:spPr>
            <a:xfrm>
              <a:off x="3894153" y="4584382"/>
              <a:ext cx="4403693" cy="322707"/>
            </a:xfrm>
            <a:prstGeom prst="rect">
              <a:avLst/>
            </a:prstGeom>
            <a:noFill/>
            <a:ln>
              <a:noFill/>
            </a:ln>
          </p:spPr>
          <p:txBody>
            <a:bodyPr wrap="none" lIns="0" tIns="0" rIns="0" bIns="0" anchor="t" anchorCtr="0">
              <a:spAutoFit/>
            </a:bodyPr>
            <a:lstStyle/>
            <a:p>
              <a:pPr algn="ctr"/>
              <a:r>
                <a:rPr lang="en-US" sz="1650" dirty="0">
                  <a:solidFill>
                    <a:srgbClr val="B7D8D8"/>
                  </a:solidFill>
                  <a:latin typeface="+mn-lt"/>
                  <a:ea typeface="+mn-ea"/>
                  <a:cs typeface="+mn-cs"/>
                </a:rPr>
                <a:t>artifact path · purpose · stop condition</a:t>
              </a:r>
            </a:p>
          </p:txBody>
        </p:sp>
      </p:grpSp>
      <p:grpSp>
        <p:nvGrpSpPr>
          <p:cNvPr id="19" name="Group 19"/>
          <p:cNvGrpSpPr/>
          <p:nvPr/>
        </p:nvGrpSpPr>
        <p:grpSpPr>
          <a:xfrm>
            <a:off x="603504" y="6233160"/>
            <a:ext cx="10984992" cy="234696"/>
            <a:chOff x="603504" y="6233160"/>
            <a:chExt cx="10984992" cy="234696"/>
          </a:xfrm>
        </p:grpSpPr>
        <p:sp>
          <p:nvSpPr>
            <p:cNvPr id="17" name="TextBox 17"/>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K-014 · K-015</a:t>
              </a:r>
            </a:p>
          </p:txBody>
        </p:sp>
        <p:sp>
          <p:nvSpPr>
            <p:cNvPr id="18" name="TextBox 18"/>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13</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59118"/>
            <a:ext cx="7359196" cy="846772"/>
            <a:chOff x="594360" y="559118"/>
            <a:chExt cx="7359196" cy="846772"/>
          </a:xfrm>
        </p:grpSpPr>
        <p:sp>
          <p:nvSpPr>
            <p:cNvPr id="2" name="TextBox 2"/>
            <p:cNvSpPr txBox="1"/>
            <p:nvPr/>
          </p:nvSpPr>
          <p:spPr>
            <a:xfrm>
              <a:off x="602742" y="559118"/>
              <a:ext cx="1482700"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HANDOFF LEDGER</a:t>
              </a:r>
            </a:p>
          </p:txBody>
        </p:sp>
        <p:sp>
          <p:nvSpPr>
            <p:cNvPr id="3" name="TextBox 3"/>
            <p:cNvSpPr txBox="1"/>
            <p:nvPr/>
          </p:nvSpPr>
          <p:spPr>
            <a:xfrm>
              <a:off x="594360" y="819150"/>
              <a:ext cx="7359196"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A handoff is a contract negotiation</a:t>
              </a:r>
            </a:p>
          </p:txBody>
        </p:sp>
      </p:grpSp>
      <p:graphicFrame>
        <p:nvGraphicFramePr>
          <p:cNvPr id="5" name="handoff-ledger"/>
          <p:cNvGraphicFramePr>
            <a:graphicFrameLocks noGrp="1"/>
          </p:cNvGraphicFramePr>
          <p:nvPr/>
        </p:nvGraphicFramePr>
        <p:xfrm>
          <a:off x="762000" y="1676400"/>
          <a:ext cx="10668000" cy="3886200"/>
        </p:xfrm>
        <a:graphic>
          <a:graphicData uri="http://schemas.openxmlformats.org/drawingml/2006/table">
            <a:tbl>
              <a:tblPr firstRow="1" bandRow="0">
                <a:tableStyleId>{5C22544A-7EE6-4342-B048-85BDC9FD1C3A}</a:tableStyleId>
              </a:tblPr>
              <a:tblGrid>
                <a:gridCol w="2933700"/>
                <a:gridCol w="7734300"/>
              </a:tblGrid>
              <a:tr h="555172">
                <a:tc>
                  <a:txBody>
                    <a:bodyPr/>
                    <a:lstStyle/>
                    <a:p>
                      <a:pPr algn="ctr"/>
                      <a:r>
                        <a:rPr lang="en-US" sz="1500" b="1">
                          <a:solidFill>
                            <a:srgbClr val="FFFFFF"/>
                          </a:solidFill>
                          <a:latin typeface="Aptos"/>
                          <a:ea typeface="Microsoft YaHei"/>
                          <a:cs typeface="Aptos"/>
                        </a:rPr>
                        <a:t>Contract field</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accent1"/>
                    </a:solidFill>
                  </a:tcPr>
                </a:tc>
                <a:tc>
                  <a:txBody>
                    <a:bodyPr/>
                    <a:lstStyle/>
                    <a:p>
                      <a:pPr algn="ctr"/>
                      <a:r>
                        <a:rPr lang="en-US" sz="1500" b="1">
                          <a:solidFill>
                            <a:srgbClr val="FFFFFF"/>
                          </a:solidFill>
                          <a:latin typeface="Aptos"/>
                          <a:ea typeface="Microsoft YaHei"/>
                          <a:cs typeface="Aptos"/>
                        </a:rPr>
                        <a:t>Worked example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accent1"/>
                    </a:solidFill>
                  </a:tcPr>
                </a:tc>
              </a:tr>
              <a:tr h="555172">
                <a:tc>
                  <a:txBody>
                    <a:bodyPr/>
                    <a:lstStyle/>
                    <a:p>
                      <a:pPr/>
                      <a:r>
                        <a:rPr lang="en-US" sz="1500" b="0">
                          <a:solidFill>
                            <a:srgbClr val="1F2937"/>
                          </a:solidFill>
                          <a:latin typeface="Aptos"/>
                          <a:ea typeface="Microsoft YaHei"/>
                          <a:cs typeface="Aptos"/>
                        </a:rPr>
                        <a:t>Producer authority</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500" b="0">
                          <a:solidFill>
                            <a:srgbClr val="1F2937"/>
                          </a:solidFill>
                          <a:latin typeface="Aptos"/>
                          <a:ea typeface="Microsoft YaHei"/>
                          <a:cs typeface="Aptos"/>
                        </a:rPr>
                        <a:t>Learn owns the approved curriculum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555172">
                <a:tc>
                  <a:txBody>
                    <a:bodyPr/>
                    <a:lstStyle/>
                    <a:p>
                      <a:pPr/>
                      <a:r>
                        <a:rPr lang="en-US" sz="1500" b="0">
                          <a:solidFill>
                            <a:srgbClr val="1F2937"/>
                          </a:solidFill>
                          <a:latin typeface="Aptos"/>
                          <a:ea typeface="Microsoft YaHei"/>
                          <a:cs typeface="Aptos"/>
                        </a:rPr>
                        <a:t>Exact artifact path</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500" b="0">
                          <a:solidFill>
                            <a:srgbClr val="1F2937"/>
                          </a:solidFill>
                          <a:latin typeface="Aptos"/>
                          <a:ea typeface="Microsoft YaHei"/>
                          <a:cs typeface="Aptos"/>
                        </a:rPr>
                        <a:t>docs/tianshu/deep/02-knowledge-loop.md</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555171">
                <a:tc>
                  <a:txBody>
                    <a:bodyPr/>
                    <a:lstStyle/>
                    <a:p>
                      <a:pPr/>
                      <a:r>
                        <a:rPr lang="en-US" sz="1500" b="0">
                          <a:solidFill>
                            <a:srgbClr val="1F2937"/>
                          </a:solidFill>
                          <a:latin typeface="Aptos"/>
                          <a:ea typeface="Microsoft YaHei"/>
                          <a:cs typeface="Aptos"/>
                        </a:rPr>
                        <a:t>Consumer purpose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500" b="0">
                          <a:solidFill>
                            <a:srgbClr val="1F2937"/>
                          </a:solidFill>
                          <a:latin typeface="Aptos"/>
                          <a:ea typeface="Microsoft YaHei"/>
                          <a:cs typeface="Aptos"/>
                        </a:rPr>
                        <a:t>Practice validates one selected claim</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555171">
                <a:tc>
                  <a:txBody>
                    <a:bodyPr/>
                    <a:lstStyle/>
                    <a:p>
                      <a:pPr/>
                      <a:r>
                        <a:rPr lang="en-US" sz="1500" b="0">
                          <a:solidFill>
                            <a:srgbClr val="1F2937"/>
                          </a:solidFill>
                          <a:latin typeface="Aptos"/>
                          <a:ea typeface="Microsoft YaHei"/>
                          <a:cs typeface="Aptos"/>
                        </a:rPr>
                        <a:t>Consumer gate</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500" b="0">
                          <a:solidFill>
                            <a:srgbClr val="1F2937"/>
                          </a:solidFill>
                          <a:latin typeface="Aptos"/>
                          <a:ea typeface="Microsoft YaHei"/>
                          <a:cs typeface="Aptos"/>
                        </a:rPr>
                        <a:t>Approved lab scope and observable criterion</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555171">
                <a:tc>
                  <a:txBody>
                    <a:bodyPr/>
                    <a:lstStyle/>
                    <a:p>
                      <a:pPr/>
                      <a:r>
                        <a:rPr lang="en-US" sz="1500" b="0">
                          <a:solidFill>
                            <a:srgbClr val="1F2937"/>
                          </a:solidFill>
                          <a:latin typeface="Aptos"/>
                          <a:ea typeface="Microsoft YaHei"/>
                          <a:cs typeface="Aptos"/>
                        </a:rPr>
                        <a:t>Known limits</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500" b="0">
                          <a:solidFill>
                            <a:srgbClr val="1F2937"/>
                          </a:solidFill>
                          <a:latin typeface="Aptos"/>
                          <a:ea typeface="Microsoft YaHei"/>
                          <a:cs typeface="Aptos"/>
                        </a:rPr>
                        <a:t>No curriculum mutation during the lab</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r h="555171">
                <a:tc>
                  <a:txBody>
                    <a:bodyPr/>
                    <a:lstStyle/>
                    <a:p>
                      <a:pPr/>
                      <a:r>
                        <a:rPr lang="en-US" sz="1500" b="0">
                          <a:solidFill>
                            <a:srgbClr val="1F2937"/>
                          </a:solidFill>
                          <a:latin typeface="Aptos"/>
                          <a:ea typeface="Microsoft YaHei"/>
                          <a:cs typeface="Aptos"/>
                        </a:rPr>
                        <a:t>Return path</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c>
                  <a:txBody>
                    <a:bodyPr/>
                    <a:lstStyle/>
                    <a:p>
                      <a:pPr/>
                      <a:r>
                        <a:rPr lang="en-US" sz="1500" b="0">
                          <a:solidFill>
                            <a:srgbClr val="1F2937"/>
                          </a:solidFill>
                          <a:latin typeface="Aptos"/>
                          <a:ea typeface="Microsoft YaHei"/>
                          <a:cs typeface="Aptos"/>
                        </a:rPr>
                        <a:t>Contradiction becomes a maintenance proposal</a:t>
                      </a:r>
                    </a:p>
                  </a:txBody>
                  <a:tcPr anchor="ctr">
                    <a:lnL w="9525">
                      <a:solidFill>
                        <a:srgbClr val="B9C3C4"/>
                      </a:solidFill>
                      <a:prstDash val="solid"/>
                    </a:lnL>
                    <a:lnR w="9525">
                      <a:solidFill>
                        <a:srgbClr val="B9C3C4"/>
                      </a:solidFill>
                      <a:prstDash val="solid"/>
                    </a:lnR>
                    <a:lnT w="9525">
                      <a:solidFill>
                        <a:srgbClr val="B9C3C4"/>
                      </a:solidFill>
                      <a:prstDash val="solid"/>
                    </a:lnT>
                    <a:lnB w="9525">
                      <a:solidFill>
                        <a:srgbClr val="B9C3C4"/>
                      </a:solidFill>
                      <a:prstDash val="solid"/>
                    </a:lnB>
                    <a:solidFill>
                      <a:schemeClr val="lt2"/>
                    </a:solidFill>
                  </a:tcPr>
                </a:tc>
              </a:tr>
            </a:tbl>
          </a:graphicData>
        </a:graphic>
      </p:graphicFrame>
      <p:grpSp>
        <p:nvGrpSpPr>
          <p:cNvPr id="8" name="Group 8"/>
          <p:cNvGrpSpPr/>
          <p:nvPr/>
        </p:nvGrpSpPr>
        <p:grpSpPr>
          <a:xfrm>
            <a:off x="603504" y="6233160"/>
            <a:ext cx="10984992" cy="234696"/>
            <a:chOff x="603504" y="6233160"/>
            <a:chExt cx="10984992" cy="234696"/>
          </a:xfrm>
        </p:grpSpPr>
        <p:sp>
          <p:nvSpPr>
            <p:cNvPr id="6" name="TextBox 6"/>
            <p:cNvSpPr txBox="1"/>
            <p:nvPr/>
          </p:nvSpPr>
          <p:spPr>
            <a:xfrm>
              <a:off x="603504" y="6233160"/>
              <a:ext cx="1812950"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K-014 · K-015 · K-020</a:t>
              </a:r>
            </a:p>
          </p:txBody>
        </p:sp>
        <p:sp>
          <p:nvSpPr>
            <p:cNvPr id="7" name="TextBox 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14</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97218"/>
            <a:ext cx="5451158" cy="1303972"/>
            <a:chOff x="594360" y="597218"/>
            <a:chExt cx="5451158" cy="1303972"/>
          </a:xfrm>
        </p:grpSpPr>
        <p:sp>
          <p:nvSpPr>
            <p:cNvPr id="2" name="TextBox 2"/>
            <p:cNvSpPr txBox="1"/>
            <p:nvPr/>
          </p:nvSpPr>
          <p:spPr>
            <a:xfrm>
              <a:off x="602742" y="597218"/>
              <a:ext cx="1271473"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SAFETY ROUTE</a:t>
              </a:r>
            </a:p>
          </p:txBody>
        </p:sp>
        <p:sp>
          <p:nvSpPr>
            <p:cNvPr id="3" name="TextBox 3"/>
            <p:cNvSpPr txBox="1"/>
            <p:nvPr/>
          </p:nvSpPr>
          <p:spPr>
            <a:xfrm>
              <a:off x="594360" y="876300"/>
              <a:ext cx="5451158" cy="1024890"/>
            </a:xfrm>
            <a:prstGeom prst="rect">
              <a:avLst/>
            </a:prstGeom>
            <a:noFill/>
            <a:ln>
              <a:noFill/>
            </a:ln>
          </p:spPr>
          <p:txBody>
            <a:bodyPr wrap="none" lIns="0" tIns="0" rIns="0" bIns="0" anchor="t" anchorCtr="0">
              <a:spAutoFit/>
            </a:bodyPr>
            <a:lstStyle/>
            <a:p>
              <a:pPr algn="l">
                <a:lnSpc>
                  <a:spcPts val="3450"/>
                </a:lnSpc>
              </a:pPr>
              <a:r>
                <a:rPr lang="en-US" sz="3000" b="1" dirty="0">
                  <a:solidFill>
                    <a:srgbClr val="F4F1E8"/>
                  </a:solidFill>
                  <a:latin typeface="+mj-lt"/>
                  <a:ea typeface="+mj-ea"/>
                  <a:cs typeface="+mj-cs"/>
                </a:rPr>
                <a:t>Safety is an owner-specific</a:t>
              </a:r>
              <a:br/>
              <a:r>
                <a:rPr lang="en-US" sz="3000" b="1" dirty="0">
                  <a:solidFill>
                    <a:srgbClr val="F4F1E8"/>
                  </a:solidFill>
                  <a:latin typeface="+mj-lt"/>
                  <a:ea typeface="+mj-ea"/>
                  <a:cs typeface="+mj-cs"/>
                </a:rPr>
                <a:t>guarded state transition</a:t>
              </a:r>
            </a:p>
          </p:txBody>
        </p:sp>
      </p:grpSp>
      <p:grpSp>
        <p:nvGrpSpPr>
          <p:cNvPr id="27" name="Group 27"/>
          <p:cNvGrpSpPr/>
          <p:nvPr/>
        </p:nvGrpSpPr>
        <p:grpSpPr>
          <a:xfrm>
            <a:off x="666750" y="2743200"/>
            <a:ext cx="10858500" cy="2272284"/>
            <a:chOff x="666750" y="2743200"/>
            <a:chExt cx="10858500" cy="2272284"/>
          </a:xfrm>
        </p:grpSpPr>
        <p:sp>
          <p:nvSpPr>
            <p:cNvPr id="5" name="Freeform 5"/>
            <p:cNvSpPr/>
            <p:nvPr/>
          </p:nvSpPr>
          <p:spPr>
            <a:xfrm>
              <a:off x="952500" y="3429000"/>
              <a:ext cx="10287000" cy="9525"/>
            </a:xfrm>
            <a:custGeom>
              <a:avLst/>
              <a:gdLst/>
              <a:ahLst/>
              <a:cxnLst/>
              <a:rect l="l" t="t" r="r" b="b"/>
              <a:pathLst>
                <a:path w="10287000" h="9525">
                  <a:moveTo>
                    <a:pt x="0" y="0"/>
                  </a:moveTo>
                  <a:lnTo>
                    <a:pt x="10287000" y="0"/>
                  </a:lnTo>
                </a:path>
              </a:pathLst>
            </a:custGeom>
            <a:noFill/>
            <a:ln w="57150">
              <a:solidFill>
                <a:schemeClr val="accent2"/>
              </a:solidFill>
              <a:tailEnd type="triangle" w="lg" len="lg"/>
            </a:ln>
          </p:spPr>
        </p:sp>
        <p:grpSp>
          <p:nvGrpSpPr>
            <p:cNvPr id="12" name="Group 12"/>
            <p:cNvGrpSpPr/>
            <p:nvPr/>
          </p:nvGrpSpPr>
          <p:grpSpPr>
            <a:xfrm>
              <a:off x="666750" y="2743200"/>
              <a:ext cx="10858500" cy="1371600"/>
              <a:chOff x="666750" y="2743200"/>
              <a:chExt cx="10858500" cy="1371600"/>
            </a:xfrm>
          </p:grpSpPr>
          <p:sp>
            <p:nvSpPr>
              <p:cNvPr id="6" name="Rectangle 6"/>
              <p:cNvSpPr/>
              <p:nvPr/>
            </p:nvSpPr>
            <p:spPr>
              <a:xfrm>
                <a:off x="666750" y="2743200"/>
                <a:ext cx="1619250" cy="1371600"/>
              </a:xfrm>
              <a:prstGeom prst="roundRect">
                <a:avLst>
                  <a:gd name="adj" fmla="val 4167"/>
                </a:avLst>
              </a:prstGeom>
              <a:solidFill>
                <a:schemeClr val="dk1"/>
              </a:solidFill>
              <a:ln w="19050">
                <a:solidFill>
                  <a:srgbClr val="7FB1B5"/>
                </a:solidFill>
              </a:ln>
            </p:spPr>
          </p:sp>
          <p:sp>
            <p:nvSpPr>
              <p:cNvPr id="7" name="Rectangle 7"/>
              <p:cNvSpPr/>
              <p:nvPr/>
            </p:nvSpPr>
            <p:spPr>
              <a:xfrm>
                <a:off x="2457450" y="2743200"/>
                <a:ext cx="1619250" cy="1371600"/>
              </a:xfrm>
              <a:prstGeom prst="roundRect">
                <a:avLst>
                  <a:gd name="adj" fmla="val 4167"/>
                </a:avLst>
              </a:prstGeom>
              <a:solidFill>
                <a:schemeClr val="dk1"/>
              </a:solidFill>
              <a:ln w="19050">
                <a:solidFill>
                  <a:srgbClr val="7FB1B5"/>
                </a:solidFill>
              </a:ln>
            </p:spPr>
          </p:sp>
          <p:sp>
            <p:nvSpPr>
              <p:cNvPr id="8" name="Rectangle 8"/>
              <p:cNvSpPr/>
              <p:nvPr/>
            </p:nvSpPr>
            <p:spPr>
              <a:xfrm>
                <a:off x="4248150" y="2743200"/>
                <a:ext cx="1619250" cy="1371600"/>
              </a:xfrm>
              <a:prstGeom prst="roundRect">
                <a:avLst>
                  <a:gd name="adj" fmla="val 4167"/>
                </a:avLst>
              </a:prstGeom>
              <a:solidFill>
                <a:schemeClr val="dk1"/>
              </a:solidFill>
              <a:ln w="19050">
                <a:solidFill>
                  <a:srgbClr val="7FB1B5"/>
                </a:solidFill>
              </a:ln>
            </p:spPr>
          </p:sp>
          <p:sp>
            <p:nvSpPr>
              <p:cNvPr id="9" name="Rectangle 9"/>
              <p:cNvSpPr/>
              <p:nvPr/>
            </p:nvSpPr>
            <p:spPr>
              <a:xfrm>
                <a:off x="6038850" y="2743200"/>
                <a:ext cx="1619250" cy="1371600"/>
              </a:xfrm>
              <a:prstGeom prst="roundRect">
                <a:avLst>
                  <a:gd name="adj" fmla="val 4167"/>
                </a:avLst>
              </a:prstGeom>
              <a:solidFill>
                <a:schemeClr val="dk1"/>
              </a:solidFill>
              <a:ln w="19050">
                <a:solidFill>
                  <a:srgbClr val="7FB1B5"/>
                </a:solidFill>
              </a:ln>
            </p:spPr>
          </p:sp>
          <p:sp>
            <p:nvSpPr>
              <p:cNvPr id="10" name="Rectangle 10"/>
              <p:cNvSpPr/>
              <p:nvPr/>
            </p:nvSpPr>
            <p:spPr>
              <a:xfrm>
                <a:off x="7829550" y="2743200"/>
                <a:ext cx="1619250" cy="1371600"/>
              </a:xfrm>
              <a:prstGeom prst="roundRect">
                <a:avLst>
                  <a:gd name="adj" fmla="val 4167"/>
                </a:avLst>
              </a:prstGeom>
              <a:solidFill>
                <a:schemeClr val="dk1"/>
              </a:solidFill>
              <a:ln w="19050">
                <a:solidFill>
                  <a:srgbClr val="7FB1B5"/>
                </a:solidFill>
              </a:ln>
            </p:spPr>
          </p:sp>
          <p:sp>
            <p:nvSpPr>
              <p:cNvPr id="11" name="Rectangle 11"/>
              <p:cNvSpPr/>
              <p:nvPr/>
            </p:nvSpPr>
            <p:spPr>
              <a:xfrm>
                <a:off x="9620250" y="2743200"/>
                <a:ext cx="1905000" cy="1371600"/>
              </a:xfrm>
              <a:prstGeom prst="roundRect">
                <a:avLst>
                  <a:gd name="adj" fmla="val 4167"/>
                </a:avLst>
              </a:prstGeom>
              <a:solidFill>
                <a:schemeClr val="dk1"/>
              </a:solidFill>
              <a:ln w="19050">
                <a:solidFill>
                  <a:srgbClr val="7FB1B5"/>
                </a:solidFill>
              </a:ln>
            </p:spPr>
          </p:sp>
        </p:grpSp>
        <p:grpSp>
          <p:nvGrpSpPr>
            <p:cNvPr id="25" name="Group 25"/>
            <p:cNvGrpSpPr/>
            <p:nvPr/>
          </p:nvGrpSpPr>
          <p:grpSpPr>
            <a:xfrm>
              <a:off x="812997" y="3019425"/>
              <a:ext cx="10444334" cy="705231"/>
              <a:chOff x="812997" y="3019425"/>
              <a:chExt cx="10444334" cy="705231"/>
            </a:xfrm>
          </p:grpSpPr>
          <p:sp>
            <p:nvSpPr>
              <p:cNvPr id="13" name="TextBox 13"/>
              <p:cNvSpPr txBox="1"/>
              <p:nvPr/>
            </p:nvSpPr>
            <p:spPr>
              <a:xfrm>
                <a:off x="1160716" y="3019425"/>
                <a:ext cx="631317"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TRUST</a:t>
                </a:r>
              </a:p>
            </p:txBody>
          </p:sp>
          <p:sp>
            <p:nvSpPr>
              <p:cNvPr id="14" name="TextBox 14"/>
              <p:cNvSpPr txBox="1"/>
              <p:nvPr/>
            </p:nvSpPr>
            <p:spPr>
              <a:xfrm>
                <a:off x="812997" y="3489960"/>
                <a:ext cx="1326756"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content as data</a:t>
                </a:r>
              </a:p>
            </p:txBody>
          </p:sp>
          <p:sp>
            <p:nvSpPr>
              <p:cNvPr id="15" name="TextBox 15"/>
              <p:cNvSpPr txBox="1"/>
              <p:nvPr/>
            </p:nvSpPr>
            <p:spPr>
              <a:xfrm>
                <a:off x="2889809" y="3019425"/>
                <a:ext cx="754532"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STATUS</a:t>
                </a:r>
              </a:p>
            </p:txBody>
          </p:sp>
          <p:sp>
            <p:nvSpPr>
              <p:cNvPr id="16" name="TextBox 16"/>
              <p:cNvSpPr txBox="1"/>
              <p:nvPr/>
            </p:nvSpPr>
            <p:spPr>
              <a:xfrm>
                <a:off x="2629140" y="3489960"/>
                <a:ext cx="1275870"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preserve truth</a:t>
                </a:r>
              </a:p>
            </p:txBody>
          </p:sp>
          <p:sp>
            <p:nvSpPr>
              <p:cNvPr id="17" name="TextBox 17"/>
              <p:cNvSpPr txBox="1"/>
              <p:nvPr/>
            </p:nvSpPr>
            <p:spPr>
              <a:xfrm>
                <a:off x="4501286" y="3019425"/>
                <a:ext cx="1112977"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AUTHORIZE</a:t>
                </a:r>
              </a:p>
            </p:txBody>
          </p:sp>
          <p:sp>
            <p:nvSpPr>
              <p:cNvPr id="18" name="TextBox 18"/>
              <p:cNvSpPr txBox="1"/>
              <p:nvPr/>
            </p:nvSpPr>
            <p:spPr>
              <a:xfrm>
                <a:off x="4351992" y="3489960"/>
                <a:ext cx="1411567"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exact permission</a:t>
                </a:r>
              </a:p>
            </p:txBody>
          </p:sp>
          <p:sp>
            <p:nvSpPr>
              <p:cNvPr id="19" name="TextBox 19"/>
              <p:cNvSpPr txBox="1"/>
              <p:nvPr/>
            </p:nvSpPr>
            <p:spPr>
              <a:xfrm>
                <a:off x="6297587" y="3019425"/>
                <a:ext cx="1101776"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COLLISION</a:t>
                </a:r>
              </a:p>
            </p:txBody>
          </p:sp>
          <p:sp>
            <p:nvSpPr>
              <p:cNvPr id="20" name="TextBox 20"/>
              <p:cNvSpPr txBox="1"/>
              <p:nvPr/>
            </p:nvSpPr>
            <p:spPr>
              <a:xfrm>
                <a:off x="6231743" y="3489960"/>
                <a:ext cx="1233465"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inspect target</a:t>
                </a:r>
              </a:p>
            </p:txBody>
          </p:sp>
          <p:sp>
            <p:nvSpPr>
              <p:cNvPr id="21" name="TextBox 21"/>
              <p:cNvSpPr txBox="1"/>
              <p:nvPr/>
            </p:nvSpPr>
            <p:spPr>
              <a:xfrm>
                <a:off x="8177898" y="3019425"/>
                <a:ext cx="922553"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RECOVER</a:t>
                </a:r>
              </a:p>
            </p:txBody>
          </p:sp>
          <p:sp>
            <p:nvSpPr>
              <p:cNvPr id="22" name="TextBox 22"/>
              <p:cNvSpPr txBox="1"/>
              <p:nvPr/>
            </p:nvSpPr>
            <p:spPr>
              <a:xfrm>
                <a:off x="8187823" y="3489960"/>
                <a:ext cx="902703"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safe order</a:t>
                </a:r>
              </a:p>
            </p:txBody>
          </p:sp>
          <p:sp>
            <p:nvSpPr>
              <p:cNvPr id="23" name="TextBox 23"/>
              <p:cNvSpPr txBox="1"/>
              <p:nvPr/>
            </p:nvSpPr>
            <p:spPr>
              <a:xfrm>
                <a:off x="10100272" y="3019425"/>
                <a:ext cx="944956" cy="293370"/>
              </a:xfrm>
              <a:prstGeom prst="rect">
                <a:avLst/>
              </a:prstGeom>
              <a:noFill/>
              <a:ln>
                <a:noFill/>
              </a:ln>
            </p:spPr>
            <p:txBody>
              <a:bodyPr wrap="none" lIns="0" tIns="0" rIns="0" bIns="0" anchor="t" anchorCtr="0">
                <a:spAutoFit/>
              </a:bodyPr>
              <a:lstStyle/>
              <a:p>
                <a:pPr algn="ctr"/>
                <a:r>
                  <a:rPr lang="en-US" sz="1500" b="1" dirty="0">
                    <a:solidFill>
                      <a:srgbClr val="F4F1E8"/>
                    </a:solidFill>
                    <a:latin typeface="+mn-lt"/>
                    <a:ea typeface="+mn-ea"/>
                    <a:cs typeface="+mn-cs"/>
                  </a:rPr>
                  <a:t>VALIDATE</a:t>
                </a:r>
              </a:p>
            </p:txBody>
          </p:sp>
          <p:sp>
            <p:nvSpPr>
              <p:cNvPr id="24" name="TextBox 24"/>
              <p:cNvSpPr txBox="1"/>
              <p:nvPr/>
            </p:nvSpPr>
            <p:spPr>
              <a:xfrm>
                <a:off x="9888169" y="3489960"/>
                <a:ext cx="1369162" cy="234696"/>
              </a:xfrm>
              <a:prstGeom prst="rect">
                <a:avLst/>
              </a:prstGeom>
              <a:noFill/>
              <a:ln>
                <a:noFill/>
              </a:ln>
            </p:spPr>
            <p:txBody>
              <a:bodyPr wrap="none" lIns="0" tIns="0" rIns="0" bIns="0" anchor="t" anchorCtr="0">
                <a:spAutoFit/>
              </a:bodyPr>
              <a:lstStyle/>
              <a:p>
                <a:pPr algn="ctr"/>
                <a:r>
                  <a:rPr lang="en-US" sz="1200" b="1" dirty="0">
                    <a:solidFill>
                      <a:srgbClr val="7FB1B5"/>
                    </a:solidFill>
                    <a:latin typeface="+mn-lt"/>
                    <a:ea typeface="+mn-ea"/>
                    <a:cs typeface="+mn-cs"/>
                  </a:rPr>
                  <a:t>preserve status</a:t>
                </a:r>
              </a:p>
            </p:txBody>
          </p:sp>
        </p:grpSp>
        <p:sp>
          <p:nvSpPr>
            <p:cNvPr id="26" name="TextBox 26"/>
            <p:cNvSpPr txBox="1"/>
            <p:nvPr/>
          </p:nvSpPr>
          <p:spPr>
            <a:xfrm>
              <a:off x="1696656" y="4663440"/>
              <a:ext cx="8798688" cy="352044"/>
            </a:xfrm>
            <a:prstGeom prst="rect">
              <a:avLst/>
            </a:prstGeom>
            <a:noFill/>
            <a:ln>
              <a:noFill/>
            </a:ln>
          </p:spPr>
          <p:txBody>
            <a:bodyPr wrap="none" lIns="0" tIns="0" rIns="0" bIns="0" anchor="t" anchorCtr="0">
              <a:spAutoFit/>
            </a:bodyPr>
            <a:lstStyle/>
            <a:p>
              <a:pPr algn="ctr"/>
              <a:r>
                <a:rPr lang="en-US" sz="1800" dirty="0">
                  <a:solidFill>
                    <a:srgbClr val="B7D8D8"/>
                  </a:solidFill>
                  <a:latin typeface="+mn-lt"/>
                  <a:ea typeface="+mn-ea"/>
                  <a:cs typeface="+mn-cs"/>
                </a:rPr>
                <a:t>Trust → truth status → authorization → destination → recovery → validation</a:t>
              </a:r>
            </a:p>
          </p:txBody>
        </p:sp>
      </p:grpSp>
      <p:grpSp>
        <p:nvGrpSpPr>
          <p:cNvPr id="30" name="Group 30"/>
          <p:cNvGrpSpPr/>
          <p:nvPr/>
        </p:nvGrpSpPr>
        <p:grpSpPr>
          <a:xfrm>
            <a:off x="603504" y="6233160"/>
            <a:ext cx="10984992" cy="234696"/>
            <a:chOff x="603504" y="6233160"/>
            <a:chExt cx="10984992" cy="234696"/>
          </a:xfrm>
        </p:grpSpPr>
        <p:sp>
          <p:nvSpPr>
            <p:cNvPr id="28" name="TextBox 28"/>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K-016</a:t>
              </a:r>
            </a:p>
          </p:txBody>
        </p:sp>
        <p:sp>
          <p:nvSpPr>
            <p:cNvPr id="29" name="TextBox 29"/>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15</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94360" y="559118"/>
            <a:ext cx="6491288" cy="1284922"/>
            <a:chOff x="594360" y="559118"/>
            <a:chExt cx="6491288" cy="1284922"/>
          </a:xfrm>
        </p:grpSpPr>
        <p:sp>
          <p:nvSpPr>
            <p:cNvPr id="2" name="TextBox 2"/>
            <p:cNvSpPr txBox="1"/>
            <p:nvPr/>
          </p:nvSpPr>
          <p:spPr>
            <a:xfrm>
              <a:off x="602742" y="559118"/>
              <a:ext cx="2269998"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HONEST TERMINAL STATES</a:t>
              </a:r>
            </a:p>
          </p:txBody>
        </p:sp>
        <p:sp>
          <p:nvSpPr>
            <p:cNvPr id="3" name="TextBox 3"/>
            <p:cNvSpPr txBox="1"/>
            <p:nvPr/>
          </p:nvSpPr>
          <p:spPr>
            <a:xfrm>
              <a:off x="594360" y="819150"/>
              <a:ext cx="6491288" cy="1024890"/>
            </a:xfrm>
            <a:prstGeom prst="rect">
              <a:avLst/>
            </a:prstGeom>
            <a:noFill/>
            <a:ln>
              <a:noFill/>
            </a:ln>
          </p:spPr>
          <p:txBody>
            <a:bodyPr wrap="none" lIns="0" tIns="0" rIns="0" bIns="0" anchor="t" anchorCtr="0">
              <a:spAutoFit/>
            </a:bodyPr>
            <a:lstStyle/>
            <a:p>
              <a:pPr algn="l">
                <a:lnSpc>
                  <a:spcPts val="3450"/>
                </a:lnSpc>
              </a:pPr>
              <a:r>
                <a:rPr lang="en-US" sz="3000" b="1" dirty="0">
                  <a:solidFill>
                    <a:schemeClr val="dk1"/>
                  </a:solidFill>
                  <a:latin typeface="+mj-lt"/>
                  <a:ea typeface="+mj-ea"/>
                  <a:cs typeface="+mj-cs"/>
                </a:rPr>
                <a:t>Blocked, parked, partial, failed,</a:t>
              </a:r>
              <a:br/>
              <a:r>
                <a:rPr lang="en-US" sz="3000" b="1" dirty="0">
                  <a:solidFill>
                    <a:schemeClr val="dk1"/>
                  </a:solidFill>
                  <a:latin typeface="+mj-lt"/>
                  <a:ea typeface="+mj-ea"/>
                  <a:cs typeface="+mj-cs"/>
                </a:rPr>
                <a:t>and no-change are valid</a:t>
              </a:r>
            </a:p>
          </p:txBody>
        </p:sp>
      </p:grpSp>
      <p:grpSp>
        <p:nvGrpSpPr>
          <p:cNvPr id="25" name="Group 25"/>
          <p:cNvGrpSpPr/>
          <p:nvPr/>
        </p:nvGrpSpPr>
        <p:grpSpPr>
          <a:xfrm>
            <a:off x="1619250" y="1619250"/>
            <a:ext cx="8096250" cy="4133850"/>
            <a:chOff x="1619250" y="1619250"/>
            <a:chExt cx="8096250" cy="4133850"/>
          </a:xfrm>
        </p:grpSpPr>
        <p:sp>
          <p:nvSpPr>
            <p:cNvPr id="5" name="Ellipse 5"/>
            <p:cNvSpPr/>
            <p:nvPr/>
          </p:nvSpPr>
          <p:spPr>
            <a:xfrm>
              <a:off x="4972050" y="2590800"/>
              <a:ext cx="2247900" cy="2247900"/>
            </a:xfrm>
            <a:prstGeom prst="ellipse">
              <a:avLst/>
            </a:prstGeom>
            <a:solidFill>
              <a:schemeClr val="accent1"/>
            </a:solidFill>
            <a:ln w="38100">
              <a:solidFill>
                <a:schemeClr val="accent2"/>
              </a:solidFill>
            </a:ln>
          </p:spPr>
        </p:sp>
        <p:sp>
          <p:nvSpPr>
            <p:cNvPr id="6" name="TextBox 6"/>
            <p:cNvSpPr txBox="1"/>
            <p:nvPr/>
          </p:nvSpPr>
          <p:spPr>
            <a:xfrm>
              <a:off x="5326075" y="3451860"/>
              <a:ext cx="1539850" cy="234696"/>
            </a:xfrm>
            <a:prstGeom prst="rect">
              <a:avLst/>
            </a:prstGeom>
            <a:noFill/>
            <a:ln>
              <a:noFill/>
            </a:ln>
          </p:spPr>
          <p:txBody>
            <a:bodyPr wrap="none" lIns="0" tIns="0" rIns="0" bIns="0" anchor="t" anchorCtr="0">
              <a:spAutoFit/>
            </a:bodyPr>
            <a:lstStyle/>
            <a:p>
              <a:pPr algn="ctr"/>
              <a:r>
                <a:rPr lang="en-US" sz="1200" dirty="0">
                  <a:solidFill>
                    <a:srgbClr val="F4F1E8"/>
                  </a:solidFill>
                  <a:latin typeface="Consolas"/>
                  <a:ea typeface="Consolas"/>
                  <a:cs typeface="Consolas"/>
                </a:rPr>
                <a:t>LAST TRUSTWORTHY</a:t>
              </a:r>
            </a:p>
          </p:txBody>
        </p:sp>
        <p:sp>
          <p:nvSpPr>
            <p:cNvPr id="7" name="TextBox 7"/>
            <p:cNvSpPr txBox="1"/>
            <p:nvPr/>
          </p:nvSpPr>
          <p:spPr>
            <a:xfrm>
              <a:off x="5654078" y="3716655"/>
              <a:ext cx="883844" cy="410718"/>
            </a:xfrm>
            <a:prstGeom prst="rect">
              <a:avLst/>
            </a:prstGeom>
            <a:noFill/>
            <a:ln>
              <a:noFill/>
            </a:ln>
          </p:spPr>
          <p:txBody>
            <a:bodyPr wrap="none" lIns="0" tIns="0" rIns="0" bIns="0" anchor="t" anchorCtr="0">
              <a:spAutoFit/>
            </a:bodyPr>
            <a:lstStyle/>
            <a:p>
              <a:pPr algn="ctr"/>
              <a:r>
                <a:rPr lang="en-US" sz="2100" b="1" dirty="0">
                  <a:solidFill>
                    <a:srgbClr val="F4F1E8"/>
                  </a:solidFill>
                  <a:latin typeface="+mj-lt"/>
                  <a:ea typeface="+mj-ea"/>
                  <a:cs typeface="+mj-cs"/>
                </a:rPr>
                <a:t>STATE</a:t>
              </a:r>
            </a:p>
          </p:txBody>
        </p:sp>
        <p:grpSp>
          <p:nvGrpSpPr>
            <p:cNvPr id="13" name="Group 13"/>
            <p:cNvGrpSpPr/>
            <p:nvPr/>
          </p:nvGrpSpPr>
          <p:grpSpPr>
            <a:xfrm>
              <a:off x="1619250" y="1619250"/>
              <a:ext cx="8096250" cy="4133850"/>
              <a:chOff x="1619250" y="1619250"/>
              <a:chExt cx="8096250" cy="4133850"/>
            </a:xfrm>
          </p:grpSpPr>
          <p:sp>
            <p:nvSpPr>
              <p:cNvPr id="8" name="Rectangle 8"/>
              <p:cNvSpPr/>
              <p:nvPr/>
            </p:nvSpPr>
            <p:spPr>
              <a:xfrm>
                <a:off x="1619250" y="2000250"/>
                <a:ext cx="2190750" cy="990600"/>
              </a:xfrm>
              <a:prstGeom prst="roundRect">
                <a:avLst>
                  <a:gd name="adj" fmla="val 7692"/>
                </a:avLst>
              </a:prstGeom>
              <a:solidFill>
                <a:schemeClr val="lt2"/>
              </a:solidFill>
              <a:ln w="19050">
                <a:solidFill>
                  <a:schemeClr val="accent3"/>
                </a:solidFill>
              </a:ln>
            </p:spPr>
          </p:sp>
          <p:sp>
            <p:nvSpPr>
              <p:cNvPr id="9" name="Rectangle 9"/>
              <p:cNvSpPr/>
              <p:nvPr/>
            </p:nvSpPr>
            <p:spPr>
              <a:xfrm>
                <a:off x="4286250" y="1619250"/>
                <a:ext cx="2190750" cy="990600"/>
              </a:xfrm>
              <a:prstGeom prst="roundRect">
                <a:avLst>
                  <a:gd name="adj" fmla="val 7692"/>
                </a:avLst>
              </a:prstGeom>
              <a:solidFill>
                <a:schemeClr val="lt2"/>
              </a:solidFill>
              <a:ln w="19050">
                <a:solidFill>
                  <a:schemeClr val="accent3"/>
                </a:solidFill>
              </a:ln>
            </p:spPr>
          </p:sp>
          <p:sp>
            <p:nvSpPr>
              <p:cNvPr id="10" name="Rectangle 10"/>
              <p:cNvSpPr/>
              <p:nvPr/>
            </p:nvSpPr>
            <p:spPr>
              <a:xfrm>
                <a:off x="7524750" y="2000250"/>
                <a:ext cx="2190750" cy="990600"/>
              </a:xfrm>
              <a:prstGeom prst="roundRect">
                <a:avLst>
                  <a:gd name="adj" fmla="val 7692"/>
                </a:avLst>
              </a:prstGeom>
              <a:solidFill>
                <a:schemeClr val="lt2"/>
              </a:solidFill>
              <a:ln w="19050">
                <a:solidFill>
                  <a:schemeClr val="accent3"/>
                </a:solidFill>
              </a:ln>
            </p:spPr>
          </p:sp>
          <p:sp>
            <p:nvSpPr>
              <p:cNvPr id="11" name="Rectangle 11"/>
              <p:cNvSpPr/>
              <p:nvPr/>
            </p:nvSpPr>
            <p:spPr>
              <a:xfrm>
                <a:off x="2667000" y="4762500"/>
                <a:ext cx="2190750" cy="990600"/>
              </a:xfrm>
              <a:prstGeom prst="roundRect">
                <a:avLst>
                  <a:gd name="adj" fmla="val 7692"/>
                </a:avLst>
              </a:prstGeom>
              <a:solidFill>
                <a:schemeClr val="lt2"/>
              </a:solidFill>
              <a:ln w="19050">
                <a:solidFill>
                  <a:schemeClr val="accent3"/>
                </a:solidFill>
              </a:ln>
            </p:spPr>
          </p:sp>
          <p:sp>
            <p:nvSpPr>
              <p:cNvPr id="12" name="Rectangle 12"/>
              <p:cNvSpPr/>
              <p:nvPr/>
            </p:nvSpPr>
            <p:spPr>
              <a:xfrm>
                <a:off x="7334250" y="4762500"/>
                <a:ext cx="2190750" cy="990600"/>
              </a:xfrm>
              <a:prstGeom prst="roundRect">
                <a:avLst>
                  <a:gd name="adj" fmla="val 7692"/>
                </a:avLst>
              </a:prstGeom>
              <a:solidFill>
                <a:schemeClr val="lt2"/>
              </a:solidFill>
              <a:ln w="19050">
                <a:solidFill>
                  <a:schemeClr val="accent3"/>
                </a:solidFill>
              </a:ln>
            </p:spPr>
          </p:sp>
        </p:grpSp>
        <p:grpSp>
          <p:nvGrpSpPr>
            <p:cNvPr id="24" name="Group 24"/>
            <p:cNvGrpSpPr/>
            <p:nvPr/>
          </p:nvGrpSpPr>
          <p:grpSpPr>
            <a:xfrm>
              <a:off x="1904848" y="1824990"/>
              <a:ext cx="7634096" cy="3747516"/>
              <a:chOff x="1904848" y="1824990"/>
              <a:chExt cx="7634096" cy="3747516"/>
            </a:xfrm>
          </p:grpSpPr>
          <p:sp>
            <p:nvSpPr>
              <p:cNvPr id="14" name="TextBox 14"/>
              <p:cNvSpPr txBox="1"/>
              <p:nvPr/>
            </p:nvSpPr>
            <p:spPr>
              <a:xfrm>
                <a:off x="2161093" y="2205990"/>
                <a:ext cx="1107064"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BLOCKED</a:t>
                </a:r>
              </a:p>
            </p:txBody>
          </p:sp>
          <p:sp>
            <p:nvSpPr>
              <p:cNvPr id="15" name="TextBox 15"/>
              <p:cNvSpPr txBox="1"/>
              <p:nvPr/>
            </p:nvSpPr>
            <p:spPr>
              <a:xfrm>
                <a:off x="1904848" y="2575560"/>
                <a:ext cx="1619555"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prerequisite missing</a:t>
                </a:r>
              </a:p>
            </p:txBody>
          </p:sp>
          <p:sp>
            <p:nvSpPr>
              <p:cNvPr id="16" name="TextBox 16"/>
              <p:cNvSpPr txBox="1"/>
              <p:nvPr/>
            </p:nvSpPr>
            <p:spPr>
              <a:xfrm>
                <a:off x="4928906" y="1824990"/>
                <a:ext cx="905439"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PARKED</a:t>
                </a:r>
              </a:p>
            </p:txBody>
          </p:sp>
          <p:sp>
            <p:nvSpPr>
              <p:cNvPr id="17" name="TextBox 17"/>
              <p:cNvSpPr txBox="1"/>
              <p:nvPr/>
            </p:nvSpPr>
            <p:spPr>
              <a:xfrm>
                <a:off x="4410304" y="2194560"/>
                <a:ext cx="194264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verdict input unresolved</a:t>
                </a:r>
              </a:p>
            </p:txBody>
          </p:sp>
          <p:sp>
            <p:nvSpPr>
              <p:cNvPr id="18" name="TextBox 18"/>
              <p:cNvSpPr txBox="1"/>
              <p:nvPr/>
            </p:nvSpPr>
            <p:spPr>
              <a:xfrm>
                <a:off x="8127081" y="2205990"/>
                <a:ext cx="986089"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PARTIAL</a:t>
                </a:r>
              </a:p>
            </p:txBody>
          </p:sp>
          <p:sp>
            <p:nvSpPr>
              <p:cNvPr id="19" name="TextBox 19"/>
              <p:cNvSpPr txBox="1"/>
              <p:nvPr/>
            </p:nvSpPr>
            <p:spPr>
              <a:xfrm>
                <a:off x="7701305" y="2575560"/>
                <a:ext cx="1837639"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some evidence survives</a:t>
                </a:r>
              </a:p>
            </p:txBody>
          </p:sp>
          <p:sp>
            <p:nvSpPr>
              <p:cNvPr id="20" name="TextBox 20"/>
              <p:cNvSpPr txBox="1"/>
              <p:nvPr/>
            </p:nvSpPr>
            <p:spPr>
              <a:xfrm>
                <a:off x="3343260" y="4968240"/>
                <a:ext cx="838230"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FAILED</a:t>
                </a:r>
              </a:p>
            </p:txBody>
          </p:sp>
          <p:sp>
            <p:nvSpPr>
              <p:cNvPr id="21" name="TextBox 21"/>
              <p:cNvSpPr txBox="1"/>
              <p:nvPr/>
            </p:nvSpPr>
            <p:spPr>
              <a:xfrm>
                <a:off x="3065678" y="5337810"/>
                <a:ext cx="1393393"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criterion not met</a:t>
                </a:r>
              </a:p>
            </p:txBody>
          </p:sp>
          <p:sp>
            <p:nvSpPr>
              <p:cNvPr id="22" name="TextBox 22"/>
              <p:cNvSpPr txBox="1"/>
              <p:nvPr/>
            </p:nvSpPr>
            <p:spPr>
              <a:xfrm>
                <a:off x="7761839" y="4968240"/>
                <a:ext cx="1335573" cy="352044"/>
              </a:xfrm>
              <a:prstGeom prst="rect">
                <a:avLst/>
              </a:prstGeom>
              <a:noFill/>
              <a:ln>
                <a:noFill/>
              </a:ln>
            </p:spPr>
            <p:txBody>
              <a:bodyPr wrap="none" lIns="0" tIns="0" rIns="0" bIns="0" anchor="t" anchorCtr="0">
                <a:spAutoFit/>
              </a:bodyPr>
              <a:lstStyle/>
              <a:p>
                <a:pPr algn="ctr"/>
                <a:r>
                  <a:rPr lang="en-US" sz="1800" b="1" dirty="0">
                    <a:solidFill>
                      <a:schemeClr val="dk1"/>
                    </a:solidFill>
                    <a:latin typeface="+mn-lt"/>
                    <a:ea typeface="+mn-ea"/>
                    <a:cs typeface="+mn-cs"/>
                  </a:rPr>
                  <a:t>NO CHANGE</a:t>
                </a:r>
              </a:p>
            </p:txBody>
          </p:sp>
          <p:sp>
            <p:nvSpPr>
              <p:cNvPr id="23" name="TextBox 23"/>
              <p:cNvSpPr txBox="1"/>
              <p:nvPr/>
            </p:nvSpPr>
            <p:spPr>
              <a:xfrm>
                <a:off x="7595616" y="5337810"/>
                <a:ext cx="1668018" cy="234696"/>
              </a:xfrm>
              <a:prstGeom prst="rect">
                <a:avLst/>
              </a:prstGeom>
              <a:noFill/>
              <a:ln>
                <a:noFill/>
              </a:ln>
            </p:spPr>
            <p:txBody>
              <a:bodyPr wrap="none" lIns="0" tIns="0" rIns="0" bIns="0" anchor="t" anchorCtr="0">
                <a:spAutoFit/>
              </a:bodyPr>
              <a:lstStyle/>
              <a:p>
                <a:pPr algn="ctr"/>
                <a:r>
                  <a:rPr lang="en-US" sz="1200" dirty="0">
                    <a:solidFill>
                      <a:schemeClr val="dk1"/>
                    </a:solidFill>
                    <a:latin typeface="+mn-lt"/>
                    <a:ea typeface="+mn-ea"/>
                    <a:cs typeface="+mn-cs"/>
                  </a:rPr>
                  <a:t>no justified mutation</a:t>
                </a:r>
              </a:p>
            </p:txBody>
          </p:sp>
        </p:grpSp>
      </p:grpSp>
      <p:grpSp>
        <p:nvGrpSpPr>
          <p:cNvPr id="28" name="Group 28"/>
          <p:cNvGrpSpPr/>
          <p:nvPr/>
        </p:nvGrpSpPr>
        <p:grpSpPr>
          <a:xfrm>
            <a:off x="603504" y="6233160"/>
            <a:ext cx="10984992" cy="234696"/>
            <a:chOff x="603504" y="6233160"/>
            <a:chExt cx="10984992" cy="234696"/>
          </a:xfrm>
        </p:grpSpPr>
        <p:sp>
          <p:nvSpPr>
            <p:cNvPr id="26" name="TextBox 26"/>
            <p:cNvSpPr txBox="1"/>
            <p:nvPr/>
          </p:nvSpPr>
          <p:spPr>
            <a:xfrm>
              <a:off x="603504" y="6233160"/>
              <a:ext cx="481584"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K-017</a:t>
              </a:r>
            </a:p>
          </p:txBody>
        </p:sp>
        <p:sp>
          <p:nvSpPr>
            <p:cNvPr id="27" name="TextBox 2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16</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654368"/>
            <a:ext cx="9330598" cy="917067"/>
            <a:chOff x="593598" y="654368"/>
            <a:chExt cx="9330598" cy="917067"/>
          </a:xfrm>
        </p:grpSpPr>
        <p:sp>
          <p:nvSpPr>
            <p:cNvPr id="2" name="TextBox 2"/>
            <p:cNvSpPr txBox="1"/>
            <p:nvPr/>
          </p:nvSpPr>
          <p:spPr>
            <a:xfrm>
              <a:off x="602742" y="654368"/>
              <a:ext cx="1933956" cy="264033"/>
            </a:xfrm>
            <a:prstGeom prst="rect">
              <a:avLst/>
            </a:prstGeom>
            <a:noFill/>
            <a:ln>
              <a:noFill/>
            </a:ln>
          </p:spPr>
          <p:txBody>
            <a:bodyPr wrap="none" lIns="0" tIns="0" rIns="0" bIns="0" anchor="t" anchorCtr="0">
              <a:spAutoFit/>
            </a:bodyPr>
            <a:lstStyle/>
            <a:p>
              <a:pPr algn="l"/>
              <a:r>
                <a:rPr lang="en-US" sz="1350" dirty="0">
                  <a:solidFill>
                    <a:srgbClr val="7FB1B5"/>
                  </a:solidFill>
                  <a:latin typeface="Consolas"/>
                  <a:ea typeface="Consolas"/>
                  <a:cs typeface="Consolas"/>
                </a:rPr>
                <a:t>OPERATING PLAYBOOK</a:t>
              </a:r>
            </a:p>
          </p:txBody>
        </p:sp>
        <p:sp>
          <p:nvSpPr>
            <p:cNvPr id="3" name="TextBox 3"/>
            <p:cNvSpPr txBox="1"/>
            <p:nvPr/>
          </p:nvSpPr>
          <p:spPr>
            <a:xfrm>
              <a:off x="593598" y="955358"/>
              <a:ext cx="9330598" cy="616077"/>
            </a:xfrm>
            <a:prstGeom prst="rect">
              <a:avLst/>
            </a:prstGeom>
            <a:noFill/>
            <a:ln>
              <a:noFill/>
            </a:ln>
          </p:spPr>
          <p:txBody>
            <a:bodyPr wrap="none" lIns="0" tIns="0" rIns="0" bIns="0" anchor="t" anchorCtr="0">
              <a:spAutoFit/>
            </a:bodyPr>
            <a:lstStyle/>
            <a:p>
              <a:pPr algn="l"/>
              <a:r>
                <a:rPr lang="en-US" sz="3150" b="1" dirty="0">
                  <a:solidFill>
                    <a:srgbClr val="F4F1E8"/>
                  </a:solidFill>
                  <a:latin typeface="+mj-lt"/>
                  <a:ea typeface="+mj-ea"/>
                  <a:cs typeface="+mj-cs"/>
                </a:rPr>
                <a:t>Operate every workflow through six verbs</a:t>
              </a:r>
            </a:p>
          </p:txBody>
        </p:sp>
      </p:grpSp>
      <p:grpSp>
        <p:nvGrpSpPr>
          <p:cNvPr id="24" name="Group 24"/>
          <p:cNvGrpSpPr/>
          <p:nvPr/>
        </p:nvGrpSpPr>
        <p:grpSpPr>
          <a:xfrm>
            <a:off x="3695700" y="1143000"/>
            <a:ext cx="4820283" cy="5334000"/>
            <a:chOff x="3695700" y="1143000"/>
            <a:chExt cx="4820283" cy="5334000"/>
          </a:xfrm>
        </p:grpSpPr>
        <p:sp>
          <p:nvSpPr>
            <p:cNvPr id="5" name="Ellipse 5"/>
            <p:cNvSpPr/>
            <p:nvPr/>
          </p:nvSpPr>
          <p:spPr>
            <a:xfrm>
              <a:off x="4095750" y="1809750"/>
              <a:ext cx="4000500" cy="4000500"/>
            </a:xfrm>
            <a:prstGeom prst="ellipse">
              <a:avLst/>
            </a:prstGeom>
            <a:noFill/>
            <a:ln w="38100">
              <a:solidFill>
                <a:schemeClr val="accent3"/>
              </a:solidFill>
              <a:custDash>
                <a:ds d="300000" sp="200000"/>
              </a:custDash>
            </a:ln>
          </p:spPr>
        </p:sp>
        <p:sp>
          <p:nvSpPr>
            <p:cNvPr id="6" name="Freeform 6"/>
            <p:cNvSpPr/>
            <p:nvPr/>
          </p:nvSpPr>
          <p:spPr>
            <a:xfrm>
              <a:off x="6096000" y="1799913"/>
              <a:ext cx="1809750" cy="1105212"/>
            </a:xfrm>
            <a:custGeom>
              <a:avLst/>
              <a:gdLst/>
              <a:ahLst/>
              <a:cxnLst/>
              <a:rect l="l" t="t" r="r" b="b"/>
              <a:pathLst>
                <a:path w="1809750" h="1105212">
                  <a:moveTo>
                    <a:pt x="0" y="9837"/>
                  </a:moveTo>
                  <a:cubicBezTo>
                    <a:pt x="762768" y="0"/>
                    <a:pt x="1464723" y="424867"/>
                    <a:pt x="1809750" y="1105212"/>
                  </a:cubicBezTo>
                </a:path>
              </a:pathLst>
            </a:custGeom>
            <a:noFill/>
            <a:ln w="38100">
              <a:solidFill>
                <a:schemeClr val="accent2"/>
              </a:solidFill>
              <a:tailEnd type="triangle" w="lg" len="lg"/>
            </a:ln>
          </p:spPr>
        </p:sp>
        <p:sp>
          <p:nvSpPr>
            <p:cNvPr id="7" name="Ellipse 7"/>
            <p:cNvSpPr/>
            <p:nvPr/>
          </p:nvSpPr>
          <p:spPr>
            <a:xfrm>
              <a:off x="5048250" y="2762250"/>
              <a:ext cx="2095500" cy="2095500"/>
            </a:xfrm>
            <a:prstGeom prst="ellipse">
              <a:avLst/>
            </a:prstGeom>
            <a:solidFill>
              <a:schemeClr val="lt1"/>
            </a:solidFill>
            <a:ln w="28575">
              <a:solidFill>
                <a:schemeClr val="accent2"/>
              </a:solidFill>
            </a:ln>
          </p:spPr>
        </p:sp>
        <p:sp>
          <p:nvSpPr>
            <p:cNvPr id="8" name="TextBox 8"/>
            <p:cNvSpPr txBox="1"/>
            <p:nvPr/>
          </p:nvSpPr>
          <p:spPr>
            <a:xfrm>
              <a:off x="5663184" y="3566160"/>
              <a:ext cx="865632" cy="234696"/>
            </a:xfrm>
            <a:prstGeom prst="rect">
              <a:avLst/>
            </a:prstGeom>
            <a:noFill/>
            <a:ln>
              <a:noFill/>
            </a:ln>
          </p:spPr>
          <p:txBody>
            <a:bodyPr wrap="none" lIns="0" tIns="0" rIns="0" bIns="0" anchor="t" anchorCtr="0">
              <a:spAutoFit/>
            </a:bodyPr>
            <a:lstStyle/>
            <a:p>
              <a:pPr algn="ctr"/>
              <a:r>
                <a:rPr lang="en-US" sz="1200" dirty="0">
                  <a:solidFill>
                    <a:schemeClr val="accent1"/>
                  </a:solidFill>
                  <a:latin typeface="Consolas"/>
                  <a:ea typeface="Consolas"/>
                  <a:cs typeface="Consolas"/>
                </a:rPr>
                <a:t>ARTIFACT +</a:t>
              </a:r>
            </a:p>
          </p:txBody>
        </p:sp>
        <p:sp>
          <p:nvSpPr>
            <p:cNvPr id="9" name="TextBox 9"/>
            <p:cNvSpPr txBox="1"/>
            <p:nvPr/>
          </p:nvSpPr>
          <p:spPr>
            <a:xfrm>
              <a:off x="5434531" y="3802380"/>
              <a:ext cx="1322939" cy="410718"/>
            </a:xfrm>
            <a:prstGeom prst="rect">
              <a:avLst/>
            </a:prstGeom>
            <a:noFill/>
            <a:ln>
              <a:noFill/>
            </a:ln>
          </p:spPr>
          <p:txBody>
            <a:bodyPr wrap="none" lIns="0" tIns="0" rIns="0" bIns="0" anchor="t" anchorCtr="0">
              <a:spAutoFit/>
            </a:bodyPr>
            <a:lstStyle/>
            <a:p>
              <a:pPr algn="ctr"/>
              <a:r>
                <a:rPr lang="en-US" sz="2100" b="1" dirty="0">
                  <a:solidFill>
                    <a:schemeClr val="accent1"/>
                  </a:solidFill>
                  <a:latin typeface="+mj-lt"/>
                  <a:ea typeface="+mj-ea"/>
                  <a:cs typeface="+mj-cs"/>
                </a:rPr>
                <a:t>EVIDENCE</a:t>
              </a:r>
            </a:p>
          </p:txBody>
        </p:sp>
        <p:grpSp>
          <p:nvGrpSpPr>
            <p:cNvPr id="16" name="Group 16"/>
            <p:cNvGrpSpPr/>
            <p:nvPr/>
          </p:nvGrpSpPr>
          <p:grpSpPr>
            <a:xfrm>
              <a:off x="3695700" y="1143000"/>
              <a:ext cx="4800600" cy="5334000"/>
              <a:chOff x="3695700" y="1143000"/>
              <a:chExt cx="4800600" cy="5334000"/>
            </a:xfrm>
          </p:grpSpPr>
          <p:sp>
            <p:nvSpPr>
              <p:cNvPr id="10" name="Ellipse 10"/>
              <p:cNvSpPr/>
              <p:nvPr/>
            </p:nvSpPr>
            <p:spPr>
              <a:xfrm>
                <a:off x="5429250" y="1143000"/>
                <a:ext cx="1333500" cy="1333500"/>
              </a:xfrm>
              <a:prstGeom prst="ellipse">
                <a:avLst/>
              </a:prstGeom>
              <a:solidFill>
                <a:schemeClr val="dk1"/>
              </a:solidFill>
              <a:ln w="19050">
                <a:solidFill>
                  <a:srgbClr val="7FB1B5"/>
                </a:solidFill>
              </a:ln>
            </p:spPr>
          </p:sp>
          <p:sp>
            <p:nvSpPr>
              <p:cNvPr id="11" name="Ellipse 11"/>
              <p:cNvSpPr/>
              <p:nvPr/>
            </p:nvSpPr>
            <p:spPr>
              <a:xfrm>
                <a:off x="7162800" y="2143125"/>
                <a:ext cx="1333500" cy="1333500"/>
              </a:xfrm>
              <a:prstGeom prst="ellipse">
                <a:avLst/>
              </a:prstGeom>
              <a:solidFill>
                <a:schemeClr val="dk1"/>
              </a:solidFill>
              <a:ln w="19050">
                <a:solidFill>
                  <a:srgbClr val="7FB1B5"/>
                </a:solidFill>
              </a:ln>
            </p:spPr>
          </p:sp>
          <p:sp>
            <p:nvSpPr>
              <p:cNvPr id="12" name="Ellipse 12"/>
              <p:cNvSpPr/>
              <p:nvPr/>
            </p:nvSpPr>
            <p:spPr>
              <a:xfrm>
                <a:off x="7162800" y="4143375"/>
                <a:ext cx="1333500" cy="1333500"/>
              </a:xfrm>
              <a:prstGeom prst="ellipse">
                <a:avLst/>
              </a:prstGeom>
              <a:solidFill>
                <a:schemeClr val="dk1"/>
              </a:solidFill>
              <a:ln w="19050">
                <a:solidFill>
                  <a:srgbClr val="7FB1B5"/>
                </a:solidFill>
              </a:ln>
            </p:spPr>
          </p:sp>
          <p:sp>
            <p:nvSpPr>
              <p:cNvPr id="13" name="Ellipse 13"/>
              <p:cNvSpPr/>
              <p:nvPr/>
            </p:nvSpPr>
            <p:spPr>
              <a:xfrm>
                <a:off x="5429250" y="5143500"/>
                <a:ext cx="1333500" cy="1333500"/>
              </a:xfrm>
              <a:prstGeom prst="ellipse">
                <a:avLst/>
              </a:prstGeom>
              <a:solidFill>
                <a:schemeClr val="dk1"/>
              </a:solidFill>
              <a:ln w="19050">
                <a:solidFill>
                  <a:srgbClr val="7FB1B5"/>
                </a:solidFill>
              </a:ln>
            </p:spPr>
          </p:sp>
          <p:sp>
            <p:nvSpPr>
              <p:cNvPr id="14" name="Ellipse 14"/>
              <p:cNvSpPr/>
              <p:nvPr/>
            </p:nvSpPr>
            <p:spPr>
              <a:xfrm>
                <a:off x="3695700" y="4143375"/>
                <a:ext cx="1333500" cy="1333500"/>
              </a:xfrm>
              <a:prstGeom prst="ellipse">
                <a:avLst/>
              </a:prstGeom>
              <a:solidFill>
                <a:schemeClr val="dk1"/>
              </a:solidFill>
              <a:ln w="19050">
                <a:solidFill>
                  <a:srgbClr val="7FB1B5"/>
                </a:solidFill>
              </a:ln>
            </p:spPr>
          </p:sp>
          <p:sp>
            <p:nvSpPr>
              <p:cNvPr id="15" name="Ellipse 15"/>
              <p:cNvSpPr/>
              <p:nvPr/>
            </p:nvSpPr>
            <p:spPr>
              <a:xfrm>
                <a:off x="3695700" y="2143125"/>
                <a:ext cx="1333500" cy="1333500"/>
              </a:xfrm>
              <a:prstGeom prst="ellipse">
                <a:avLst/>
              </a:prstGeom>
              <a:solidFill>
                <a:schemeClr val="dk1"/>
              </a:solidFill>
              <a:ln w="19050">
                <a:solidFill>
                  <a:srgbClr val="7FB1B5"/>
                </a:solidFill>
              </a:ln>
            </p:spPr>
          </p:sp>
        </p:grpSp>
        <p:grpSp>
          <p:nvGrpSpPr>
            <p:cNvPr id="23" name="Group 23"/>
            <p:cNvGrpSpPr/>
            <p:nvPr/>
          </p:nvGrpSpPr>
          <p:grpSpPr>
            <a:xfrm>
              <a:off x="3735012" y="1715929"/>
              <a:ext cx="4780971" cy="4308539"/>
              <a:chOff x="3735012" y="1715929"/>
              <a:chExt cx="4780971" cy="4308539"/>
            </a:xfrm>
          </p:grpSpPr>
          <p:sp>
            <p:nvSpPr>
              <p:cNvPr id="17" name="TextBox 17"/>
              <p:cNvSpPr txBox="1"/>
              <p:nvPr/>
            </p:nvSpPr>
            <p:spPr>
              <a:xfrm>
                <a:off x="5562952" y="1715929"/>
                <a:ext cx="1066096"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1 PREDICT</a:t>
                </a:r>
              </a:p>
            </p:txBody>
          </p:sp>
          <p:sp>
            <p:nvSpPr>
              <p:cNvPr id="18" name="TextBox 18"/>
              <p:cNvSpPr txBox="1"/>
              <p:nvPr/>
            </p:nvSpPr>
            <p:spPr>
              <a:xfrm>
                <a:off x="7143118" y="2716054"/>
                <a:ext cx="1372865"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2 AUTHORIZE</a:t>
                </a:r>
              </a:p>
            </p:txBody>
          </p:sp>
          <p:sp>
            <p:nvSpPr>
              <p:cNvPr id="19" name="TextBox 19"/>
              <p:cNvSpPr txBox="1"/>
              <p:nvPr/>
            </p:nvSpPr>
            <p:spPr>
              <a:xfrm>
                <a:off x="7526579" y="4716304"/>
                <a:ext cx="605942"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3 ACT</a:t>
                </a:r>
              </a:p>
            </p:txBody>
          </p:sp>
          <p:sp>
            <p:nvSpPr>
              <p:cNvPr id="20" name="TextBox 20"/>
              <p:cNvSpPr txBox="1"/>
              <p:nvPr/>
            </p:nvSpPr>
            <p:spPr>
              <a:xfrm>
                <a:off x="5509857" y="5716429"/>
                <a:ext cx="1172285"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4 OBSERVE</a:t>
                </a:r>
              </a:p>
            </p:txBody>
          </p:sp>
          <p:sp>
            <p:nvSpPr>
              <p:cNvPr id="21" name="TextBox 21"/>
              <p:cNvSpPr txBox="1"/>
              <p:nvPr/>
            </p:nvSpPr>
            <p:spPr>
              <a:xfrm>
                <a:off x="3764509" y="4716304"/>
                <a:ext cx="1195883"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5 CLASSIFY</a:t>
                </a:r>
              </a:p>
            </p:txBody>
          </p:sp>
          <p:sp>
            <p:nvSpPr>
              <p:cNvPr id="22" name="TextBox 22"/>
              <p:cNvSpPr txBox="1"/>
              <p:nvPr/>
            </p:nvSpPr>
            <p:spPr>
              <a:xfrm>
                <a:off x="3735012" y="2716054"/>
                <a:ext cx="1254877" cy="308039"/>
              </a:xfrm>
              <a:prstGeom prst="rect">
                <a:avLst/>
              </a:prstGeom>
              <a:noFill/>
              <a:ln>
                <a:noFill/>
              </a:ln>
            </p:spPr>
            <p:txBody>
              <a:bodyPr wrap="none" lIns="0" tIns="0" rIns="0" bIns="0" anchor="t" anchorCtr="0">
                <a:spAutoFit/>
              </a:bodyPr>
              <a:lstStyle/>
              <a:p>
                <a:pPr algn="ctr"/>
                <a:r>
                  <a:rPr lang="en-US" sz="1580" b="1" dirty="0">
                    <a:solidFill>
                      <a:srgbClr val="F4F1E8"/>
                    </a:solidFill>
                    <a:latin typeface="+mn-lt"/>
                    <a:ea typeface="+mn-ea"/>
                    <a:cs typeface="+mn-cs"/>
                  </a:rPr>
                  <a:t>6 PRESERVE</a:t>
                </a:r>
              </a:p>
            </p:txBody>
          </p:sp>
        </p:grpSp>
      </p:grpSp>
      <p:grpSp>
        <p:nvGrpSpPr>
          <p:cNvPr id="27" name="Group 27"/>
          <p:cNvGrpSpPr/>
          <p:nvPr/>
        </p:nvGrpSpPr>
        <p:grpSpPr>
          <a:xfrm>
            <a:off x="603504" y="6233160"/>
            <a:ext cx="10984992" cy="234696"/>
            <a:chOff x="603504" y="6233160"/>
            <a:chExt cx="10984992" cy="234696"/>
          </a:xfrm>
        </p:grpSpPr>
        <p:sp>
          <p:nvSpPr>
            <p:cNvPr id="25" name="TextBox 25"/>
            <p:cNvSpPr txBox="1"/>
            <p:nvPr/>
          </p:nvSpPr>
          <p:spPr>
            <a:xfrm>
              <a:off x="603504" y="6233160"/>
              <a:ext cx="1812950"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K-018 · K-016 · K-017</a:t>
              </a:r>
            </a:p>
          </p:txBody>
        </p:sp>
        <p:sp>
          <p:nvSpPr>
            <p:cNvPr id="26" name="TextBox 26"/>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17</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559118"/>
            <a:ext cx="9480093" cy="1141666"/>
            <a:chOff x="594360" y="559118"/>
            <a:chExt cx="9480093" cy="1141666"/>
          </a:xfrm>
        </p:grpSpPr>
        <p:sp>
          <p:nvSpPr>
            <p:cNvPr id="2" name="TextBox 2"/>
            <p:cNvSpPr txBox="1"/>
            <p:nvPr/>
          </p:nvSpPr>
          <p:spPr>
            <a:xfrm>
              <a:off x="602742" y="559118"/>
              <a:ext cx="1770736"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CAPSTONE NETWORK</a:t>
              </a:r>
            </a:p>
          </p:txBody>
        </p:sp>
        <p:sp>
          <p:nvSpPr>
            <p:cNvPr id="3" name="TextBox 3"/>
            <p:cNvSpPr txBox="1"/>
            <p:nvPr/>
          </p:nvSpPr>
          <p:spPr>
            <a:xfrm>
              <a:off x="594360" y="819150"/>
              <a:ext cx="9480093" cy="586740"/>
            </a:xfrm>
            <a:prstGeom prst="rect">
              <a:avLst/>
            </a:prstGeom>
            <a:noFill/>
            <a:ln>
              <a:noFill/>
            </a:ln>
          </p:spPr>
          <p:txBody>
            <a:bodyPr wrap="none" lIns="0" tIns="0" rIns="0" bIns="0" anchor="t" anchorCtr="0">
              <a:spAutoFit/>
            </a:bodyPr>
            <a:lstStyle/>
            <a:p>
              <a:pPr algn="l"/>
              <a:r>
                <a:rPr lang="en-US" sz="3000" b="1" dirty="0">
                  <a:solidFill>
                    <a:schemeClr val="dk1"/>
                  </a:solidFill>
                  <a:latin typeface="+mj-lt"/>
                  <a:ea typeface="+mj-ea"/>
                  <a:cs typeface="+mj-cs"/>
                </a:rPr>
                <a:t>The knowledge-to-wisdom path stays optional</a:t>
              </a:r>
            </a:p>
          </p:txBody>
        </p:sp>
        <p:sp>
          <p:nvSpPr>
            <p:cNvPr id="4" name="TextBox 4"/>
            <p:cNvSpPr txBox="1"/>
            <p:nvPr/>
          </p:nvSpPr>
          <p:spPr>
            <a:xfrm>
              <a:off x="600456" y="1348740"/>
              <a:ext cx="7227856" cy="352044"/>
            </a:xfrm>
            <a:prstGeom prst="rect">
              <a:avLst/>
            </a:prstGeom>
            <a:noFill/>
            <a:ln>
              <a:noFill/>
            </a:ln>
          </p:spPr>
          <p:txBody>
            <a:bodyPr wrap="none" lIns="0" tIns="0" rIns="0" bIns="0" anchor="t" anchorCtr="0">
              <a:spAutoFit/>
            </a:bodyPr>
            <a:lstStyle/>
            <a:p>
              <a:pPr algn="l"/>
              <a:r>
                <a:rPr lang="en-US" sz="1800" dirty="0">
                  <a:solidFill>
                    <a:srgbClr val="49616C"/>
                  </a:solidFill>
                  <a:latin typeface="+mn-lt"/>
                  <a:ea typeface="+mn-ea"/>
                  <a:cs typeface="+mn-cs"/>
                </a:rPr>
                <a:t>Reversible edges. Evidence-bearing handoffs. Honest stops.</a:t>
              </a:r>
            </a:p>
          </p:txBody>
        </p:sp>
      </p:grpSp>
      <p:grpSp>
        <p:nvGrpSpPr>
          <p:cNvPr id="35" name="Group 35"/>
          <p:cNvGrpSpPr/>
          <p:nvPr/>
        </p:nvGrpSpPr>
        <p:grpSpPr>
          <a:xfrm>
            <a:off x="857250" y="1809750"/>
            <a:ext cx="10572750" cy="2857500"/>
            <a:chOff x="857250" y="1809750"/>
            <a:chExt cx="10572750" cy="2857500"/>
          </a:xfrm>
        </p:grpSpPr>
        <p:grpSp>
          <p:nvGrpSpPr>
            <p:cNvPr id="12" name="Group 12"/>
            <p:cNvGrpSpPr/>
            <p:nvPr/>
          </p:nvGrpSpPr>
          <p:grpSpPr>
            <a:xfrm>
              <a:off x="857250" y="1809750"/>
              <a:ext cx="10572750" cy="2857500"/>
              <a:chOff x="857250" y="1809750"/>
              <a:chExt cx="10572750" cy="2857500"/>
            </a:xfrm>
          </p:grpSpPr>
          <p:sp>
            <p:nvSpPr>
              <p:cNvPr id="6" name="Rectangle 6"/>
              <p:cNvSpPr/>
              <p:nvPr/>
            </p:nvSpPr>
            <p:spPr>
              <a:xfrm>
                <a:off x="857250" y="2381250"/>
                <a:ext cx="2286000" cy="857250"/>
              </a:xfrm>
              <a:prstGeom prst="roundRect">
                <a:avLst>
                  <a:gd name="adj" fmla="val 6667"/>
                </a:avLst>
              </a:prstGeom>
              <a:solidFill>
                <a:schemeClr val="lt2"/>
              </a:solidFill>
              <a:ln w="19050">
                <a:solidFill>
                  <a:schemeClr val="accent1"/>
                </a:solidFill>
              </a:ln>
            </p:spPr>
          </p:sp>
          <p:sp>
            <p:nvSpPr>
              <p:cNvPr id="7" name="Rectangle 7"/>
              <p:cNvSpPr/>
              <p:nvPr/>
            </p:nvSpPr>
            <p:spPr>
              <a:xfrm>
                <a:off x="3810000" y="1809750"/>
                <a:ext cx="2286000" cy="857250"/>
              </a:xfrm>
              <a:prstGeom prst="roundRect">
                <a:avLst>
                  <a:gd name="adj" fmla="val 6667"/>
                </a:avLst>
              </a:prstGeom>
              <a:solidFill>
                <a:schemeClr val="lt2"/>
              </a:solidFill>
              <a:ln w="19050">
                <a:solidFill>
                  <a:schemeClr val="accent1"/>
                </a:solidFill>
              </a:ln>
            </p:spPr>
          </p:sp>
          <p:sp>
            <p:nvSpPr>
              <p:cNvPr id="8" name="Rectangle 8"/>
              <p:cNvSpPr/>
              <p:nvPr/>
            </p:nvSpPr>
            <p:spPr>
              <a:xfrm>
                <a:off x="3810000" y="3810000"/>
                <a:ext cx="2286000" cy="857250"/>
              </a:xfrm>
              <a:prstGeom prst="roundRect">
                <a:avLst>
                  <a:gd name="adj" fmla="val 6667"/>
                </a:avLst>
              </a:prstGeom>
              <a:solidFill>
                <a:schemeClr val="lt2"/>
              </a:solidFill>
              <a:ln w="19050">
                <a:solidFill>
                  <a:schemeClr val="accent1"/>
                </a:solidFill>
              </a:ln>
            </p:spPr>
          </p:sp>
          <p:sp>
            <p:nvSpPr>
              <p:cNvPr id="9" name="Rectangle 9"/>
              <p:cNvSpPr/>
              <p:nvPr/>
            </p:nvSpPr>
            <p:spPr>
              <a:xfrm>
                <a:off x="6858000" y="1809750"/>
                <a:ext cx="2286000" cy="857250"/>
              </a:xfrm>
              <a:prstGeom prst="roundRect">
                <a:avLst>
                  <a:gd name="adj" fmla="val 6667"/>
                </a:avLst>
              </a:prstGeom>
              <a:solidFill>
                <a:schemeClr val="lt2"/>
              </a:solidFill>
              <a:ln w="19050">
                <a:solidFill>
                  <a:schemeClr val="accent1"/>
                </a:solidFill>
              </a:ln>
            </p:spPr>
          </p:sp>
          <p:sp>
            <p:nvSpPr>
              <p:cNvPr id="10" name="Rectangle 10"/>
              <p:cNvSpPr/>
              <p:nvPr/>
            </p:nvSpPr>
            <p:spPr>
              <a:xfrm>
                <a:off x="6858000" y="3810000"/>
                <a:ext cx="2286000" cy="857250"/>
              </a:xfrm>
              <a:prstGeom prst="roundRect">
                <a:avLst>
                  <a:gd name="adj" fmla="val 6667"/>
                </a:avLst>
              </a:prstGeom>
              <a:solidFill>
                <a:schemeClr val="lt2"/>
              </a:solidFill>
              <a:ln w="19050">
                <a:solidFill>
                  <a:schemeClr val="accent1"/>
                </a:solidFill>
              </a:ln>
            </p:spPr>
          </p:sp>
          <p:sp>
            <p:nvSpPr>
              <p:cNvPr id="11" name="Rectangle 11"/>
              <p:cNvSpPr/>
              <p:nvPr/>
            </p:nvSpPr>
            <p:spPr>
              <a:xfrm>
                <a:off x="9525000" y="2809875"/>
                <a:ext cx="1905000" cy="857250"/>
              </a:xfrm>
              <a:prstGeom prst="roundRect">
                <a:avLst>
                  <a:gd name="adj" fmla="val 6667"/>
                </a:avLst>
              </a:prstGeom>
              <a:solidFill>
                <a:schemeClr val="lt2"/>
              </a:solidFill>
              <a:ln w="19050">
                <a:solidFill>
                  <a:schemeClr val="accent1"/>
                </a:solidFill>
              </a:ln>
            </p:spPr>
          </p:sp>
        </p:grpSp>
        <p:grpSp>
          <p:nvGrpSpPr>
            <p:cNvPr id="25" name="Group 25"/>
            <p:cNvGrpSpPr/>
            <p:nvPr/>
          </p:nvGrpSpPr>
          <p:grpSpPr>
            <a:xfrm>
              <a:off x="1184107" y="2001679"/>
              <a:ext cx="9980457" cy="2542127"/>
              <a:chOff x="1184107" y="2001679"/>
              <a:chExt cx="9980457" cy="2542127"/>
            </a:xfrm>
          </p:grpSpPr>
          <p:sp>
            <p:nvSpPr>
              <p:cNvPr id="13" name="TextBox 13"/>
              <p:cNvSpPr txBox="1"/>
              <p:nvPr/>
            </p:nvSpPr>
            <p:spPr>
              <a:xfrm>
                <a:off x="1184107" y="2573179"/>
                <a:ext cx="1632285"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Learn + assess</a:t>
                </a:r>
              </a:p>
            </p:txBody>
          </p:sp>
          <p:sp>
            <p:nvSpPr>
              <p:cNvPr id="14" name="TextBox 14"/>
              <p:cNvSpPr txBox="1"/>
              <p:nvPr/>
            </p:nvSpPr>
            <p:spPr>
              <a:xfrm>
                <a:off x="1578582" y="2880360"/>
                <a:ext cx="843336"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knowledge</a:t>
                </a:r>
              </a:p>
            </p:txBody>
          </p:sp>
          <p:sp>
            <p:nvSpPr>
              <p:cNvPr id="15" name="TextBox 15"/>
              <p:cNvSpPr txBox="1"/>
              <p:nvPr/>
            </p:nvSpPr>
            <p:spPr>
              <a:xfrm>
                <a:off x="3953247" y="2001679"/>
                <a:ext cx="1999505"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Practice one claim</a:t>
                </a:r>
              </a:p>
            </p:txBody>
          </p:sp>
          <p:sp>
            <p:nvSpPr>
              <p:cNvPr id="16" name="TextBox 16"/>
              <p:cNvSpPr txBox="1"/>
              <p:nvPr/>
            </p:nvSpPr>
            <p:spPr>
              <a:xfrm>
                <a:off x="4594940" y="2308860"/>
                <a:ext cx="716120"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evidence</a:t>
                </a:r>
              </a:p>
            </p:txBody>
          </p:sp>
          <p:sp>
            <p:nvSpPr>
              <p:cNvPr id="17" name="TextBox 17"/>
              <p:cNvSpPr txBox="1"/>
              <p:nvPr/>
            </p:nvSpPr>
            <p:spPr>
              <a:xfrm>
                <a:off x="3891831" y="4001929"/>
                <a:ext cx="2122337"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Build bounded model</a:t>
                </a:r>
              </a:p>
            </p:txBody>
          </p:sp>
          <p:sp>
            <p:nvSpPr>
              <p:cNvPr id="18" name="TextBox 18"/>
              <p:cNvSpPr txBox="1"/>
              <p:nvPr/>
            </p:nvSpPr>
            <p:spPr>
              <a:xfrm>
                <a:off x="4548294" y="4309110"/>
                <a:ext cx="809412"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reasoning</a:t>
                </a:r>
              </a:p>
            </p:txBody>
          </p:sp>
          <p:sp>
            <p:nvSpPr>
              <p:cNvPr id="19" name="TextBox 19"/>
              <p:cNvSpPr txBox="1"/>
              <p:nvPr/>
            </p:nvSpPr>
            <p:spPr>
              <a:xfrm>
                <a:off x="6972992" y="2001679"/>
                <a:ext cx="2056016"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Brainstorm + judge</a:t>
                </a:r>
              </a:p>
            </p:txBody>
          </p:sp>
          <p:sp>
            <p:nvSpPr>
              <p:cNvPr id="20" name="TextBox 20"/>
              <p:cNvSpPr txBox="1"/>
              <p:nvPr/>
            </p:nvSpPr>
            <p:spPr>
              <a:xfrm>
                <a:off x="7664143" y="2308860"/>
                <a:ext cx="673715"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decision</a:t>
                </a:r>
              </a:p>
            </p:txBody>
          </p:sp>
          <p:sp>
            <p:nvSpPr>
              <p:cNvPr id="21" name="TextBox 21"/>
              <p:cNvSpPr txBox="1"/>
              <p:nvPr/>
            </p:nvSpPr>
            <p:spPr>
              <a:xfrm>
                <a:off x="6844598" y="4001929"/>
                <a:ext cx="2312804"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Capture + synthesize</a:t>
                </a:r>
              </a:p>
            </p:txBody>
          </p:sp>
          <p:sp>
            <p:nvSpPr>
              <p:cNvPr id="22" name="TextBox 22"/>
              <p:cNvSpPr txBox="1"/>
              <p:nvPr/>
            </p:nvSpPr>
            <p:spPr>
              <a:xfrm>
                <a:off x="7617497" y="4309110"/>
                <a:ext cx="767006" cy="234696"/>
              </a:xfrm>
              <a:prstGeom prst="rect">
                <a:avLst/>
              </a:prstGeom>
              <a:noFill/>
              <a:ln>
                <a:noFill/>
              </a:ln>
            </p:spPr>
            <p:txBody>
              <a:bodyPr wrap="none" lIns="0" tIns="0" rIns="0" bIns="0" anchor="t" anchorCtr="0">
                <a:spAutoFit/>
              </a:bodyPr>
              <a:lstStyle/>
              <a:p>
                <a:pPr algn="ctr"/>
                <a:r>
                  <a:rPr lang="en-US" sz="1200" b="1" dirty="0">
                    <a:solidFill>
                      <a:schemeClr val="accent3"/>
                    </a:solidFill>
                    <a:latin typeface="+mn-lt"/>
                    <a:ea typeface="+mn-ea"/>
                    <a:cs typeface="+mn-cs"/>
                  </a:rPr>
                  <a:t>idea bank</a:t>
                </a:r>
              </a:p>
            </p:txBody>
          </p:sp>
          <p:sp>
            <p:nvSpPr>
              <p:cNvPr id="23" name="TextBox 23"/>
              <p:cNvSpPr txBox="1"/>
              <p:nvPr/>
            </p:nvSpPr>
            <p:spPr>
              <a:xfrm>
                <a:off x="9790435" y="3001804"/>
                <a:ext cx="1374129" cy="308039"/>
              </a:xfrm>
              <a:prstGeom prst="rect">
                <a:avLst/>
              </a:prstGeom>
              <a:noFill/>
              <a:ln>
                <a:noFill/>
              </a:ln>
            </p:spPr>
            <p:txBody>
              <a:bodyPr wrap="none" lIns="0" tIns="0" rIns="0" bIns="0" anchor="t" anchorCtr="0">
                <a:spAutoFit/>
              </a:bodyPr>
              <a:lstStyle/>
              <a:p>
                <a:pPr algn="ctr"/>
                <a:r>
                  <a:rPr lang="en-US" sz="1580" b="1" dirty="0">
                    <a:solidFill>
                      <a:schemeClr val="dk1"/>
                    </a:solidFill>
                    <a:latin typeface="+mn-lt"/>
                    <a:ea typeface="+mn-ea"/>
                    <a:cs typeface="+mn-cs"/>
                  </a:rPr>
                  <a:t>Compile deck</a:t>
                </a:r>
              </a:p>
            </p:txBody>
          </p:sp>
          <p:sp>
            <p:nvSpPr>
              <p:cNvPr id="24" name="TextBox 24"/>
              <p:cNvSpPr txBox="1"/>
              <p:nvPr/>
            </p:nvSpPr>
            <p:spPr>
              <a:xfrm>
                <a:off x="9932857" y="3308985"/>
                <a:ext cx="1089287" cy="234696"/>
              </a:xfrm>
              <a:prstGeom prst="rect">
                <a:avLst/>
              </a:prstGeom>
              <a:noFill/>
              <a:ln>
                <a:noFill/>
              </a:ln>
            </p:spPr>
            <p:txBody>
              <a:bodyPr wrap="none" lIns="0" tIns="0" rIns="0" bIns="0" anchor="t" anchorCtr="0">
                <a:spAutoFit/>
              </a:bodyPr>
              <a:lstStyle/>
              <a:p>
                <a:pPr algn="ctr"/>
                <a:r>
                  <a:rPr lang="en-US" sz="1200" b="1" dirty="0">
                    <a:solidFill>
                      <a:schemeClr val="accent2"/>
                    </a:solidFill>
                    <a:latin typeface="+mn-lt"/>
                    <a:ea typeface="+mn-ea"/>
                    <a:cs typeface="+mn-cs"/>
                  </a:rPr>
                  <a:t>presentation</a:t>
                </a:r>
              </a:p>
            </p:txBody>
          </p:sp>
        </p:grpSp>
        <p:sp>
          <p:nvSpPr>
            <p:cNvPr id="26" name="Line 26"/>
            <p:cNvSpPr/>
            <p:nvPr/>
          </p:nvSpPr>
          <p:spPr>
            <a:xfrm flipV="1">
              <a:off x="3143250" y="2286000"/>
              <a:ext cx="628650" cy="381000"/>
            </a:xfrm>
            <a:prstGeom prst="line">
              <a:avLst/>
            </a:prstGeom>
            <a:noFill/>
            <a:ln w="28575">
              <a:solidFill>
                <a:schemeClr val="accent3"/>
              </a:solidFill>
              <a:tailEnd type="triangle" w="lg" len="lg"/>
            </a:ln>
          </p:spPr>
        </p:sp>
        <p:sp>
          <p:nvSpPr>
            <p:cNvPr id="27" name="Line 27"/>
            <p:cNvSpPr/>
            <p:nvPr/>
          </p:nvSpPr>
          <p:spPr>
            <a:xfrm>
              <a:off x="3143250" y="3048000"/>
              <a:ext cx="628650" cy="1143000"/>
            </a:xfrm>
            <a:prstGeom prst="line">
              <a:avLst/>
            </a:prstGeom>
            <a:noFill/>
            <a:ln w="28575">
              <a:solidFill>
                <a:schemeClr val="accent3"/>
              </a:solidFill>
              <a:tailEnd type="triangle" w="lg" len="lg"/>
            </a:ln>
          </p:spPr>
        </p:sp>
        <p:sp>
          <p:nvSpPr>
            <p:cNvPr id="28" name="Line 28"/>
            <p:cNvSpPr/>
            <p:nvPr/>
          </p:nvSpPr>
          <p:spPr>
            <a:xfrm>
              <a:off x="6096000" y="2286000"/>
              <a:ext cx="723900" cy="1"/>
            </a:xfrm>
            <a:prstGeom prst="line">
              <a:avLst/>
            </a:prstGeom>
            <a:noFill/>
            <a:ln w="28575">
              <a:solidFill>
                <a:schemeClr val="accent3"/>
              </a:solidFill>
              <a:tailEnd type="triangle" w="lg" len="lg"/>
            </a:ln>
          </p:spPr>
        </p:sp>
        <p:sp>
          <p:nvSpPr>
            <p:cNvPr id="29" name="Line 29"/>
            <p:cNvSpPr/>
            <p:nvPr/>
          </p:nvSpPr>
          <p:spPr>
            <a:xfrm>
              <a:off x="6096000" y="4238625"/>
              <a:ext cx="723900" cy="1"/>
            </a:xfrm>
            <a:prstGeom prst="line">
              <a:avLst/>
            </a:prstGeom>
            <a:noFill/>
            <a:ln w="28575">
              <a:solidFill>
                <a:schemeClr val="accent3"/>
              </a:solidFill>
              <a:tailEnd type="triangle" w="lg" len="lg"/>
            </a:ln>
          </p:spPr>
        </p:sp>
        <p:sp>
          <p:nvSpPr>
            <p:cNvPr id="30" name="Line 30"/>
            <p:cNvSpPr/>
            <p:nvPr/>
          </p:nvSpPr>
          <p:spPr>
            <a:xfrm>
              <a:off x="9144000" y="2286000"/>
              <a:ext cx="342900" cy="666750"/>
            </a:xfrm>
            <a:prstGeom prst="line">
              <a:avLst/>
            </a:prstGeom>
            <a:noFill/>
            <a:ln w="28575">
              <a:solidFill>
                <a:schemeClr val="accent3"/>
              </a:solidFill>
              <a:tailEnd type="triangle" w="lg" len="lg"/>
            </a:ln>
          </p:spPr>
        </p:sp>
        <p:sp>
          <p:nvSpPr>
            <p:cNvPr id="31" name="Line 31"/>
            <p:cNvSpPr/>
            <p:nvPr/>
          </p:nvSpPr>
          <p:spPr>
            <a:xfrm flipV="1">
              <a:off x="9144000" y="3524250"/>
              <a:ext cx="342900" cy="714375"/>
            </a:xfrm>
            <a:prstGeom prst="line">
              <a:avLst/>
            </a:prstGeom>
            <a:noFill/>
            <a:ln w="28575">
              <a:solidFill>
                <a:schemeClr val="accent3"/>
              </a:solidFill>
              <a:tailEnd type="triangle" w="lg" len="lg"/>
            </a:ln>
          </p:spPr>
        </p:sp>
        <p:sp>
          <p:nvSpPr>
            <p:cNvPr id="32" name="Freeform 32"/>
            <p:cNvSpPr/>
            <p:nvPr/>
          </p:nvSpPr>
          <p:spPr>
            <a:xfrm>
              <a:off x="4953000" y="3238500"/>
              <a:ext cx="3048000" cy="571500"/>
            </a:xfrm>
            <a:custGeom>
              <a:avLst/>
              <a:gdLst/>
              <a:ahLst/>
              <a:cxnLst/>
              <a:rect l="l" t="t" r="r" b="b"/>
              <a:pathLst>
                <a:path w="3048000" h="571500">
                  <a:moveTo>
                    <a:pt x="3048000" y="571500"/>
                  </a:moveTo>
                  <a:cubicBezTo>
                    <a:pt x="2286000" y="0"/>
                    <a:pt x="762000" y="0"/>
                    <a:pt x="0" y="571500"/>
                  </a:cubicBezTo>
                </a:path>
              </a:pathLst>
            </a:custGeom>
            <a:noFill/>
            <a:ln w="28575">
              <a:solidFill>
                <a:schemeClr val="accent3"/>
              </a:solidFill>
              <a:custDash>
                <a:ds d="300000" sp="233333"/>
              </a:custDash>
              <a:tailEnd type="triangle" w="lg" len="lg"/>
            </a:ln>
          </p:spPr>
        </p:sp>
        <p:sp>
          <p:nvSpPr>
            <p:cNvPr id="33" name="Ellipse 33"/>
            <p:cNvSpPr/>
            <p:nvPr/>
          </p:nvSpPr>
          <p:spPr>
            <a:xfrm>
              <a:off x="6324600" y="3181350"/>
              <a:ext cx="304800" cy="304800"/>
            </a:xfrm>
            <a:prstGeom prst="ellipse">
              <a:avLst/>
            </a:prstGeom>
            <a:solidFill>
              <a:schemeClr val="accent2"/>
            </a:solidFill>
            <a:ln>
              <a:noFill/>
            </a:ln>
          </p:spPr>
        </p:sp>
        <p:sp>
          <p:nvSpPr>
            <p:cNvPr id="34" name="TextBox 34"/>
            <p:cNvSpPr txBox="1"/>
            <p:nvPr/>
          </p:nvSpPr>
          <p:spPr>
            <a:xfrm>
              <a:off x="6450463" y="3277552"/>
              <a:ext cx="53073" cy="205359"/>
            </a:xfrm>
            <a:prstGeom prst="rect">
              <a:avLst/>
            </a:prstGeom>
            <a:noFill/>
            <a:ln>
              <a:noFill/>
            </a:ln>
          </p:spPr>
          <p:txBody>
            <a:bodyPr wrap="none" lIns="0" tIns="0" rIns="0" bIns="0" anchor="t" anchorCtr="0">
              <a:spAutoFit/>
            </a:bodyPr>
            <a:lstStyle/>
            <a:p>
              <a:pPr algn="ctr"/>
              <a:r>
                <a:rPr lang="en-US" sz="1050" dirty="0">
                  <a:solidFill>
                    <a:srgbClr val="F4F1E8"/>
                  </a:solidFill>
                  <a:latin typeface="Consolas"/>
                  <a:ea typeface="Consolas"/>
                  <a:cs typeface="Consolas"/>
                </a:rPr>
                <a:t>!</a:t>
              </a:r>
            </a:p>
          </p:txBody>
        </p:sp>
      </p:grpSp>
      <p:grpSp>
        <p:nvGrpSpPr>
          <p:cNvPr id="38" name="Group 38"/>
          <p:cNvGrpSpPr/>
          <p:nvPr/>
        </p:nvGrpSpPr>
        <p:grpSpPr>
          <a:xfrm>
            <a:off x="603504" y="6233160"/>
            <a:ext cx="10984992" cy="234696"/>
            <a:chOff x="603504" y="6233160"/>
            <a:chExt cx="10984992" cy="234696"/>
          </a:xfrm>
        </p:grpSpPr>
        <p:sp>
          <p:nvSpPr>
            <p:cNvPr id="36" name="TextBox 36"/>
            <p:cNvSpPr txBox="1"/>
            <p:nvPr/>
          </p:nvSpPr>
          <p:spPr>
            <a:xfrm>
              <a:off x="603504" y="6233160"/>
              <a:ext cx="1147267" cy="234696"/>
            </a:xfrm>
            <a:prstGeom prst="rect">
              <a:avLst/>
            </a:prstGeom>
            <a:noFill/>
            <a:ln>
              <a:noFill/>
            </a:ln>
          </p:spPr>
          <p:txBody>
            <a:bodyPr wrap="none" lIns="0" tIns="0" rIns="0" bIns="0" anchor="t" anchorCtr="0">
              <a:spAutoFit/>
            </a:bodyPr>
            <a:lstStyle/>
            <a:p>
              <a:pPr algn="l"/>
              <a:r>
                <a:rPr lang="en-US" sz="1200" dirty="0">
                  <a:solidFill>
                    <a:srgbClr val="49616C"/>
                  </a:solidFill>
                  <a:latin typeface="Consolas"/>
                  <a:ea typeface="Consolas"/>
                  <a:cs typeface="Consolas"/>
                </a:rPr>
                <a:t>K-019 · K-004</a:t>
              </a:r>
            </a:p>
          </p:txBody>
        </p:sp>
        <p:sp>
          <p:nvSpPr>
            <p:cNvPr id="37" name="TextBox 3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chemeClr val="dk1"/>
                  </a:solidFill>
                  <a:latin typeface="Consolas"/>
                  <a:ea typeface="Consolas"/>
                  <a:cs typeface="Consolas"/>
                </a:rPr>
                <a:t>18</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93598" y="749618"/>
            <a:ext cx="6983873" cy="1450467"/>
            <a:chOff x="593598" y="749618"/>
            <a:chExt cx="6983873" cy="1450467"/>
          </a:xfrm>
        </p:grpSpPr>
        <p:sp>
          <p:nvSpPr>
            <p:cNvPr id="2" name="TextBox 2"/>
            <p:cNvSpPr txBox="1"/>
            <p:nvPr/>
          </p:nvSpPr>
          <p:spPr>
            <a:xfrm>
              <a:off x="602742" y="749618"/>
              <a:ext cx="1991563"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OPERATING MANIFESTO</a:t>
              </a:r>
            </a:p>
          </p:txBody>
        </p:sp>
        <p:sp>
          <p:nvSpPr>
            <p:cNvPr id="3" name="TextBox 3"/>
            <p:cNvSpPr txBox="1"/>
            <p:nvPr/>
          </p:nvSpPr>
          <p:spPr>
            <a:xfrm>
              <a:off x="593598" y="1126808"/>
              <a:ext cx="6983873" cy="1073277"/>
            </a:xfrm>
            <a:prstGeom prst="rect">
              <a:avLst/>
            </a:prstGeom>
            <a:noFill/>
            <a:ln>
              <a:noFill/>
            </a:ln>
          </p:spPr>
          <p:txBody>
            <a:bodyPr wrap="none" lIns="0" tIns="0" rIns="0" bIns="0" anchor="t" anchorCtr="0">
              <a:spAutoFit/>
            </a:bodyPr>
            <a:lstStyle/>
            <a:p>
              <a:pPr algn="l">
                <a:lnSpc>
                  <a:spcPts val="3600"/>
                </a:lnSpc>
              </a:pPr>
              <a:r>
                <a:rPr lang="en-US" sz="3150" b="1" dirty="0">
                  <a:solidFill>
                    <a:srgbClr val="F4F1E8"/>
                  </a:solidFill>
                  <a:latin typeface="+mj-lt"/>
                  <a:ea typeface="+mj-ea"/>
                  <a:cs typeface="+mj-cs"/>
                </a:rPr>
                <a:t>Choose the owner. Pass the gate.</a:t>
              </a:r>
              <a:br/>
              <a:r>
                <a:rPr lang="en-US" sz="3150" b="1" dirty="0">
                  <a:solidFill>
                    <a:srgbClr val="F4F1E8"/>
                  </a:solidFill>
                  <a:latin typeface="+mj-lt"/>
                  <a:ea typeface="+mj-ea"/>
                  <a:cs typeface="+mj-cs"/>
                </a:rPr>
                <a:t>Preserve the artifact.</a:t>
              </a:r>
            </a:p>
          </p:txBody>
        </p:sp>
      </p:grpSp>
      <p:grpSp>
        <p:nvGrpSpPr>
          <p:cNvPr id="23" name="Group 23"/>
          <p:cNvGrpSpPr/>
          <p:nvPr/>
        </p:nvGrpSpPr>
        <p:grpSpPr>
          <a:xfrm>
            <a:off x="1047750" y="2857500"/>
            <a:ext cx="10647203" cy="1714500"/>
            <a:chOff x="1047750" y="2857500"/>
            <a:chExt cx="10647203" cy="1714500"/>
          </a:xfrm>
        </p:grpSpPr>
        <p:sp>
          <p:nvSpPr>
            <p:cNvPr id="5" name="Line 5"/>
            <p:cNvSpPr/>
            <p:nvPr/>
          </p:nvSpPr>
          <p:spPr>
            <a:xfrm>
              <a:off x="1524000" y="3714750"/>
              <a:ext cx="9144000" cy="9525"/>
            </a:xfrm>
            <a:custGeom>
              <a:avLst/>
              <a:gdLst/>
              <a:ahLst/>
              <a:cxnLst/>
              <a:rect l="l" t="t" r="r" b="b"/>
              <a:pathLst>
                <a:path w="9144000" h="9525">
                  <a:moveTo>
                    <a:pt x="0" y="0"/>
                  </a:moveTo>
                  <a:lnTo>
                    <a:pt x="9144000" y="0"/>
                  </a:lnTo>
                </a:path>
              </a:pathLst>
            </a:custGeom>
            <a:noFill/>
            <a:ln w="38100">
              <a:solidFill>
                <a:schemeClr val="accent3"/>
              </a:solidFill>
            </a:ln>
          </p:spPr>
        </p:sp>
        <p:grpSp>
          <p:nvGrpSpPr>
            <p:cNvPr id="9" name="Group 9"/>
            <p:cNvGrpSpPr/>
            <p:nvPr/>
          </p:nvGrpSpPr>
          <p:grpSpPr>
            <a:xfrm>
              <a:off x="1047750" y="2857500"/>
              <a:ext cx="10096500" cy="1714500"/>
              <a:chOff x="1047750" y="2857500"/>
              <a:chExt cx="10096500" cy="1714500"/>
            </a:xfrm>
          </p:grpSpPr>
          <p:sp>
            <p:nvSpPr>
              <p:cNvPr id="6" name="Rectangle 6"/>
              <p:cNvSpPr/>
              <p:nvPr/>
            </p:nvSpPr>
            <p:spPr>
              <a:xfrm>
                <a:off x="1047750" y="2857500"/>
                <a:ext cx="2667000" cy="1714500"/>
              </a:xfrm>
              <a:prstGeom prst="roundRect">
                <a:avLst>
                  <a:gd name="adj" fmla="val 4444"/>
                </a:avLst>
              </a:prstGeom>
              <a:solidFill>
                <a:schemeClr val="accent1"/>
              </a:solidFill>
              <a:ln w="28575">
                <a:solidFill>
                  <a:srgbClr val="F4F1E8"/>
                </a:solidFill>
              </a:ln>
            </p:spPr>
          </p:sp>
          <p:sp>
            <p:nvSpPr>
              <p:cNvPr id="7" name="Rectangle 7"/>
              <p:cNvSpPr/>
              <p:nvPr/>
            </p:nvSpPr>
            <p:spPr>
              <a:xfrm>
                <a:off x="4762500" y="2857500"/>
                <a:ext cx="2667000" cy="1714500"/>
              </a:xfrm>
              <a:prstGeom prst="roundRect">
                <a:avLst>
                  <a:gd name="adj" fmla="val 4444"/>
                </a:avLst>
              </a:prstGeom>
              <a:solidFill>
                <a:schemeClr val="accent1"/>
              </a:solidFill>
              <a:ln w="28575">
                <a:solidFill>
                  <a:srgbClr val="F4F1E8"/>
                </a:solidFill>
              </a:ln>
            </p:spPr>
          </p:sp>
          <p:sp>
            <p:nvSpPr>
              <p:cNvPr id="8" name="Rectangle 8"/>
              <p:cNvSpPr/>
              <p:nvPr/>
            </p:nvSpPr>
            <p:spPr>
              <a:xfrm>
                <a:off x="8477250" y="2857500"/>
                <a:ext cx="2667000" cy="1714500"/>
              </a:xfrm>
              <a:prstGeom prst="roundRect">
                <a:avLst>
                  <a:gd name="adj" fmla="val 4444"/>
                </a:avLst>
              </a:prstGeom>
              <a:solidFill>
                <a:schemeClr val="accent1"/>
              </a:solidFill>
              <a:ln w="28575">
                <a:solidFill>
                  <a:srgbClr val="F4F1E8"/>
                </a:solidFill>
              </a:ln>
            </p:spPr>
          </p:sp>
        </p:grpSp>
        <p:grpSp>
          <p:nvGrpSpPr>
            <p:cNvPr id="13" name="Group 13"/>
            <p:cNvGrpSpPr/>
            <p:nvPr/>
          </p:nvGrpSpPr>
          <p:grpSpPr>
            <a:xfrm>
              <a:off x="1428750" y="3543300"/>
              <a:ext cx="7772400" cy="342900"/>
              <a:chOff x="1428750" y="3543300"/>
              <a:chExt cx="7772400" cy="342900"/>
            </a:xfrm>
          </p:grpSpPr>
          <p:sp>
            <p:nvSpPr>
              <p:cNvPr id="10" name="Rectangle 10"/>
              <p:cNvSpPr/>
              <p:nvPr/>
            </p:nvSpPr>
            <p:spPr>
              <a:xfrm>
                <a:off x="1428750" y="3543300"/>
                <a:ext cx="342900" cy="342900"/>
              </a:xfrm>
              <a:prstGeom prst="rect">
                <a:avLst/>
              </a:prstGeom>
              <a:solidFill>
                <a:schemeClr val="accent2"/>
              </a:solidFill>
              <a:ln>
                <a:noFill/>
              </a:ln>
            </p:spPr>
          </p:sp>
          <p:sp>
            <p:nvSpPr>
              <p:cNvPr id="11" name="Rectangle 11"/>
              <p:cNvSpPr/>
              <p:nvPr/>
            </p:nvSpPr>
            <p:spPr>
              <a:xfrm>
                <a:off x="5143500" y="3543300"/>
                <a:ext cx="342900" cy="342900"/>
              </a:xfrm>
              <a:prstGeom prst="rect">
                <a:avLst/>
              </a:prstGeom>
              <a:solidFill>
                <a:schemeClr val="accent2"/>
              </a:solidFill>
              <a:ln>
                <a:noFill/>
              </a:ln>
            </p:spPr>
          </p:sp>
          <p:sp>
            <p:nvSpPr>
              <p:cNvPr id="12" name="Rectangle 12"/>
              <p:cNvSpPr/>
              <p:nvPr/>
            </p:nvSpPr>
            <p:spPr>
              <a:xfrm>
                <a:off x="8858250" y="3543300"/>
                <a:ext cx="342900" cy="342900"/>
              </a:xfrm>
              <a:prstGeom prst="rect">
                <a:avLst/>
              </a:prstGeom>
              <a:solidFill>
                <a:schemeClr val="accent2"/>
              </a:solidFill>
              <a:ln>
                <a:noFill/>
              </a:ln>
            </p:spPr>
          </p:sp>
        </p:grpSp>
        <p:grpSp>
          <p:nvGrpSpPr>
            <p:cNvPr id="20" name="Group 20"/>
            <p:cNvGrpSpPr/>
            <p:nvPr/>
          </p:nvGrpSpPr>
          <p:grpSpPr>
            <a:xfrm>
              <a:off x="1417320" y="3071812"/>
              <a:ext cx="10277633" cy="1354455"/>
              <a:chOff x="1417320" y="3071812"/>
              <a:chExt cx="10277633" cy="1354455"/>
            </a:xfrm>
          </p:grpSpPr>
          <p:sp>
            <p:nvSpPr>
              <p:cNvPr id="14" name="TextBox 14"/>
              <p:cNvSpPr txBox="1"/>
              <p:nvPr/>
            </p:nvSpPr>
            <p:spPr>
              <a:xfrm>
                <a:off x="1417320" y="3071812"/>
                <a:ext cx="2147801"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Artifacts are</a:t>
                </a:r>
              </a:p>
            </p:txBody>
          </p:sp>
          <p:sp>
            <p:nvSpPr>
              <p:cNvPr id="15" name="TextBox 15"/>
              <p:cNvSpPr txBox="1"/>
              <p:nvPr/>
            </p:nvSpPr>
            <p:spPr>
              <a:xfrm>
                <a:off x="1417320" y="3986212"/>
                <a:ext cx="1994706"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the memory.</a:t>
                </a:r>
              </a:p>
            </p:txBody>
          </p:sp>
          <p:sp>
            <p:nvSpPr>
              <p:cNvPr id="16" name="TextBox 16"/>
              <p:cNvSpPr txBox="1"/>
              <p:nvPr/>
            </p:nvSpPr>
            <p:spPr>
              <a:xfrm>
                <a:off x="5132070" y="3071812"/>
                <a:ext cx="2927261"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Contracts protect</a:t>
                </a:r>
              </a:p>
            </p:txBody>
          </p:sp>
          <p:sp>
            <p:nvSpPr>
              <p:cNvPr id="17" name="TextBox 17"/>
              <p:cNvSpPr txBox="1"/>
              <p:nvPr/>
            </p:nvSpPr>
            <p:spPr>
              <a:xfrm>
                <a:off x="5132070" y="3986212"/>
                <a:ext cx="1406333"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meaning.</a:t>
                </a:r>
              </a:p>
            </p:txBody>
          </p:sp>
          <p:sp>
            <p:nvSpPr>
              <p:cNvPr id="18" name="TextBox 18"/>
              <p:cNvSpPr txBox="1"/>
              <p:nvPr/>
            </p:nvSpPr>
            <p:spPr>
              <a:xfrm>
                <a:off x="8846820" y="3071812"/>
                <a:ext cx="2848133"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Honest stops keep</a:t>
                </a:r>
              </a:p>
            </p:txBody>
          </p:sp>
          <p:sp>
            <p:nvSpPr>
              <p:cNvPr id="19" name="TextBox 19"/>
              <p:cNvSpPr txBox="1"/>
              <p:nvPr/>
            </p:nvSpPr>
            <p:spPr>
              <a:xfrm>
                <a:off x="8846820" y="3986212"/>
                <a:ext cx="2614884" cy="440055"/>
              </a:xfrm>
              <a:prstGeom prst="rect">
                <a:avLst/>
              </a:prstGeom>
              <a:noFill/>
              <a:ln>
                <a:noFill/>
              </a:ln>
            </p:spPr>
            <p:txBody>
              <a:bodyPr wrap="none" lIns="0" tIns="0" rIns="0" bIns="0" anchor="t" anchorCtr="0">
                <a:spAutoFit/>
              </a:bodyPr>
              <a:lstStyle/>
              <a:p>
                <a:pPr algn="l"/>
                <a:r>
                  <a:rPr lang="en-US" sz="2250" b="1" dirty="0">
                    <a:solidFill>
                      <a:srgbClr val="F4F1E8"/>
                    </a:solidFill>
                    <a:latin typeface="+mj-lt"/>
                    <a:ea typeface="+mj-ea"/>
                    <a:cs typeface="+mj-cs"/>
                  </a:rPr>
                  <a:t>work resumable.</a:t>
                </a:r>
              </a:p>
            </p:txBody>
          </p:sp>
        </p:grpSp>
        <p:sp>
          <p:nvSpPr>
            <p:cNvPr id="21" name="Ellipse 21"/>
            <p:cNvSpPr/>
            <p:nvPr/>
          </p:nvSpPr>
          <p:spPr>
            <a:xfrm>
              <a:off x="10344150" y="3390900"/>
              <a:ext cx="647700" cy="647700"/>
            </a:xfrm>
            <a:prstGeom prst="ellipse">
              <a:avLst/>
            </a:prstGeom>
            <a:solidFill>
              <a:schemeClr val="accent2"/>
            </a:solidFill>
            <a:ln w="28575">
              <a:solidFill>
                <a:srgbClr val="F4F1E8"/>
              </a:solidFill>
            </a:ln>
          </p:spPr>
        </p:sp>
        <p:sp>
          <p:nvSpPr>
            <p:cNvPr id="22" name="TextBox 22"/>
            <p:cNvSpPr txBox="1"/>
            <p:nvPr/>
          </p:nvSpPr>
          <p:spPr>
            <a:xfrm>
              <a:off x="10334823" y="3651885"/>
              <a:ext cx="666354" cy="234696"/>
            </a:xfrm>
            <a:prstGeom prst="rect">
              <a:avLst/>
            </a:prstGeom>
            <a:noFill/>
            <a:ln>
              <a:noFill/>
            </a:ln>
          </p:spPr>
          <p:txBody>
            <a:bodyPr wrap="none" lIns="0" tIns="0" rIns="0" bIns="0" anchor="t" anchorCtr="0">
              <a:spAutoFit/>
            </a:bodyPr>
            <a:lstStyle/>
            <a:p>
              <a:pPr algn="ctr"/>
              <a:r>
                <a:rPr lang="en-US" sz="1200" b="1" dirty="0">
                  <a:solidFill>
                    <a:schemeClr val="accent1"/>
                  </a:solidFill>
                  <a:latin typeface="Consolas"/>
                  <a:ea typeface="Consolas"/>
                  <a:cs typeface="Consolas"/>
                </a:rPr>
                <a:t>COMMIT</a:t>
              </a:r>
            </a:p>
          </p:txBody>
        </p:sp>
      </p:grpSp>
      <p:grpSp>
        <p:nvGrpSpPr>
          <p:cNvPr id="25" name="Group 25"/>
          <p:cNvGrpSpPr/>
          <p:nvPr/>
        </p:nvGrpSpPr>
        <p:grpSpPr>
          <a:xfrm>
            <a:off x="2461760" y="5444490"/>
            <a:ext cx="7268480" cy="352044"/>
            <a:chOff x="2461760" y="5444490"/>
            <a:chExt cx="7268480" cy="352044"/>
          </a:xfrm>
        </p:grpSpPr>
        <p:sp>
          <p:nvSpPr>
            <p:cNvPr id="24" name="TextBox 24"/>
            <p:cNvSpPr txBox="1"/>
            <p:nvPr/>
          </p:nvSpPr>
          <p:spPr>
            <a:xfrm>
              <a:off x="2461760" y="5444490"/>
              <a:ext cx="7268480" cy="352044"/>
            </a:xfrm>
            <a:prstGeom prst="rect">
              <a:avLst/>
            </a:prstGeom>
            <a:noFill/>
            <a:ln>
              <a:noFill/>
            </a:ln>
          </p:spPr>
          <p:txBody>
            <a:bodyPr wrap="none" lIns="0" tIns="0" rIns="0" bIns="0" anchor="t" anchorCtr="0">
              <a:spAutoFit/>
            </a:bodyPr>
            <a:lstStyle/>
            <a:p>
              <a:pPr algn="ctr"/>
              <a:r>
                <a:rPr lang="en-US" sz="1800" dirty="0">
                  <a:solidFill>
                    <a:srgbClr val="B7D8D8"/>
                  </a:solidFill>
                  <a:latin typeface="+mn-lt"/>
                  <a:ea typeface="+mn-ea"/>
                  <a:cs typeface="+mn-cs"/>
                </a:rPr>
                <a:t>Artifacts carry memory. Gates make progress trustworthy.</a:t>
              </a:r>
            </a:p>
          </p:txBody>
        </p:sp>
      </p:grpSp>
      <p:grpSp>
        <p:nvGrpSpPr>
          <p:cNvPr id="28" name="Group 28"/>
          <p:cNvGrpSpPr/>
          <p:nvPr/>
        </p:nvGrpSpPr>
        <p:grpSpPr>
          <a:xfrm>
            <a:off x="603504" y="6233160"/>
            <a:ext cx="10984992" cy="234696"/>
            <a:chOff x="603504" y="6233160"/>
            <a:chExt cx="10984992" cy="234696"/>
          </a:xfrm>
        </p:grpSpPr>
        <p:sp>
          <p:nvSpPr>
            <p:cNvPr id="26" name="TextBox 26"/>
            <p:cNvSpPr txBox="1"/>
            <p:nvPr/>
          </p:nvSpPr>
          <p:spPr>
            <a:xfrm>
              <a:off x="603504" y="6233160"/>
              <a:ext cx="2478634" cy="234696"/>
            </a:xfrm>
            <a:prstGeom prst="rect">
              <a:avLst/>
            </a:prstGeom>
            <a:noFill/>
            <a:ln>
              <a:noFill/>
            </a:ln>
          </p:spPr>
          <p:txBody>
            <a:bodyPr wrap="none" lIns="0" tIns="0" rIns="0" bIns="0" anchor="t" anchorCtr="0">
              <a:spAutoFit/>
            </a:bodyPr>
            <a:lstStyle/>
            <a:p>
              <a:pPr algn="l"/>
              <a:r>
                <a:rPr lang="en-US" sz="1200" dirty="0">
                  <a:solidFill>
                    <a:srgbClr val="7FB1B5"/>
                  </a:solidFill>
                  <a:latin typeface="Consolas"/>
                  <a:ea typeface="Consolas"/>
                  <a:cs typeface="Consolas"/>
                </a:rPr>
                <a:t>K-003 · K-005 · K-017 · K-020</a:t>
              </a:r>
            </a:p>
          </p:txBody>
        </p:sp>
        <p:sp>
          <p:nvSpPr>
            <p:cNvPr id="27" name="TextBox 27"/>
            <p:cNvSpPr txBox="1"/>
            <p:nvPr/>
          </p:nvSpPr>
          <p:spPr>
            <a:xfrm>
              <a:off x="11398606" y="6233160"/>
              <a:ext cx="189890" cy="234696"/>
            </a:xfrm>
            <a:prstGeom prst="rect">
              <a:avLst/>
            </a:prstGeom>
            <a:noFill/>
            <a:ln>
              <a:noFill/>
            </a:ln>
          </p:spPr>
          <p:txBody>
            <a:bodyPr wrap="none" lIns="0" tIns="0" rIns="0" bIns="0" anchor="t" anchorCtr="0">
              <a:spAutoFit/>
            </a:bodyPr>
            <a:lstStyle/>
            <a:p>
              <a:pPr algn="r"/>
              <a:r>
                <a:rPr lang="en-US" sz="1200" dirty="0">
                  <a:solidFill>
                    <a:srgbClr val="F4F1E8"/>
                  </a:solidFill>
                  <a:latin typeface="Consolas"/>
                  <a:ea typeface="Consolas"/>
                  <a:cs typeface="Consolas"/>
                </a:rPr>
                <a:t>19</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tianshu-system-learning-en">
  <a:themeElements>
    <a:clrScheme name="tianshu-system-learning-en">
      <a:dk1>
        <a:srgbClr val="132A35"/>
      </a:dk1>
      <a:lt1>
        <a:srgbClr val="F4F1E8"/>
      </a:lt1>
      <a:dk2>
        <a:srgbClr val="1F497D"/>
      </a:dk2>
      <a:lt2>
        <a:srgbClr val="FFFFFF"/>
      </a:lt2>
      <a:accent1>
        <a:srgbClr val="0B1F2A"/>
      </a:accent1>
      <a:accent2>
        <a:srgbClr val="E86A33"/>
      </a:accent2>
      <a:accent3>
        <a:srgbClr val="146B76"/>
      </a:accent3>
      <a:accent4>
        <a:srgbClr val="0B1F2A"/>
      </a:accent4>
      <a:accent5>
        <a:srgbClr val="4BACC6"/>
      </a:accent5>
      <a:accent6>
        <a:srgbClr val="F79646"/>
      </a:accent6>
      <a:hlink>
        <a:srgbClr val="E86A33"/>
      </a:hlink>
      <a:folHlink>
        <a:srgbClr val="146B76"/>
      </a:folHlink>
    </a:clrScheme>
    <a:fontScheme name="tianshu-system-learning-en">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ianshu-system-learning-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ianshu-system-learning-en">
  <a:themeElements>
    <a:clrScheme name="tianshu-system-learning-en">
      <a:dk1>
        <a:srgbClr val="132A35"/>
      </a:dk1>
      <a:lt1>
        <a:srgbClr val="F4F1E8"/>
      </a:lt1>
      <a:dk2>
        <a:srgbClr val="1F497D"/>
      </a:dk2>
      <a:lt2>
        <a:srgbClr val="FFFFFF"/>
      </a:lt2>
      <a:accent1>
        <a:srgbClr val="0B1F2A"/>
      </a:accent1>
      <a:accent2>
        <a:srgbClr val="E86A33"/>
      </a:accent2>
      <a:accent3>
        <a:srgbClr val="146B76"/>
      </a:accent3>
      <a:accent4>
        <a:srgbClr val="0B1F2A"/>
      </a:accent4>
      <a:accent5>
        <a:srgbClr val="4BACC6"/>
      </a:accent5>
      <a:accent6>
        <a:srgbClr val="F79646"/>
      </a:accent6>
      <a:hlink>
        <a:srgbClr val="E86A33"/>
      </a:hlink>
      <a:folHlink>
        <a:srgbClr val="146B76"/>
      </a:folHlink>
    </a:clrScheme>
    <a:fontScheme name="tianshu-system-learning-en">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ianshu-system-learning-en">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en-US</dc:language>
  <cp:lastModifiedBy/>
  <cp:revision>1</cp:revision>
  <dcterms:created xsi:type="dcterms:W3CDTF">2026-08-19T04:56:17Z</dcterms:created>
  <dcterms:modified xsi:type="dcterms:W3CDTF">2026-08-19T04:56:17Z</dcterms:modified>
  <cp:category/>
  <cp:contentStatus/>
</cp:coreProperties>
</file>