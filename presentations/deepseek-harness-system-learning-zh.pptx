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  <Relationship Id="rId3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这套二十四页教程把 DeepSeek Harness 视为一个 Agent control plane，而不只是另一个对话框架。它的核心价值，是让模型、Tool、Session、Sandbox 与 Interface 围绕同一控制层进行组合、观察和替换。所有技术判断固定在 Harness v0.1.0-rc.7、提交 99f6f02，材料生成则固定在 Tianshu ede03b8 的 knowledge-to-pptx 与 ppt-master Skills。接下来我们会从架构机制、企业边界以及全球和中国市场三个视角建立完整认知。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模型可以提出下一步，但它并不天然拥有文件、进程、网络或业务系统里的执行权。Harness 把模型建议依次放进 Context、Policy、Tool 与 Session，使每次现实操作都能够被约束、记录并在失败后恢复。这里最重要的区别是，思考不等于行动，真正的副作用发生在模型文本之外。只有让所有执行都经过 control plane，环境中的可见结果才可能转化为可恢复、可审查的证据。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理解这个项目可以沿四个问题推进。第一，一次 Turn 如何被控制；第二，Plugin 如何从代码约定变成运行时能力；第三，这些原语距离企业治理还有多远；第四，Harness 在全球和中国市场究竟与谁、在哪一层竞争。最后还要增加一条证据主线，把每个答案转成可以通过实验验证的采用判断，而不是停留在架构印象。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阅读 DeepSeek Harness 时，不要从 package 数量开始，而要先看三条流。控制流解释一次 Turn 怎样从上下文走到执行结果，装配流解释能力怎样通过 Profile 和 Cordis 进入 Context，事件流解释 Session 状态怎样被记录、恢复和投影。三条流最终汇入同一个 Harness control plane，因此控制、组合和状态恢复不是三个孤立子系统。掌握这张地图后，后面的实现细节都会有明确归属。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 Turn 从 project context 和 policy hooks 开始，经过 model request、tool choice，再由 executionMode 决定如何执行。exclusive call 会建立 barrier，后续 call 必须在启动前重新分类；在允许的区域里，两个 Tool body 可以重叠运行，但并发并不改变提交顺序。post-processing 与 tool result 仍按模型看到的顺序写回 Session，循环再决定 Continue、Stop 或 Fail。这个保证只约束模型可见顺序，文件、进程或网络副作用的最终权威仍然位于 Tool execution 本身。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Cordis 用五个 primitive 把插件化变成运行时规则。Context 建立可见性与边界，Service 提供稳定依赖契约，Event 负责协作与拦截，Effect 把注册动作变成带 disposer 的可清理效果，Scope 则决定资源何时激活、由谁拥有以及何时释放。它们共同形成一棵 Context tree，并通过 Effect 与 Scope 的关系管理生命周期。需要特别注意，可逆注册并不等于外部副作用自动回滚，已经写入的文件、发出的网络请求和启动的进程仍需要显式补偿。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“Everything is a Plugin”真正统一的不是目录形式，而是从 mount、event 到 dispose 的生命周期。最底层是 Host、启动配置、provider 与外部系统，其上依次是 Agent Preset 与 Model，Tool、Policy 与 Sandbox，Session、Persistence 与 Projection，最上层则是 Web、CLI、ACP 和 SDK 等接口适配器。每层都可以作为 Provider、Consumer 或 policy 参与组合，但必须遵守相同的 Context 和 Scope 规则。只有稳定的 capability seam 和清晰的依赖方向，才能让大量 package 形成一个可替换系统，而不是一组偶然拼接的模块。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Host plane 持有 Web、持久化、凭据、Sandbox 和 provider 等进程级能力。Agent Preset 通常在每个进程中只做一次 standing mount，然后由多个 Session 的 Agent scope 共同继承，而不是为每个 Session 重挂一次。Session A 和 Session B 各自拥有事件与运行状态，但它们可以指向同一个共享 Preset 节点。由此产生的工程规则是，Preset 内部的可变状态必须按 Session 或其他显式 owner 分区，否则共享能力会变成跨会话状态泄漏。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有效运行时由四层有序 overlay 形成。Bundles 提供可复用的默认模型、Tool 和策略集合，Profile patch 面向产品或角色做工作流级覆盖，Home patch 保存跨运行的用户级偏好，命令行的 --patch 则最接近当前用户和当前任务。后层覆盖前层，因此顺序本身就是行为语义。调试时不能只保留最终 JSON，还必须保存四层 provenance，才能解释一个 Tool 为什么存在或某条 policy 为什么被覆盖。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Session event stream 记录 request header、request context、user、assistant、tool、approval 与 error 等按序事实。Cache 保存的是带 key、version、sequence 和 value 的 projection checkpoint，而不是另一本事实账本。冷读时先恢复这个可版本化 unit state，再重放 checkpoint 之后的 tail events，分别得到 Conversation、Tasks 或 Usage 等独立视图。关键不变量是，模型可见的信息必须被记录；这样 cache 即使丢失，事实仍可重放，视图也可以重新生成。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Capability seam 先定义稳定的类型、方法与事件，再由 provider registry 绑定单个实现或一组命名实现，Tool、Agent loop、UI 和 Service 只消费这个契约。Approval、retry、timeout 与 observation 等 policy 可以在接缝上组合，因此 Agent 依赖能力而不是依赖具体 provider。这个三角色模型描述的是依赖方向，并不要求 provider 只有一个。也要识别接缝之外的例外，例如 tool-fs-search 通过 subprocess 启动 packaged ripgrep，它不会自动遵循 ctx.fs 的替换语义。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扩展层的核心判断是，Adapter 不应该复制 Agent 与 Session 语义。CLI、Web、TypeScript 和 Python SDK、Headless、ACP 以及 Dynamic Plugin 都围绕同一个 Agent、Session 和 Tools Core，但各自保留明确的 transport 与 runtime ownership。动态插件也仍然服从可检查的生命周期，从 inspect、define、run 到 diagnose 和 repair。下一步需要进一步区分，共享 Core 并不意味着这些入口运行在同一个进程边界里。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CLI 是本地交互式入口，Headless 和 ACP 面向自动化并通过 stdio JSON-RPC 由调用方管理连接与生命周期。Web 使用 HTTP POST 上行，并通过 events.mux 和 events.host 两条只下行的 WebSocket 传递事件。TypeScript SDK 与 Python SDK 都是 out-of-process，但前者通常由调用方提供 runtime，后者默认可启动 bundled process。它们共享 Agent、Session 与 Tools 的核心语义，却不共享 transport ownership，因此部署、故障和安全边界必须按入口分别判断。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Typert 从 Host 侧的 TypeScript source 开始，经过 Analyze、Model 和 Emit，形成与编译器无关的结构模型。这个模型再生成 remote metadata、reflection 信息和 Zod schemas，由 registry 或 gateway 的 loader、routing 与 remote face 对外发布，Client 只消费生成后的 compiler face。构建顺序因此必须先完成 Host contracts，再做 Client typecheck。这个流程解决跨进程结构契约的一致性，但 authentication、TLS 与 authorization 仍然位于 schema generation 之外。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动态 Plugin 的发布从 Inspect 开始，通过最小查询确认 live contract，然后 Define 一个不可变的 Plugin 和 Package。如果存在 Client half，运行时可能需要等待匹配页面和显式 approval，之后才进入 Starting、Run result 与 Render settle。Run 返回 ok 只说明激活阶段成功，后续 Client render 仍可能独立失败，因此诊断必须同时覆盖 Run 和 render。修复应创建新的 Package，而不是修改已经运行的版本；回滚则通过显式 currentPackageId 选择已知版本。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企业就绪是一串闸门，不是开源天然附带的属性。Local runtime 必须先证明数据路径同样留在本地，再补上身份、策略、审计和责任归属，才有理由进入生产。图中刻意把这些阶段拆开，因为自托管只回答代码在哪里运行，并没有回答谁可以行动、什么会越界，以及事后如何还原一次决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第一个企业问题是 runtime 在哪里执行。第二个问题是 prompt、output、credential、event 与 artifact 实际流向何处，包括远程 model、tool 和 client。第三个问题是控制与证据能否识别行动者、执行策略、保留可审计记录并支持复核。Self-hosted 可以回答第一个问题，却仍然让后两个问题保持开放。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仓库中的 Sandbox 对 file effects 与 same-world execution 提供了有意义的控制，但它不是覆盖所有路径的通用安全边界。Host API access、Plugin loading、remote transport、credential residency、observability data 与 rollback 分别跨越不同边界，因此都需要自己的执行与复核机制。企业真正要问的不是有没有 Sandbox，而是它覆盖哪些流，以及哪些控制仍然必须由外部系统补齐。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这张矩阵把当前公开证据与企业采用仍需证明的能力并列起来。Identity 需要 tenant mapping 和 runtime authorization，execution 需要 policy enforcement 与 approval record，data 需要 transport、redaction、retention 和 residency 控制，audit 需要持久导出与对账，lifecycle 则需要签名制品、canary、rollback 和运营责任。这些是证据与责任缺口，不等于架构不可用，但它们定义了严肃试点必须补上的 control shell。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产品在不同台阶上竞争。Runtime 或 framework 面向 builder，卖的是执行语义与可扩展性；developer product 依靠工作习惯和任务适配获胜；enterprise platform 则通过治理、采购与支持拿到预算。Harness 可以沿这些层级向上移动，但每上一个台阶，购买者、替代物和所需证据都会改变。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runtime 层，Harness 与 AgentScope 围绕 Plugin 接缝、生命周期语义和执行控制争夺架构位置。在 developer-entry 层，Qwen Code、Kimi、Trae 等产品争夺可重复的工作习惯。在 enterprise-platform 层，Dify、Coze、Model Studio 与 Tencent ADP 争夺治理预算，同时带来身份、网络、SLA 与采购上的高切换成本。因此，有效的竞争分析必须一次只比较同一层。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中国市场快照把 runtime、developer entry 与 enterprise budget 分开，而不是压成一张总榜。以 2026 年 8 月 18 日为截点，公开 stars 与 forks 只能锚定关注度，不能证明 experimentation、adoption 或 revenue，所以图中的推断链被故意断开。许可边界也必须纳入判断：AgentScope 是 Apache 2.0，Dify 带有附加条件，Coze 的部分能力只在商业版提供。真正的决策问题，是每一层靠什么机制获胜，而不是谁拥有最大的标题数字。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可信试点要先冻结一个假设、版本、模型集合、任务和成功阈值，再让 System A 与 System B 成对运行。两条路径使用唯一 run_id，把配置快照、事件、日志、产物、结果和成本绑定成一个证据包。随后用同一标尺判断成功、成本与失败，不允许事后修改指标。如果团队不能解释差异并重放运行，那么结果仍然只是轶事，而不是决策级证据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架构、治理和证据在整个路线图中始终是三根支柱。到第三十天，团队冻结成对实验、负责人、run_id 与共享标尺；到第六十天，补上策略、身份、密钥、审计、重放和失败控制。到第九十天，明确生产负责人、获批 Provider 与 tools、SLO、回滚路径，以及采用和财务指标。闸门必须显式：只有三根支柱同时保持可解释、可重复，才进入 governed adoption；否则就暂停并关闭缺口。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epseek-harness-system-learning-zh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epseek-harness-system-learning-zh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3">
                <a:alpha val="14000"/>
              </a:schemeClr>
            </a:solidFill>
          </a:ln>
        </p:spPr>
      </p:sp>
      <p:sp>
        <p:nvSpPr>
          <p:cNvPr id="3" name="Freeform 3"/>
          <p:cNvSpPr/>
          <p:nvPr/>
        </p:nvSpPr>
        <p:spPr>
          <a:xfrm>
            <a:off x="609600" y="457200"/>
            <a:ext cx="10972800" cy="5943600"/>
          </a:xfrm>
          <a:custGeom>
            <a:avLst/>
            <a:gdLst/>
            <a:ahLst/>
            <a:cxnLst/>
            <a:rect l="l" t="t" r="r" b="b"/>
            <a:pathLst>
              <a:path w="10972800" h="5943600">
                <a:moveTo>
                  <a:pt x="5372100" y="0"/>
                </a:moveTo>
                <a:lnTo>
                  <a:pt x="5372100" y="5943600"/>
                </a:lnTo>
                <a:moveTo>
                  <a:pt x="0" y="5581650"/>
                </a:moveTo>
                <a:lnTo>
                  <a:pt x="10972800" y="5581650"/>
                </a:lnTo>
              </a:path>
            </a:pathLst>
          </a:custGeom>
          <a:noFill/>
          <a:ln w="9525">
            <a:solidFill>
              <a:schemeClr val="accent3">
                <a:alpha val="55000"/>
              </a:schemeClr>
            </a:solidFill>
            <a:prstDash val="dash"/>
          </a:ln>
        </p:spPr>
      </p:sp>
      <p:grpSp>
        <p:nvGrpSpPr>
          <p:cNvPr id="8" name="Group 8"/>
          <p:cNvGrpSpPr/>
          <p:nvPr/>
        </p:nvGrpSpPr>
        <p:grpSpPr>
          <a:xfrm>
            <a:off x="593598" y="730568"/>
            <a:ext cx="4828794" cy="3559683"/>
            <a:chOff x="593598" y="730568"/>
            <a:chExt cx="4828794" cy="3559683"/>
          </a:xfrm>
        </p:grpSpPr>
        <p:sp>
          <p:nvSpPr>
            <p:cNvPr id="4" name="TextBox 4"/>
            <p:cNvSpPr txBox="1"/>
            <p:nvPr/>
          </p:nvSpPr>
          <p:spPr>
            <a:xfrm>
              <a:off x="602742" y="730568"/>
              <a:ext cx="3218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SYSTEM LEARNING · 24 PAGES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3598" y="1183958"/>
              <a:ext cx="4379547" cy="1130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315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DeepSeek Harness：</a:t>
              </a:r>
              <a:br/>
              <a:r>
                <a:rPr lang="zh-CN" sz="315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Everything is a Plugin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2465070"/>
              <a:ext cx="48249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把 Agent 运行时变成</a:t>
              </a:r>
              <a:br/>
              <a:r>
                <a:rPr lang="zh-CN" sz="24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可组合、可观察、可替换的控制层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2742" y="3702368"/>
              <a:ext cx="4308538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HARNESS v0.1.0-rc.7 · 99f6f02</a:t>
              </a:r>
              <a:br/>
              <a:r>
                <a:rPr lang="zh-CN" sz="1350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TIANSHU ede03b8 · knowledge-to-pptx → ppt-master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4953000"/>
            <a:ext cx="4953000" cy="653034"/>
            <a:chOff x="609600" y="4953000"/>
            <a:chExt cx="4953000" cy="653034"/>
          </a:xfrm>
        </p:grpSpPr>
        <p:sp>
          <p:nvSpPr>
            <p:cNvPr id="9" name="Line 9"/>
            <p:cNvSpPr/>
            <p:nvPr/>
          </p:nvSpPr>
          <p:spPr>
            <a:xfrm>
              <a:off x="609600" y="4953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45319" y="5253990"/>
              <a:ext cx="1391202" cy="352044"/>
              <a:chOff x="645319" y="5253990"/>
              <a:chExt cx="1391202" cy="352044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645319" y="5255419"/>
                <a:ext cx="214312" cy="214312"/>
                <a:chOff x="645319" y="5255419"/>
                <a:chExt cx="214312" cy="214312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669131" y="5279231"/>
                  <a:ext cx="166688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66688">
                      <a:moveTo>
                        <a:pt x="0" y="11906"/>
                      </a:move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154781" y="0"/>
                      </a:lnTo>
                      <a:cubicBezTo>
                        <a:pt x="161357" y="0"/>
                        <a:pt x="166688" y="5331"/>
                        <a:pt x="166688" y="11906"/>
                      </a:cubicBezTo>
                      <a:lnTo>
                        <a:pt x="166688" y="154781"/>
                      </a:lnTo>
                      <a:cubicBezTo>
                        <a:pt x="166688" y="161357"/>
                        <a:pt x="161357" y="166688"/>
                        <a:pt x="154781" y="166688"/>
                      </a:cubicBezTo>
                      <a:lnTo>
                        <a:pt x="11906" y="166688"/>
                      </a:lnTo>
                      <a:cubicBezTo>
                        <a:pt x="5331" y="166688"/>
                        <a:pt x="0" y="161357"/>
                        <a:pt x="0" y="154781"/>
                      </a:cubicBezTo>
                      <a:lnTo>
                        <a:pt x="0" y="11906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716756" y="53268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71438" y="0"/>
                      </a:lnTo>
                      <a:lnTo>
                        <a:pt x="71438" y="71438"/>
                      </a:lnTo>
                      <a:lnTo>
                        <a:pt x="0" y="7143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645319" y="5338762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645319" y="5386388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728662" y="5255419"/>
                  <a:ext cx="9525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3812">
                      <a:moveTo>
                        <a:pt x="0" y="0"/>
                      </a:moveTo>
                      <a:lnTo>
                        <a:pt x="0" y="23812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776288" y="5255419"/>
                  <a:ext cx="9525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3812">
                      <a:moveTo>
                        <a:pt x="0" y="0"/>
                      </a:moveTo>
                      <a:lnTo>
                        <a:pt x="0" y="23812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835819" y="5338762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2381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835819" y="5386388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2381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76288" y="5445919"/>
                  <a:ext cx="9525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3812">
                      <a:moveTo>
                        <a:pt x="0" y="238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28662" y="5445919"/>
                  <a:ext cx="9525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3812">
                      <a:moveTo>
                        <a:pt x="0" y="238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000506" y="52539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架构机制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2240560" y="5253990"/>
              <a:ext cx="1396161" cy="352044"/>
              <a:chOff x="2240560" y="5253990"/>
              <a:chExt cx="1396161" cy="352044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2240560" y="5255419"/>
                <a:ext cx="224229" cy="214312"/>
                <a:chOff x="2240560" y="5255419"/>
                <a:chExt cx="224229" cy="214312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2240560" y="5255419"/>
                  <a:ext cx="224229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29" h="214312">
                      <a:moveTo>
                        <a:pt x="112115" y="0"/>
                      </a:moveTo>
                      <a:cubicBezTo>
                        <a:pt x="139926" y="24605"/>
                        <a:pt x="176223" y="37416"/>
                        <a:pt x="213318" y="35719"/>
                      </a:cubicBezTo>
                      <a:cubicBezTo>
                        <a:pt x="224229" y="72837"/>
                        <a:pt x="219621" y="112793"/>
                        <a:pt x="200547" y="146453"/>
                      </a:cubicBezTo>
                      <a:cubicBezTo>
                        <a:pt x="181473" y="180113"/>
                        <a:pt x="149564" y="204599"/>
                        <a:pt x="112115" y="214312"/>
                      </a:cubicBezTo>
                      <a:cubicBezTo>
                        <a:pt x="74665" y="204599"/>
                        <a:pt x="42756" y="180113"/>
                        <a:pt x="23682" y="146453"/>
                      </a:cubicBezTo>
                      <a:cubicBezTo>
                        <a:pt x="4608" y="112793"/>
                        <a:pt x="0" y="72837"/>
                        <a:pt x="10911" y="35719"/>
                      </a:cubicBezTo>
                      <a:cubicBezTo>
                        <a:pt x="48006" y="37416"/>
                        <a:pt x="84304" y="24605"/>
                        <a:pt x="112115" y="0"/>
                      </a:cubicBez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2340769" y="5338762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2352675" y="5362575"/>
                  <a:ext cx="9525" cy="29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9766">
                      <a:moveTo>
                        <a:pt x="0" y="0"/>
                      </a:moveTo>
                      <a:lnTo>
                        <a:pt x="0" y="29766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2600706" y="52539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企业边界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3845719" y="5253990"/>
              <a:ext cx="1391202" cy="352044"/>
              <a:chOff x="3845719" y="5253990"/>
              <a:chExt cx="1391202" cy="352044"/>
            </a:xfrm>
          </p:grpSpPr>
          <p:grpSp>
            <p:nvGrpSpPr>
              <p:cNvPr id="34" name="Group 34"/>
              <p:cNvGrpSpPr/>
              <p:nvPr/>
            </p:nvGrpSpPr>
            <p:grpSpPr>
              <a:xfrm>
                <a:off x="3845719" y="5255419"/>
                <a:ext cx="214312" cy="214312"/>
                <a:chOff x="3845719" y="5255419"/>
                <a:chExt cx="214312" cy="214312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3845719" y="52554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852862" y="5326856"/>
                  <a:ext cx="200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9525">
                      <a:moveTo>
                        <a:pt x="0" y="0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852862" y="5398294"/>
                  <a:ext cx="200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9525">
                      <a:moveTo>
                        <a:pt x="0" y="0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905999" y="5255419"/>
                  <a:ext cx="4092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22" h="214312">
                      <a:moveTo>
                        <a:pt x="40922" y="0"/>
                      </a:moveTo>
                      <a:cubicBezTo>
                        <a:pt x="0" y="65577"/>
                        <a:pt x="0" y="148736"/>
                        <a:pt x="40922" y="214312"/>
                      </a:cubicBez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3958828" y="5255419"/>
                  <a:ext cx="4092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22" h="214312">
                      <a:moveTo>
                        <a:pt x="0" y="0"/>
                      </a:moveTo>
                      <a:cubicBezTo>
                        <a:pt x="40922" y="65577"/>
                        <a:pt x="40922" y="148736"/>
                        <a:pt x="0" y="214312"/>
                      </a:cubicBez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4200906" y="52539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市场视角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6324600" y="844868"/>
            <a:ext cx="5086350" cy="4679632"/>
            <a:chOff x="6324600" y="844868"/>
            <a:chExt cx="5086350" cy="4679632"/>
          </a:xfrm>
        </p:grpSpPr>
        <p:sp>
          <p:nvSpPr>
            <p:cNvPr id="38" name="TextBox 38"/>
            <p:cNvSpPr txBox="1"/>
            <p:nvPr/>
          </p:nvSpPr>
          <p:spPr>
            <a:xfrm>
              <a:off x="6489192" y="844868"/>
              <a:ext cx="3299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CAPABILITY ORBIT / COMPOSITION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819900" y="1504950"/>
              <a:ext cx="4229100" cy="3695700"/>
            </a:xfrm>
            <a:prstGeom prst="ellipse">
              <a:avLst/>
            </a:prstGeom>
            <a:noFill/>
            <a:ln w="28575">
              <a:solidFill>
                <a:schemeClr val="accent2">
                  <a:alpha val="88000"/>
                </a:schemeClr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258050" y="1924050"/>
              <a:ext cx="3352800" cy="2857500"/>
            </a:xfrm>
            <a:prstGeom prst="ellipse">
              <a:avLst/>
            </a:prstGeom>
            <a:noFill/>
            <a:ln w="14288">
              <a:solidFill>
                <a:schemeClr val="accent3"/>
              </a:solidFill>
              <a:prstDash val="dash"/>
            </a:ln>
          </p:spPr>
        </p:sp>
        <p:sp>
          <p:nvSpPr>
            <p:cNvPr id="41" name="Line 41"/>
            <p:cNvSpPr/>
            <p:nvPr/>
          </p:nvSpPr>
          <p:spPr>
            <a:xfrm>
              <a:off x="8934450" y="1466850"/>
              <a:ext cx="9525" cy="1885950"/>
            </a:xfrm>
            <a:custGeom>
              <a:avLst/>
              <a:gdLst/>
              <a:ahLst/>
              <a:cxnLst/>
              <a:rect l="l" t="t" r="r" b="b"/>
              <a:pathLst>
                <a:path w="9525" h="1885950">
                  <a:moveTo>
                    <a:pt x="0" y="18859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8934450" y="2876550"/>
              <a:ext cx="1962150" cy="476250"/>
            </a:xfrm>
            <a:custGeom>
              <a:avLst/>
              <a:gdLst/>
              <a:ahLst/>
              <a:cxnLst/>
              <a:rect l="l" t="t" r="r" b="b"/>
              <a:pathLst>
                <a:path w="1962150" h="476250">
                  <a:moveTo>
                    <a:pt x="0" y="476250"/>
                  </a:moveTo>
                  <a:lnTo>
                    <a:pt x="196215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8934450" y="3352800"/>
              <a:ext cx="1238250" cy="1657350"/>
            </a:xfrm>
            <a:custGeom>
              <a:avLst/>
              <a:gdLst/>
              <a:ahLst/>
              <a:cxnLst/>
              <a:rect l="l" t="t" r="r" b="b"/>
              <a:pathLst>
                <a:path w="1238250" h="1657350">
                  <a:moveTo>
                    <a:pt x="0" y="0"/>
                  </a:moveTo>
                  <a:lnTo>
                    <a:pt x="1238250" y="165735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7677150" y="3352800"/>
              <a:ext cx="1257300" cy="1657350"/>
            </a:xfrm>
            <a:custGeom>
              <a:avLst/>
              <a:gdLst/>
              <a:ahLst/>
              <a:cxnLst/>
              <a:rect l="l" t="t" r="r" b="b"/>
              <a:pathLst>
                <a:path w="1257300" h="1657350">
                  <a:moveTo>
                    <a:pt x="1257300" y="0"/>
                  </a:moveTo>
                  <a:lnTo>
                    <a:pt x="0" y="165735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6838950" y="2876550"/>
              <a:ext cx="2095500" cy="476250"/>
            </a:xfrm>
            <a:custGeom>
              <a:avLst/>
              <a:gdLst/>
              <a:ahLst/>
              <a:cxnLst/>
              <a:rect l="l" t="t" r="r" b="b"/>
              <a:pathLst>
                <a:path w="2095500" h="476250">
                  <a:moveTo>
                    <a:pt x="2095500" y="476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943850" y="2362200"/>
              <a:ext cx="1981200" cy="1981200"/>
              <a:chOff x="7943850" y="2362200"/>
              <a:chExt cx="1981200" cy="19812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7943850" y="2362200"/>
                <a:ext cx="1981200" cy="1981200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8769350" y="2768600"/>
                <a:ext cx="330200" cy="330200"/>
                <a:chOff x="8769350" y="2768600"/>
                <a:chExt cx="330200" cy="33020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8802478" y="2809875"/>
                  <a:ext cx="255798" cy="255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798" h="255798">
                      <a:moveTo>
                        <a:pt x="86261" y="0"/>
                      </a:moveTo>
                      <a:lnTo>
                        <a:pt x="255798" y="169537"/>
                      </a:lnTo>
                      <a:lnTo>
                        <a:pt x="213409" y="211927"/>
                      </a:lnTo>
                      <a:cubicBezTo>
                        <a:pt x="183329" y="243210"/>
                        <a:pt x="138693" y="255798"/>
                        <a:pt x="96701" y="244840"/>
                      </a:cubicBezTo>
                      <a:cubicBezTo>
                        <a:pt x="54709" y="233882"/>
                        <a:pt x="21916" y="201089"/>
                        <a:pt x="10958" y="159097"/>
                      </a:cubicBezTo>
                      <a:cubicBezTo>
                        <a:pt x="0" y="117105"/>
                        <a:pt x="12588" y="72469"/>
                        <a:pt x="43871" y="42389"/>
                      </a:cubicBezTo>
                      <a:lnTo>
                        <a:pt x="86261" y="0"/>
                      </a:lnTo>
                    </a:path>
                  </a:pathLst>
                </a:custGeom>
                <a:noFill/>
                <a:ln w="41275">
                  <a:solidFill>
                    <a:srgbClr val="F7FAFC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769350" y="3026569"/>
                  <a:ext cx="72231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72231">
                      <a:moveTo>
                        <a:pt x="0" y="72231"/>
                      </a:moveTo>
                      <a:lnTo>
                        <a:pt x="72231" y="0"/>
                      </a:lnTo>
                    </a:path>
                  </a:pathLst>
                </a:custGeom>
                <a:noFill/>
                <a:ln w="41275">
                  <a:solidFill>
                    <a:srgbClr val="F7FAFC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924132" y="2768600"/>
                  <a:ext cx="72231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72231">
                      <a:moveTo>
                        <a:pt x="72231" y="0"/>
                      </a:moveTo>
                      <a:lnTo>
                        <a:pt x="0" y="72231"/>
                      </a:lnTo>
                    </a:path>
                  </a:pathLst>
                </a:custGeom>
                <a:noFill/>
                <a:ln w="41275">
                  <a:solidFill>
                    <a:srgbClr val="F7FAFC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027319" y="2871788"/>
                  <a:ext cx="72231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72231">
                      <a:moveTo>
                        <a:pt x="72231" y="0"/>
                      </a:moveTo>
                      <a:lnTo>
                        <a:pt x="0" y="72231"/>
                      </a:lnTo>
                    </a:path>
                  </a:pathLst>
                </a:custGeom>
                <a:noFill/>
                <a:ln w="41275">
                  <a:solidFill>
                    <a:srgbClr val="F7FAFC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8232252" y="3265170"/>
                <a:ext cx="14043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HARNESS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226704" y="3683318"/>
                <a:ext cx="1415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B9F4F7"/>
                    </a:solidFill>
                    <a:latin typeface="Cascadia Mono"/>
                    <a:ea typeface="Cascadia Mono"/>
                    <a:cs typeface="Cascadia Mono"/>
                  </a:rPr>
                  <a:t>CONTROL PLANE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73383" y="3950018"/>
                <a:ext cx="15221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组合 · 观察 · 替换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8420100" y="952500"/>
              <a:ext cx="1028700" cy="1028700"/>
              <a:chOff x="8420100" y="952500"/>
              <a:chExt cx="1028700" cy="1028700"/>
            </a:xfrm>
          </p:grpSpPr>
          <p:sp>
            <p:nvSpPr>
              <p:cNvPr id="56" name="Ellipse 56"/>
              <p:cNvSpPr/>
              <p:nvPr/>
            </p:nvSpPr>
            <p:spPr>
              <a:xfrm>
                <a:off x="8420100" y="952500"/>
                <a:ext cx="1028700" cy="10287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8791575" y="1228725"/>
                <a:ext cx="285751" cy="285751"/>
                <a:chOff x="8791575" y="1228725"/>
                <a:chExt cx="285751" cy="285751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823325" y="1260475"/>
                  <a:ext cx="222250" cy="2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22225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206375" y="0"/>
                      </a:lnTo>
                      <a:cubicBezTo>
                        <a:pt x="215143" y="0"/>
                        <a:pt x="222250" y="7107"/>
                        <a:pt x="222250" y="15875"/>
                      </a:cubicBezTo>
                      <a:lnTo>
                        <a:pt x="222250" y="206375"/>
                      </a:lnTo>
                      <a:cubicBezTo>
                        <a:pt x="222250" y="215143"/>
                        <a:pt x="215143" y="222250"/>
                        <a:pt x="206375" y="222250"/>
                      </a:cubicBezTo>
                      <a:lnTo>
                        <a:pt x="15875" y="222250"/>
                      </a:lnTo>
                      <a:cubicBezTo>
                        <a:pt x="7107" y="222250"/>
                        <a:pt x="0" y="215143"/>
                        <a:pt x="0" y="20637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8886825" y="13239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0"/>
                      </a:lnTo>
                      <a:lnTo>
                        <a:pt x="95250" y="95250"/>
                      </a:lnTo>
                      <a:lnTo>
                        <a:pt x="0" y="9525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791575" y="1339850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791575" y="1403350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902700" y="1228725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8966200" y="1228725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9045576" y="1339850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3175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9045576" y="1403350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3175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966200" y="1482726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317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902700" y="1482726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317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679470" y="1625918"/>
                <a:ext cx="5099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Model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10382250" y="2362200"/>
              <a:ext cx="1028700" cy="1028700"/>
              <a:chOff x="10382250" y="2362200"/>
              <a:chExt cx="1028700" cy="10287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10382250" y="2362200"/>
                <a:ext cx="1028700" cy="10287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10744267" y="2628967"/>
                <a:ext cx="300423" cy="300423"/>
              </a:xfrm>
              <a:custGeom>
                <a:avLst/>
                <a:gdLst/>
                <a:ahLst/>
                <a:cxnLst/>
                <a:rect l="l" t="t" r="r" b="b"/>
                <a:pathLst>
                  <a:path w="300423" h="300423">
                    <a:moveTo>
                      <a:pt x="72959" y="120584"/>
                    </a:moveTo>
                    <a:lnTo>
                      <a:pt x="120584" y="120584"/>
                    </a:lnTo>
                    <a:lnTo>
                      <a:pt x="120584" y="72959"/>
                    </a:lnTo>
                    <a:lnTo>
                      <a:pt x="65021" y="17396"/>
                    </a:lnTo>
                    <a:cubicBezTo>
                      <a:pt x="101446" y="0"/>
                      <a:pt x="144880" y="7452"/>
                      <a:pt x="173423" y="35995"/>
                    </a:cubicBezTo>
                    <a:cubicBezTo>
                      <a:pt x="201965" y="64537"/>
                      <a:pt x="209417" y="107972"/>
                      <a:pt x="192021" y="144396"/>
                    </a:cubicBezTo>
                    <a:lnTo>
                      <a:pt x="287272" y="239646"/>
                    </a:lnTo>
                    <a:cubicBezTo>
                      <a:pt x="300423" y="252798"/>
                      <a:pt x="300423" y="274120"/>
                      <a:pt x="287272" y="287272"/>
                    </a:cubicBezTo>
                    <a:cubicBezTo>
                      <a:pt x="274120" y="300423"/>
                      <a:pt x="252798" y="300423"/>
                      <a:pt x="239646" y="287272"/>
                    </a:cubicBezTo>
                    <a:lnTo>
                      <a:pt x="144396" y="192021"/>
                    </a:lnTo>
                    <a:cubicBezTo>
                      <a:pt x="107972" y="209417"/>
                      <a:pt x="64537" y="201965"/>
                      <a:pt x="35995" y="173423"/>
                    </a:cubicBezTo>
                    <a:cubicBezTo>
                      <a:pt x="7452" y="144880"/>
                      <a:pt x="0" y="101446"/>
                      <a:pt x="17396" y="65021"/>
                    </a:cubicBezTo>
                    <a:lnTo>
                      <a:pt x="72959" y="120584"/>
                    </a:lnTo>
                  </a:path>
                </a:pathLst>
              </a:custGeom>
              <a:noFill/>
              <a:ln w="31750">
                <a:solidFill>
                  <a:srgbClr val="F7FAFC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10710041" y="3035618"/>
                <a:ext cx="373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Tool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9658350" y="4495800"/>
              <a:ext cx="1028700" cy="1028700"/>
              <a:chOff x="9658350" y="4495800"/>
              <a:chExt cx="1028700" cy="1028700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9658350" y="4495800"/>
                <a:ext cx="1028700" cy="10287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78" name="Group 78"/>
              <p:cNvGrpSpPr/>
              <p:nvPr/>
            </p:nvGrpSpPr>
            <p:grpSpPr>
              <a:xfrm>
                <a:off x="10045700" y="4772025"/>
                <a:ext cx="254001" cy="285750"/>
                <a:chOff x="10045700" y="4772025"/>
                <a:chExt cx="254001" cy="285750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10045700" y="4772025"/>
                  <a:ext cx="254001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95250">
                      <a:moveTo>
                        <a:pt x="0" y="47625"/>
                      </a:moveTo>
                      <a:cubicBezTo>
                        <a:pt x="0" y="73928"/>
                        <a:pt x="56860" y="95250"/>
                        <a:pt x="127000" y="95250"/>
                      </a:cubicBezTo>
                      <a:cubicBezTo>
                        <a:pt x="197141" y="95250"/>
                        <a:pt x="254001" y="73928"/>
                        <a:pt x="254001" y="47625"/>
                      </a:cubicBezTo>
                      <a:cubicBezTo>
                        <a:pt x="254001" y="21322"/>
                        <a:pt x="197141" y="0"/>
                        <a:pt x="127000" y="0"/>
                      </a:cubicBezTo>
                      <a:cubicBezTo>
                        <a:pt x="56860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045700" y="4819650"/>
                  <a:ext cx="25400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1" y="142875"/>
                        <a:pt x="254001" y="121553"/>
                        <a:pt x="254001" y="95250"/>
                      </a:cubicBezTo>
                      <a:lnTo>
                        <a:pt x="254001" y="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045700" y="4914900"/>
                  <a:ext cx="25400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1" y="142875"/>
                        <a:pt x="254001" y="121553"/>
                        <a:pt x="254001" y="95250"/>
                      </a:cubicBezTo>
                      <a:lnTo>
                        <a:pt x="254001" y="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</p:grpSp>
          <p:sp>
            <p:nvSpPr>
              <p:cNvPr id="79" name="TextBox 79"/>
              <p:cNvSpPr txBox="1"/>
              <p:nvPr/>
            </p:nvSpPr>
            <p:spPr>
              <a:xfrm>
                <a:off x="9836070" y="5169218"/>
                <a:ext cx="6732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Session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7162800" y="4495800"/>
              <a:ext cx="1028700" cy="1028700"/>
              <a:chOff x="7162800" y="4495800"/>
              <a:chExt cx="1028700" cy="1028700"/>
            </a:xfrm>
          </p:grpSpPr>
          <p:sp>
            <p:nvSpPr>
              <p:cNvPr id="81" name="Ellipse 81"/>
              <p:cNvSpPr/>
              <p:nvPr/>
            </p:nvSpPr>
            <p:spPr>
              <a:xfrm>
                <a:off x="7162800" y="4495800"/>
                <a:ext cx="1028700" cy="10287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85" name="Group 85"/>
              <p:cNvGrpSpPr/>
              <p:nvPr/>
            </p:nvGrpSpPr>
            <p:grpSpPr>
              <a:xfrm>
                <a:off x="7527664" y="4772025"/>
                <a:ext cx="298973" cy="285751"/>
                <a:chOff x="7527664" y="4772025"/>
                <a:chExt cx="298973" cy="285751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7527664" y="4772025"/>
                  <a:ext cx="298973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973" h="285751">
                      <a:moveTo>
                        <a:pt x="149486" y="0"/>
                      </a:moveTo>
                      <a:cubicBezTo>
                        <a:pt x="186568" y="32807"/>
                        <a:pt x="234965" y="49888"/>
                        <a:pt x="284424" y="47625"/>
                      </a:cubicBezTo>
                      <a:cubicBezTo>
                        <a:pt x="298973" y="97116"/>
                        <a:pt x="292829" y="150391"/>
                        <a:pt x="267397" y="195271"/>
                      </a:cubicBezTo>
                      <a:cubicBezTo>
                        <a:pt x="241965" y="240151"/>
                        <a:pt x="199419" y="272799"/>
                        <a:pt x="149486" y="285751"/>
                      </a:cubicBezTo>
                      <a:cubicBezTo>
                        <a:pt x="99554" y="272799"/>
                        <a:pt x="57008" y="240151"/>
                        <a:pt x="31576" y="195271"/>
                      </a:cubicBezTo>
                      <a:cubicBezTo>
                        <a:pt x="6144" y="150391"/>
                        <a:pt x="0" y="97116"/>
                        <a:pt x="14549" y="47625"/>
                      </a:cubicBezTo>
                      <a:cubicBezTo>
                        <a:pt x="64008" y="49888"/>
                        <a:pt x="112405" y="32807"/>
                        <a:pt x="149486" y="0"/>
                      </a:cubicBez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7661275" y="4883150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7677150" y="4914900"/>
                  <a:ext cx="9525" cy="3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9688">
                      <a:moveTo>
                        <a:pt x="0" y="0"/>
                      </a:moveTo>
                      <a:lnTo>
                        <a:pt x="0" y="39688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</p:grpSp>
          <p:sp>
            <p:nvSpPr>
              <p:cNvPr id="86" name="TextBox 86"/>
              <p:cNvSpPr txBox="1"/>
              <p:nvPr/>
            </p:nvSpPr>
            <p:spPr>
              <a:xfrm>
                <a:off x="7317619" y="5169218"/>
                <a:ext cx="7190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Sandbox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6324600" y="2362200"/>
              <a:ext cx="1028700" cy="1028700"/>
              <a:chOff x="6324600" y="2362200"/>
              <a:chExt cx="1028700" cy="1028700"/>
            </a:xfrm>
          </p:grpSpPr>
          <p:sp>
            <p:nvSpPr>
              <p:cNvPr id="88" name="Ellipse 88"/>
              <p:cNvSpPr/>
              <p:nvPr/>
            </p:nvSpPr>
            <p:spPr>
              <a:xfrm>
                <a:off x="6324600" y="2362200"/>
                <a:ext cx="1028700" cy="10287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6696075" y="2654300"/>
                <a:ext cx="285751" cy="254001"/>
                <a:chOff x="6696075" y="2654300"/>
                <a:chExt cx="285751" cy="254001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6775450" y="2733675"/>
                  <a:ext cx="476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0">
                      <a:moveTo>
                        <a:pt x="0" y="0"/>
                      </a:moveTo>
                      <a:lnTo>
                        <a:pt x="47625" y="47625"/>
                      </a:lnTo>
                      <a:lnTo>
                        <a:pt x="0" y="9525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6854825" y="2828925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6696075" y="2654300"/>
                  <a:ext cx="285751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54001">
                      <a:moveTo>
                        <a:pt x="0" y="31750"/>
                      </a:move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254001" y="0"/>
                      </a:lnTo>
                      <a:cubicBezTo>
                        <a:pt x="271536" y="0"/>
                        <a:pt x="285751" y="14215"/>
                        <a:pt x="285751" y="31750"/>
                      </a:cubicBezTo>
                      <a:lnTo>
                        <a:pt x="285751" y="222250"/>
                      </a:lnTo>
                      <a:cubicBezTo>
                        <a:pt x="285751" y="239786"/>
                        <a:pt x="271536" y="254001"/>
                        <a:pt x="254001" y="254001"/>
                      </a:cubicBezTo>
                      <a:lnTo>
                        <a:pt x="31750" y="254001"/>
                      </a:lnTo>
                      <a:cubicBezTo>
                        <a:pt x="14215" y="254001"/>
                        <a:pt x="0" y="239786"/>
                        <a:pt x="0" y="222250"/>
                      </a:cubicBez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rgbClr val="F7FAFC"/>
                  </a:solidFill>
                </a:ln>
              </p:spPr>
            </p:sp>
          </p:grpSp>
          <p:sp>
            <p:nvSpPr>
              <p:cNvPr id="93" name="TextBox 93"/>
              <p:cNvSpPr txBox="1"/>
              <p:nvPr/>
            </p:nvSpPr>
            <p:spPr>
              <a:xfrm>
                <a:off x="6402324" y="3035618"/>
                <a:ext cx="8732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Interface</a:t>
                </a:r>
              </a:p>
            </p:txBody>
          </p:sp>
        </p:grpSp>
      </p:grpSp>
      <p:grpSp>
        <p:nvGrpSpPr>
          <p:cNvPr id="98" name="Group 98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96" name="TextBox 96"/>
            <p:cNvSpPr txBox="1"/>
            <p:nvPr/>
          </p:nvSpPr>
          <p:spPr>
            <a:xfrm>
              <a:off x="602742" y="6293168"/>
              <a:ext cx="4785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ARCHITECTURE · ENTERPRISE · GLOBAL / CHINA MARKET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P01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9150504" cy="955167"/>
            <a:chOff x="593598" y="482918"/>
            <a:chExt cx="9150504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4191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WHY A HARNESS / CONTROL RESPONSIBILITY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91505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的难点不在“会想”，而在“安全地做完”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7408" y="1893570"/>
            <a:ext cx="3450336" cy="3674364"/>
            <a:chOff x="597408" y="1893570"/>
            <a:chExt cx="3450336" cy="3674364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1893570"/>
              <a:ext cx="32247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模型提出下一步</a:t>
              </a:r>
              <a:br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Harness 把建议变成</a:t>
              </a:r>
              <a:br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受控、可记录、可恢复</a:t>
              </a:r>
              <a:br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的现实操作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41910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2742" y="4483418"/>
              <a:ext cx="10823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5B"/>
                  </a:solidFill>
                  <a:latin typeface="Cascadia Mono"/>
                  <a:ea typeface="Cascadia Mono"/>
                  <a:cs typeface="Cascadia Mono"/>
                </a:rPr>
                <a:t>THINK ≠ ACT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4853940"/>
              <a:ext cx="34472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副作用发生在文件、进程、网络</a:t>
              </a:r>
              <a:br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和业务系统，而不是模型文本中。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57750" y="1657350"/>
            <a:ext cx="6724650" cy="3737801"/>
            <a:chOff x="4857750" y="1657350"/>
            <a:chExt cx="6724650" cy="3737801"/>
          </a:xfrm>
        </p:grpSpPr>
        <p:sp>
          <p:nvSpPr>
            <p:cNvPr id="11" name="Line 11"/>
            <p:cNvSpPr/>
            <p:nvPr/>
          </p:nvSpPr>
          <p:spPr>
            <a:xfrm>
              <a:off x="6400800" y="2686050"/>
              <a:ext cx="8001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9696450" y="2686050"/>
              <a:ext cx="6096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857750" y="2114550"/>
              <a:ext cx="154305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448300" y="2324100"/>
              <a:ext cx="342900" cy="342900"/>
              <a:chOff x="5448300" y="2324100"/>
              <a:chExt cx="342900" cy="3429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486400" y="23622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247650" y="0"/>
                    </a:lnTo>
                    <a:cubicBezTo>
                      <a:pt x="258171" y="0"/>
                      <a:pt x="266700" y="8529"/>
                      <a:pt x="266700" y="19050"/>
                    </a:cubicBezTo>
                    <a:lnTo>
                      <a:pt x="266700" y="247650"/>
                    </a:lnTo>
                    <a:cubicBezTo>
                      <a:pt x="266700" y="258171"/>
                      <a:pt x="258171" y="266700"/>
                      <a:pt x="247650" y="266700"/>
                    </a:cubicBezTo>
                    <a:lnTo>
                      <a:pt x="19050" y="266700"/>
                    </a:lnTo>
                    <a:cubicBezTo>
                      <a:pt x="8529" y="266700"/>
                      <a:pt x="0" y="258171"/>
                      <a:pt x="0" y="2476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562600" y="24384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448300" y="24574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448300" y="25336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581650" y="23241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657850" y="23241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753100" y="24574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753100" y="25336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657850" y="26289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581650" y="26289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272760" y="2834640"/>
              <a:ext cx="7130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200900" y="1657350"/>
              <a:ext cx="2495550" cy="2895600"/>
            </a:xfrm>
            <a:prstGeom prst="roundRect">
              <a:avLst>
                <a:gd name="adj" fmla="val 3817"/>
              </a:avLst>
            </a:prstGeom>
            <a:solidFill>
              <a:schemeClr val="accen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00459" y="1844040"/>
              <a:ext cx="30964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HARNESS CONTROL PLANE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448550" y="2324100"/>
              <a:ext cx="895350" cy="723900"/>
            </a:xfrm>
            <a:prstGeom prst="roundRect">
              <a:avLst>
                <a:gd name="adj" fmla="val 7895"/>
              </a:avLst>
            </a:prstGeom>
            <a:solidFill>
              <a:srgbClr val="1C2A4A"/>
            </a:solidFill>
            <a:ln w="9525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534400" y="2324100"/>
              <a:ext cx="895350" cy="723900"/>
            </a:xfrm>
            <a:prstGeom prst="roundRect">
              <a:avLst>
                <a:gd name="adj" fmla="val 7895"/>
              </a:avLst>
            </a:prstGeom>
            <a:solidFill>
              <a:srgbClr val="1C2A4A"/>
            </a:solidFill>
            <a:ln w="9525">
              <a:solidFill>
                <a:schemeClr val="accent3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48550" y="3257550"/>
              <a:ext cx="895350" cy="723900"/>
            </a:xfrm>
            <a:prstGeom prst="roundRect">
              <a:avLst>
                <a:gd name="adj" fmla="val 7895"/>
              </a:avLst>
            </a:prstGeom>
            <a:solidFill>
              <a:srgbClr val="1C2A4A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534400" y="3257550"/>
              <a:ext cx="895350" cy="723900"/>
            </a:xfrm>
            <a:prstGeom prst="roundRect">
              <a:avLst>
                <a:gd name="adj" fmla="val 7895"/>
              </a:avLst>
            </a:prstGeom>
            <a:solidFill>
              <a:srgbClr val="1C2A4A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36694" y="2616518"/>
              <a:ext cx="719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18385" y="2616518"/>
              <a:ext cx="527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Policy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09666" y="3549968"/>
              <a:ext cx="373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Tool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45445" y="3549968"/>
              <a:ext cx="673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Session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306050" y="2114550"/>
              <a:ext cx="127635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10772775" y="2343150"/>
              <a:ext cx="342900" cy="304800"/>
              <a:chOff x="10772775" y="2343150"/>
              <a:chExt cx="342900" cy="304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772775" y="234315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772775" y="249555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848975" y="2419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848975" y="2571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680649" y="2834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982075" y="3429000"/>
              <a:ext cx="1962150" cy="1543050"/>
            </a:xfrm>
            <a:custGeom>
              <a:avLst/>
              <a:gdLst/>
              <a:ahLst/>
              <a:cxnLst/>
              <a:rect l="l" t="t" r="r" b="b"/>
              <a:pathLst>
                <a:path w="1962150" h="1543050">
                  <a:moveTo>
                    <a:pt x="1962150" y="0"/>
                  </a:moveTo>
                  <a:lnTo>
                    <a:pt x="1962150" y="1543050"/>
                  </a:lnTo>
                  <a:lnTo>
                    <a:pt x="0" y="1543050"/>
                  </a:lnTo>
                  <a:lnTo>
                    <a:pt x="0" y="6667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prstDash val="dash"/>
              <a:tailEnd type="triangle" w="lg" len="lg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72077" y="51311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可见结果 → 可恢复证据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22390" y="4712018"/>
              <a:ext cx="3652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ALL EXECUTION PASSES THROUGH HARNESS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602742" y="6293168"/>
              <a:ext cx="5034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K-001 · K-002 · K-008 | DEEPSEEK HARNESS v0.1.0-rc.7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P02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4907280"/>
            <a:ext cx="1530767" cy="1847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0" b="1" dirty="0">
                <a:solidFill>
                  <a:schemeClr val="accent3">
                    <a:alphaMod val="8000"/>
                  </a:schemeClr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93598" y="482918"/>
            <a:ext cx="7169200" cy="955167"/>
            <a:chOff x="593598" y="482918"/>
            <a:chExt cx="7169200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3240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LEARNING MAP / FOUR QUESTIONS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71692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用四个问题读懂 DeepSeek Harness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57656" y="1123950"/>
            <a:ext cx="9705213" cy="4957001"/>
            <a:chOff x="1057656" y="1123950"/>
            <a:chExt cx="9705213" cy="4957001"/>
          </a:xfrm>
        </p:grpSpPr>
        <p:sp>
          <p:nvSpPr>
            <p:cNvPr id="6" name="Freeform 6"/>
            <p:cNvSpPr/>
            <p:nvPr/>
          </p:nvSpPr>
          <p:spPr>
            <a:xfrm>
              <a:off x="1447800" y="1524000"/>
              <a:ext cx="8763000" cy="3429000"/>
            </a:xfrm>
            <a:custGeom>
              <a:avLst/>
              <a:gdLst/>
              <a:ahLst/>
              <a:cxnLst/>
              <a:rect l="l" t="t" r="r" b="b"/>
              <a:pathLst>
                <a:path w="8763000" h="3429000">
                  <a:moveTo>
                    <a:pt x="0" y="3429000"/>
                  </a:moveTo>
                  <a:lnTo>
                    <a:pt x="2190750" y="2571750"/>
                  </a:lnTo>
                  <a:lnTo>
                    <a:pt x="4381500" y="1714500"/>
                  </a:lnTo>
                  <a:lnTo>
                    <a:pt x="6572250" y="857250"/>
                  </a:lnTo>
                  <a:lnTo>
                    <a:pt x="8763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447800" y="49530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638550" y="40957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829300" y="323850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20050" y="23812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181100" y="46863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371850" y="382905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562600" y="2971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753350" y="2114550"/>
              <a:ext cx="533400" cy="5334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810750" y="1123950"/>
              <a:ext cx="800100" cy="800100"/>
            </a:xfrm>
            <a:prstGeom prst="ellipse">
              <a:avLst/>
            </a:prstGeom>
            <a:solidFill>
              <a:schemeClr val="accent3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68687" y="4834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59437" y="39776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50187" y="31203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0937" y="22631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099675" y="1444625"/>
              <a:ext cx="238125" cy="158750"/>
            </a:xfrm>
            <a:custGeom>
              <a:avLst/>
              <a:gdLst/>
              <a:ahLst/>
              <a:cxnLst/>
              <a:rect l="l" t="t" r="r" b="b"/>
              <a:pathLst>
                <a:path w="238125" h="158750">
                  <a:moveTo>
                    <a:pt x="0" y="79375"/>
                  </a:moveTo>
                  <a:lnTo>
                    <a:pt x="79375" y="158750"/>
                  </a:lnTo>
                  <a:lnTo>
                    <a:pt x="238125" y="0"/>
                  </a:lnTo>
                </a:path>
              </a:pathLst>
            </a:custGeom>
            <a:noFill/>
            <a:ln w="31750">
              <a:solidFill>
                <a:srgbClr val="F7FAF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7656" y="5501640"/>
              <a:ext cx="992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Runtime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9942" y="5816918"/>
              <a:ext cx="2004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 Turn 如何被控制？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48406" y="4720590"/>
              <a:ext cx="15898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Extensibility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50692" y="5035868"/>
              <a:ext cx="2050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Plugin 如何成为运行时？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39156" y="3863340"/>
              <a:ext cx="1361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Enterprise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41442" y="4178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原语距离治理还有多远？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9906" y="3006090"/>
              <a:ext cx="9172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Market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32192" y="3321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全球与中国在哪一层竞争？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69975" y="1939290"/>
              <a:ext cx="1081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Evidence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58731" y="2273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证据驱动采用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32" name="TextBox 32"/>
            <p:cNvSpPr txBox="1"/>
            <p:nvPr/>
          </p:nvSpPr>
          <p:spPr>
            <a:xfrm>
              <a:off x="602742" y="629316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K-002 · K-005 · K-018 · K-019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P03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16000"/>
              </a:schemeClr>
            </a:solidFill>
          </a:ln>
        </p:spPr>
      </p:sp>
      <p:sp>
        <p:nvSpPr>
          <p:cNvPr id="3" name="Freeform 3"/>
          <p:cNvSpPr/>
          <p:nvPr/>
        </p:nvSpPr>
        <p:spPr>
          <a:xfrm>
            <a:off x="5734050" y="685800"/>
            <a:ext cx="9525" cy="5391150"/>
          </a:xfrm>
          <a:custGeom>
            <a:avLst/>
            <a:gdLst/>
            <a:ahLst/>
            <a:cxnLst/>
            <a:rect l="l" t="t" r="r" b="b"/>
            <a:pathLst>
              <a:path w="9525" h="5391150">
                <a:moveTo>
                  <a:pt x="0" y="0"/>
                </a:moveTo>
                <a:lnTo>
                  <a:pt x="0" y="5391150"/>
                </a:lnTo>
              </a:path>
            </a:pathLst>
          </a:custGeom>
          <a:noFill/>
          <a:ln w="14288">
            <a:solidFill>
              <a:schemeClr val="accent3"/>
            </a:solidFill>
            <a:prstDash val="dash"/>
          </a:ln>
        </p:spPr>
      </p:sp>
      <p:grpSp>
        <p:nvGrpSpPr>
          <p:cNvPr id="8" name="Group 8"/>
          <p:cNvGrpSpPr/>
          <p:nvPr/>
        </p:nvGrpSpPr>
        <p:grpSpPr>
          <a:xfrm>
            <a:off x="593598" y="902018"/>
            <a:ext cx="3912519" cy="3732466"/>
            <a:chOff x="593598" y="902018"/>
            <a:chExt cx="3912519" cy="3732466"/>
          </a:xfrm>
        </p:grpSpPr>
        <p:sp>
          <p:nvSpPr>
            <p:cNvPr id="4" name="TextBox 4"/>
            <p:cNvSpPr txBox="1"/>
            <p:nvPr/>
          </p:nvSpPr>
          <p:spPr>
            <a:xfrm>
              <a:off x="602742" y="902018"/>
              <a:ext cx="2974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CHAPTER 01 / ARCHITECTURE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3598" y="1450658"/>
              <a:ext cx="3623453" cy="1130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315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三条流构成</a:t>
              </a:r>
              <a:br/>
              <a:r>
                <a:rPr lang="zh-CN" sz="315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DeepSeek Harness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2960370"/>
              <a:ext cx="39087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不按 package 数量读架构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3558540"/>
              <a:ext cx="3481578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控制流解释一次 Turn</a:t>
              </a:r>
              <a:br/>
              <a:r>
                <a:rPr lang="zh-CN" sz="180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装配流解释能力如何进入 Context</a:t>
              </a:r>
              <a:br/>
              <a:r>
                <a:rPr lang="zh-CN" sz="180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事件流解释状态如何恢复与投影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48400" y="1714500"/>
            <a:ext cx="5105172" cy="3352800"/>
            <a:chOff x="6248400" y="1714500"/>
            <a:chExt cx="5105172" cy="3352800"/>
          </a:xfrm>
        </p:grpSpPr>
        <p:sp>
          <p:nvSpPr>
            <p:cNvPr id="9" name="Freeform 9"/>
            <p:cNvSpPr/>
            <p:nvPr/>
          </p:nvSpPr>
          <p:spPr>
            <a:xfrm>
              <a:off x="6534150" y="2000250"/>
              <a:ext cx="3905250" cy="1390650"/>
            </a:xfrm>
            <a:custGeom>
              <a:avLst/>
              <a:gdLst/>
              <a:ahLst/>
              <a:cxnLst/>
              <a:rect l="l" t="t" r="r" b="b"/>
              <a:pathLst>
                <a:path w="3905250" h="1390650">
                  <a:moveTo>
                    <a:pt x="0" y="0"/>
                  </a:moveTo>
                  <a:lnTo>
                    <a:pt x="2228850" y="0"/>
                  </a:lnTo>
                  <a:lnTo>
                    <a:pt x="3905250" y="1390650"/>
                  </a:lnTo>
                </a:path>
              </a:pathLst>
            </a:custGeom>
            <a:noFill/>
            <a:ln w="57150">
              <a:solidFill>
                <a:schemeClr val="accent3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534150" y="33909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57150">
              <a:solidFill>
                <a:schemeClr val="accent3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534150" y="3390900"/>
              <a:ext cx="3905250" cy="1390650"/>
            </a:xfrm>
            <a:custGeom>
              <a:avLst/>
              <a:gdLst/>
              <a:ahLst/>
              <a:cxnLst/>
              <a:rect l="l" t="t" r="r" b="b"/>
              <a:pathLst>
                <a:path w="3905250" h="1390650">
                  <a:moveTo>
                    <a:pt x="0" y="1390650"/>
                  </a:moveTo>
                  <a:lnTo>
                    <a:pt x="2228850" y="1390650"/>
                  </a:lnTo>
                  <a:lnTo>
                    <a:pt x="3905250" y="0"/>
                  </a:lnTo>
                </a:path>
              </a:pathLst>
            </a:custGeom>
            <a:noFill/>
            <a:ln w="57150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6248400" y="1714500"/>
              <a:ext cx="571500" cy="5715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248400" y="3105150"/>
              <a:ext cx="571500" cy="5715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248400" y="4495800"/>
              <a:ext cx="571500" cy="5715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405562" y="1885950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0" y="114300"/>
                  </a:moveTo>
                  <a:lnTo>
                    <a:pt x="57150" y="114300"/>
                  </a:lnTo>
                  <a:lnTo>
                    <a:pt x="100012" y="228600"/>
                  </a:lnTo>
                  <a:lnTo>
                    <a:pt x="157162" y="0"/>
                  </a:lnTo>
                  <a:lnTo>
                    <a:pt x="200025" y="114300"/>
                  </a:lnTo>
                  <a:lnTo>
                    <a:pt x="257175" y="114300"/>
                  </a:lnTo>
                </a:path>
              </a:pathLst>
            </a:custGeom>
            <a:noFill/>
            <a:ln w="28575">
              <a:solidFill>
                <a:srgbClr val="F7FAFC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419850" y="3276600"/>
              <a:ext cx="228600" cy="228600"/>
              <a:chOff x="6419850" y="3276600"/>
              <a:chExt cx="228600" cy="2286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442784" y="3305175"/>
                <a:ext cx="177091" cy="177091"/>
              </a:xfrm>
              <a:custGeom>
                <a:avLst/>
                <a:gdLst/>
                <a:ahLst/>
                <a:cxnLst/>
                <a:rect l="l" t="t" r="r" b="b"/>
                <a:pathLst>
                  <a:path w="177091" h="177091">
                    <a:moveTo>
                      <a:pt x="59719" y="0"/>
                    </a:moveTo>
                    <a:lnTo>
                      <a:pt x="177091" y="117372"/>
                    </a:lnTo>
                    <a:lnTo>
                      <a:pt x="147744" y="146718"/>
                    </a:lnTo>
                    <a:cubicBezTo>
                      <a:pt x="126920" y="168376"/>
                      <a:pt x="96018" y="177091"/>
                      <a:pt x="66947" y="169504"/>
                    </a:cubicBezTo>
                    <a:cubicBezTo>
                      <a:pt x="37876" y="161918"/>
                      <a:pt x="15173" y="139215"/>
                      <a:pt x="7586" y="110144"/>
                    </a:cubicBezTo>
                    <a:cubicBezTo>
                      <a:pt x="0" y="81072"/>
                      <a:pt x="8715" y="50171"/>
                      <a:pt x="30372" y="29347"/>
                    </a:cubicBezTo>
                    <a:lnTo>
                      <a:pt x="59719" y="0"/>
                    </a:lnTo>
                  </a:path>
                </a:pathLst>
              </a:custGeom>
              <a:noFill/>
              <a:ln w="28575">
                <a:solidFill>
                  <a:srgbClr val="F7FAF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419850" y="3455194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0" y="50006"/>
                    </a:moveTo>
                    <a:lnTo>
                      <a:pt x="50006" y="0"/>
                    </a:lnTo>
                  </a:path>
                </a:pathLst>
              </a:custGeom>
              <a:noFill/>
              <a:ln w="28575">
                <a:solidFill>
                  <a:srgbClr val="F7FAF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527006" y="3276600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0"/>
                    </a:moveTo>
                    <a:lnTo>
                      <a:pt x="0" y="50006"/>
                    </a:lnTo>
                  </a:path>
                </a:pathLst>
              </a:custGeom>
              <a:noFill/>
              <a:ln w="28575">
                <a:solidFill>
                  <a:srgbClr val="F7FAF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98444" y="3348038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0"/>
                    </a:moveTo>
                    <a:lnTo>
                      <a:pt x="0" y="50006"/>
                    </a:lnTo>
                  </a:path>
                </a:pathLst>
              </a:custGeom>
              <a:noFill/>
              <a:ln w="28575">
                <a:solidFill>
                  <a:srgbClr val="F7FAFC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6405562" y="4710112"/>
              <a:ext cx="257175" cy="142875"/>
              <a:chOff x="6405562" y="4710112"/>
              <a:chExt cx="257175" cy="1428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419850" y="47244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85725" y="14288"/>
                    </a:lnTo>
                    <a:lnTo>
                      <a:pt x="157162" y="85725"/>
                    </a:ln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F7FAF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62725" y="4795838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7FAF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91288" y="47244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7FAF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05562" y="48244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7FAF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34162" y="47101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7FAF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058406" y="1882140"/>
              <a:ext cx="1565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Control flow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58406" y="3272790"/>
              <a:ext cx="2112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Composition flow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58406" y="4663440"/>
              <a:ext cx="1349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Event flow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9601200" y="2552700"/>
              <a:ext cx="1676400" cy="1676400"/>
            </a:xfrm>
            <a:prstGeom prst="ellipse">
              <a:avLst/>
            </a:prstGeom>
            <a:solidFill>
              <a:schemeClr val="accent3"/>
            </a:solidFill>
            <a:ln w="38100">
              <a:solidFill>
                <a:schemeClr val="accent2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261600" y="2832100"/>
              <a:ext cx="355599" cy="355599"/>
              <a:chOff x="10261600" y="2832100"/>
              <a:chExt cx="355599" cy="35559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297275" y="2876550"/>
                <a:ext cx="275474" cy="275474"/>
              </a:xfrm>
              <a:custGeom>
                <a:avLst/>
                <a:gdLst/>
                <a:ahLst/>
                <a:cxnLst/>
                <a:rect l="l" t="t" r="r" b="b"/>
                <a:pathLst>
                  <a:path w="275474" h="275474">
                    <a:moveTo>
                      <a:pt x="92896" y="0"/>
                    </a:moveTo>
                    <a:lnTo>
                      <a:pt x="275474" y="182578"/>
                    </a:lnTo>
                    <a:lnTo>
                      <a:pt x="229824" y="228228"/>
                    </a:lnTo>
                    <a:cubicBezTo>
                      <a:pt x="197431" y="261918"/>
                      <a:pt x="149362" y="275474"/>
                      <a:pt x="104140" y="263673"/>
                    </a:cubicBezTo>
                    <a:cubicBezTo>
                      <a:pt x="58917" y="251872"/>
                      <a:pt x="23602" y="216557"/>
                      <a:pt x="11801" y="171334"/>
                    </a:cubicBezTo>
                    <a:cubicBezTo>
                      <a:pt x="0" y="126112"/>
                      <a:pt x="13556" y="78043"/>
                      <a:pt x="47246" y="45650"/>
                    </a:cubicBezTo>
                    <a:lnTo>
                      <a:pt x="92896" y="0"/>
                    </a:lnTo>
                  </a:path>
                </a:pathLst>
              </a:custGeom>
              <a:noFill/>
              <a:ln w="44450">
                <a:solidFill>
                  <a:srgbClr val="F7FAF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261600" y="3109912"/>
                <a:ext cx="77787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77787">
                    <a:moveTo>
                      <a:pt x="0" y="77787"/>
                    </a:moveTo>
                    <a:lnTo>
                      <a:pt x="77787" y="0"/>
                    </a:lnTo>
                  </a:path>
                </a:pathLst>
              </a:custGeom>
              <a:noFill/>
              <a:ln w="44450">
                <a:solidFill>
                  <a:srgbClr val="F7FAF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428287" y="2832100"/>
                <a:ext cx="77787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77787">
                    <a:moveTo>
                      <a:pt x="77787" y="0"/>
                    </a:moveTo>
                    <a:lnTo>
                      <a:pt x="0" y="77787"/>
                    </a:lnTo>
                  </a:path>
                </a:pathLst>
              </a:custGeom>
              <a:noFill/>
              <a:ln w="44450">
                <a:solidFill>
                  <a:srgbClr val="F7FAF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539412" y="2943225"/>
                <a:ext cx="77787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77787">
                    <a:moveTo>
                      <a:pt x="77787" y="0"/>
                    </a:moveTo>
                    <a:lnTo>
                      <a:pt x="0" y="77787"/>
                    </a:lnTo>
                  </a:path>
                </a:pathLst>
              </a:custGeom>
              <a:noFill/>
              <a:ln w="44450">
                <a:solidFill>
                  <a:srgbClr val="F7FAF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9737202" y="337947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HARNESS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25229" y="3797618"/>
              <a:ext cx="1828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9F4F7"/>
                  </a:solidFill>
                  <a:latin typeface="Cascadia Mono"/>
                  <a:ea typeface="Cascadia Mono"/>
                  <a:cs typeface="Cascadia Mono"/>
                </a:rPr>
                <a:t>ONE CONTROL PLANE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602742" y="6293168"/>
              <a:ext cx="5217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K-002 · K-003 · K-008 | CONTROL · COMPOSITION · EVENT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P04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9875934" cy="955167"/>
            <a:chOff x="593598" y="482918"/>
            <a:chExt cx="9875934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2677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CONTROL FLOW / ONE TURN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98759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 Turn 不是一次请求，而是带屏障的控制闭环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6214" y="1587818"/>
            <a:ext cx="11141449" cy="4359783"/>
            <a:chOff x="486214" y="1587818"/>
            <a:chExt cx="11141449" cy="4359783"/>
          </a:xfrm>
        </p:grpSpPr>
        <p:sp>
          <p:nvSpPr>
            <p:cNvPr id="6" name="Freeform 6"/>
            <p:cNvSpPr/>
            <p:nvPr/>
          </p:nvSpPr>
          <p:spPr>
            <a:xfrm>
              <a:off x="1200150" y="2457450"/>
              <a:ext cx="6038850" cy="9525"/>
            </a:xfrm>
            <a:custGeom>
              <a:avLst/>
              <a:gdLst/>
              <a:ahLst/>
              <a:cxnLst/>
              <a:rect l="l" t="t" r="r" b="b"/>
              <a:pathLst>
                <a:path w="6038850" h="9525">
                  <a:moveTo>
                    <a:pt x="0" y="0"/>
                  </a:moveTo>
                  <a:lnTo>
                    <a:pt x="60388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Freeform 7"/>
            <p:cNvSpPr/>
            <p:nvPr/>
          </p:nvSpPr>
          <p:spPr>
            <a:xfrm>
              <a:off x="8305800" y="4210050"/>
              <a:ext cx="2362200" cy="1009650"/>
            </a:xfrm>
            <a:custGeom>
              <a:avLst/>
              <a:gdLst/>
              <a:ahLst/>
              <a:cxnLst/>
              <a:rect l="l" t="t" r="r" b="b"/>
              <a:pathLst>
                <a:path w="2362200" h="1009650">
                  <a:moveTo>
                    <a:pt x="2362200" y="0"/>
                  </a:moveTo>
                  <a:lnTo>
                    <a:pt x="2362200" y="1009650"/>
                  </a:lnTo>
                  <a:lnTo>
                    <a:pt x="0" y="10096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Freeform 8"/>
            <p:cNvSpPr/>
            <p:nvPr/>
          </p:nvSpPr>
          <p:spPr>
            <a:xfrm>
              <a:off x="1200150" y="2895600"/>
              <a:ext cx="6038850" cy="2324100"/>
            </a:xfrm>
            <a:custGeom>
              <a:avLst/>
              <a:gdLst/>
              <a:ahLst/>
              <a:cxnLst/>
              <a:rect l="l" t="t" r="r" b="b"/>
              <a:pathLst>
                <a:path w="6038850" h="2324100">
                  <a:moveTo>
                    <a:pt x="6038850" y="2324100"/>
                  </a:moveTo>
                  <a:lnTo>
                    <a:pt x="0" y="232410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prstDash val="dash"/>
              <a:tailEnd type="triangle" w="lg" len="lg"/>
            </a:ln>
          </p:spPr>
        </p:sp>
        <p:sp>
          <p:nvSpPr>
            <p:cNvPr id="9" name="Ellipse 9"/>
            <p:cNvSpPr/>
            <p:nvPr/>
          </p:nvSpPr>
          <p:spPr>
            <a:xfrm>
              <a:off x="914400" y="21717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419350" y="21717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924300" y="21717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429250" y="21717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896100" y="2133600"/>
              <a:ext cx="647700" cy="647700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1037" y="23393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25987" y="23393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30937" y="23393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35887" y="23393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40837" y="23393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6214" y="2902268"/>
              <a:ext cx="1427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Project context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63926" y="2902268"/>
              <a:ext cx="1082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Policy hooks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77807" y="2902268"/>
              <a:ext cx="1264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 request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23813" y="2902268"/>
              <a:ext cx="982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 choice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5117" y="2902268"/>
              <a:ext cx="1309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executionMode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772400" y="1885950"/>
              <a:ext cx="9525" cy="2324100"/>
            </a:xfrm>
            <a:custGeom>
              <a:avLst/>
              <a:gdLst/>
              <a:ahLst/>
              <a:cxnLst/>
              <a:rect l="l" t="t" r="r" b="b"/>
              <a:pathLst>
                <a:path w="9525" h="2324100">
                  <a:moveTo>
                    <a:pt x="0" y="0"/>
                  </a:moveTo>
                  <a:lnTo>
                    <a:pt x="0" y="232410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98554" y="1587818"/>
              <a:ext cx="1747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6"/>
                  </a:solidFill>
                  <a:latin typeface="Cascadia Mono"/>
                  <a:ea typeface="Cascadia Mono"/>
                  <a:cs typeface="Cascadia Mono"/>
                </a:rPr>
                <a:t>EXCLUSIVE BARRIER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91500" y="2019300"/>
              <a:ext cx="2266950" cy="74295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91500" y="3086100"/>
              <a:ext cx="2266950" cy="74295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439217" y="2238442"/>
              <a:ext cx="300423" cy="300423"/>
            </a:xfrm>
            <a:custGeom>
              <a:avLst/>
              <a:gdLst/>
              <a:ahLst/>
              <a:cxnLst/>
              <a:rect l="l" t="t" r="r" b="b"/>
              <a:pathLst>
                <a:path w="300423" h="300423">
                  <a:moveTo>
                    <a:pt x="72959" y="120584"/>
                  </a:moveTo>
                  <a:lnTo>
                    <a:pt x="120584" y="120584"/>
                  </a:lnTo>
                  <a:lnTo>
                    <a:pt x="120584" y="72959"/>
                  </a:lnTo>
                  <a:lnTo>
                    <a:pt x="65021" y="17396"/>
                  </a:lnTo>
                  <a:cubicBezTo>
                    <a:pt x="101446" y="0"/>
                    <a:pt x="144880" y="7452"/>
                    <a:pt x="173423" y="35995"/>
                  </a:cubicBezTo>
                  <a:cubicBezTo>
                    <a:pt x="201965" y="64537"/>
                    <a:pt x="209417" y="107972"/>
                    <a:pt x="192021" y="144396"/>
                  </a:cubicBezTo>
                  <a:lnTo>
                    <a:pt x="287272" y="239646"/>
                  </a:lnTo>
                  <a:cubicBezTo>
                    <a:pt x="300423" y="252798"/>
                    <a:pt x="300423" y="274120"/>
                    <a:pt x="287272" y="287272"/>
                  </a:cubicBezTo>
                  <a:cubicBezTo>
                    <a:pt x="274120" y="300423"/>
                    <a:pt x="252798" y="300423"/>
                    <a:pt x="239646" y="287272"/>
                  </a:cubicBezTo>
                  <a:lnTo>
                    <a:pt x="144396" y="192021"/>
                  </a:lnTo>
                  <a:cubicBezTo>
                    <a:pt x="107972" y="209417"/>
                    <a:pt x="64537" y="201965"/>
                    <a:pt x="35995" y="173423"/>
                  </a:cubicBezTo>
                  <a:cubicBezTo>
                    <a:pt x="7452" y="144880"/>
                    <a:pt x="0" y="101446"/>
                    <a:pt x="17396" y="65021"/>
                  </a:cubicBezTo>
                  <a:lnTo>
                    <a:pt x="72959" y="120584"/>
                  </a:lnTo>
                </a:path>
              </a:pathLst>
            </a:custGeom>
            <a:noFill/>
            <a:ln w="31750">
              <a:solidFill>
                <a:schemeClr val="accent3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439217" y="3305242"/>
              <a:ext cx="300423" cy="300423"/>
            </a:xfrm>
            <a:custGeom>
              <a:avLst/>
              <a:gdLst/>
              <a:ahLst/>
              <a:cxnLst/>
              <a:rect l="l" t="t" r="r" b="b"/>
              <a:pathLst>
                <a:path w="300423" h="300423">
                  <a:moveTo>
                    <a:pt x="72959" y="120584"/>
                  </a:moveTo>
                  <a:lnTo>
                    <a:pt x="120584" y="120584"/>
                  </a:lnTo>
                  <a:lnTo>
                    <a:pt x="120584" y="72959"/>
                  </a:lnTo>
                  <a:lnTo>
                    <a:pt x="65021" y="17396"/>
                  </a:lnTo>
                  <a:cubicBezTo>
                    <a:pt x="101446" y="0"/>
                    <a:pt x="144880" y="7452"/>
                    <a:pt x="173423" y="35995"/>
                  </a:cubicBezTo>
                  <a:cubicBezTo>
                    <a:pt x="201965" y="64537"/>
                    <a:pt x="209417" y="107972"/>
                    <a:pt x="192021" y="144396"/>
                  </a:cubicBezTo>
                  <a:lnTo>
                    <a:pt x="287272" y="239646"/>
                  </a:lnTo>
                  <a:cubicBezTo>
                    <a:pt x="300423" y="252798"/>
                    <a:pt x="300423" y="274120"/>
                    <a:pt x="287272" y="287272"/>
                  </a:cubicBezTo>
                  <a:cubicBezTo>
                    <a:pt x="274120" y="300423"/>
                    <a:pt x="252798" y="300423"/>
                    <a:pt x="239646" y="287272"/>
                  </a:cubicBezTo>
                  <a:lnTo>
                    <a:pt x="144396" y="192021"/>
                  </a:lnTo>
                  <a:cubicBezTo>
                    <a:pt x="107972" y="209417"/>
                    <a:pt x="64537" y="201965"/>
                    <a:pt x="35995" y="173423"/>
                  </a:cubicBezTo>
                  <a:cubicBezTo>
                    <a:pt x="7452" y="144880"/>
                    <a:pt x="0" y="101446"/>
                    <a:pt x="17396" y="65021"/>
                  </a:cubicBezTo>
                  <a:lnTo>
                    <a:pt x="72959" y="120584"/>
                  </a:lnTo>
                </a:path>
              </a:pathLst>
            </a:custGeom>
            <a:noFill/>
            <a:ln w="317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01506" y="2186940"/>
              <a:ext cx="13837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 body 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3792" y="2502218"/>
              <a:ext cx="13866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可与 B 重叠执行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01506" y="3253740"/>
              <a:ext cx="13837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 body 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03792" y="3569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并发不改变提交顺序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0458450" y="2390775"/>
              <a:ext cx="209550" cy="1066800"/>
            </a:xfrm>
            <a:custGeom>
              <a:avLst/>
              <a:gdLst/>
              <a:ahLst/>
              <a:cxnLst/>
              <a:rect l="l" t="t" r="r" b="b"/>
              <a:pathLst>
                <a:path w="209550" h="1066800">
                  <a:moveTo>
                    <a:pt x="0" y="0"/>
                  </a:moveTo>
                  <a:lnTo>
                    <a:pt x="209550" y="10668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0458450" y="3457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696450" y="3829050"/>
              <a:ext cx="1885950" cy="91440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64471" y="4026218"/>
              <a:ext cx="1549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9F4F7"/>
                  </a:solidFill>
                  <a:latin typeface="Cascadia Mono"/>
                  <a:ea typeface="Cascadia Mono"/>
                  <a:cs typeface="Cascadia Mono"/>
                </a:rPr>
                <a:t>ORDERED COMMIT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51187" y="4331018"/>
              <a:ext cx="197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post-process → result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0250" y="4819650"/>
              <a:ext cx="2495550" cy="8001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18222" y="4968240"/>
              <a:ext cx="2679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Continue · Stop · Fail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42482" y="5302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模型可见顺序保持确定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5683568"/>
              <a:ext cx="6415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边界：副作用权威在 Tool execution；ordered commit 只保证模型可见顺序。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44" name="TextBox 44"/>
            <p:cNvSpPr txBox="1"/>
            <p:nvPr/>
          </p:nvSpPr>
          <p:spPr>
            <a:xfrm>
              <a:off x="602742" y="6293168"/>
              <a:ext cx="5265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K-002 · K-008 · K-009 | BODY OVERLAP ≠ COMMIT REORDER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P05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9530791" cy="955167"/>
            <a:chOff x="593598" y="482918"/>
            <a:chExt cx="9530791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2890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COMPOSITION FLOW / CORDIS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95307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五个 Primitive 让插件化从“约定”变成“运行时”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786188" y="1143000"/>
            <a:ext cx="4586287" cy="4614101"/>
            <a:chOff x="3786188" y="1143000"/>
            <a:chExt cx="4586287" cy="4614101"/>
          </a:xfrm>
        </p:grpSpPr>
        <p:sp>
          <p:nvSpPr>
            <p:cNvPr id="6" name="Ellipse 6"/>
            <p:cNvSpPr/>
            <p:nvPr/>
          </p:nvSpPr>
          <p:spPr>
            <a:xfrm>
              <a:off x="4343400" y="1752600"/>
              <a:ext cx="3505200" cy="35052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1752600"/>
              <a:ext cx="9525" cy="1752600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17526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2962275"/>
              <a:ext cx="1666875" cy="542925"/>
            </a:xfrm>
            <a:custGeom>
              <a:avLst/>
              <a:gdLst/>
              <a:ahLst/>
              <a:cxnLst/>
              <a:rect l="l" t="t" r="r" b="b"/>
              <a:pathLst>
                <a:path w="1666875" h="542925">
                  <a:moveTo>
                    <a:pt x="0" y="542925"/>
                  </a:moveTo>
                  <a:lnTo>
                    <a:pt x="1666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3505200"/>
              <a:ext cx="1028700" cy="1428750"/>
            </a:xfrm>
            <a:custGeom>
              <a:avLst/>
              <a:gdLst/>
              <a:ahLst/>
              <a:cxnLst/>
              <a:rect l="l" t="t" r="r" b="b"/>
              <a:pathLst>
                <a:path w="1028700" h="1428750">
                  <a:moveTo>
                    <a:pt x="0" y="0"/>
                  </a:moveTo>
                  <a:lnTo>
                    <a:pt x="1028700" y="14287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067300" y="3505200"/>
              <a:ext cx="1028700" cy="1428750"/>
            </a:xfrm>
            <a:custGeom>
              <a:avLst/>
              <a:gdLst/>
              <a:ahLst/>
              <a:cxnLst/>
              <a:rect l="l" t="t" r="r" b="b"/>
              <a:pathLst>
                <a:path w="1028700" h="1428750">
                  <a:moveTo>
                    <a:pt x="1028700" y="0"/>
                  </a:moveTo>
                  <a:lnTo>
                    <a:pt x="0" y="14287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429125" y="2962275"/>
              <a:ext cx="1666875" cy="542925"/>
            </a:xfrm>
            <a:custGeom>
              <a:avLst/>
              <a:gdLst/>
              <a:ahLst/>
              <a:cxnLst/>
              <a:rect l="l" t="t" r="r" b="b"/>
              <a:pathLst>
                <a:path w="1666875" h="542925">
                  <a:moveTo>
                    <a:pt x="1666875" y="5429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5219700" y="2628900"/>
              <a:ext cx="1752600" cy="17526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930900" y="2978150"/>
              <a:ext cx="330200" cy="330200"/>
              <a:chOff x="5930900" y="2978150"/>
              <a:chExt cx="330200" cy="330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964028" y="3019425"/>
                <a:ext cx="255798" cy="255798"/>
              </a:xfrm>
              <a:custGeom>
                <a:avLst/>
                <a:gdLst/>
                <a:ahLst/>
                <a:cxnLst/>
                <a:rect l="l" t="t" r="r" b="b"/>
                <a:pathLst>
                  <a:path w="255798" h="255798">
                    <a:moveTo>
                      <a:pt x="86261" y="0"/>
                    </a:moveTo>
                    <a:lnTo>
                      <a:pt x="255798" y="169537"/>
                    </a:lnTo>
                    <a:lnTo>
                      <a:pt x="213409" y="211927"/>
                    </a:lnTo>
                    <a:cubicBezTo>
                      <a:pt x="183329" y="243210"/>
                      <a:pt x="138693" y="255798"/>
                      <a:pt x="96701" y="244840"/>
                    </a:cubicBezTo>
                    <a:cubicBezTo>
                      <a:pt x="54709" y="233882"/>
                      <a:pt x="21916" y="201089"/>
                      <a:pt x="10958" y="159097"/>
                    </a:cubicBezTo>
                    <a:cubicBezTo>
                      <a:pt x="0" y="117105"/>
                      <a:pt x="12588" y="72469"/>
                      <a:pt x="43871" y="42389"/>
                    </a:cubicBezTo>
                    <a:lnTo>
                      <a:pt x="86261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930900" y="3236119"/>
                <a:ext cx="72231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72231">
                    <a:moveTo>
                      <a:pt x="0" y="72231"/>
                    </a:moveTo>
                    <a:lnTo>
                      <a:pt x="72231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085682" y="2978150"/>
                <a:ext cx="72231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72231">
                    <a:moveTo>
                      <a:pt x="72231" y="0"/>
                    </a:moveTo>
                    <a:lnTo>
                      <a:pt x="0" y="72231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188869" y="3081338"/>
                <a:ext cx="72231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72231">
                    <a:moveTo>
                      <a:pt x="72231" y="0"/>
                    </a:moveTo>
                    <a:lnTo>
                      <a:pt x="0" y="72231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4908326" y="3455670"/>
              <a:ext cx="23753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Plugin runtime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53838" y="3873818"/>
              <a:ext cx="1684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9F4F7"/>
                  </a:solidFill>
                  <a:latin typeface="Cascadia Mono"/>
                  <a:ea typeface="Cascadia Mono"/>
                  <a:cs typeface="Cascadia Mono"/>
                </a:rPr>
                <a:t>ONE CONTEXT TREE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486400" y="1143000"/>
              <a:ext cx="1219200" cy="1223201"/>
              <a:chOff x="5486400" y="1143000"/>
              <a:chExt cx="1219200" cy="122320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5486400" y="1143000"/>
                <a:ext cx="1219200" cy="12192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5953125" y="1419225"/>
                <a:ext cx="285750" cy="301626"/>
                <a:chOff x="5953125" y="1419225"/>
                <a:chExt cx="285750" cy="301626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6000750" y="141922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cubicBezTo>
                        <a:pt x="0" y="147855"/>
                        <a:pt x="42645" y="190500"/>
                        <a:pt x="95250" y="190500"/>
                      </a:cubicBezTo>
                      <a:cubicBezTo>
                        <a:pt x="147855" y="190500"/>
                        <a:pt x="190500" y="147855"/>
                        <a:pt x="190500" y="95250"/>
                      </a:cubicBezTo>
                      <a:cubicBezTo>
                        <a:pt x="190500" y="42645"/>
                        <a:pt x="147855" y="0"/>
                        <a:pt x="95250" y="0"/>
                      </a:cubicBezTo>
                      <a:cubicBezTo>
                        <a:pt x="42645" y="0"/>
                        <a:pt x="0" y="42645"/>
                        <a:pt x="0" y="95250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096000" y="1419225"/>
                  <a:ext cx="31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190500">
                      <a:moveTo>
                        <a:pt x="0" y="0"/>
                      </a:moveTo>
                      <a:cubicBezTo>
                        <a:pt x="21161" y="5286"/>
                        <a:pt x="31750" y="37036"/>
                        <a:pt x="31750" y="95250"/>
                      </a:cubicBezTo>
                      <a:cubicBezTo>
                        <a:pt x="31750" y="153464"/>
                        <a:pt x="21161" y="185214"/>
                        <a:pt x="0" y="190500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064250" y="1419225"/>
                  <a:ext cx="31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190500">
                      <a:moveTo>
                        <a:pt x="31750" y="0"/>
                      </a:moveTo>
                      <a:cubicBezTo>
                        <a:pt x="10589" y="5286"/>
                        <a:pt x="0" y="37036"/>
                        <a:pt x="0" y="95250"/>
                      </a:cubicBezTo>
                      <a:cubicBezTo>
                        <a:pt x="0" y="153464"/>
                        <a:pt x="10589" y="185214"/>
                        <a:pt x="31750" y="190500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000750" y="1514475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953125" y="1689101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127750" y="1689101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064250" y="1657351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096000" y="1609725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0"/>
                      </a:moveTo>
                      <a:lnTo>
                        <a:pt x="0" y="47625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593114" y="178689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Context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530301" y="2102168"/>
                <a:ext cx="11313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可见性 · 边界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153275" y="2352675"/>
              <a:ext cx="1219200" cy="1223200"/>
              <a:chOff x="7153275" y="2352675"/>
              <a:chExt cx="1219200" cy="12232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7153275" y="2352675"/>
                <a:ext cx="1219200" cy="12192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7620000" y="2644775"/>
                <a:ext cx="285751" cy="254001"/>
                <a:chOff x="7620000" y="2644775"/>
                <a:chExt cx="285751" cy="254001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620000" y="2708275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63500" y="0"/>
                      </a:moveTo>
                      <a:lnTo>
                        <a:pt x="0" y="63500"/>
                      </a:lnTo>
                      <a:lnTo>
                        <a:pt x="63500" y="12700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842251" y="2708275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0" y="0"/>
                      </a:moveTo>
                      <a:lnTo>
                        <a:pt x="63500" y="63500"/>
                      </a:lnTo>
                      <a:lnTo>
                        <a:pt x="0" y="12700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731125" y="2644775"/>
                  <a:ext cx="63500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254001">
                      <a:moveTo>
                        <a:pt x="63500" y="0"/>
                      </a:moveTo>
                      <a:lnTo>
                        <a:pt x="0" y="254001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7292050" y="2996565"/>
                <a:ext cx="941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Service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210806" y="3311842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稳定依赖契约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515100" y="4324350"/>
              <a:ext cx="1219200" cy="1223201"/>
              <a:chOff x="6515100" y="4324350"/>
              <a:chExt cx="1219200" cy="1223201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6515100" y="4324350"/>
                <a:ext cx="1219200" cy="12192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6981825" y="4664075"/>
                <a:ext cx="285751" cy="158750"/>
                <a:chOff x="6981825" y="4664075"/>
                <a:chExt cx="285751" cy="15875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997700" y="4679950"/>
                  <a:ext cx="25400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27000">
                      <a:moveTo>
                        <a:pt x="0" y="127000"/>
                      </a:moveTo>
                      <a:lnTo>
                        <a:pt x="95250" y="15875"/>
                      </a:lnTo>
                      <a:lnTo>
                        <a:pt x="174625" y="95250"/>
                      </a:lnTo>
                      <a:lnTo>
                        <a:pt x="254001" y="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156450" y="4759325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077075" y="4679950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6981825" y="4791075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235826" y="4664075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6761752" y="4968240"/>
                <a:ext cx="7258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Event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649869" y="5283518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协作 · 拦截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397102" y="4324350"/>
              <a:ext cx="1340396" cy="1223201"/>
              <a:chOff x="4397102" y="4324350"/>
              <a:chExt cx="1340396" cy="1223201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4457700" y="4324350"/>
                <a:ext cx="1219200" cy="1219200"/>
              </a:xfrm>
              <a:prstGeom prst="ellipse">
                <a:avLst/>
              </a:prstGeom>
              <a:solidFill>
                <a:schemeClr val="accent3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914967" y="4591117"/>
                <a:ext cx="300423" cy="300423"/>
              </a:xfrm>
              <a:custGeom>
                <a:avLst/>
                <a:gdLst/>
                <a:ahLst/>
                <a:cxnLst/>
                <a:rect l="l" t="t" r="r" b="b"/>
                <a:pathLst>
                  <a:path w="300423" h="300423">
                    <a:moveTo>
                      <a:pt x="72959" y="120584"/>
                    </a:moveTo>
                    <a:lnTo>
                      <a:pt x="120584" y="120584"/>
                    </a:lnTo>
                    <a:lnTo>
                      <a:pt x="120584" y="72959"/>
                    </a:lnTo>
                    <a:lnTo>
                      <a:pt x="65021" y="17396"/>
                    </a:lnTo>
                    <a:cubicBezTo>
                      <a:pt x="101446" y="0"/>
                      <a:pt x="144880" y="7452"/>
                      <a:pt x="173423" y="35995"/>
                    </a:cubicBezTo>
                    <a:cubicBezTo>
                      <a:pt x="201965" y="64537"/>
                      <a:pt x="209417" y="107972"/>
                      <a:pt x="192021" y="144396"/>
                    </a:cubicBezTo>
                    <a:lnTo>
                      <a:pt x="287272" y="239646"/>
                    </a:lnTo>
                    <a:cubicBezTo>
                      <a:pt x="300423" y="252798"/>
                      <a:pt x="300423" y="274120"/>
                      <a:pt x="287272" y="287272"/>
                    </a:cubicBezTo>
                    <a:cubicBezTo>
                      <a:pt x="274120" y="300423"/>
                      <a:pt x="252798" y="300423"/>
                      <a:pt x="239646" y="287272"/>
                    </a:cubicBezTo>
                    <a:lnTo>
                      <a:pt x="144396" y="192021"/>
                    </a:lnTo>
                    <a:cubicBezTo>
                      <a:pt x="107972" y="209417"/>
                      <a:pt x="64537" y="201965"/>
                      <a:pt x="35995" y="173423"/>
                    </a:cubicBezTo>
                    <a:cubicBezTo>
                      <a:pt x="7452" y="144880"/>
                      <a:pt x="0" y="101446"/>
                      <a:pt x="17396" y="65021"/>
                    </a:cubicBezTo>
                    <a:lnTo>
                      <a:pt x="72959" y="120584"/>
                    </a:lnTo>
                  </a:path>
                </a:pathLst>
              </a:custGeom>
              <a:noFill/>
              <a:ln w="31750">
                <a:solidFill>
                  <a:srgbClr val="F7FAFC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634383" y="4968240"/>
                <a:ext cx="8658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Effect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397102" y="5283518"/>
                <a:ext cx="13403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B9F4F7"/>
                    </a:solidFill>
                    <a:latin typeface="+mn-lt"/>
                    <a:ea typeface="+mn-ea"/>
                    <a:cs typeface="+mn-cs"/>
                  </a:rPr>
                  <a:t>注册 + disposer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786188" y="2352675"/>
              <a:ext cx="1285875" cy="1223200"/>
              <a:chOff x="3786188" y="2352675"/>
              <a:chExt cx="1285875" cy="1223200"/>
            </a:xfrm>
          </p:grpSpPr>
          <p:sp>
            <p:nvSpPr>
              <p:cNvPr id="56" name="Ellipse 56"/>
              <p:cNvSpPr/>
              <p:nvPr/>
            </p:nvSpPr>
            <p:spPr>
              <a:xfrm>
                <a:off x="3819525" y="2352675"/>
                <a:ext cx="1219200" cy="12192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4318000" y="2628900"/>
                <a:ext cx="222250" cy="285750"/>
                <a:chOff x="4318000" y="2628900"/>
                <a:chExt cx="222250" cy="28575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4318000" y="2755900"/>
                  <a:ext cx="22225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58750">
                      <a:moveTo>
                        <a:pt x="0" y="31750"/>
                      </a:move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190500" y="0"/>
                      </a:lnTo>
                      <a:cubicBezTo>
                        <a:pt x="208035" y="0"/>
                        <a:pt x="222250" y="14215"/>
                        <a:pt x="222250" y="31750"/>
                      </a:cubicBezTo>
                      <a:lnTo>
                        <a:pt x="222250" y="127000"/>
                      </a:lnTo>
                      <a:cubicBezTo>
                        <a:pt x="222250" y="144535"/>
                        <a:pt x="208035" y="158750"/>
                        <a:pt x="190500" y="158750"/>
                      </a:cubicBezTo>
                      <a:lnTo>
                        <a:pt x="31750" y="158750"/>
                      </a:lnTo>
                      <a:cubicBezTo>
                        <a:pt x="14215" y="158750"/>
                        <a:pt x="0" y="144535"/>
                        <a:pt x="0" y="127000"/>
                      </a:cubicBez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4413250" y="2819400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365625" y="2628900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0" y="127000"/>
                      </a:move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ubicBezTo>
                        <a:pt x="98570" y="0"/>
                        <a:pt x="127000" y="28430"/>
                        <a:pt x="127000" y="63500"/>
                      </a:cubicBezTo>
                      <a:lnTo>
                        <a:pt x="127000" y="12700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4066177" y="2996565"/>
                <a:ext cx="7258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Scope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3786188" y="3311842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激活资源所有权</a:t>
                </a:r>
              </a:p>
            </p:txBody>
          </p:sp>
        </p:grpSp>
        <p:sp>
          <p:nvSpPr>
            <p:cNvPr id="64" name="Line 64"/>
            <p:cNvSpPr/>
            <p:nvPr/>
          </p:nvSpPr>
          <p:spPr>
            <a:xfrm>
              <a:off x="5067300" y="55435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816983" y="5493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EFFECT ↔ SCOPE / LIFECYCLE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30879" y="5782746"/>
            <a:ext cx="6310742" cy="317255"/>
            <a:chOff x="630879" y="5782746"/>
            <a:chExt cx="6310742" cy="317255"/>
          </a:xfrm>
        </p:grpSpPr>
        <p:grpSp>
          <p:nvGrpSpPr>
            <p:cNvPr id="70" name="Group 70"/>
            <p:cNvGrpSpPr/>
            <p:nvPr/>
          </p:nvGrpSpPr>
          <p:grpSpPr>
            <a:xfrm>
              <a:off x="630879" y="5782746"/>
              <a:ext cx="224134" cy="192560"/>
              <a:chOff x="630879" y="5782746"/>
              <a:chExt cx="224134" cy="19256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42950" y="58531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30879" y="57827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chemeClr val="accent6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42950" y="59309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6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983742" y="5835968"/>
              <a:ext cx="5957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可逆注册 ≠ 外部副作用自动回滚；文件、网络与进程仍需要显式补偿。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73" name="TextBox 73"/>
            <p:cNvSpPr txBox="1"/>
            <p:nvPr/>
          </p:nvSpPr>
          <p:spPr>
            <a:xfrm>
              <a:off x="602742" y="6293168"/>
              <a:ext cx="554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K-003 · K-004 | CONTEXT · SERVICE · EVENT · EFFECT · SCOPE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P06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8743827" cy="955167"/>
            <a:chOff x="593598" y="482918"/>
            <a:chExt cx="8743827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3396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PLUGIN MODEL / SHARED LIFECYCLE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87438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“Everything is a Plugin”统一的是生命周期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00150" y="1619250"/>
            <a:ext cx="7810500" cy="3943350"/>
            <a:chOff x="1200150" y="1619250"/>
            <a:chExt cx="7810500" cy="3943350"/>
          </a:xfrm>
        </p:grpSpPr>
        <p:sp>
          <p:nvSpPr>
            <p:cNvPr id="6" name="Rectangle 6"/>
            <p:cNvSpPr/>
            <p:nvPr/>
          </p:nvSpPr>
          <p:spPr>
            <a:xfrm>
              <a:off x="1200150" y="4743450"/>
              <a:ext cx="7810500" cy="819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504950" y="3962400"/>
              <a:ext cx="7200900" cy="781050"/>
            </a:xfrm>
            <a:prstGeom prst="rect">
              <a:avLst/>
            </a:prstGeom>
            <a:solidFill>
              <a:srgbClr val="26385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809750" y="3181350"/>
              <a:ext cx="6591300" cy="781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114550" y="2400300"/>
              <a:ext cx="5981700" cy="781050"/>
            </a:xfrm>
            <a:prstGeom prst="rect">
              <a:avLst/>
            </a:prstGeom>
            <a:solidFill>
              <a:srgbClr val="5668B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419350" y="1619250"/>
              <a:ext cx="5372100" cy="7810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497806" y="5000625"/>
              <a:ext cx="300038" cy="266700"/>
              <a:chOff x="1497806" y="5000625"/>
              <a:chExt cx="300038" cy="2667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97806" y="5000625"/>
                <a:ext cx="300038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33350">
                    <a:moveTo>
                      <a:pt x="0" y="50006"/>
                    </a:moveTo>
                    <a:cubicBezTo>
                      <a:pt x="0" y="22389"/>
                      <a:pt x="22389" y="0"/>
                      <a:pt x="50006" y="0"/>
                    </a:cubicBezTo>
                    <a:lnTo>
                      <a:pt x="250031" y="0"/>
                    </a:lnTo>
                    <a:cubicBezTo>
                      <a:pt x="277649" y="0"/>
                      <a:pt x="300038" y="22389"/>
                      <a:pt x="300038" y="50006"/>
                    </a:cubicBezTo>
                    <a:lnTo>
                      <a:pt x="300038" y="83344"/>
                    </a:lnTo>
                    <a:cubicBezTo>
                      <a:pt x="300038" y="110961"/>
                      <a:pt x="277649" y="133350"/>
                      <a:pt x="250031" y="133350"/>
                    </a:cubicBezTo>
                    <a:lnTo>
                      <a:pt x="50006" y="133350"/>
                    </a:lnTo>
                    <a:cubicBezTo>
                      <a:pt x="22389" y="133350"/>
                      <a:pt x="0" y="110961"/>
                      <a:pt x="0" y="83344"/>
                    </a:cubicBez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97806" y="5133975"/>
                <a:ext cx="300038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33350">
                    <a:moveTo>
                      <a:pt x="0" y="50006"/>
                    </a:moveTo>
                    <a:cubicBezTo>
                      <a:pt x="0" y="22389"/>
                      <a:pt x="22389" y="0"/>
                      <a:pt x="50006" y="0"/>
                    </a:cubicBezTo>
                    <a:lnTo>
                      <a:pt x="250031" y="0"/>
                    </a:lnTo>
                    <a:cubicBezTo>
                      <a:pt x="277649" y="0"/>
                      <a:pt x="300038" y="22389"/>
                      <a:pt x="300038" y="50006"/>
                    </a:cubicBezTo>
                    <a:lnTo>
                      <a:pt x="300038" y="83344"/>
                    </a:lnTo>
                    <a:cubicBezTo>
                      <a:pt x="300038" y="110961"/>
                      <a:pt x="277649" y="133350"/>
                      <a:pt x="250031" y="133350"/>
                    </a:cubicBezTo>
                    <a:lnTo>
                      <a:pt x="50006" y="133350"/>
                    </a:lnTo>
                    <a:cubicBezTo>
                      <a:pt x="22389" y="133350"/>
                      <a:pt x="0" y="110961"/>
                      <a:pt x="0" y="83344"/>
                    </a:cubicBez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564481" y="5067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564481" y="5200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2067306" y="4949190"/>
              <a:ext cx="19535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Host 与启动表面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9592" y="5283518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进程、配置、provider、外部系统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802606" y="4202906"/>
              <a:ext cx="300038" cy="300038"/>
              <a:chOff x="1802606" y="4202906"/>
              <a:chExt cx="300038" cy="30003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835944" y="4236244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lnTo>
                      <a:pt x="216694" y="0"/>
                    </a:lnTo>
                    <a:cubicBezTo>
                      <a:pt x="225900" y="0"/>
                      <a:pt x="233362" y="7463"/>
                      <a:pt x="233362" y="16669"/>
                    </a:cubicBezTo>
                    <a:lnTo>
                      <a:pt x="233362" y="216694"/>
                    </a:lnTo>
                    <a:cubicBezTo>
                      <a:pt x="233362" y="225900"/>
                      <a:pt x="225900" y="233362"/>
                      <a:pt x="216694" y="233362"/>
                    </a:cubicBezTo>
                    <a:lnTo>
                      <a:pt x="16669" y="233362"/>
                    </a:lnTo>
                    <a:cubicBezTo>
                      <a:pt x="7463" y="233362"/>
                      <a:pt x="0" y="225900"/>
                      <a:pt x="0" y="216694"/>
                    </a:cubicBezTo>
                    <a:lnTo>
                      <a:pt x="0" y="16669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902619" y="4302919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0"/>
                    </a:lnTo>
                    <a:lnTo>
                      <a:pt x="100012" y="100012"/>
                    </a:lnTo>
                    <a:lnTo>
                      <a:pt x="0" y="100012"/>
                    </a:ln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802606" y="4319588"/>
                <a:ext cx="333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9525">
                    <a:moveTo>
                      <a:pt x="0" y="0"/>
                    </a:moveTo>
                    <a:lnTo>
                      <a:pt x="33338" y="0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802606" y="4386262"/>
                <a:ext cx="333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9525">
                    <a:moveTo>
                      <a:pt x="0" y="0"/>
                    </a:moveTo>
                    <a:lnTo>
                      <a:pt x="33338" y="0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919288" y="4202906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985962" y="4202906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069306" y="4319588"/>
                <a:ext cx="333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9525">
                    <a:moveTo>
                      <a:pt x="33338" y="0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069306" y="4386262"/>
                <a:ext cx="333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9525">
                    <a:moveTo>
                      <a:pt x="33338" y="0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985962" y="4469606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33338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919288" y="4469606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33338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72106" y="4168140"/>
              <a:ext cx="2756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Agent Preset 与 Model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74392" y="4502468"/>
              <a:ext cx="2830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standing scope · model provider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097475" y="3411925"/>
              <a:ext cx="315443" cy="315443"/>
            </a:xfrm>
            <a:custGeom>
              <a:avLst/>
              <a:gdLst/>
              <a:ahLst/>
              <a:cxnLst/>
              <a:rect l="l" t="t" r="r" b="b"/>
              <a:pathLst>
                <a:path w="315443" h="315443">
                  <a:moveTo>
                    <a:pt x="76606" y="126613"/>
                  </a:moveTo>
                  <a:lnTo>
                    <a:pt x="126613" y="126613"/>
                  </a:lnTo>
                  <a:lnTo>
                    <a:pt x="126613" y="76606"/>
                  </a:lnTo>
                  <a:lnTo>
                    <a:pt x="68272" y="18266"/>
                  </a:lnTo>
                  <a:cubicBezTo>
                    <a:pt x="106518" y="0"/>
                    <a:pt x="152124" y="7825"/>
                    <a:pt x="182093" y="37794"/>
                  </a:cubicBezTo>
                  <a:cubicBezTo>
                    <a:pt x="212063" y="67764"/>
                    <a:pt x="219888" y="113370"/>
                    <a:pt x="201622" y="151616"/>
                  </a:cubicBezTo>
                  <a:lnTo>
                    <a:pt x="301635" y="251628"/>
                  </a:lnTo>
                  <a:cubicBezTo>
                    <a:pt x="315443" y="265437"/>
                    <a:pt x="315443" y="287826"/>
                    <a:pt x="301635" y="301635"/>
                  </a:cubicBezTo>
                  <a:cubicBezTo>
                    <a:pt x="287826" y="315443"/>
                    <a:pt x="265437" y="315443"/>
                    <a:pt x="251628" y="301635"/>
                  </a:cubicBezTo>
                  <a:lnTo>
                    <a:pt x="151616" y="201622"/>
                  </a:lnTo>
                  <a:cubicBezTo>
                    <a:pt x="113370" y="219888"/>
                    <a:pt x="67764" y="212063"/>
                    <a:pt x="37794" y="182093"/>
                  </a:cubicBezTo>
                  <a:cubicBezTo>
                    <a:pt x="7825" y="152124"/>
                    <a:pt x="0" y="106518"/>
                    <a:pt x="18266" y="68272"/>
                  </a:cubicBezTo>
                  <a:lnTo>
                    <a:pt x="76606" y="126613"/>
                  </a:lnTo>
                </a:path>
              </a:pathLst>
            </a:custGeom>
            <a:noFill/>
            <a:ln w="33338">
              <a:solidFill>
                <a:srgbClr val="F7FAF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676906" y="3387090"/>
              <a:ext cx="28192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Tool · Policy · Sandbox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79192" y="3721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执行、审批、限制与观测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2428875" y="2640806"/>
              <a:ext cx="266700" cy="300038"/>
              <a:chOff x="2428875" y="2640806"/>
              <a:chExt cx="266700" cy="30003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2428875" y="2640806"/>
                <a:ext cx="2667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0012">
                    <a:moveTo>
                      <a:pt x="0" y="50006"/>
                    </a:moveTo>
                    <a:cubicBezTo>
                      <a:pt x="0" y="77624"/>
                      <a:pt x="59703" y="100012"/>
                      <a:pt x="133350" y="100012"/>
                    </a:cubicBezTo>
                    <a:cubicBezTo>
                      <a:pt x="206997" y="100012"/>
                      <a:pt x="266700" y="77624"/>
                      <a:pt x="266700" y="50006"/>
                    </a:cubicBezTo>
                    <a:cubicBezTo>
                      <a:pt x="266700" y="22389"/>
                      <a:pt x="206997" y="0"/>
                      <a:pt x="133350" y="0"/>
                    </a:cubicBezTo>
                    <a:cubicBezTo>
                      <a:pt x="59703" y="0"/>
                      <a:pt x="0" y="22389"/>
                      <a:pt x="0" y="50006"/>
                    </a:cubicBez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2428875" y="2690812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2428875" y="2790825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33338">
                <a:solidFill>
                  <a:srgbClr val="F7FAF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2981706" y="2606040"/>
              <a:ext cx="42930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Session · Persistence · Projection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83992" y="2940368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事件事实、checkpoint 与视图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2717006" y="1876425"/>
              <a:ext cx="300038" cy="266700"/>
              <a:chOff x="2717006" y="1876425"/>
              <a:chExt cx="300038" cy="2667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2800350" y="1959769"/>
                <a:ext cx="5000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100012">
                    <a:moveTo>
                      <a:pt x="0" y="0"/>
                    </a:moveTo>
                    <a:lnTo>
                      <a:pt x="50006" y="50006"/>
                    </a:lnTo>
                    <a:lnTo>
                      <a:pt x="0" y="100012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2883694" y="2059781"/>
                <a:ext cx="500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9525">
                    <a:moveTo>
                      <a:pt x="0" y="0"/>
                    </a:moveTo>
                    <a:lnTo>
                      <a:pt x="50006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2717006" y="1876425"/>
                <a:ext cx="300038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667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266700" y="0"/>
                    </a:lnTo>
                    <a:cubicBezTo>
                      <a:pt x="285112" y="0"/>
                      <a:pt x="300038" y="14926"/>
                      <a:pt x="300038" y="33338"/>
                    </a:cubicBezTo>
                    <a:lnTo>
                      <a:pt x="300038" y="233362"/>
                    </a:lnTo>
                    <a:cubicBezTo>
                      <a:pt x="300038" y="251774"/>
                      <a:pt x="285112" y="266700"/>
                      <a:pt x="266700" y="266700"/>
                    </a:cubicBezTo>
                    <a:lnTo>
                      <a:pt x="33338" y="266700"/>
                    </a:lnTo>
                    <a:cubicBezTo>
                      <a:pt x="14926" y="266700"/>
                      <a:pt x="0" y="251774"/>
                      <a:pt x="0" y="233362"/>
                    </a:cubicBezTo>
                    <a:lnTo>
                      <a:pt x="0" y="33338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3286506" y="1824990"/>
              <a:ext cx="26826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 · CLI · ACP · SDK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288792" y="2159318"/>
              <a:ext cx="232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 adapter 与 transport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001250" y="1962150"/>
            <a:ext cx="1496598" cy="3928301"/>
            <a:chOff x="10001250" y="1962150"/>
            <a:chExt cx="1496598" cy="3928301"/>
          </a:xfrm>
        </p:grpSpPr>
        <p:sp>
          <p:nvSpPr>
            <p:cNvPr id="47" name="Line 47"/>
            <p:cNvSpPr/>
            <p:nvPr/>
          </p:nvSpPr>
          <p:spPr>
            <a:xfrm>
              <a:off x="10172700" y="1962150"/>
              <a:ext cx="9525" cy="3295650"/>
            </a:xfrm>
            <a:custGeom>
              <a:avLst/>
              <a:gdLst/>
              <a:ahLst/>
              <a:cxnLst/>
              <a:rect l="l" t="t" r="r" b="b"/>
              <a:pathLst>
                <a:path w="9525" h="3295650">
                  <a:moveTo>
                    <a:pt x="0" y="0"/>
                  </a:moveTo>
                  <a:lnTo>
                    <a:pt x="0" y="329565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001250" y="1981200"/>
              <a:ext cx="342900" cy="3429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001250" y="3429000"/>
              <a:ext cx="342900" cy="342900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2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0001250" y="4895850"/>
              <a:ext cx="342900" cy="3429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563606" y="203454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mount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63606" y="348234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event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63606" y="494919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dispose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18217" y="5359718"/>
              <a:ext cx="10424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一条贯穿轴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统一五层能力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602742" y="6293168"/>
              <a:ext cx="5620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K-003 · K-005 · K-010 | COMPOSE · DEPEND · EVENT · DISPOSE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P07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11211863" cy="955167"/>
            <a:chOff x="593598" y="482918"/>
            <a:chExt cx="11211863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3202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OWNERSHIP / PRESET VS SESSION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112118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Preset 是共享 standing scope，Session 才是运行实例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14400" y="1695450"/>
            <a:ext cx="10591343" cy="3981450"/>
            <a:chOff x="914400" y="1695450"/>
            <a:chExt cx="10591343" cy="3981450"/>
          </a:xfrm>
        </p:grpSpPr>
        <p:sp>
          <p:nvSpPr>
            <p:cNvPr id="6" name="Rectangle 6"/>
            <p:cNvSpPr/>
            <p:nvPr/>
          </p:nvSpPr>
          <p:spPr>
            <a:xfrm>
              <a:off x="914400" y="1695450"/>
              <a:ext cx="10363200" cy="990600"/>
            </a:xfrm>
            <a:prstGeom prst="roundRect">
              <a:avLst>
                <a:gd name="adj" fmla="val 7692"/>
              </a:avLst>
            </a:prstGeom>
            <a:solidFill>
              <a:schemeClr val="accent1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38250" y="2038350"/>
              <a:ext cx="342900" cy="304800"/>
              <a:chOff x="1238250" y="2038350"/>
              <a:chExt cx="342900" cy="304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38250" y="203835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7FAFC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238250" y="219075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7FAFC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14450" y="2114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38100">
                <a:solidFill>
                  <a:srgbClr val="F7FAFC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314450" y="2266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38100">
                <a:solidFill>
                  <a:srgbClr val="F7FAFC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857756" y="1901190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Host plane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0042" y="2273618"/>
              <a:ext cx="4609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Web · persistence · credential · sandbox · provider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32265" y="2102168"/>
              <a:ext cx="1828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B9F4F7"/>
                  </a:solidFill>
                  <a:latin typeface="Cascadia Mono"/>
                  <a:ea typeface="Cascadia Mono"/>
                  <a:cs typeface="Cascadia Mono"/>
                </a:rPr>
                <a:t>PROCESS OWNERSHIP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086100" y="3048000"/>
              <a:ext cx="6019800" cy="1066800"/>
            </a:xfrm>
            <a:prstGeom prst="roundRect">
              <a:avLst>
                <a:gd name="adj" fmla="val 8929"/>
              </a:avLst>
            </a:prstGeom>
            <a:solidFill>
              <a:schemeClr val="accent3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473450" y="3397250"/>
              <a:ext cx="330200" cy="330200"/>
              <a:chOff x="3473450" y="3397250"/>
              <a:chExt cx="330200" cy="330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3506578" y="3438525"/>
                <a:ext cx="255798" cy="255798"/>
              </a:xfrm>
              <a:custGeom>
                <a:avLst/>
                <a:gdLst/>
                <a:ahLst/>
                <a:cxnLst/>
                <a:rect l="l" t="t" r="r" b="b"/>
                <a:pathLst>
                  <a:path w="255798" h="255798">
                    <a:moveTo>
                      <a:pt x="86261" y="0"/>
                    </a:moveTo>
                    <a:lnTo>
                      <a:pt x="255798" y="169537"/>
                    </a:lnTo>
                    <a:lnTo>
                      <a:pt x="213409" y="211927"/>
                    </a:lnTo>
                    <a:cubicBezTo>
                      <a:pt x="183329" y="243210"/>
                      <a:pt x="138693" y="255798"/>
                      <a:pt x="96701" y="244840"/>
                    </a:cubicBezTo>
                    <a:cubicBezTo>
                      <a:pt x="54709" y="233882"/>
                      <a:pt x="21916" y="201089"/>
                      <a:pt x="10958" y="159097"/>
                    </a:cubicBezTo>
                    <a:cubicBezTo>
                      <a:pt x="0" y="117105"/>
                      <a:pt x="12588" y="72469"/>
                      <a:pt x="43871" y="42389"/>
                    </a:cubicBezTo>
                    <a:lnTo>
                      <a:pt x="86261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473450" y="3655219"/>
                <a:ext cx="72231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72231">
                    <a:moveTo>
                      <a:pt x="0" y="72231"/>
                    </a:moveTo>
                    <a:lnTo>
                      <a:pt x="72231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628232" y="3397250"/>
                <a:ext cx="72231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72231">
                    <a:moveTo>
                      <a:pt x="72231" y="0"/>
                    </a:moveTo>
                    <a:lnTo>
                      <a:pt x="0" y="72231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731419" y="3500438"/>
                <a:ext cx="72231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72231">
                    <a:moveTo>
                      <a:pt x="72231" y="0"/>
                    </a:moveTo>
                    <a:lnTo>
                      <a:pt x="0" y="72231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105656" y="3272790"/>
              <a:ext cx="16505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Agent Preset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07942" y="3645218"/>
              <a:ext cx="3439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每进程一次 standing mount · 可共享能力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10196" y="3492818"/>
              <a:ext cx="1578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B9F4F7"/>
                  </a:solidFill>
                  <a:latin typeface="Cascadia Mono"/>
                  <a:ea typeface="Cascadia Mono"/>
                  <a:cs typeface="Cascadia Mono"/>
                </a:rPr>
                <a:t>ONE SHARED NODE</a:t>
              </a:r>
            </a:p>
          </p:txBody>
        </p:sp>
        <p:sp>
          <p:nvSpPr>
            <p:cNvPr id="24" name="Line 24"/>
            <p:cNvSpPr/>
            <p:nvPr/>
          </p:nvSpPr>
          <p:spPr>
            <a:xfrm flipH="1">
              <a:off x="3390900" y="4114800"/>
              <a:ext cx="1371600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5" name="Line 25"/>
            <p:cNvSpPr/>
            <p:nvPr/>
          </p:nvSpPr>
          <p:spPr>
            <a:xfrm>
              <a:off x="7429500" y="4114800"/>
              <a:ext cx="1371600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50926" y="42929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parent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27626" y="42929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parent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485900" y="4686300"/>
              <a:ext cx="3810000" cy="9906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96100" y="4686300"/>
              <a:ext cx="3810000" cy="9906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819275" y="5003006"/>
              <a:ext cx="266700" cy="300038"/>
              <a:chOff x="1819275" y="5003006"/>
              <a:chExt cx="266700" cy="30003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819275" y="5003006"/>
                <a:ext cx="2667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0012">
                    <a:moveTo>
                      <a:pt x="0" y="50006"/>
                    </a:moveTo>
                    <a:cubicBezTo>
                      <a:pt x="0" y="77624"/>
                      <a:pt x="59703" y="100012"/>
                      <a:pt x="133350" y="100012"/>
                    </a:cubicBezTo>
                    <a:cubicBezTo>
                      <a:pt x="206997" y="100012"/>
                      <a:pt x="266700" y="77624"/>
                      <a:pt x="266700" y="50006"/>
                    </a:cubicBezTo>
                    <a:cubicBezTo>
                      <a:pt x="266700" y="22389"/>
                      <a:pt x="206997" y="0"/>
                      <a:pt x="133350" y="0"/>
                    </a:cubicBezTo>
                    <a:cubicBezTo>
                      <a:pt x="59703" y="0"/>
                      <a:pt x="0" y="22389"/>
                      <a:pt x="0" y="50006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819275" y="5053012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819275" y="5153025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7229475" y="5003006"/>
              <a:ext cx="266700" cy="300038"/>
              <a:chOff x="7229475" y="5003006"/>
              <a:chExt cx="266700" cy="30003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229475" y="5003006"/>
                <a:ext cx="2667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0012">
                    <a:moveTo>
                      <a:pt x="0" y="50006"/>
                    </a:moveTo>
                    <a:cubicBezTo>
                      <a:pt x="0" y="77624"/>
                      <a:pt x="59703" y="100012"/>
                      <a:pt x="133350" y="100012"/>
                    </a:cubicBezTo>
                    <a:cubicBezTo>
                      <a:pt x="206997" y="100012"/>
                      <a:pt x="266700" y="77624"/>
                      <a:pt x="266700" y="50006"/>
                    </a:cubicBezTo>
                    <a:cubicBezTo>
                      <a:pt x="266700" y="22389"/>
                      <a:pt x="206997" y="0"/>
                      <a:pt x="133350" y="0"/>
                    </a:cubicBezTo>
                    <a:cubicBezTo>
                      <a:pt x="59703" y="0"/>
                      <a:pt x="0" y="22389"/>
                      <a:pt x="0" y="50006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29475" y="5053012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29475" y="5153025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2372106" y="4949190"/>
              <a:ext cx="2946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Session A · Agent scope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74392" y="5302568"/>
              <a:ext cx="3721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agent-preset/selected event · own state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82306" y="4949190"/>
              <a:ext cx="2946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Session B · Agent scope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84592" y="5302568"/>
              <a:ext cx="3721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agent-preset/selected event · own state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" y="5778818"/>
            <a:ext cx="5889346" cy="264033"/>
            <a:chOff x="609600" y="5778818"/>
            <a:chExt cx="5889346" cy="264033"/>
          </a:xfrm>
        </p:grpSpPr>
        <p:sp>
          <p:nvSpPr>
            <p:cNvPr id="43" name="Line 43"/>
            <p:cNvSpPr/>
            <p:nvPr/>
          </p:nvSpPr>
          <p:spPr>
            <a:xfrm>
              <a:off x="609600" y="58483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83742" y="5778818"/>
              <a:ext cx="5515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共享 Preset 中的可变状态必须按 Session 或显式 owner 分区。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46" name="TextBox 46"/>
            <p:cNvSpPr txBox="1"/>
            <p:nvPr/>
          </p:nvSpPr>
          <p:spPr>
            <a:xfrm>
              <a:off x="602742" y="6293168"/>
              <a:ext cx="4756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K-005 · K-006 | STANDING PRESET · SESSION INSTANCE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P08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8937117" cy="955167"/>
            <a:chOff x="593598" y="482918"/>
            <a:chExt cx="8937117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42094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PROFILE RESOLUTION / ORDERED OVERLAYS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最终能力来自四层叠加，而不是单个配置文件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2792" y="1828800"/>
            <a:ext cx="7817358" cy="4061651"/>
            <a:chOff x="1002792" y="1828800"/>
            <a:chExt cx="7817358" cy="4061651"/>
          </a:xfrm>
        </p:grpSpPr>
        <p:sp>
          <p:nvSpPr>
            <p:cNvPr id="6" name="Rectangle 6"/>
            <p:cNvSpPr/>
            <p:nvPr/>
          </p:nvSpPr>
          <p:spPr>
            <a:xfrm>
              <a:off x="1009650" y="4171950"/>
              <a:ext cx="4953000" cy="118110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962150" y="3390900"/>
              <a:ext cx="4953000" cy="1181100"/>
            </a:xfrm>
            <a:prstGeom prst="roundRect">
              <a:avLst>
                <a:gd name="adj" fmla="val 6452"/>
              </a:avLst>
            </a:prstGeom>
            <a:solidFill>
              <a:srgbClr val="C9D5F0">
                <a:alpha val="90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914650" y="2609850"/>
              <a:ext cx="4953000" cy="1181100"/>
            </a:xfrm>
            <a:prstGeom prst="roundRect">
              <a:avLst>
                <a:gd name="adj" fmla="val 6452"/>
              </a:avLst>
            </a:prstGeom>
            <a:solidFill>
              <a:srgbClr val="AAB9E3">
                <a:alpha val="90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867150" y="1828800"/>
              <a:ext cx="4953000" cy="1181100"/>
            </a:xfrm>
            <a:prstGeom prst="roundRect">
              <a:avLst>
                <a:gd name="adj" fmla="val 6452"/>
              </a:avLst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69492" y="4369118"/>
              <a:ext cx="1243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01 / BUNDLES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7206" y="47015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可复用默认能力集合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69492" y="5035868"/>
              <a:ext cx="2271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基础模型、Tool 与策略组合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21992" y="3588068"/>
              <a:ext cx="18485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02 / PROFILE PATCH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19706" y="39204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产品或角色选择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21992" y="42548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面向某个工作流的显式覆盖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74492" y="2807018"/>
              <a:ext cx="1606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03 / HOME PATCH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72206" y="31394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用户级长期覆盖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74492" y="3473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跨运行保留的个人偏好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4174506" y="2079006"/>
              <a:ext cx="299689" cy="299689"/>
              <a:chOff x="4174506" y="2079006"/>
              <a:chExt cx="299689" cy="29968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174506" y="2079006"/>
                <a:ext cx="299689" cy="299689"/>
              </a:xfrm>
              <a:custGeom>
                <a:avLst/>
                <a:gdLst/>
                <a:ahLst/>
                <a:cxnLst/>
                <a:rect l="l" t="t" r="r" b="b"/>
                <a:pathLst>
                  <a:path w="299689" h="299689">
                    <a:moveTo>
                      <a:pt x="123254" y="27877"/>
                    </a:moveTo>
                    <a:cubicBezTo>
                      <a:pt x="130017" y="0"/>
                      <a:pt x="169672" y="0"/>
                      <a:pt x="176435" y="27877"/>
                    </a:cubicBezTo>
                    <a:cubicBezTo>
                      <a:pt x="178493" y="36371"/>
                      <a:pt x="184484" y="43371"/>
                      <a:pt x="192559" y="46716"/>
                    </a:cubicBezTo>
                    <a:cubicBezTo>
                      <a:pt x="200633" y="50061"/>
                      <a:pt x="209819" y="49349"/>
                      <a:pt x="217282" y="44799"/>
                    </a:cubicBezTo>
                    <a:cubicBezTo>
                      <a:pt x="241777" y="29877"/>
                      <a:pt x="269828" y="57912"/>
                      <a:pt x="254905" y="82423"/>
                    </a:cubicBezTo>
                    <a:cubicBezTo>
                      <a:pt x="250362" y="89882"/>
                      <a:pt x="249652" y="99061"/>
                      <a:pt x="252993" y="107131"/>
                    </a:cubicBezTo>
                    <a:cubicBezTo>
                      <a:pt x="256334" y="115200"/>
                      <a:pt x="263326" y="121190"/>
                      <a:pt x="271812" y="123254"/>
                    </a:cubicBezTo>
                    <a:cubicBezTo>
                      <a:pt x="299689" y="130017"/>
                      <a:pt x="299689" y="169672"/>
                      <a:pt x="271812" y="176435"/>
                    </a:cubicBezTo>
                    <a:cubicBezTo>
                      <a:pt x="263318" y="178493"/>
                      <a:pt x="256318" y="184484"/>
                      <a:pt x="252973" y="192559"/>
                    </a:cubicBezTo>
                    <a:cubicBezTo>
                      <a:pt x="249627" y="200633"/>
                      <a:pt x="250340" y="209819"/>
                      <a:pt x="254890" y="217282"/>
                    </a:cubicBezTo>
                    <a:cubicBezTo>
                      <a:pt x="269812" y="241777"/>
                      <a:pt x="241777" y="269828"/>
                      <a:pt x="217266" y="254905"/>
                    </a:cubicBezTo>
                    <a:cubicBezTo>
                      <a:pt x="209807" y="250362"/>
                      <a:pt x="200627" y="249652"/>
                      <a:pt x="192558" y="252993"/>
                    </a:cubicBezTo>
                    <a:cubicBezTo>
                      <a:pt x="184489" y="256334"/>
                      <a:pt x="178499" y="263326"/>
                      <a:pt x="176435" y="271812"/>
                    </a:cubicBezTo>
                    <a:cubicBezTo>
                      <a:pt x="169672" y="299689"/>
                      <a:pt x="130017" y="299689"/>
                      <a:pt x="123254" y="271812"/>
                    </a:cubicBezTo>
                    <a:cubicBezTo>
                      <a:pt x="121196" y="263318"/>
                      <a:pt x="115205" y="256318"/>
                      <a:pt x="107130" y="252973"/>
                    </a:cubicBezTo>
                    <a:cubicBezTo>
                      <a:pt x="99056" y="249627"/>
                      <a:pt x="89869" y="250340"/>
                      <a:pt x="82407" y="254890"/>
                    </a:cubicBezTo>
                    <a:cubicBezTo>
                      <a:pt x="57912" y="269812"/>
                      <a:pt x="29861" y="241777"/>
                      <a:pt x="44783" y="217266"/>
                    </a:cubicBezTo>
                    <a:cubicBezTo>
                      <a:pt x="49327" y="209807"/>
                      <a:pt x="50037" y="200627"/>
                      <a:pt x="46696" y="192558"/>
                    </a:cubicBezTo>
                    <a:cubicBezTo>
                      <a:pt x="43355" y="184489"/>
                      <a:pt x="36363" y="178499"/>
                      <a:pt x="27877" y="176435"/>
                    </a:cubicBezTo>
                    <a:cubicBezTo>
                      <a:pt x="0" y="169672"/>
                      <a:pt x="0" y="130017"/>
                      <a:pt x="27877" y="123254"/>
                    </a:cubicBezTo>
                    <a:cubicBezTo>
                      <a:pt x="36371" y="121196"/>
                      <a:pt x="43371" y="115205"/>
                      <a:pt x="46716" y="107130"/>
                    </a:cubicBezTo>
                    <a:cubicBezTo>
                      <a:pt x="50061" y="99056"/>
                      <a:pt x="49349" y="89869"/>
                      <a:pt x="44799" y="82407"/>
                    </a:cubicBezTo>
                    <a:cubicBezTo>
                      <a:pt x="29877" y="57912"/>
                      <a:pt x="57912" y="29861"/>
                      <a:pt x="82423" y="44783"/>
                    </a:cubicBezTo>
                    <a:cubicBezTo>
                      <a:pt x="98298" y="54435"/>
                      <a:pt x="118872" y="45895"/>
                      <a:pt x="123254" y="27877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276725" y="21812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4660392" y="2102168"/>
              <a:ext cx="1177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04 / --patch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24706" y="2491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本次运行临时覆盖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26992" y="2807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最接近当前用户与当前任务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2792" y="5626418"/>
              <a:ext cx="3448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后层覆盖前层；顺序本身就是行为语义。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858250" y="2343150"/>
            <a:ext cx="2610765" cy="2937701"/>
            <a:chOff x="8858250" y="2343150"/>
            <a:chExt cx="2610765" cy="2937701"/>
          </a:xfrm>
        </p:grpSpPr>
        <p:sp>
          <p:nvSpPr>
            <p:cNvPr id="27" name="Freeform 27"/>
            <p:cNvSpPr/>
            <p:nvPr/>
          </p:nvSpPr>
          <p:spPr>
            <a:xfrm>
              <a:off x="8858250" y="30480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410700" y="2343150"/>
              <a:ext cx="2000250" cy="2095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 w="38100">
              <a:solidFill>
                <a:schemeClr val="accent2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167937" y="2728912"/>
              <a:ext cx="485775" cy="485775"/>
              <a:chOff x="10167937" y="2728912"/>
              <a:chExt cx="485775" cy="48577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0221912" y="2782887"/>
                <a:ext cx="377825" cy="377825"/>
              </a:xfrm>
              <a:custGeom>
                <a:avLst/>
                <a:gdLst/>
                <a:ahLst/>
                <a:cxnLst/>
                <a:rect l="l" t="t" r="r" b="b"/>
                <a:pathLst>
                  <a:path w="377825" h="377825">
                    <a:moveTo>
                      <a:pt x="0" y="26987"/>
                    </a:moveTo>
                    <a:cubicBezTo>
                      <a:pt x="0" y="12083"/>
                      <a:pt x="12083" y="0"/>
                      <a:pt x="26987" y="0"/>
                    </a:cubicBezTo>
                    <a:lnTo>
                      <a:pt x="350837" y="0"/>
                    </a:lnTo>
                    <a:cubicBezTo>
                      <a:pt x="365742" y="0"/>
                      <a:pt x="377825" y="12083"/>
                      <a:pt x="377825" y="26987"/>
                    </a:cubicBezTo>
                    <a:lnTo>
                      <a:pt x="377825" y="350837"/>
                    </a:lnTo>
                    <a:cubicBezTo>
                      <a:pt x="377825" y="365742"/>
                      <a:pt x="365742" y="377825"/>
                      <a:pt x="350837" y="377825"/>
                    </a:cubicBezTo>
                    <a:lnTo>
                      <a:pt x="26987" y="377825"/>
                    </a:lnTo>
                    <a:cubicBezTo>
                      <a:pt x="12083" y="377825"/>
                      <a:pt x="0" y="365742"/>
                      <a:pt x="0" y="350837"/>
                    </a:cubicBezTo>
                    <a:lnTo>
                      <a:pt x="0" y="26987"/>
                    </a:lnTo>
                  </a:path>
                </a:pathLst>
              </a:custGeom>
              <a:noFill/>
              <a:ln w="53975">
                <a:solidFill>
                  <a:srgbClr val="F7FAF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329862" y="2890837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0"/>
                    </a:moveTo>
                    <a:lnTo>
                      <a:pt x="161925" y="0"/>
                    </a:lnTo>
                    <a:lnTo>
                      <a:pt x="161925" y="161925"/>
                    </a:lnTo>
                    <a:lnTo>
                      <a:pt x="0" y="161925"/>
                    </a:lnTo>
                    <a:lnTo>
                      <a:pt x="0" y="0"/>
                    </a:lnTo>
                  </a:path>
                </a:pathLst>
              </a:custGeom>
              <a:noFill/>
              <a:ln w="53975">
                <a:solidFill>
                  <a:srgbClr val="F7FAF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167937" y="2917825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53975">
                <a:solidFill>
                  <a:srgbClr val="F7FAF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167937" y="3025775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53975">
                <a:solidFill>
                  <a:srgbClr val="F7FAF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56850" y="2728912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rgbClr val="F7FAF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464800" y="2728912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rgbClr val="F7FAF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599737" y="2917825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53975" y="0"/>
                    </a:moveTo>
                    <a:lnTo>
                      <a:pt x="0" y="0"/>
                    </a:lnTo>
                  </a:path>
                </a:pathLst>
              </a:custGeom>
              <a:noFill/>
              <a:ln w="53975">
                <a:solidFill>
                  <a:srgbClr val="F7FAF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599737" y="3025775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53975" y="0"/>
                    </a:moveTo>
                    <a:lnTo>
                      <a:pt x="0" y="0"/>
                    </a:lnTo>
                  </a:path>
                </a:pathLst>
              </a:custGeom>
              <a:noFill/>
              <a:ln w="53975">
                <a:solidFill>
                  <a:srgbClr val="F7FAF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464800" y="3160712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53975">
                <a:solidFill>
                  <a:srgbClr val="F7FAF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356850" y="3160712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53975">
                <a:solidFill>
                  <a:srgbClr val="F7FAF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9596399" y="3379470"/>
              <a:ext cx="16288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Effective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54072" y="3760470"/>
              <a:ext cx="13135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runtime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52636" y="4673918"/>
              <a:ext cx="2116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PROVENANCE PRESERVED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86150" y="5016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唯一输出，四层来源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45" name="TextBox 45"/>
            <p:cNvSpPr txBox="1"/>
            <p:nvPr/>
          </p:nvSpPr>
          <p:spPr>
            <a:xfrm>
              <a:off x="602742" y="6293168"/>
              <a:ext cx="3932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K-007 | BUNDLE → PROFILE → HOME → --patch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P09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10124583" cy="955167"/>
            <a:chOff x="593598" y="482918"/>
            <a:chExt cx="10124583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4036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EVENT FLOW / CHECKPOINT + TAIL REPLAY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1012458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Event 是事实，Cache 只保存可重放的 Unit State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69442" y="1664018"/>
            <a:ext cx="10186416" cy="4340733"/>
            <a:chOff x="869442" y="1664018"/>
            <a:chExt cx="10186416" cy="4340733"/>
          </a:xfrm>
        </p:grpSpPr>
        <p:sp>
          <p:nvSpPr>
            <p:cNvPr id="6" name="TextBox 6"/>
            <p:cNvSpPr txBox="1"/>
            <p:nvPr/>
          </p:nvSpPr>
          <p:spPr>
            <a:xfrm>
              <a:off x="869442" y="1664018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request/header · request/context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14400" y="2324100"/>
              <a:ext cx="101346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Ellipse 8"/>
            <p:cNvSpPr/>
            <p:nvPr/>
          </p:nvSpPr>
          <p:spPr>
            <a:xfrm>
              <a:off x="1257300" y="2152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724150" y="2152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4191000" y="2152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657850" y="2152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086600" y="2114550"/>
              <a:ext cx="419100" cy="419100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591550" y="2152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058400" y="2152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21981" y="26355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user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1660" y="26355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assistant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78398" y="2635568"/>
              <a:ext cx="3681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45338" y="263556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approval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7387" y="2635568"/>
              <a:ext cx="497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seq 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06254" y="26355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error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68516" y="2635568"/>
              <a:ext cx="322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tail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296150" y="253365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86400" y="3143250"/>
              <a:ext cx="3619500" cy="895350"/>
            </a:xfrm>
            <a:prstGeom prst="roundRect">
              <a:avLst>
                <a:gd name="adj" fmla="val 8511"/>
              </a:avLst>
            </a:prstGeom>
            <a:solidFill>
              <a:schemeClr val="accent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807075" y="3426619"/>
              <a:ext cx="292101" cy="328613"/>
              <a:chOff x="5807075" y="3426619"/>
              <a:chExt cx="292101" cy="32861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807075" y="3426619"/>
                <a:ext cx="292101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09538">
                    <a:moveTo>
                      <a:pt x="0" y="54769"/>
                    </a:moveTo>
                    <a:cubicBezTo>
                      <a:pt x="0" y="85017"/>
                      <a:pt x="65389" y="109538"/>
                      <a:pt x="146050" y="109538"/>
                    </a:cubicBezTo>
                    <a:cubicBezTo>
                      <a:pt x="226712" y="109538"/>
                      <a:pt x="292101" y="85017"/>
                      <a:pt x="292101" y="54769"/>
                    </a:cubicBezTo>
                    <a:cubicBezTo>
                      <a:pt x="292101" y="24521"/>
                      <a:pt x="226712" y="0"/>
                      <a:pt x="146050" y="0"/>
                    </a:cubicBezTo>
                    <a:cubicBezTo>
                      <a:pt x="65389" y="0"/>
                      <a:pt x="0" y="24521"/>
                      <a:pt x="0" y="54769"/>
                    </a:cubicBezTo>
                  </a:path>
                </a:pathLst>
              </a:custGeom>
              <a:noFill/>
              <a:ln w="36513">
                <a:solidFill>
                  <a:srgbClr val="F7FAF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807075" y="3481388"/>
                <a:ext cx="292101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64307">
                    <a:moveTo>
                      <a:pt x="0" y="0"/>
                    </a:moveTo>
                    <a:lnTo>
                      <a:pt x="0" y="109538"/>
                    </a:lnTo>
                    <a:cubicBezTo>
                      <a:pt x="0" y="139786"/>
                      <a:pt x="65389" y="164307"/>
                      <a:pt x="146050" y="164307"/>
                    </a:cubicBezTo>
                    <a:cubicBezTo>
                      <a:pt x="226712" y="164307"/>
                      <a:pt x="292101" y="139786"/>
                      <a:pt x="292101" y="109538"/>
                    </a:cubicBez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F7FAF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807075" y="3590925"/>
                <a:ext cx="292101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64307">
                    <a:moveTo>
                      <a:pt x="0" y="0"/>
                    </a:moveTo>
                    <a:lnTo>
                      <a:pt x="0" y="109538"/>
                    </a:lnTo>
                    <a:cubicBezTo>
                      <a:pt x="0" y="139786"/>
                      <a:pt x="65389" y="164307"/>
                      <a:pt x="146050" y="164307"/>
                    </a:cubicBezTo>
                    <a:cubicBezTo>
                      <a:pt x="226712" y="164307"/>
                      <a:pt x="292101" y="139786"/>
                      <a:pt x="292101" y="109538"/>
                    </a:cubicBez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F7FAF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410706" y="3329940"/>
              <a:ext cx="27101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Projection checkpoint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12992" y="37023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F4F7"/>
                  </a:solidFill>
                  <a:latin typeface="Cascadia Mono"/>
                  <a:ea typeface="Cascadia Mono"/>
                  <a:cs typeface="Cascadia Mono"/>
                </a:rPr>
                <a:t>(key, ver, seq, val)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2819400" y="2781300"/>
              <a:ext cx="5943600" cy="1981200"/>
            </a:xfrm>
            <a:custGeom>
              <a:avLst/>
              <a:gdLst/>
              <a:ahLst/>
              <a:cxnLst/>
              <a:rect l="l" t="t" r="r" b="b"/>
              <a:pathLst>
                <a:path w="5943600" h="1981200">
                  <a:moveTo>
                    <a:pt x="5943600" y="0"/>
                  </a:moveTo>
                  <a:lnTo>
                    <a:pt x="5943600" y="1619250"/>
                  </a:lnTo>
                  <a:lnTo>
                    <a:pt x="0" y="1619250"/>
                  </a:lnTo>
                  <a:lnTo>
                    <a:pt x="0" y="1981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  <a:tailEnd type="triangle" w="lg" len="lg"/>
            </a:ln>
          </p:spPr>
        </p:sp>
        <p:sp>
          <p:nvSpPr>
            <p:cNvPr id="31" name="Freeform 31"/>
            <p:cNvSpPr/>
            <p:nvPr/>
          </p:nvSpPr>
          <p:spPr>
            <a:xfrm>
              <a:off x="6096000" y="4400550"/>
              <a:ext cx="2667000" cy="361950"/>
            </a:xfrm>
            <a:custGeom>
              <a:avLst/>
              <a:gdLst/>
              <a:ahLst/>
              <a:cxnLst/>
              <a:rect l="l" t="t" r="r" b="b"/>
              <a:pathLst>
                <a:path w="2667000" h="361950">
                  <a:moveTo>
                    <a:pt x="2667000" y="0"/>
                  </a:moveTo>
                  <a:lnTo>
                    <a:pt x="0" y="0"/>
                  </a:lnTo>
                  <a:lnTo>
                    <a:pt x="0" y="3619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  <a:tailEnd type="triangle" w="lg" len="lg"/>
            </a:ln>
          </p:spPr>
        </p:sp>
        <p:sp>
          <p:nvSpPr>
            <p:cNvPr id="32" name="Freeform 32"/>
            <p:cNvSpPr/>
            <p:nvPr/>
          </p:nvSpPr>
          <p:spPr>
            <a:xfrm>
              <a:off x="8763000" y="4400550"/>
              <a:ext cx="609600" cy="361950"/>
            </a:xfrm>
            <a:custGeom>
              <a:avLst/>
              <a:gdLst/>
              <a:ahLst/>
              <a:cxnLst/>
              <a:rect l="l" t="t" r="r" b="b"/>
              <a:pathLst>
                <a:path w="609600" h="361950">
                  <a:moveTo>
                    <a:pt x="0" y="0"/>
                  </a:moveTo>
                  <a:lnTo>
                    <a:pt x="609600" y="0"/>
                  </a:lnTo>
                  <a:lnTo>
                    <a:pt x="609600" y="3619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295400" y="4762500"/>
              <a:ext cx="3048000" cy="876300"/>
            </a:xfrm>
            <a:prstGeom prst="roundRect">
              <a:avLst>
                <a:gd name="adj" fmla="val 8696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72000" y="4762500"/>
              <a:ext cx="3048000" cy="876300"/>
            </a:xfrm>
            <a:prstGeom prst="roundRect">
              <a:avLst>
                <a:gd name="adj" fmla="val 8696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48600" y="4762500"/>
              <a:ext cx="3048000" cy="876300"/>
            </a:xfrm>
            <a:prstGeom prst="roundRect">
              <a:avLst>
                <a:gd name="adj" fmla="val 8696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998625" y="4949190"/>
              <a:ext cx="16415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Conversation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99314" y="5302568"/>
              <a:ext cx="1840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restore + replay tail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33052" y="494919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Tasks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25802" y="5302568"/>
              <a:ext cx="1340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 projection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09652" y="494919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Usage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02402" y="5302568"/>
              <a:ext cx="1340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 projection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54026" y="5740718"/>
              <a:ext cx="3501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C2415B"/>
                  </a:solidFill>
                  <a:latin typeface="Cascadia Mono"/>
                  <a:ea typeface="Cascadia Mono"/>
                  <a:cs typeface="Cascadia Mono"/>
                </a:rPr>
                <a:t>INVARIANT / MODEL-VISIBLE ⇒ LOGGED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44" name="TextBox 44"/>
            <p:cNvSpPr txBox="1"/>
            <p:nvPr/>
          </p:nvSpPr>
          <p:spPr>
            <a:xfrm>
              <a:off x="602742" y="6293168"/>
              <a:ext cx="5611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K-008 · K-009 | EVENT FACTS · VERSIONED STATE · TAIL REPLAY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P10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8612394" cy="955167"/>
            <a:chOff x="593598" y="482918"/>
            <a:chExt cx="8612394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4579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CAPABILITY CONTRACT / DEPENDENCY INVERSION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86123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Capability Seam 把 Agent 与具体实现隔离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2343150"/>
            <a:ext cx="10820400" cy="1485900"/>
            <a:chOff x="685800" y="2343150"/>
            <a:chExt cx="10820400" cy="1485900"/>
          </a:xfrm>
        </p:grpSpPr>
        <p:sp>
          <p:nvSpPr>
            <p:cNvPr id="6" name="Line 6"/>
            <p:cNvSpPr/>
            <p:nvPr/>
          </p:nvSpPr>
          <p:spPr>
            <a:xfrm>
              <a:off x="2743200" y="3086100"/>
              <a:ext cx="6858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5734050" y="3086100"/>
              <a:ext cx="6858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8724900" y="3086100"/>
              <a:ext cx="6858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2343150"/>
              <a:ext cx="2057400" cy="1485900"/>
            </a:xfrm>
            <a:prstGeom prst="roundRect">
              <a:avLst>
                <a:gd name="adj" fmla="val 5128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62025" y="2635250"/>
              <a:ext cx="285751" cy="254001"/>
              <a:chOff x="962025" y="2635250"/>
              <a:chExt cx="285751" cy="25400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62025" y="26987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84276" y="26987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3150" y="2635250"/>
                <a:ext cx="6350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1">
                    <a:moveTo>
                      <a:pt x="63500" y="0"/>
                    </a:moveTo>
                    <a:lnTo>
                      <a:pt x="0" y="254001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38656" y="2586990"/>
              <a:ext cx="1233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Definition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3073718"/>
              <a:ext cx="1885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稳定类型 · 方法 · 事件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33785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能力契约先于实现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29000" y="2343150"/>
              <a:ext cx="2305050" cy="1485900"/>
            </a:xfrm>
            <a:prstGeom prst="roundRect">
              <a:avLst>
                <a:gd name="adj" fmla="val 5128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3721100" y="2635250"/>
              <a:ext cx="254001" cy="254001"/>
              <a:chOff x="3721100" y="2635250"/>
              <a:chExt cx="254001" cy="2540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746583" y="2667000"/>
                <a:ext cx="196768" cy="196768"/>
              </a:xfrm>
              <a:custGeom>
                <a:avLst/>
                <a:gdLst/>
                <a:ahLst/>
                <a:cxnLst/>
                <a:rect l="l" t="t" r="r" b="b"/>
                <a:pathLst>
                  <a:path w="196768" h="196768">
                    <a:moveTo>
                      <a:pt x="66354" y="0"/>
                    </a:moveTo>
                    <a:lnTo>
                      <a:pt x="196768" y="130413"/>
                    </a:lnTo>
                    <a:lnTo>
                      <a:pt x="164160" y="163021"/>
                    </a:lnTo>
                    <a:cubicBezTo>
                      <a:pt x="141022" y="187085"/>
                      <a:pt x="106687" y="196768"/>
                      <a:pt x="74386" y="188339"/>
                    </a:cubicBezTo>
                    <a:cubicBezTo>
                      <a:pt x="42084" y="179909"/>
                      <a:pt x="16858" y="154684"/>
                      <a:pt x="8429" y="122382"/>
                    </a:cubicBezTo>
                    <a:cubicBezTo>
                      <a:pt x="0" y="90081"/>
                      <a:pt x="9683" y="55745"/>
                      <a:pt x="33747" y="32607"/>
                    </a:cubicBezTo>
                    <a:lnTo>
                      <a:pt x="66354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721100" y="28336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55563"/>
                    </a:moveTo>
                    <a:lnTo>
                      <a:pt x="55563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40163" y="2635250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0"/>
                    </a:moveTo>
                    <a:lnTo>
                      <a:pt x="0" y="55563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19538" y="2714625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0"/>
                    </a:moveTo>
                    <a:lnTo>
                      <a:pt x="0" y="55563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181856" y="2586990"/>
              <a:ext cx="22141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Provider registry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50742" y="3073718"/>
              <a:ext cx="2276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单选实现或多命名 registry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50742" y="3378518"/>
              <a:ext cx="1377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Provider 可替换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19850" y="2343150"/>
              <a:ext cx="2305050" cy="1485900"/>
            </a:xfrm>
            <a:prstGeom prst="roundRect">
              <a:avLst>
                <a:gd name="adj" fmla="val 5128"/>
              </a:avLst>
            </a:prstGeom>
            <a:solidFill>
              <a:schemeClr val="accen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686617" y="2609917"/>
              <a:ext cx="300423" cy="300423"/>
            </a:xfrm>
            <a:custGeom>
              <a:avLst/>
              <a:gdLst/>
              <a:ahLst/>
              <a:cxnLst/>
              <a:rect l="l" t="t" r="r" b="b"/>
              <a:pathLst>
                <a:path w="300423" h="300423">
                  <a:moveTo>
                    <a:pt x="72959" y="120584"/>
                  </a:moveTo>
                  <a:lnTo>
                    <a:pt x="120584" y="120584"/>
                  </a:lnTo>
                  <a:lnTo>
                    <a:pt x="120584" y="72959"/>
                  </a:lnTo>
                  <a:lnTo>
                    <a:pt x="65021" y="17396"/>
                  </a:lnTo>
                  <a:cubicBezTo>
                    <a:pt x="101446" y="0"/>
                    <a:pt x="144880" y="7452"/>
                    <a:pt x="173423" y="35995"/>
                  </a:cubicBezTo>
                  <a:cubicBezTo>
                    <a:pt x="201965" y="64537"/>
                    <a:pt x="209417" y="107972"/>
                    <a:pt x="192021" y="144396"/>
                  </a:cubicBezTo>
                  <a:lnTo>
                    <a:pt x="287272" y="239646"/>
                  </a:lnTo>
                  <a:cubicBezTo>
                    <a:pt x="300423" y="252798"/>
                    <a:pt x="300423" y="274120"/>
                    <a:pt x="287272" y="287272"/>
                  </a:cubicBezTo>
                  <a:cubicBezTo>
                    <a:pt x="274120" y="300423"/>
                    <a:pt x="252798" y="300423"/>
                    <a:pt x="239646" y="287272"/>
                  </a:cubicBezTo>
                  <a:lnTo>
                    <a:pt x="144396" y="192021"/>
                  </a:lnTo>
                  <a:cubicBezTo>
                    <a:pt x="107972" y="209417"/>
                    <a:pt x="64537" y="201965"/>
                    <a:pt x="35995" y="173423"/>
                  </a:cubicBezTo>
                  <a:cubicBezTo>
                    <a:pt x="7452" y="144880"/>
                    <a:pt x="0" y="101446"/>
                    <a:pt x="17396" y="65021"/>
                  </a:cubicBezTo>
                  <a:lnTo>
                    <a:pt x="72959" y="120584"/>
                  </a:lnTo>
                </a:path>
              </a:pathLst>
            </a:custGeom>
            <a:noFill/>
            <a:ln w="31750">
              <a:solidFill>
                <a:srgbClr val="F7FAF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2706" y="2586990"/>
              <a:ext cx="1196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Consumer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41592" y="3073718"/>
              <a:ext cx="2747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Tool · Agent loop · UI · Service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41592" y="3378518"/>
              <a:ext cx="16831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Policy 在接缝上组合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410700" y="2343150"/>
              <a:ext cx="2095500" cy="1485900"/>
            </a:xfrm>
            <a:prstGeom prst="roundRect">
              <a:avLst>
                <a:gd name="adj" fmla="val 5128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9686925" y="2619375"/>
              <a:ext cx="285751" cy="285751"/>
              <a:chOff x="9686925" y="2619375"/>
              <a:chExt cx="285751" cy="28575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718675" y="2651125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206375" y="0"/>
                    </a:lnTo>
                    <a:cubicBezTo>
                      <a:pt x="215143" y="0"/>
                      <a:pt x="222250" y="7107"/>
                      <a:pt x="222250" y="15875"/>
                    </a:cubicBezTo>
                    <a:lnTo>
                      <a:pt x="222250" y="206375"/>
                    </a:lnTo>
                    <a:cubicBezTo>
                      <a:pt x="222250" y="215143"/>
                      <a:pt x="215143" y="222250"/>
                      <a:pt x="206375" y="222250"/>
                    </a:cubicBezTo>
                    <a:lnTo>
                      <a:pt x="15875" y="222250"/>
                    </a:lnTo>
                    <a:cubicBezTo>
                      <a:pt x="7107" y="222250"/>
                      <a:pt x="0" y="215143"/>
                      <a:pt x="0" y="206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782175" y="2714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95250"/>
                    </a:lnTo>
                    <a:lnTo>
                      <a:pt x="0" y="95250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86925" y="27305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686925" y="27940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798050" y="26193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861550" y="26193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940926" y="27305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940926" y="27940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861550" y="2873376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98050" y="2873376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163556" y="258699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32442" y="3073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依赖稳定能力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32442" y="3378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不绑定具体实现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953000" y="1619250"/>
            <a:ext cx="5238750" cy="723900"/>
            <a:chOff x="4953000" y="1619250"/>
            <a:chExt cx="5238750" cy="723900"/>
          </a:xfrm>
        </p:grpSpPr>
        <p:sp>
          <p:nvSpPr>
            <p:cNvPr id="47" name="Line 47"/>
            <p:cNvSpPr/>
            <p:nvPr/>
          </p:nvSpPr>
          <p:spPr>
            <a:xfrm>
              <a:off x="7572375" y="2152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4953000" y="1619250"/>
              <a:ext cx="5238750" cy="533400"/>
            </a:xfrm>
            <a:prstGeom prst="roundRect">
              <a:avLst>
                <a:gd name="adj" fmla="val 10714"/>
              </a:avLst>
            </a:prstGeom>
            <a:solidFill>
              <a:srgbClr val="FFF3E0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20911" y="1806892"/>
              <a:ext cx="4702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POLICY · approval · retry · timeout · observation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038350" y="4959350"/>
            <a:ext cx="8115300" cy="703834"/>
            <a:chOff x="2038350" y="4959350"/>
            <a:chExt cx="8115300" cy="703834"/>
          </a:xfrm>
        </p:grpSpPr>
        <p:sp>
          <p:nvSpPr>
            <p:cNvPr id="51" name="Freeform 51"/>
            <p:cNvSpPr/>
            <p:nvPr/>
          </p:nvSpPr>
          <p:spPr>
            <a:xfrm>
              <a:off x="2038350" y="5181600"/>
              <a:ext cx="8115300" cy="9525"/>
            </a:xfrm>
            <a:custGeom>
              <a:avLst/>
              <a:gdLst/>
              <a:ahLst/>
              <a:cxnLst/>
              <a:rect l="l" t="t" r="r" b="b"/>
              <a:pathLst>
                <a:path w="8115300" h="9525">
                  <a:moveTo>
                    <a:pt x="0" y="0"/>
                  </a:moveTo>
                  <a:lnTo>
                    <a:pt x="8115300" y="0"/>
                  </a:lnTo>
                </a:path>
              </a:pathLst>
            </a:custGeom>
            <a:noFill/>
            <a:ln w="28575">
              <a:solidFill>
                <a:srgbClr val="C2415B"/>
              </a:solidFill>
              <a:prstDash val="lgDash"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2085975" y="4959350"/>
              <a:ext cx="285751" cy="254001"/>
              <a:chOff x="2085975" y="4959350"/>
              <a:chExt cx="285751" cy="254001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2165350" y="5038725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0"/>
                    </a:moveTo>
                    <a:lnTo>
                      <a:pt x="47625" y="47625"/>
                    </a:lnTo>
                    <a:lnTo>
                      <a:pt x="0" y="95250"/>
                    </a:lnTo>
                  </a:path>
                </a:pathLst>
              </a:custGeom>
              <a:noFill/>
              <a:ln w="31750">
                <a:solidFill>
                  <a:srgbClr val="C2415B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244725" y="51339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31750">
                <a:solidFill>
                  <a:srgbClr val="C2415B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2085975" y="4959350"/>
                <a:ext cx="285751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4001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254001" y="0"/>
                    </a:lnTo>
                    <a:cubicBezTo>
                      <a:pt x="271536" y="0"/>
                      <a:pt x="285751" y="14215"/>
                      <a:pt x="285751" y="31750"/>
                    </a:cubicBezTo>
                    <a:lnTo>
                      <a:pt x="285751" y="222250"/>
                    </a:lnTo>
                    <a:cubicBezTo>
                      <a:pt x="285751" y="239786"/>
                      <a:pt x="271536" y="254001"/>
                      <a:pt x="254001" y="254001"/>
                    </a:cubicBez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C2415B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2622042" y="4997768"/>
              <a:ext cx="19896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5B"/>
                  </a:solidFill>
                  <a:latin typeface="Cascadia Mono"/>
                  <a:ea typeface="Cascadia Mono"/>
                  <a:cs typeface="Cascadia Mono"/>
                </a:rPr>
                <a:t>BOUNDARY EXCEPTION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619756" y="5311140"/>
              <a:ext cx="48143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tool-fs-search → subprocess / ripgrep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94042" y="535971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不经过 ctx.fs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60" name="TextBox 60"/>
            <p:cNvSpPr txBox="1"/>
            <p:nvPr/>
          </p:nvSpPr>
          <p:spPr>
            <a:xfrm>
              <a:off x="602742" y="6293168"/>
              <a:ext cx="53615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K-005 · K-010 | DEFINITION → PROVIDER → CONSUMER → AGENT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P11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" y="0"/>
                </a:moveTo>
                <a:lnTo>
                  <a:pt x="1219200" y="68580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3657600" y="0"/>
                </a:moveTo>
                <a:lnTo>
                  <a:pt x="36576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8534400" y="0"/>
                </a:moveTo>
                <a:lnTo>
                  <a:pt x="8534400" y="6858000"/>
                </a:lnTo>
                <a:moveTo>
                  <a:pt x="9753600" y="0"/>
                </a:moveTo>
                <a:lnTo>
                  <a:pt x="9753600" y="6858000"/>
                </a:lnTo>
                <a:moveTo>
                  <a:pt x="10972800" y="0"/>
                </a:moveTo>
                <a:lnTo>
                  <a:pt x="109728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16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93598" y="882968"/>
            <a:ext cx="3841333" cy="3732466"/>
            <a:chOff x="593598" y="882968"/>
            <a:chExt cx="3841333" cy="3732466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882968"/>
              <a:ext cx="26316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CHAPTER 02 / EXTENSION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1450658"/>
              <a:ext cx="2972372" cy="1130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315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一个 Core</a:t>
              </a:r>
              <a:br/>
              <a:r>
                <a:rPr lang="zh-CN" sz="315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多种 Interface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7408" y="2941320"/>
              <a:ext cx="38375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Adapter 不等于复制核心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3539490"/>
              <a:ext cx="3618738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共享 Agent / Session 语义</a:t>
              </a:r>
              <a:br/>
              <a:r>
                <a:rPr lang="zh-CN" sz="180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保留各自 transport 与 ownership</a:t>
              </a:r>
              <a:br/>
              <a:r>
                <a:rPr lang="zh-CN" sz="1800" dirty="0">
                  <a:solidFill>
                    <a:srgbClr val="D7E0F1"/>
                  </a:solidFill>
                  <a:latin typeface="+mn-lt"/>
                  <a:ea typeface="+mn-ea"/>
                  <a:cs typeface="+mn-cs"/>
                </a:rPr>
                <a:t>Plugin 仍经过可检查生命周期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64675" y="952500"/>
            <a:ext cx="5368008" cy="3524250"/>
            <a:chOff x="5364675" y="952500"/>
            <a:chExt cx="5368008" cy="3524250"/>
          </a:xfrm>
        </p:grpSpPr>
        <p:sp>
          <p:nvSpPr>
            <p:cNvPr id="8" name="Line 8"/>
            <p:cNvSpPr/>
            <p:nvPr/>
          </p:nvSpPr>
          <p:spPr>
            <a:xfrm>
              <a:off x="8058150" y="1466850"/>
              <a:ext cx="9525" cy="1504950"/>
            </a:xfrm>
            <a:custGeom>
              <a:avLst/>
              <a:gdLst/>
              <a:ahLst/>
              <a:cxnLst/>
              <a:rect l="l" t="t" r="r" b="b"/>
              <a:pathLst>
                <a:path w="9525" h="1504950">
                  <a:moveTo>
                    <a:pt x="0" y="15049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058150" y="2152650"/>
              <a:ext cx="2152650" cy="819150"/>
            </a:xfrm>
            <a:custGeom>
              <a:avLst/>
              <a:gdLst/>
              <a:ahLst/>
              <a:cxnLst/>
              <a:rect l="l" t="t" r="r" b="b"/>
              <a:pathLst>
                <a:path w="2152650" h="819150">
                  <a:moveTo>
                    <a:pt x="0" y="819150"/>
                  </a:moveTo>
                  <a:lnTo>
                    <a:pt x="21526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58150" y="2971800"/>
              <a:ext cx="2152650" cy="990600"/>
            </a:xfrm>
            <a:custGeom>
              <a:avLst/>
              <a:gdLst/>
              <a:ahLst/>
              <a:cxnLst/>
              <a:rect l="l" t="t" r="r" b="b"/>
              <a:pathLst>
                <a:path w="2152650" h="990600">
                  <a:moveTo>
                    <a:pt x="0" y="0"/>
                  </a:moveTo>
                  <a:lnTo>
                    <a:pt x="2152650" y="9906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905500" y="2971800"/>
              <a:ext cx="2152650" cy="990600"/>
            </a:xfrm>
            <a:custGeom>
              <a:avLst/>
              <a:gdLst/>
              <a:ahLst/>
              <a:cxnLst/>
              <a:rect l="l" t="t" r="r" b="b"/>
              <a:pathLst>
                <a:path w="2152650" h="990600">
                  <a:moveTo>
                    <a:pt x="2152650" y="0"/>
                  </a:moveTo>
                  <a:lnTo>
                    <a:pt x="0" y="9906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905500" y="2152650"/>
              <a:ext cx="2152650" cy="819150"/>
            </a:xfrm>
            <a:custGeom>
              <a:avLst/>
              <a:gdLst/>
              <a:ahLst/>
              <a:cxnLst/>
              <a:rect l="l" t="t" r="r" b="b"/>
              <a:pathLst>
                <a:path w="2152650" h="819150">
                  <a:moveTo>
                    <a:pt x="2152650" y="819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7181850" y="2095500"/>
              <a:ext cx="1752600" cy="1752600"/>
            </a:xfrm>
            <a:prstGeom prst="ellipse">
              <a:avLst/>
            </a:prstGeom>
            <a:solidFill>
              <a:schemeClr val="accent3"/>
            </a:solidFill>
            <a:ln w="38100">
              <a:solidFill>
                <a:schemeClr val="accent2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872413" y="2405063"/>
              <a:ext cx="371475" cy="371475"/>
              <a:chOff x="7872413" y="2405063"/>
              <a:chExt cx="371475" cy="3714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913688" y="2446338"/>
                <a:ext cx="288925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288925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268288" y="0"/>
                    </a:lnTo>
                    <a:cubicBezTo>
                      <a:pt x="279686" y="0"/>
                      <a:pt x="288925" y="9240"/>
                      <a:pt x="288925" y="20638"/>
                    </a:cubicBezTo>
                    <a:lnTo>
                      <a:pt x="288925" y="268288"/>
                    </a:lnTo>
                    <a:cubicBezTo>
                      <a:pt x="288925" y="279686"/>
                      <a:pt x="279686" y="288925"/>
                      <a:pt x="268288" y="288925"/>
                    </a:cubicBezTo>
                    <a:lnTo>
                      <a:pt x="20638" y="288925"/>
                    </a:lnTo>
                    <a:cubicBezTo>
                      <a:pt x="9240" y="288925"/>
                      <a:pt x="0" y="279686"/>
                      <a:pt x="0" y="268288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996238" y="2528888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123825"/>
                    </a:lnTo>
                    <a:lnTo>
                      <a:pt x="0" y="123825"/>
                    </a:ln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872413" y="254952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872413" y="263207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016875" y="2405063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099425" y="2405063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02613" y="254952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41275" y="0"/>
                    </a:move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02613" y="263207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41275" y="0"/>
                    </a:move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99425" y="2735263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41275"/>
                    </a:move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016875" y="2735263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41275"/>
                    </a:move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615824" y="2922270"/>
              <a:ext cx="884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CORE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27988" y="3340418"/>
              <a:ext cx="2060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Agent · Session · Tools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543800" y="952500"/>
              <a:ext cx="1028700" cy="10287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60822" y="1348740"/>
              <a:ext cx="3946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CLI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9696450" y="1638300"/>
              <a:ext cx="1028700" cy="10287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961866" y="2034540"/>
              <a:ext cx="497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Web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9696450" y="3448050"/>
              <a:ext cx="1028700" cy="10287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979868" y="3710940"/>
              <a:ext cx="4618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SDK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88917" y="4026218"/>
              <a:ext cx="1043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A9B7D5"/>
                  </a:solidFill>
                  <a:latin typeface="+mn-lt"/>
                  <a:ea typeface="+mn-ea"/>
                  <a:cs typeface="+mn-cs"/>
                </a:rPr>
                <a:t>TS · Python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391150" y="3448050"/>
              <a:ext cx="1028700" cy="10287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364675" y="3710940"/>
              <a:ext cx="1081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Headless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40222" y="40262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A9B7D5"/>
                  </a:solidFill>
                  <a:latin typeface="+mn-lt"/>
                  <a:ea typeface="+mn-ea"/>
                  <a:cs typeface="+mn-cs"/>
                </a:rPr>
                <a:t>ACP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391150" y="1638300"/>
              <a:ext cx="1028700" cy="10287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09027" y="1901190"/>
              <a:ext cx="992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Dynamic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41810" y="2216468"/>
              <a:ext cx="527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A9B7D5"/>
                  </a:solidFill>
                  <a:latin typeface="+mn-lt"/>
                  <a:ea typeface="+mn-ea"/>
                  <a:cs typeface="+mn-cs"/>
                </a:rPr>
                <a:t>Plugin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50942" y="5486400"/>
            <a:ext cx="5817108" cy="480251"/>
            <a:chOff x="5250942" y="5486400"/>
            <a:chExt cx="5817108" cy="480251"/>
          </a:xfrm>
        </p:grpSpPr>
        <p:sp>
          <p:nvSpPr>
            <p:cNvPr id="41" name="Line 41"/>
            <p:cNvSpPr/>
            <p:nvPr/>
          </p:nvSpPr>
          <p:spPr>
            <a:xfrm>
              <a:off x="5257800" y="5486400"/>
              <a:ext cx="581025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50942" y="5702618"/>
              <a:ext cx="366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F4F7"/>
                  </a:solidFill>
                  <a:latin typeface="Cascadia Mono"/>
                  <a:ea typeface="Cascadia Mono"/>
                  <a:cs typeface="Cascadia Mono"/>
                </a:rPr>
                <a:t>inspect → define → run → diagnose → repair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44" name="TextBox 44"/>
            <p:cNvSpPr txBox="1"/>
            <p:nvPr/>
          </p:nvSpPr>
          <p:spPr>
            <a:xfrm>
              <a:off x="602742" y="6293168"/>
              <a:ext cx="3921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K-011 · K-014 | ONE CORE · MANY ADAPTERS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P12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9740467" cy="955167"/>
            <a:chOff x="593598" y="482918"/>
            <a:chExt cx="9740467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4666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INTERFACE ADAPTERS / TRANSPORT + OWNERSHIP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97404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五个入口共享 Core，但传输与运行时所有权不同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52950" y="2476500"/>
            <a:ext cx="3086100" cy="1828800"/>
            <a:chOff x="4552950" y="2476500"/>
            <a:chExt cx="3086100" cy="1828800"/>
          </a:xfrm>
        </p:grpSpPr>
        <p:sp>
          <p:nvSpPr>
            <p:cNvPr id="6" name="Rectangle 6"/>
            <p:cNvSpPr/>
            <p:nvPr/>
          </p:nvSpPr>
          <p:spPr>
            <a:xfrm>
              <a:off x="4552950" y="2476500"/>
              <a:ext cx="3086100" cy="1828800"/>
            </a:xfrm>
            <a:prstGeom prst="roundRect">
              <a:avLst>
                <a:gd name="adj" fmla="val 6250"/>
              </a:avLst>
            </a:prstGeom>
            <a:solidFill>
              <a:schemeClr val="accent1"/>
            </a:solidFill>
            <a:ln w="38100">
              <a:solidFill>
                <a:schemeClr val="accent2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881688" y="2795588"/>
              <a:ext cx="428625" cy="428625"/>
              <a:chOff x="5881688" y="2795588"/>
              <a:chExt cx="428625" cy="42862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5929312" y="2843212"/>
                <a:ext cx="33337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3337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09562" y="0"/>
                    </a:lnTo>
                    <a:cubicBezTo>
                      <a:pt x="322714" y="0"/>
                      <a:pt x="333375" y="10661"/>
                      <a:pt x="333375" y="23812"/>
                    </a:cubicBezTo>
                    <a:lnTo>
                      <a:pt x="333375" y="309562"/>
                    </a:lnTo>
                    <a:cubicBezTo>
                      <a:pt x="333375" y="322714"/>
                      <a:pt x="322714" y="333375"/>
                      <a:pt x="309562" y="333375"/>
                    </a:cubicBezTo>
                    <a:lnTo>
                      <a:pt x="23812" y="333375"/>
                    </a:lnTo>
                    <a:cubicBezTo>
                      <a:pt x="10661" y="333375"/>
                      <a:pt x="0" y="322714"/>
                      <a:pt x="0" y="309562"/>
                    </a:cubicBezTo>
                    <a:lnTo>
                      <a:pt x="0" y="23812"/>
                    </a:lnTo>
                  </a:path>
                </a:pathLst>
              </a:custGeom>
              <a:noFill/>
              <a:ln w="47625">
                <a:solidFill>
                  <a:srgbClr val="F7FAFC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24562" y="29384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142875"/>
                    </a:lnTo>
                    <a:lnTo>
                      <a:pt x="0" y="142875"/>
                    </a:lnTo>
                    <a:lnTo>
                      <a:pt x="0" y="0"/>
                    </a:lnTo>
                  </a:path>
                </a:pathLst>
              </a:custGeom>
              <a:noFill/>
              <a:ln w="47625">
                <a:solidFill>
                  <a:srgbClr val="F7FAFC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881688" y="29622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47625">
                <a:solidFill>
                  <a:srgbClr val="F7FAFC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881688" y="305752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47625">
                <a:solidFill>
                  <a:srgbClr val="F7FAF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048375" y="2795588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47625">
                <a:solidFill>
                  <a:srgbClr val="F7FAF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143625" y="2795588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47625">
                <a:solidFill>
                  <a:srgbClr val="F7FAF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262688" y="29622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47625" y="0"/>
                    </a:moveTo>
                    <a:lnTo>
                      <a:pt x="0" y="0"/>
                    </a:lnTo>
                  </a:path>
                </a:pathLst>
              </a:custGeom>
              <a:noFill/>
              <a:ln w="47625">
                <a:solidFill>
                  <a:srgbClr val="F7FAF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262688" y="305752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47625" y="0"/>
                    </a:moveTo>
                    <a:lnTo>
                      <a:pt x="0" y="0"/>
                    </a:lnTo>
                  </a:path>
                </a:pathLst>
              </a:custGeom>
              <a:noFill/>
              <a:ln w="47625">
                <a:solidFill>
                  <a:srgbClr val="F7FAF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143625" y="3176588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47625">
                <a:solidFill>
                  <a:srgbClr val="F7FAF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048375" y="3176588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47625">
                <a:solidFill>
                  <a:srgbClr val="F7FAF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4654230" y="3444240"/>
              <a:ext cx="28835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Agent · Session · Tools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13808" y="3873818"/>
              <a:ext cx="21643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9F4F7"/>
                  </a:solidFill>
                  <a:latin typeface="Cascadia Mono"/>
                  <a:ea typeface="Cascadia Mono"/>
                  <a:cs typeface="Cascadia Mono"/>
                </a:rPr>
                <a:t>SHARED CORE SEMANTICS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9150" y="1866900"/>
            <a:ext cx="3733800" cy="3505200"/>
            <a:chOff x="819150" y="1866900"/>
            <a:chExt cx="3733800" cy="3505200"/>
          </a:xfrm>
        </p:grpSpPr>
        <p:sp>
          <p:nvSpPr>
            <p:cNvPr id="21" name="Line 21"/>
            <p:cNvSpPr/>
            <p:nvPr/>
          </p:nvSpPr>
          <p:spPr>
            <a:xfrm>
              <a:off x="3848100" y="2476500"/>
              <a:ext cx="704850" cy="571500"/>
            </a:xfrm>
            <a:custGeom>
              <a:avLst/>
              <a:gdLst/>
              <a:ahLst/>
              <a:cxnLst/>
              <a:rect l="l" t="t" r="r" b="b"/>
              <a:pathLst>
                <a:path w="704850" h="571500">
                  <a:moveTo>
                    <a:pt x="0" y="0"/>
                  </a:moveTo>
                  <a:lnTo>
                    <a:pt x="704850" y="5715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848100" y="3733800"/>
              <a:ext cx="704850" cy="838200"/>
            </a:xfrm>
            <a:custGeom>
              <a:avLst/>
              <a:gdLst/>
              <a:ahLst/>
              <a:cxnLst/>
              <a:rect l="l" t="t" r="r" b="b"/>
              <a:pathLst>
                <a:path w="704850" h="838200">
                  <a:moveTo>
                    <a:pt x="0" y="838200"/>
                  </a:moveTo>
                  <a:lnTo>
                    <a:pt x="704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9150" y="1866900"/>
              <a:ext cx="3028950" cy="12192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1097756" y="2162175"/>
              <a:ext cx="300038" cy="266700"/>
              <a:chOff x="1097756" y="2162175"/>
              <a:chExt cx="300038" cy="2667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181100" y="2245519"/>
                <a:ext cx="5000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100012">
                    <a:moveTo>
                      <a:pt x="0" y="0"/>
                    </a:moveTo>
                    <a:lnTo>
                      <a:pt x="50006" y="50006"/>
                    </a:lnTo>
                    <a:lnTo>
                      <a:pt x="0" y="100012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264444" y="2345531"/>
                <a:ext cx="500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9525">
                    <a:moveTo>
                      <a:pt x="0" y="0"/>
                    </a:moveTo>
                    <a:lnTo>
                      <a:pt x="50006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97756" y="2162175"/>
                <a:ext cx="300038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667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266700" y="0"/>
                    </a:lnTo>
                    <a:cubicBezTo>
                      <a:pt x="285112" y="0"/>
                      <a:pt x="300038" y="14926"/>
                      <a:pt x="300038" y="33338"/>
                    </a:cubicBezTo>
                    <a:lnTo>
                      <a:pt x="300038" y="233362"/>
                    </a:lnTo>
                    <a:cubicBezTo>
                      <a:pt x="300038" y="251774"/>
                      <a:pt x="285112" y="266700"/>
                      <a:pt x="266700" y="266700"/>
                    </a:cubicBezTo>
                    <a:lnTo>
                      <a:pt x="33338" y="266700"/>
                    </a:lnTo>
                    <a:cubicBezTo>
                      <a:pt x="14926" y="266700"/>
                      <a:pt x="0" y="251774"/>
                      <a:pt x="0" y="233362"/>
                    </a:cubicBezTo>
                    <a:lnTo>
                      <a:pt x="0" y="33338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648206" y="2110740"/>
              <a:ext cx="3946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0892" y="25784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交互式产品入口 · 本地进程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9150" y="3962400"/>
              <a:ext cx="302895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097756" y="4257675"/>
              <a:ext cx="300038" cy="266700"/>
              <a:chOff x="1097756" y="4257675"/>
              <a:chExt cx="300038" cy="2667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97756" y="432435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66675" y="0"/>
                    </a:moveTo>
                    <a:lnTo>
                      <a:pt x="0" y="66675"/>
                    </a:lnTo>
                    <a:lnTo>
                      <a:pt x="66675" y="13335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331119" y="432435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0"/>
                    </a:moveTo>
                    <a:lnTo>
                      <a:pt x="66675" y="66675"/>
                    </a:lnTo>
                    <a:lnTo>
                      <a:pt x="0" y="13335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14438" y="4257675"/>
                <a:ext cx="666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66700">
                    <a:moveTo>
                      <a:pt x="66675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648206" y="4206240"/>
              <a:ext cx="18229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Headless / ACP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0892" y="4673918"/>
              <a:ext cx="2182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自动化 · stdio JSON-RPC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0892" y="49596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调用方管理连接与生命周期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39050" y="1790700"/>
            <a:ext cx="3752850" cy="1657350"/>
            <a:chOff x="7639050" y="1790700"/>
            <a:chExt cx="3752850" cy="1657350"/>
          </a:xfrm>
        </p:grpSpPr>
        <p:sp>
          <p:nvSpPr>
            <p:cNvPr id="39" name="Line 39"/>
            <p:cNvSpPr/>
            <p:nvPr/>
          </p:nvSpPr>
          <p:spPr>
            <a:xfrm>
              <a:off x="7639050" y="2628900"/>
              <a:ext cx="704850" cy="419100"/>
            </a:xfrm>
            <a:custGeom>
              <a:avLst/>
              <a:gdLst/>
              <a:ahLst/>
              <a:cxnLst/>
              <a:rect l="l" t="t" r="r" b="b"/>
              <a:pathLst>
                <a:path w="704850" h="419100">
                  <a:moveTo>
                    <a:pt x="0" y="419100"/>
                  </a:moveTo>
                  <a:lnTo>
                    <a:pt x="704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3900" y="1790700"/>
              <a:ext cx="3048000" cy="1657350"/>
            </a:xfrm>
            <a:prstGeom prst="roundRect">
              <a:avLst>
                <a:gd name="adj" fmla="val 4598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622506" y="2069306"/>
              <a:ext cx="300037" cy="316707"/>
              <a:chOff x="8622506" y="2069306"/>
              <a:chExt cx="300037" cy="31670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672512" y="2069306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72525" y="2069306"/>
                <a:ext cx="333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200025">
                    <a:moveTo>
                      <a:pt x="0" y="0"/>
                    </a:moveTo>
                    <a:cubicBezTo>
                      <a:pt x="22219" y="5551"/>
                      <a:pt x="33338" y="38888"/>
                      <a:pt x="33338" y="100012"/>
                    </a:cubicBezTo>
                    <a:cubicBezTo>
                      <a:pt x="33338" y="161137"/>
                      <a:pt x="22219" y="194474"/>
                      <a:pt x="0" y="200025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39188" y="2069306"/>
                <a:ext cx="333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200025">
                    <a:moveTo>
                      <a:pt x="33338" y="0"/>
                    </a:moveTo>
                    <a:cubicBezTo>
                      <a:pt x="11118" y="5551"/>
                      <a:pt x="0" y="38888"/>
                      <a:pt x="0" y="100012"/>
                    </a:cubicBezTo>
                    <a:cubicBezTo>
                      <a:pt x="0" y="161137"/>
                      <a:pt x="11118" y="194474"/>
                      <a:pt x="33338" y="200025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672512" y="2169319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622506" y="2352675"/>
                <a:ext cx="1166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9525">
                    <a:moveTo>
                      <a:pt x="0" y="0"/>
                    </a:moveTo>
                    <a:lnTo>
                      <a:pt x="116681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805862" y="2352675"/>
                <a:ext cx="1166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9525">
                    <a:moveTo>
                      <a:pt x="0" y="0"/>
                    </a:moveTo>
                    <a:lnTo>
                      <a:pt x="116681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39188" y="23193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72525" y="2269331"/>
                <a:ext cx="9525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006">
                    <a:moveTo>
                      <a:pt x="0" y="0"/>
                    </a:move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172956" y="2034540"/>
              <a:ext cx="497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65642" y="2502218"/>
              <a:ext cx="11178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HTTP POST 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65642" y="2826068"/>
              <a:ext cx="1510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events.mux WS 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65642" y="3130868"/>
              <a:ext cx="1573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events.host WS ↓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639050" y="3733800"/>
            <a:ext cx="3830841" cy="1885950"/>
            <a:chOff x="7639050" y="3733800"/>
            <a:chExt cx="3830841" cy="1885950"/>
          </a:xfrm>
        </p:grpSpPr>
        <p:sp>
          <p:nvSpPr>
            <p:cNvPr id="55" name="Line 55"/>
            <p:cNvSpPr/>
            <p:nvPr/>
          </p:nvSpPr>
          <p:spPr>
            <a:xfrm>
              <a:off x="7639050" y="3733800"/>
              <a:ext cx="704850" cy="723900"/>
            </a:xfrm>
            <a:custGeom>
              <a:avLst/>
              <a:gdLst/>
              <a:ahLst/>
              <a:cxnLst/>
              <a:rect l="l" t="t" r="r" b="b"/>
              <a:pathLst>
                <a:path w="704850" h="723900">
                  <a:moveTo>
                    <a:pt x="0" y="0"/>
                  </a:moveTo>
                  <a:lnTo>
                    <a:pt x="704850" y="7239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43900" y="3867150"/>
              <a:ext cx="3048000" cy="1752600"/>
            </a:xfrm>
            <a:prstGeom prst="roundRect">
              <a:avLst>
                <a:gd name="adj" fmla="val 4348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622506" y="4162425"/>
              <a:ext cx="300038" cy="266700"/>
              <a:chOff x="8622506" y="4162425"/>
              <a:chExt cx="300038" cy="2667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622506" y="422910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66675" y="0"/>
                    </a:moveTo>
                    <a:lnTo>
                      <a:pt x="0" y="66675"/>
                    </a:lnTo>
                    <a:lnTo>
                      <a:pt x="66675" y="13335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855869" y="422910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0"/>
                    </a:moveTo>
                    <a:lnTo>
                      <a:pt x="66675" y="66675"/>
                    </a:lnTo>
                    <a:lnTo>
                      <a:pt x="0" y="13335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39188" y="4162425"/>
                <a:ext cx="6667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66700">
                    <a:moveTo>
                      <a:pt x="66675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172956" y="4110990"/>
              <a:ext cx="17858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SDK ownership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8572500" y="46291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65642" y="4826318"/>
              <a:ext cx="1417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TypeScript SDK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65842" y="4826318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调用方 runtime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65642" y="5188268"/>
              <a:ext cx="1040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Python SDK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165842" y="51882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默认子进程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68" name="TextBox 68"/>
            <p:cNvSpPr txBox="1"/>
            <p:nvPr/>
          </p:nvSpPr>
          <p:spPr>
            <a:xfrm>
              <a:off x="602742" y="6293168"/>
              <a:ext cx="4900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K-011 · K-012 | SAME CORE ≠ SAME PROCESS BOUNDARY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P13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8289160" cy="955167"/>
            <a:chOff x="593598" y="482918"/>
            <a:chExt cx="8289160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3348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HOST / CLIENT CONTRACT PIPELINE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828916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Typert 让 Host / Client 契约只定义一次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85800" y="2038350"/>
            <a:ext cx="10820400" cy="2247900"/>
            <a:chOff x="685800" y="2038350"/>
            <a:chExt cx="10820400" cy="2247900"/>
          </a:xfrm>
        </p:grpSpPr>
        <p:sp>
          <p:nvSpPr>
            <p:cNvPr id="6" name="Line 6"/>
            <p:cNvSpPr/>
            <p:nvPr/>
          </p:nvSpPr>
          <p:spPr>
            <a:xfrm>
              <a:off x="2457450" y="3162300"/>
              <a:ext cx="3429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5105400" y="3162300"/>
              <a:ext cx="3429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7181850" y="3162300"/>
              <a:ext cx="3429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9639300" y="3162300"/>
              <a:ext cx="3429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2343150"/>
              <a:ext cx="1771650" cy="163830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427163" y="2633663"/>
              <a:ext cx="288925" cy="371476"/>
              <a:chOff x="1427163" y="2633663"/>
              <a:chExt cx="288925" cy="37147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612900" y="2633663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103188">
                    <a:moveTo>
                      <a:pt x="0" y="0"/>
                    </a:moveTo>
                    <a:lnTo>
                      <a:pt x="0" y="82550"/>
                    </a:lnTo>
                    <a:cubicBezTo>
                      <a:pt x="0" y="93948"/>
                      <a:pt x="9240" y="103188"/>
                      <a:pt x="20638" y="103188"/>
                    </a:cubicBezTo>
                    <a:lnTo>
                      <a:pt x="103188" y="103188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27163" y="2633663"/>
                <a:ext cx="288925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371476">
                    <a:moveTo>
                      <a:pt x="247650" y="371476"/>
                    </a:moveTo>
                    <a:lnTo>
                      <a:pt x="41275" y="371476"/>
                    </a:lnTo>
                    <a:cubicBezTo>
                      <a:pt x="18479" y="371476"/>
                      <a:pt x="0" y="352996"/>
                      <a:pt x="0" y="330201"/>
                    </a:cubicBez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lnTo>
                      <a:pt x="185738" y="0"/>
                    </a:lnTo>
                    <a:lnTo>
                      <a:pt x="288925" y="103188"/>
                    </a:lnTo>
                    <a:lnTo>
                      <a:pt x="288925" y="330201"/>
                    </a:lnTo>
                    <a:cubicBezTo>
                      <a:pt x="288925" y="352996"/>
                      <a:pt x="270446" y="371476"/>
                      <a:pt x="247650" y="371476"/>
                    </a:cubicBez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509713" y="2840038"/>
                <a:ext cx="206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82550">
                    <a:moveTo>
                      <a:pt x="20638" y="0"/>
                    </a:moveTo>
                    <a:lnTo>
                      <a:pt x="0" y="41275"/>
                    </a:lnTo>
                    <a:lnTo>
                      <a:pt x="20638" y="8255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612900" y="2840038"/>
                <a:ext cx="206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82550">
                    <a:moveTo>
                      <a:pt x="0" y="0"/>
                    </a:moveTo>
                    <a:lnTo>
                      <a:pt x="20638" y="41275"/>
                    </a:lnTo>
                    <a:lnTo>
                      <a:pt x="0" y="8255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20452" y="3177540"/>
              <a:ext cx="1502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Host source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307" y="356901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TypeScript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00350" y="2038350"/>
              <a:ext cx="2305050" cy="2247900"/>
            </a:xfrm>
            <a:prstGeom prst="roundRect">
              <a:avLst>
                <a:gd name="adj" fmla="val 4237"/>
              </a:avLst>
            </a:prstGeom>
            <a:solidFill>
              <a:schemeClr val="accent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3767138" y="2330450"/>
              <a:ext cx="371475" cy="330201"/>
              <a:chOff x="3767138" y="2330450"/>
              <a:chExt cx="371475" cy="33020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767138" y="2413000"/>
                <a:ext cx="8255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65100">
                    <a:moveTo>
                      <a:pt x="82550" y="0"/>
                    </a:moveTo>
                    <a:lnTo>
                      <a:pt x="0" y="82550"/>
                    </a:lnTo>
                    <a:lnTo>
                      <a:pt x="82550" y="16510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056063" y="2413000"/>
                <a:ext cx="8255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65100">
                    <a:moveTo>
                      <a:pt x="0" y="0"/>
                    </a:moveTo>
                    <a:lnTo>
                      <a:pt x="82550" y="82550"/>
                    </a:lnTo>
                    <a:lnTo>
                      <a:pt x="0" y="165100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11600" y="2330450"/>
                <a:ext cx="82550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330201">
                    <a:moveTo>
                      <a:pt x="82550" y="0"/>
                    </a:moveTo>
                    <a:lnTo>
                      <a:pt x="0" y="330201"/>
                    </a:lnTo>
                  </a:path>
                </a:pathLst>
              </a:custGeom>
              <a:noFill/>
              <a:ln w="41275">
                <a:solidFill>
                  <a:srgbClr val="F7FAF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375652" y="2827020"/>
              <a:ext cx="11544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Typert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028950" y="3333750"/>
              <a:ext cx="552450" cy="552450"/>
            </a:xfrm>
            <a:prstGeom prst="roundRect">
              <a:avLst>
                <a:gd name="adj" fmla="val 8621"/>
              </a:avLst>
            </a:prstGeom>
            <a:solidFill>
              <a:srgbClr val="26385E"/>
            </a:solidFill>
            <a:ln w="952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76650" y="3333750"/>
              <a:ext cx="552450" cy="552450"/>
            </a:xfrm>
            <a:prstGeom prst="roundRect">
              <a:avLst>
                <a:gd name="adj" fmla="val 8621"/>
              </a:avLst>
            </a:prstGeom>
            <a:solidFill>
              <a:srgbClr val="26385E"/>
            </a:solidFill>
            <a:ln w="952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24350" y="3333750"/>
              <a:ext cx="552450" cy="552450"/>
            </a:xfrm>
            <a:prstGeom prst="roundRect">
              <a:avLst>
                <a:gd name="adj" fmla="val 8621"/>
              </a:avLst>
            </a:prstGeom>
            <a:solidFill>
              <a:srgbClr val="26385E"/>
            </a:solidFill>
            <a:ln w="9525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05948" y="3537585"/>
              <a:ext cx="598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Analyze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26226" y="3537585"/>
              <a:ext cx="45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Model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18362" y="3537585"/>
              <a:ext cx="364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Emit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23836" y="3988118"/>
              <a:ext cx="2458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compiler-independent model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448300" y="2343150"/>
              <a:ext cx="1733550" cy="163830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16597" y="2586990"/>
              <a:ext cx="1196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Metadata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44922" y="30356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remote metadata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53874" y="3340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reflection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59920" y="3645218"/>
              <a:ext cx="1110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Zod schemas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524750" y="2343150"/>
              <a:ext cx="2114550" cy="163830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803356" y="2621756"/>
              <a:ext cx="300037" cy="316707"/>
              <a:chOff x="7803356" y="2621756"/>
              <a:chExt cx="300037" cy="31670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853362" y="2621756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953375" y="2621756"/>
                <a:ext cx="333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200025">
                    <a:moveTo>
                      <a:pt x="0" y="0"/>
                    </a:moveTo>
                    <a:cubicBezTo>
                      <a:pt x="22219" y="5551"/>
                      <a:pt x="33338" y="38888"/>
                      <a:pt x="33338" y="100012"/>
                    </a:cubicBezTo>
                    <a:cubicBezTo>
                      <a:pt x="33338" y="161137"/>
                      <a:pt x="22219" y="194474"/>
                      <a:pt x="0" y="200025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920038" y="2621756"/>
                <a:ext cx="333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200025">
                    <a:moveTo>
                      <a:pt x="33338" y="0"/>
                    </a:moveTo>
                    <a:cubicBezTo>
                      <a:pt x="11118" y="5551"/>
                      <a:pt x="0" y="38888"/>
                      <a:pt x="0" y="100012"/>
                    </a:cubicBezTo>
                    <a:cubicBezTo>
                      <a:pt x="0" y="161137"/>
                      <a:pt x="11118" y="194474"/>
                      <a:pt x="33338" y="200025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53362" y="2721769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803356" y="2905125"/>
                <a:ext cx="1166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9525">
                    <a:moveTo>
                      <a:pt x="0" y="0"/>
                    </a:moveTo>
                    <a:lnTo>
                      <a:pt x="116681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986712" y="2905125"/>
                <a:ext cx="1166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9525">
                    <a:moveTo>
                      <a:pt x="0" y="0"/>
                    </a:moveTo>
                    <a:lnTo>
                      <a:pt x="116681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920038" y="28717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953375" y="2821781"/>
                <a:ext cx="9525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006">
                    <a:moveTo>
                      <a:pt x="0" y="0"/>
                    </a:move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354568" y="2546032"/>
              <a:ext cx="1116902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Registry /</a:t>
              </a:r>
              <a:br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gateway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47254" y="3204210"/>
              <a:ext cx="2427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loader · routing · remote face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46492" y="3492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跨进程发布契约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982200" y="2343150"/>
              <a:ext cx="1524000" cy="16383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10572750" y="2647950"/>
              <a:ext cx="342900" cy="304800"/>
              <a:chOff x="10572750" y="2647950"/>
              <a:chExt cx="342900" cy="304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0572750" y="272415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76200" y="0"/>
                    </a:moveTo>
                    <a:lnTo>
                      <a:pt x="0" y="76200"/>
                    </a:lnTo>
                    <a:lnTo>
                      <a:pt x="76200" y="15240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0839450" y="272415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0"/>
                    </a:moveTo>
                    <a:lnTo>
                      <a:pt x="762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706100" y="2647950"/>
                <a:ext cx="76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04800">
                    <a:moveTo>
                      <a:pt x="7620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375491" y="3158490"/>
              <a:ext cx="737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37610" y="354996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compiler face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69442" y="5314950"/>
            <a:ext cx="10700178" cy="590550"/>
            <a:chOff x="869442" y="5314950"/>
            <a:chExt cx="10700178" cy="590550"/>
          </a:xfrm>
        </p:grpSpPr>
        <p:sp>
          <p:nvSpPr>
            <p:cNvPr id="57" name="Line 57"/>
            <p:cNvSpPr/>
            <p:nvPr/>
          </p:nvSpPr>
          <p:spPr>
            <a:xfrm>
              <a:off x="876300" y="5314950"/>
              <a:ext cx="101727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9442" y="5531168"/>
              <a:ext cx="489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BUILD ORDER / HOST CONTRACTS → CLIENT TYPECHECK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429500" y="5524500"/>
              <a:ext cx="3619500" cy="381000"/>
            </a:xfrm>
            <a:prstGeom prst="roundRect">
              <a:avLst>
                <a:gd name="adj" fmla="val 12500"/>
              </a:avLst>
            </a:prstGeom>
            <a:solidFill>
              <a:srgbClr val="FFF0F2"/>
            </a:solidFill>
            <a:ln w="19050">
              <a:solidFill>
                <a:srgbClr val="C2415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08880" y="5626418"/>
              <a:ext cx="4660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auth · TLS · authorization 不属于 schema generation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602742" y="6293168"/>
              <a:ext cx="5332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K-013 | DEFINE ONCE · BUILD ON HOST · CONSUME ON CLIENT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P14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7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482918"/>
            <a:ext cx="8733762" cy="955167"/>
            <a:chOff x="593598" y="482918"/>
            <a:chExt cx="8733762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4114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DYNAMIC PLUGIN / RELEASE STATE MACHINE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22008"/>
              <a:ext cx="87337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Run ok 不代表后续 Client Render 一定成功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86778" y="2057400"/>
            <a:ext cx="10957522" cy="2781300"/>
            <a:chOff x="586778" y="2057400"/>
            <a:chExt cx="10957522" cy="2781300"/>
          </a:xfrm>
        </p:grpSpPr>
        <p:sp>
          <p:nvSpPr>
            <p:cNvPr id="6" name="Line 6"/>
            <p:cNvSpPr/>
            <p:nvPr/>
          </p:nvSpPr>
          <p:spPr>
            <a:xfrm>
              <a:off x="2247900" y="2590800"/>
              <a:ext cx="2476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2590800"/>
              <a:ext cx="2476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5943600" y="2590800"/>
              <a:ext cx="2476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7791450" y="2590800"/>
              <a:ext cx="2476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9639300" y="2590800"/>
              <a:ext cx="2476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47700" y="2057400"/>
              <a:ext cx="1600200" cy="10668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495550" y="2057400"/>
              <a:ext cx="1600200" cy="10668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43400" y="2057400"/>
              <a:ext cx="1600200" cy="10668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191250" y="2057400"/>
              <a:ext cx="1600200" cy="10668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039100" y="2057400"/>
              <a:ext cx="1600200" cy="10668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886950" y="2057400"/>
              <a:ext cx="1657350" cy="1066800"/>
            </a:xfrm>
            <a:prstGeom prst="roundRect">
              <a:avLst>
                <a:gd name="adj" fmla="val 6250"/>
              </a:avLst>
            </a:prstGeom>
            <a:solidFill>
              <a:schemeClr val="accen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6975" y="2244090"/>
              <a:ext cx="9416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Inspect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6778" y="2616518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list → minimal query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94837" y="2244090"/>
              <a:ext cx="801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Define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63661" y="2616518"/>
              <a:ext cx="1463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immutable Plugin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58257" y="2864168"/>
              <a:ext cx="874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Package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90411" y="2244090"/>
              <a:ext cx="17061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Wait for page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52446" y="2616518"/>
              <a:ext cx="1782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matching Client half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0525" y="2244090"/>
              <a:ext cx="1081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Approval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5651" y="261651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explicit gate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8375" y="2244090"/>
              <a:ext cx="1081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Starting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05439" y="26165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runtime activation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66401" y="2244090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Run result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49881" y="2635568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ok / failed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0715625" y="31242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1" name="Line 31"/>
            <p:cNvSpPr/>
            <p:nvPr/>
          </p:nvSpPr>
          <p:spPr>
            <a:xfrm flipH="1">
              <a:off x="9486900" y="3714750"/>
              <a:ext cx="1228725" cy="3810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>
              <a:off x="10715625" y="3714750"/>
              <a:ext cx="542925" cy="381000"/>
            </a:xfrm>
            <a:custGeom>
              <a:avLst/>
              <a:gdLst/>
              <a:ahLst/>
              <a:cxnLst/>
              <a:rect l="l" t="t" r="r" b="b"/>
              <a:pathLst>
                <a:path w="542925" h="381000">
                  <a:moveTo>
                    <a:pt x="0" y="0"/>
                  </a:moveTo>
                  <a:lnTo>
                    <a:pt x="542925" y="381000"/>
                  </a:lnTo>
                </a:path>
              </a:pathLst>
            </a:custGeom>
            <a:noFill/>
            <a:ln w="28575">
              <a:solidFill>
                <a:srgbClr val="C2415B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115300" y="4095750"/>
              <a:ext cx="2381250" cy="742950"/>
            </a:xfrm>
            <a:prstGeom prst="roundRect">
              <a:avLst>
                <a:gd name="adj" fmla="val 8974"/>
              </a:avLst>
            </a:prstGeom>
            <a:solidFill>
              <a:srgbClr val="E8F7ED"/>
            </a:solidFill>
            <a:ln w="19050">
              <a:solidFill>
                <a:srgbClr val="15803D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553700" y="4095750"/>
              <a:ext cx="990600" cy="742950"/>
            </a:xfrm>
            <a:prstGeom prst="roundRect">
              <a:avLst>
                <a:gd name="adj" fmla="val 8974"/>
              </a:avLst>
            </a:prstGeom>
            <a:solidFill>
              <a:srgbClr val="FFF0F2"/>
            </a:solidFill>
            <a:ln w="19050">
              <a:solidFill>
                <a:srgbClr val="C2415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94636" y="4244340"/>
              <a:ext cx="12225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Render ok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90248" y="45596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client settled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24312" y="4254818"/>
              <a:ext cx="649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Render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74989" y="4521518"/>
              <a:ext cx="54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failed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5219700"/>
            <a:ext cx="10858500" cy="647700"/>
            <a:chOff x="685800" y="5219700"/>
            <a:chExt cx="10858500" cy="647700"/>
          </a:xfrm>
        </p:grpSpPr>
        <p:sp>
          <p:nvSpPr>
            <p:cNvPr id="40" name="Rectangle 40"/>
            <p:cNvSpPr/>
            <p:nvPr/>
          </p:nvSpPr>
          <p:spPr>
            <a:xfrm>
              <a:off x="685800" y="5219700"/>
              <a:ext cx="5067300" cy="647700"/>
            </a:xfrm>
            <a:prstGeom prst="roundRect">
              <a:avLst>
                <a:gd name="adj" fmla="val 10294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981700" y="5219700"/>
              <a:ext cx="5562600" cy="647700"/>
            </a:xfrm>
            <a:prstGeom prst="roundRect">
              <a:avLst>
                <a:gd name="adj" fmla="val 10294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7542" y="5474018"/>
              <a:ext cx="1973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Repair = new Package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69692" y="54740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不修改已运行版本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03442" y="5474018"/>
              <a:ext cx="3380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Rollback = explicit currentPackageId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70542" y="5474018"/>
              <a:ext cx="1873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版本状态属于 Package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602742" y="6293168"/>
              <a:ext cx="4910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K-014 · K-015 | ACTIVATION SUCCESS ≠ RENDER SUCCESS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P15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34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3598" y="597218"/>
            <a:ext cx="10995660" cy="993267"/>
            <a:chOff x="593598" y="597218"/>
            <a:chExt cx="10995660" cy="9932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97218"/>
              <a:ext cx="2475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SECTION 03 / ENTERPRISE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04933" y="597218"/>
              <a:ext cx="1684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LOCAL ≠ GOVERNED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3598" y="974408"/>
              <a:ext cx="71058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03 · 企业：Local 不等于 Governed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9600" y="2209800"/>
            <a:ext cx="10972800" cy="2133600"/>
            <a:chOff x="609600" y="2209800"/>
            <a:chExt cx="10972800" cy="2133600"/>
          </a:xfrm>
        </p:grpSpPr>
        <p:sp>
          <p:nvSpPr>
            <p:cNvPr id="7" name="Line 7"/>
            <p:cNvSpPr/>
            <p:nvPr/>
          </p:nvSpPr>
          <p:spPr>
            <a:xfrm>
              <a:off x="2933700" y="32766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3238500" y="3200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5657850" y="32766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5962650" y="3200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8382000" y="32766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8686800" y="3200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400300"/>
              <a:ext cx="2324100" cy="1752600"/>
            </a:xfrm>
            <a:prstGeom prst="roundRect">
              <a:avLst>
                <a:gd name="adj" fmla="val 5435"/>
              </a:avLst>
            </a:prstGeom>
            <a:solidFill>
              <a:srgbClr val="172746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88206" y="2695575"/>
              <a:ext cx="300038" cy="266700"/>
              <a:chOff x="888206" y="2695575"/>
              <a:chExt cx="300038" cy="2667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88206" y="2695575"/>
                <a:ext cx="300038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33350">
                    <a:moveTo>
                      <a:pt x="0" y="50006"/>
                    </a:moveTo>
                    <a:cubicBezTo>
                      <a:pt x="0" y="22389"/>
                      <a:pt x="22389" y="0"/>
                      <a:pt x="50006" y="0"/>
                    </a:cubicBezTo>
                    <a:lnTo>
                      <a:pt x="250031" y="0"/>
                    </a:lnTo>
                    <a:cubicBezTo>
                      <a:pt x="277649" y="0"/>
                      <a:pt x="300038" y="22389"/>
                      <a:pt x="300038" y="50006"/>
                    </a:cubicBezTo>
                    <a:lnTo>
                      <a:pt x="300038" y="83344"/>
                    </a:lnTo>
                    <a:cubicBezTo>
                      <a:pt x="300038" y="110961"/>
                      <a:pt x="277649" y="133350"/>
                      <a:pt x="250031" y="133350"/>
                    </a:cubicBezTo>
                    <a:lnTo>
                      <a:pt x="50006" y="133350"/>
                    </a:lnTo>
                    <a:cubicBezTo>
                      <a:pt x="22389" y="133350"/>
                      <a:pt x="0" y="110961"/>
                      <a:pt x="0" y="83344"/>
                    </a:cubicBez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88206" y="2828925"/>
                <a:ext cx="300038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33350">
                    <a:moveTo>
                      <a:pt x="0" y="50006"/>
                    </a:moveTo>
                    <a:cubicBezTo>
                      <a:pt x="0" y="22389"/>
                      <a:pt x="22389" y="0"/>
                      <a:pt x="50006" y="0"/>
                    </a:cubicBezTo>
                    <a:lnTo>
                      <a:pt x="250031" y="0"/>
                    </a:lnTo>
                    <a:cubicBezTo>
                      <a:pt x="277649" y="0"/>
                      <a:pt x="300038" y="22389"/>
                      <a:pt x="300038" y="50006"/>
                    </a:cubicBezTo>
                    <a:lnTo>
                      <a:pt x="300038" y="83344"/>
                    </a:lnTo>
                    <a:cubicBezTo>
                      <a:pt x="300038" y="110961"/>
                      <a:pt x="277649" y="133350"/>
                      <a:pt x="250031" y="133350"/>
                    </a:cubicBezTo>
                    <a:lnTo>
                      <a:pt x="50006" y="133350"/>
                    </a:lnTo>
                    <a:cubicBezTo>
                      <a:pt x="22389" y="133350"/>
                      <a:pt x="0" y="110961"/>
                      <a:pt x="0" y="83344"/>
                    </a:cubicBez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54881" y="276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54881" y="289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00556" y="26822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本地运行时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3226118"/>
              <a:ext cx="1885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+mn-lt"/>
                  <a:ea typeface="+mn-ea"/>
                  <a:cs typeface="+mn-cs"/>
                </a:rPr>
                <a:t>代码 · 进程 · 文件系统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1342" y="36071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隔离原语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33750" y="2400300"/>
              <a:ext cx="2324100" cy="1752600"/>
            </a:xfrm>
            <a:prstGeom prst="roundRect">
              <a:avLst>
                <a:gd name="adj" fmla="val 5435"/>
              </a:avLst>
            </a:prstGeom>
            <a:solidFill>
              <a:srgbClr val="172746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3612356" y="2678906"/>
              <a:ext cx="300037" cy="316707"/>
              <a:chOff x="3612356" y="2678906"/>
              <a:chExt cx="300037" cy="31670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662362" y="2678906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62375" y="2678906"/>
                <a:ext cx="333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200025">
                    <a:moveTo>
                      <a:pt x="0" y="0"/>
                    </a:moveTo>
                    <a:cubicBezTo>
                      <a:pt x="22219" y="5551"/>
                      <a:pt x="33338" y="38888"/>
                      <a:pt x="33338" y="100012"/>
                    </a:cubicBezTo>
                    <a:cubicBezTo>
                      <a:pt x="33338" y="161137"/>
                      <a:pt x="22219" y="194474"/>
                      <a:pt x="0" y="200025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729038" y="2678906"/>
                <a:ext cx="333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200025">
                    <a:moveTo>
                      <a:pt x="33338" y="0"/>
                    </a:moveTo>
                    <a:cubicBezTo>
                      <a:pt x="11118" y="5551"/>
                      <a:pt x="0" y="38888"/>
                      <a:pt x="0" y="100012"/>
                    </a:cubicBezTo>
                    <a:cubicBezTo>
                      <a:pt x="0" y="161137"/>
                      <a:pt x="11118" y="194474"/>
                      <a:pt x="33338" y="200025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662362" y="2778919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612356" y="2962275"/>
                <a:ext cx="1166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9525">
                    <a:moveTo>
                      <a:pt x="0" y="0"/>
                    </a:moveTo>
                    <a:lnTo>
                      <a:pt x="116681" y="0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795712" y="2962275"/>
                <a:ext cx="1166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9525">
                    <a:moveTo>
                      <a:pt x="0" y="0"/>
                    </a:moveTo>
                    <a:lnTo>
                      <a:pt x="116681" y="0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729038" y="29289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762375" y="2878931"/>
                <a:ext cx="9525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006">
                    <a:moveTo>
                      <a:pt x="0" y="0"/>
                    </a:moveTo>
                    <a:lnTo>
                      <a:pt x="0" y="50006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124706" y="2682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本地数据路径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5492" y="3226118"/>
              <a:ext cx="204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+mn-lt"/>
                  <a:ea typeface="+mn-ea"/>
                  <a:cs typeface="+mn-cs"/>
                </a:rPr>
                <a:t>模型 · 搜索 · telemetry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55492" y="36071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部署证据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57900" y="2400300"/>
              <a:ext cx="2324100" cy="1752600"/>
            </a:xfrm>
            <a:prstGeom prst="roundRect">
              <a:avLst>
                <a:gd name="adj" fmla="val 5435"/>
              </a:avLst>
            </a:prstGeom>
            <a:solidFill>
              <a:srgbClr val="1C2A4A"/>
            </a:solidFill>
            <a:ln w="28575">
              <a:solidFill>
                <a:srgbClr val="C2415B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329565" y="2678906"/>
              <a:ext cx="313921" cy="300038"/>
              <a:chOff x="6329565" y="2678906"/>
              <a:chExt cx="313921" cy="30003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329565" y="2678906"/>
                <a:ext cx="31392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13921" h="300038">
                    <a:moveTo>
                      <a:pt x="156960" y="0"/>
                    </a:moveTo>
                    <a:cubicBezTo>
                      <a:pt x="195896" y="34447"/>
                      <a:pt x="246713" y="52383"/>
                      <a:pt x="298645" y="50006"/>
                    </a:cubicBezTo>
                    <a:cubicBezTo>
                      <a:pt x="313921" y="101972"/>
                      <a:pt x="307470" y="157910"/>
                      <a:pt x="280766" y="205034"/>
                    </a:cubicBezTo>
                    <a:cubicBezTo>
                      <a:pt x="254062" y="252158"/>
                      <a:pt x="209390" y="286438"/>
                      <a:pt x="156960" y="300038"/>
                    </a:cubicBezTo>
                    <a:cubicBezTo>
                      <a:pt x="104531" y="286438"/>
                      <a:pt x="59858" y="252158"/>
                      <a:pt x="33155" y="205034"/>
                    </a:cubicBezTo>
                    <a:cubicBezTo>
                      <a:pt x="6451" y="157910"/>
                      <a:pt x="0" y="101972"/>
                      <a:pt x="15276" y="50006"/>
                    </a:cubicBezTo>
                    <a:cubicBezTo>
                      <a:pt x="67208" y="52383"/>
                      <a:pt x="118025" y="34447"/>
                      <a:pt x="156960" y="0"/>
                    </a:cubicBezTo>
                  </a:path>
                </a:pathLst>
              </a:custGeom>
              <a:noFill/>
              <a:ln w="33338">
                <a:solidFill>
                  <a:srgbClr val="C2415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69856" y="2795588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33338">
                <a:solidFill>
                  <a:srgbClr val="C2415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86525" y="2828925"/>
                <a:ext cx="9525" cy="4167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672">
                    <a:moveTo>
                      <a:pt x="0" y="0"/>
                    </a:moveTo>
                    <a:lnTo>
                      <a:pt x="0" y="41672"/>
                    </a:lnTo>
                  </a:path>
                </a:pathLst>
              </a:custGeom>
              <a:noFill/>
              <a:ln w="33338">
                <a:solidFill>
                  <a:srgbClr val="C2415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848856" y="2682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企业治理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79642" y="3226118"/>
              <a:ext cx="1885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+mn-lt"/>
                  <a:ea typeface="+mn-ea"/>
                  <a:cs typeface="+mn-cs"/>
                </a:rPr>
                <a:t>身份 · 审计 · 生命周期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9642" y="36071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B4C0"/>
                  </a:solidFill>
                  <a:latin typeface="+mn-lt"/>
                  <a:ea typeface="+mn-ea"/>
                  <a:cs typeface="+mn-cs"/>
                </a:rPr>
                <a:t>控制证据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782050" y="2209800"/>
              <a:ext cx="2800350" cy="2133600"/>
            </a:xfrm>
            <a:prstGeom prst="roundRect">
              <a:avLst>
                <a:gd name="adj" fmla="val 5357"/>
              </a:avLst>
            </a:prstGeom>
            <a:solidFill>
              <a:srgbClr val="E8F7ED"/>
            </a:solidFill>
            <a:ln w="38100">
              <a:solidFill>
                <a:schemeClr val="accent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043319" y="2653506"/>
              <a:ext cx="297656" cy="198437"/>
            </a:xfrm>
            <a:custGeom>
              <a:avLst/>
              <a:gdLst/>
              <a:ahLst/>
              <a:cxnLst/>
              <a:rect l="l" t="t" r="r" b="b"/>
              <a:pathLst>
                <a:path w="297656" h="198437">
                  <a:moveTo>
                    <a:pt x="0" y="99219"/>
                  </a:moveTo>
                  <a:lnTo>
                    <a:pt x="99219" y="198437"/>
                  </a:lnTo>
                  <a:lnTo>
                    <a:pt x="297656" y="0"/>
                  </a:lnTo>
                </a:path>
              </a:pathLst>
            </a:custGeom>
            <a:noFill/>
            <a:ln w="39687">
              <a:solidFill>
                <a:srgbClr val="15803D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57426" y="3074670"/>
              <a:ext cx="20495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5803D"/>
                  </a:solidFill>
                  <a:latin typeface="Cascadia Mono"/>
                  <a:ea typeface="Cascadia Mono"/>
                  <a:cs typeface="Cascadia Mono"/>
                </a:rPr>
                <a:t>PRODUCTION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75814" y="3588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三道门全部通过后才开放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19200" y="5334000"/>
            <a:ext cx="9753600" cy="609600"/>
            <a:chOff x="1219200" y="5334000"/>
            <a:chExt cx="9753600" cy="609600"/>
          </a:xfrm>
        </p:grpSpPr>
        <p:sp>
          <p:nvSpPr>
            <p:cNvPr id="48" name="Rectangle 48"/>
            <p:cNvSpPr/>
            <p:nvPr/>
          </p:nvSpPr>
          <p:spPr>
            <a:xfrm>
              <a:off x="1219200" y="5334000"/>
              <a:ext cx="9753600" cy="609600"/>
            </a:xfrm>
            <a:prstGeom prst="roundRect">
              <a:avLst>
                <a:gd name="adj" fmla="val 12500"/>
              </a:avLst>
            </a:prstGeom>
            <a:solidFill>
              <a:srgbClr val="17274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847411" y="5539740"/>
              <a:ext cx="6497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Cascadia Mono"/>
                  <a:ea typeface="Cascadia Mono"/>
                  <a:cs typeface="Cascadia Mono"/>
                </a:rPr>
                <a:t>ISOLATION PRIMITIVES ≠ ENTERPRISE CONTROL PLANE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51" name="TextBox 51"/>
            <p:cNvSpPr txBox="1"/>
            <p:nvPr/>
          </p:nvSpPr>
          <p:spPr>
            <a:xfrm>
              <a:off x="602742" y="6293168"/>
              <a:ext cx="53615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K-016 · K-017 · K-018 | CONTROL → EVIDENCE → GOVERNANCE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P16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rgbClr val="D7E0F1">
                <a:alpha val="65000"/>
              </a:srgb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501968"/>
            <a:ext cx="7688973" cy="974217"/>
            <a:chOff x="593598" y="501968"/>
            <a:chExt cx="7688973" cy="97421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01968"/>
              <a:ext cx="3095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ENTERPRISE / THREE QUESTIONS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60108"/>
              <a:ext cx="76889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Self-hosted 只回答了三分之一的问题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1752600"/>
            <a:ext cx="10972800" cy="3810000"/>
            <a:chOff x="609600" y="1752600"/>
            <a:chExt cx="10972800" cy="3810000"/>
          </a:xfrm>
        </p:grpSpPr>
        <p:sp>
          <p:nvSpPr>
            <p:cNvPr id="6" name="Line 6"/>
            <p:cNvSpPr/>
            <p:nvPr/>
          </p:nvSpPr>
          <p:spPr>
            <a:xfrm>
              <a:off x="3886200" y="36576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4324350" y="3581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7734300" y="36576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8172450" y="3581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752600"/>
              <a:ext cx="3276600" cy="3810000"/>
            </a:xfrm>
            <a:prstGeom prst="roundRect">
              <a:avLst>
                <a:gd name="adj" fmla="val 2907"/>
              </a:avLst>
            </a:prstGeom>
            <a:solidFill>
              <a:schemeClr val="accent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90587" y="2051050"/>
              <a:ext cx="314324" cy="279400"/>
              <a:chOff x="890587" y="2051050"/>
              <a:chExt cx="314324" cy="279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90587" y="2051050"/>
                <a:ext cx="314324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39700">
                    <a:moveTo>
                      <a:pt x="0" y="52387"/>
                    </a:moveTo>
                    <a:cubicBezTo>
                      <a:pt x="0" y="23455"/>
                      <a:pt x="23455" y="0"/>
                      <a:pt x="52387" y="0"/>
                    </a:cubicBezTo>
                    <a:lnTo>
                      <a:pt x="261937" y="0"/>
                    </a:lnTo>
                    <a:cubicBezTo>
                      <a:pt x="290870" y="0"/>
                      <a:pt x="314324" y="23455"/>
                      <a:pt x="314324" y="52387"/>
                    </a:cubicBezTo>
                    <a:lnTo>
                      <a:pt x="314324" y="87312"/>
                    </a:lnTo>
                    <a:cubicBezTo>
                      <a:pt x="314324" y="116245"/>
                      <a:pt x="290870" y="139700"/>
                      <a:pt x="261937" y="139700"/>
                    </a:cubicBezTo>
                    <a:lnTo>
                      <a:pt x="52387" y="139700"/>
                    </a:lnTo>
                    <a:cubicBezTo>
                      <a:pt x="23455" y="139700"/>
                      <a:pt x="0" y="116245"/>
                      <a:pt x="0" y="87312"/>
                    </a:cubicBezTo>
                    <a:lnTo>
                      <a:pt x="0" y="52387"/>
                    </a:lnTo>
                  </a:path>
                </a:pathLst>
              </a:custGeom>
              <a:noFill/>
              <a:ln w="34925">
                <a:solidFill>
                  <a:srgbClr val="F7FAF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90587" y="2190750"/>
                <a:ext cx="314324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39700">
                    <a:moveTo>
                      <a:pt x="0" y="52387"/>
                    </a:moveTo>
                    <a:cubicBezTo>
                      <a:pt x="0" y="23455"/>
                      <a:pt x="23455" y="0"/>
                      <a:pt x="52387" y="0"/>
                    </a:cubicBezTo>
                    <a:lnTo>
                      <a:pt x="261937" y="0"/>
                    </a:lnTo>
                    <a:cubicBezTo>
                      <a:pt x="290870" y="0"/>
                      <a:pt x="314324" y="23455"/>
                      <a:pt x="314324" y="52387"/>
                    </a:cubicBezTo>
                    <a:lnTo>
                      <a:pt x="314324" y="87312"/>
                    </a:lnTo>
                    <a:cubicBezTo>
                      <a:pt x="314324" y="116245"/>
                      <a:pt x="290870" y="139700"/>
                      <a:pt x="261937" y="139700"/>
                    </a:cubicBezTo>
                    <a:lnTo>
                      <a:pt x="52387" y="139700"/>
                    </a:lnTo>
                    <a:cubicBezTo>
                      <a:pt x="23455" y="139700"/>
                      <a:pt x="0" y="116245"/>
                      <a:pt x="0" y="87312"/>
                    </a:cubicBezTo>
                    <a:lnTo>
                      <a:pt x="0" y="52387"/>
                    </a:lnTo>
                  </a:path>
                </a:pathLst>
              </a:custGeom>
              <a:noFill/>
              <a:ln w="34925">
                <a:solidFill>
                  <a:srgbClr val="F7FAF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60437" y="2120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7FAF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60437" y="22605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7FAF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38656" y="2072640"/>
              <a:ext cx="20761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1 · Runtime local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342" y="2749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056" y="3063240"/>
              <a:ext cx="145846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代码与进程</a:t>
              </a:r>
              <a:br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在哪里运行？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8200" y="40957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342" y="4369118"/>
              <a:ext cx="156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+mn-lt"/>
                  <a:ea typeface="+mn-ea"/>
                  <a:cs typeface="+mn-cs"/>
                </a:rPr>
                <a:t>当前 Harness 证据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4815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已有原语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57700" y="1752600"/>
              <a:ext cx="3276600" cy="3810000"/>
            </a:xfrm>
            <a:prstGeom prst="roundRect">
              <a:avLst>
                <a:gd name="adj" fmla="val 2907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738687" y="2033587"/>
              <a:ext cx="314325" cy="331787"/>
              <a:chOff x="4738687" y="2033587"/>
              <a:chExt cx="314325" cy="33178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791075" y="2033587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0" y="104775"/>
                    </a:moveTo>
                    <a:cubicBezTo>
                      <a:pt x="0" y="162640"/>
                      <a:pt x="46909" y="209550"/>
                      <a:pt x="104775" y="209550"/>
                    </a:cubicBezTo>
                    <a:cubicBezTo>
                      <a:pt x="162640" y="209550"/>
                      <a:pt x="209550" y="162640"/>
                      <a:pt x="209550" y="104775"/>
                    </a:cubicBezTo>
                    <a:cubicBezTo>
                      <a:pt x="209550" y="46909"/>
                      <a:pt x="162640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895850" y="2033587"/>
                <a:ext cx="349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09550">
                    <a:moveTo>
                      <a:pt x="0" y="0"/>
                    </a:moveTo>
                    <a:cubicBezTo>
                      <a:pt x="23277" y="5815"/>
                      <a:pt x="34925" y="40740"/>
                      <a:pt x="34925" y="104775"/>
                    </a:cubicBezTo>
                    <a:cubicBezTo>
                      <a:pt x="34925" y="168810"/>
                      <a:pt x="23277" y="203735"/>
                      <a:pt x="0" y="209550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860925" y="2033587"/>
                <a:ext cx="349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09550">
                    <a:moveTo>
                      <a:pt x="34925" y="0"/>
                    </a:moveTo>
                    <a:cubicBezTo>
                      <a:pt x="11647" y="5815"/>
                      <a:pt x="0" y="40740"/>
                      <a:pt x="0" y="104775"/>
                    </a:cubicBezTo>
                    <a:cubicBezTo>
                      <a:pt x="0" y="168810"/>
                      <a:pt x="11647" y="203735"/>
                      <a:pt x="34925" y="209550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91075" y="2138362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738687" y="2330449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930775" y="2330449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860925" y="229552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895850" y="2243137"/>
                <a:ext cx="9525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7">
                    <a:moveTo>
                      <a:pt x="0" y="0"/>
                    </a:moveTo>
                    <a:lnTo>
                      <a:pt x="0" y="52387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286756" y="2072640"/>
              <a:ext cx="1658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· Data path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79442" y="2749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77918" y="3079432"/>
              <a:ext cx="2239042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模型、搜索、Plugin 与</a:t>
              </a:r>
              <a:br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telemetry 去哪里？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686300" y="40957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A9B7D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79442" y="4369118"/>
              <a:ext cx="156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 Harness 证据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77156" y="48158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可配置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05800" y="1752600"/>
              <a:ext cx="3276600" cy="3810000"/>
            </a:xfrm>
            <a:prstGeom prst="roundRect">
              <a:avLst>
                <a:gd name="adj" fmla="val 2907"/>
              </a:avLst>
            </a:prstGeom>
            <a:solidFill>
              <a:srgbClr val="FFF0F2"/>
            </a:solidFill>
            <a:ln w="28575">
              <a:solidFill>
                <a:srgbClr val="C2415B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579515" y="2033587"/>
              <a:ext cx="328869" cy="314324"/>
              <a:chOff x="8579515" y="2033587"/>
              <a:chExt cx="328869" cy="31432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579515" y="2033587"/>
                <a:ext cx="328869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28869" h="314324">
                    <a:moveTo>
                      <a:pt x="164434" y="0"/>
                    </a:moveTo>
                    <a:cubicBezTo>
                      <a:pt x="205224" y="36088"/>
                      <a:pt x="258461" y="54877"/>
                      <a:pt x="312865" y="52387"/>
                    </a:cubicBezTo>
                    <a:cubicBezTo>
                      <a:pt x="328869" y="106827"/>
                      <a:pt x="322110" y="165430"/>
                      <a:pt x="294135" y="214798"/>
                    </a:cubicBezTo>
                    <a:cubicBezTo>
                      <a:pt x="266160" y="264165"/>
                      <a:pt x="219360" y="300078"/>
                      <a:pt x="164434" y="314324"/>
                    </a:cubicBezTo>
                    <a:cubicBezTo>
                      <a:pt x="109509" y="300078"/>
                      <a:pt x="62709" y="264165"/>
                      <a:pt x="34734" y="214798"/>
                    </a:cubicBezTo>
                    <a:cubicBezTo>
                      <a:pt x="6758" y="165430"/>
                      <a:pt x="0" y="106827"/>
                      <a:pt x="16003" y="52387"/>
                    </a:cubicBezTo>
                    <a:cubicBezTo>
                      <a:pt x="70408" y="54877"/>
                      <a:pt x="123645" y="36088"/>
                      <a:pt x="164434" y="0"/>
                    </a:cubicBezTo>
                  </a:path>
                </a:pathLst>
              </a:custGeom>
              <a:noFill/>
              <a:ln w="34925">
                <a:solidFill>
                  <a:srgbClr val="C2415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26487" y="215582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34925">
                <a:solidFill>
                  <a:srgbClr val="C2415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43950" y="2190750"/>
                <a:ext cx="9525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656">
                    <a:moveTo>
                      <a:pt x="0" y="0"/>
                    </a:moveTo>
                    <a:lnTo>
                      <a:pt x="0" y="43656"/>
                    </a:lnTo>
                  </a:path>
                </a:pathLst>
              </a:custGeom>
              <a:noFill/>
              <a:ln w="34925">
                <a:solidFill>
                  <a:srgbClr val="C2415B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059418" y="2088832"/>
              <a:ext cx="2299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· Control evidence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27542" y="2749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26399" y="3087529"/>
              <a:ext cx="2333625" cy="593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谁能访问、审批、审计、</a:t>
              </a:r>
              <a:br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升级并对结果负责？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534400" y="43243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E9A3A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27542" y="4597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当前公开证据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26018" y="50225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公开证据缺口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50" name="TextBox 50"/>
            <p:cNvSpPr txBox="1"/>
            <p:nvPr/>
          </p:nvSpPr>
          <p:spPr>
            <a:xfrm>
              <a:off x="602742" y="6293168"/>
              <a:ext cx="6849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K-016 · K-017 · K-018 · K-031 | LOCATION ≠ DATA PATH ≠ CONTROL EVIDENCE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P17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rgbClr val="D7E0F1">
                <a:alpha val="65000"/>
              </a:srgb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501968"/>
            <a:ext cx="9258737" cy="974217"/>
            <a:chOff x="593598" y="501968"/>
            <a:chExt cx="9258737" cy="97421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01968"/>
              <a:ext cx="3909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SECURITY BOUNDARY / ACTUAL COVERAGE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60108"/>
              <a:ext cx="92587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Sandbox 只约束 File Effects 与 Same-world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09600" y="1657350"/>
            <a:ext cx="10972800" cy="3581400"/>
            <a:chOff x="609600" y="1657350"/>
            <a:chExt cx="10972800" cy="3581400"/>
          </a:xfrm>
        </p:grpSpPr>
        <p:sp>
          <p:nvSpPr>
            <p:cNvPr id="6" name="Line 6"/>
            <p:cNvSpPr/>
            <p:nvPr/>
          </p:nvSpPr>
          <p:spPr>
            <a:xfrm>
              <a:off x="4038600" y="2114550"/>
              <a:ext cx="1104900" cy="895350"/>
            </a:xfrm>
            <a:custGeom>
              <a:avLst/>
              <a:gdLst/>
              <a:ahLst/>
              <a:cxnLst/>
              <a:rect l="l" t="t" r="r" b="b"/>
              <a:pathLst>
                <a:path w="1104900" h="895350">
                  <a:moveTo>
                    <a:pt x="0" y="0"/>
                  </a:moveTo>
                  <a:lnTo>
                    <a:pt x="1104900" y="8953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340995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38600" y="3810000"/>
              <a:ext cx="1104900" cy="895350"/>
            </a:xfrm>
            <a:custGeom>
              <a:avLst/>
              <a:gdLst/>
              <a:ahLst/>
              <a:cxnLst/>
              <a:rect l="l" t="t" r="r" b="b"/>
              <a:pathLst>
                <a:path w="1104900" h="895350">
                  <a:moveTo>
                    <a:pt x="0" y="895350"/>
                  </a:moveTo>
                  <a:lnTo>
                    <a:pt x="11049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048500" y="2114550"/>
              <a:ext cx="1104900" cy="895350"/>
            </a:xfrm>
            <a:custGeom>
              <a:avLst/>
              <a:gdLst/>
              <a:ahLst/>
              <a:cxnLst/>
              <a:rect l="l" t="t" r="r" b="b"/>
              <a:pathLst>
                <a:path w="1104900" h="895350">
                  <a:moveTo>
                    <a:pt x="0" y="895350"/>
                  </a:moveTo>
                  <a:lnTo>
                    <a:pt x="11049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048500" y="340995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048500" y="3810000"/>
              <a:ext cx="1104900" cy="895350"/>
            </a:xfrm>
            <a:custGeom>
              <a:avLst/>
              <a:gdLst/>
              <a:ahLst/>
              <a:cxnLst/>
              <a:rect l="l" t="t" r="r" b="b"/>
              <a:pathLst>
                <a:path w="1104900" h="895350">
                  <a:moveTo>
                    <a:pt x="0" y="0"/>
                  </a:moveTo>
                  <a:lnTo>
                    <a:pt x="1104900" y="8953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143500" y="2667000"/>
              <a:ext cx="1905000" cy="1485900"/>
            </a:xfrm>
            <a:prstGeom prst="roundRect">
              <a:avLst>
                <a:gd name="adj" fmla="val 7692"/>
              </a:avLst>
            </a:prstGeom>
            <a:solidFill>
              <a:schemeClr val="accent1"/>
            </a:solidFill>
            <a:ln w="38100">
              <a:solidFill>
                <a:schemeClr val="accent2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917406" y="2917031"/>
              <a:ext cx="357187" cy="357187"/>
              <a:chOff x="5917406" y="2917031"/>
              <a:chExt cx="357187" cy="35718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957094" y="2956719"/>
                <a:ext cx="277812" cy="277812"/>
              </a:xfrm>
              <a:custGeom>
                <a:avLst/>
                <a:gdLst/>
                <a:ahLst/>
                <a:cxnLst/>
                <a:rect l="l" t="t" r="r" b="b"/>
                <a:pathLst>
                  <a:path w="277812" h="277812">
                    <a:moveTo>
                      <a:pt x="0" y="19844"/>
                    </a:moveTo>
                    <a:cubicBezTo>
                      <a:pt x="0" y="8884"/>
                      <a:pt x="8884" y="0"/>
                      <a:pt x="19844" y="0"/>
                    </a:cubicBezTo>
                    <a:lnTo>
                      <a:pt x="257968" y="0"/>
                    </a:lnTo>
                    <a:cubicBezTo>
                      <a:pt x="268928" y="0"/>
                      <a:pt x="277812" y="8884"/>
                      <a:pt x="277812" y="19844"/>
                    </a:cubicBezTo>
                    <a:lnTo>
                      <a:pt x="277812" y="257968"/>
                    </a:lnTo>
                    <a:cubicBezTo>
                      <a:pt x="277812" y="268928"/>
                      <a:pt x="268928" y="277812"/>
                      <a:pt x="257968" y="277812"/>
                    </a:cubicBezTo>
                    <a:lnTo>
                      <a:pt x="19844" y="277812"/>
                    </a:lnTo>
                    <a:cubicBezTo>
                      <a:pt x="8884" y="277812"/>
                      <a:pt x="0" y="268928"/>
                      <a:pt x="0" y="257968"/>
                    </a:cubicBezTo>
                    <a:lnTo>
                      <a:pt x="0" y="19844"/>
                    </a:lnTo>
                  </a:path>
                </a:pathLst>
              </a:custGeom>
              <a:noFill/>
              <a:ln w="39687">
                <a:solidFill>
                  <a:srgbClr val="F7FAF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36468" y="3036093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119062"/>
                    </a:lnTo>
                    <a:lnTo>
                      <a:pt x="0" y="119062"/>
                    </a:lnTo>
                    <a:lnTo>
                      <a:pt x="0" y="0"/>
                    </a:lnTo>
                  </a:path>
                </a:pathLst>
              </a:custGeom>
              <a:noFill/>
              <a:ln w="39687">
                <a:solidFill>
                  <a:srgbClr val="F7FAF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917406" y="3055937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39687">
                <a:solidFill>
                  <a:srgbClr val="F7FAF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917406" y="3135312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39687">
                <a:solidFill>
                  <a:srgbClr val="F7FAF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6312" y="291703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39687">
                <a:solidFill>
                  <a:srgbClr val="F7FAF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135687" y="291703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39687">
                <a:solidFill>
                  <a:srgbClr val="F7FAF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234906" y="3055937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39687" y="0"/>
                    </a:moveTo>
                    <a:lnTo>
                      <a:pt x="0" y="0"/>
                    </a:lnTo>
                  </a:path>
                </a:pathLst>
              </a:custGeom>
              <a:noFill/>
              <a:ln w="39687">
                <a:solidFill>
                  <a:srgbClr val="F7FAF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234906" y="3135312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39687" y="0"/>
                    </a:moveTo>
                    <a:lnTo>
                      <a:pt x="0" y="0"/>
                    </a:lnTo>
                  </a:path>
                </a:pathLst>
              </a:custGeom>
              <a:noFill/>
              <a:ln w="39687">
                <a:solidFill>
                  <a:srgbClr val="F7FAF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135687" y="323453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39687"/>
                    </a:moveTo>
                    <a:lnTo>
                      <a:pt x="0" y="0"/>
                    </a:lnTo>
                  </a:path>
                </a:pathLst>
              </a:custGeom>
              <a:noFill/>
              <a:ln w="39687">
                <a:solidFill>
                  <a:srgbClr val="F7FAF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056312" y="323453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39687"/>
                    </a:moveTo>
                    <a:lnTo>
                      <a:pt x="0" y="0"/>
                    </a:lnTo>
                  </a:path>
                </a:pathLst>
              </a:custGeom>
              <a:noFill/>
              <a:ln w="39687">
                <a:solidFill>
                  <a:srgbClr val="F7FAF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590946" y="3379470"/>
              <a:ext cx="10101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97501" y="3832860"/>
              <a:ext cx="2196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9F4F7"/>
                  </a:solidFill>
                  <a:latin typeface="Cascadia Mono"/>
                  <a:ea typeface="Cascadia Mono"/>
                  <a:cs typeface="Cascadia Mono"/>
                </a:rPr>
                <a:t>SIX DATA-FLOW BOUNDARIES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9600" y="1657350"/>
              <a:ext cx="3429000" cy="990600"/>
            </a:xfrm>
            <a:prstGeom prst="roundRect">
              <a:avLst>
                <a:gd name="adj" fmla="val 7692"/>
              </a:avLst>
            </a:prstGeom>
            <a:solidFill>
              <a:srgbClr val="E8F7ED"/>
            </a:solidFill>
            <a:ln w="19050">
              <a:solidFill>
                <a:srgbClr val="15803D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34962" y="1888331"/>
              <a:ext cx="254127" cy="242888"/>
              <a:chOff x="834962" y="1888331"/>
              <a:chExt cx="254127" cy="2428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34962" y="1888331"/>
                <a:ext cx="254127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54127" h="242888">
                    <a:moveTo>
                      <a:pt x="127063" y="0"/>
                    </a:moveTo>
                    <a:cubicBezTo>
                      <a:pt x="158583" y="27886"/>
                      <a:pt x="199720" y="42405"/>
                      <a:pt x="241761" y="40481"/>
                    </a:cubicBezTo>
                    <a:cubicBezTo>
                      <a:pt x="254127" y="82549"/>
                      <a:pt x="248904" y="127833"/>
                      <a:pt x="227287" y="165981"/>
                    </a:cubicBezTo>
                    <a:cubicBezTo>
                      <a:pt x="205670" y="204129"/>
                      <a:pt x="169506" y="231879"/>
                      <a:pt x="127063" y="242888"/>
                    </a:cubicBezTo>
                    <a:cubicBezTo>
                      <a:pt x="84621" y="231879"/>
                      <a:pt x="48457" y="204129"/>
                      <a:pt x="26840" y="165981"/>
                    </a:cubicBezTo>
                    <a:cubicBezTo>
                      <a:pt x="5222" y="127833"/>
                      <a:pt x="0" y="82549"/>
                      <a:pt x="12366" y="40481"/>
                    </a:cubicBezTo>
                    <a:cubicBezTo>
                      <a:pt x="54407" y="42405"/>
                      <a:pt x="95544" y="27886"/>
                      <a:pt x="127063" y="0"/>
                    </a:cubicBezTo>
                  </a:path>
                </a:pathLst>
              </a:custGeom>
              <a:noFill/>
              <a:ln w="26988">
                <a:solidFill>
                  <a:srgbClr val="15803D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48532" y="1982788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rgbClr val="15803D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62025" y="2009775"/>
                <a:ext cx="952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734">
                    <a:moveTo>
                      <a:pt x="0" y="0"/>
                    </a:moveTo>
                    <a:lnTo>
                      <a:pt x="0" y="33734"/>
                    </a:lnTo>
                  </a:path>
                </a:pathLst>
              </a:custGeom>
              <a:noFill/>
              <a:ln w="26988">
                <a:solidFill>
                  <a:srgbClr val="15803D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287018" y="1898332"/>
              <a:ext cx="9219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Sandbox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004" y="2251710"/>
              <a:ext cx="2427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覆盖 file effects · same-world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75154" y="2251710"/>
              <a:ext cx="2340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Windows 仍可见读、网络与进程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9600" y="2952750"/>
              <a:ext cx="3429000" cy="9906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40581" y="3183734"/>
              <a:ext cx="242885" cy="242885"/>
              <a:chOff x="840581" y="3183734"/>
              <a:chExt cx="242885" cy="24288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40581" y="3183734"/>
                <a:ext cx="242885" cy="242885"/>
              </a:xfrm>
              <a:custGeom>
                <a:avLst/>
                <a:gdLst/>
                <a:ahLst/>
                <a:cxnLst/>
                <a:rect l="l" t="t" r="r" b="b"/>
                <a:pathLst>
                  <a:path w="242885" h="242885">
                    <a:moveTo>
                      <a:pt x="182908" y="11373"/>
                    </a:moveTo>
                    <a:lnTo>
                      <a:pt x="231513" y="59977"/>
                    </a:lnTo>
                    <a:cubicBezTo>
                      <a:pt x="238795" y="67258"/>
                      <a:pt x="242885" y="77133"/>
                      <a:pt x="242885" y="87430"/>
                    </a:cubicBezTo>
                    <a:cubicBezTo>
                      <a:pt x="242885" y="97728"/>
                      <a:pt x="238795" y="107603"/>
                      <a:pt x="231513" y="114883"/>
                    </a:cubicBezTo>
                    <a:lnTo>
                      <a:pt x="195849" y="150548"/>
                    </a:lnTo>
                    <a:cubicBezTo>
                      <a:pt x="188568" y="157829"/>
                      <a:pt x="178693" y="161920"/>
                      <a:pt x="168396" y="161920"/>
                    </a:cubicBezTo>
                    <a:cubicBezTo>
                      <a:pt x="158099" y="161920"/>
                      <a:pt x="148223" y="157829"/>
                      <a:pt x="140943" y="150548"/>
                    </a:cubicBezTo>
                    <a:lnTo>
                      <a:pt x="136881" y="146486"/>
                    </a:lnTo>
                    <a:lnTo>
                      <a:pt x="48389" y="234978"/>
                    </a:lnTo>
                    <a:cubicBezTo>
                      <a:pt x="43905" y="239461"/>
                      <a:pt x="37986" y="242222"/>
                      <a:pt x="31670" y="242778"/>
                    </a:cubicBezTo>
                    <a:lnTo>
                      <a:pt x="29308" y="242885"/>
                    </a:lnTo>
                    <a:lnTo>
                      <a:pt x="13494" y="242885"/>
                    </a:lnTo>
                    <a:cubicBezTo>
                      <a:pt x="6653" y="242885"/>
                      <a:pt x="895" y="237764"/>
                      <a:pt x="94" y="230970"/>
                    </a:cubicBezTo>
                    <a:lnTo>
                      <a:pt x="0" y="229392"/>
                    </a:lnTo>
                    <a:lnTo>
                      <a:pt x="0" y="213577"/>
                    </a:lnTo>
                    <a:cubicBezTo>
                      <a:pt x="2" y="207241"/>
                      <a:pt x="2232" y="201108"/>
                      <a:pt x="6302" y="196251"/>
                    </a:cubicBezTo>
                    <a:lnTo>
                      <a:pt x="7907" y="194497"/>
                    </a:lnTo>
                    <a:lnTo>
                      <a:pt x="13494" y="188910"/>
                    </a:lnTo>
                    <a:lnTo>
                      <a:pt x="40481" y="188910"/>
                    </a:lnTo>
                    <a:lnTo>
                      <a:pt x="40481" y="161923"/>
                    </a:lnTo>
                    <a:lnTo>
                      <a:pt x="67469" y="161923"/>
                    </a:lnTo>
                    <a:lnTo>
                      <a:pt x="67469" y="134935"/>
                    </a:lnTo>
                    <a:lnTo>
                      <a:pt x="96400" y="106005"/>
                    </a:lnTo>
                    <a:lnTo>
                      <a:pt x="92338" y="101943"/>
                    </a:lnTo>
                    <a:cubicBezTo>
                      <a:pt x="85056" y="94662"/>
                      <a:pt x="80965" y="84787"/>
                      <a:pt x="80965" y="74490"/>
                    </a:cubicBezTo>
                    <a:cubicBezTo>
                      <a:pt x="80965" y="64193"/>
                      <a:pt x="85056" y="54317"/>
                      <a:pt x="92338" y="47037"/>
                    </a:cubicBezTo>
                    <a:lnTo>
                      <a:pt x="128002" y="11373"/>
                    </a:lnTo>
                    <a:cubicBezTo>
                      <a:pt x="135283" y="4091"/>
                      <a:pt x="145158" y="0"/>
                      <a:pt x="155455" y="0"/>
                    </a:cubicBezTo>
                    <a:cubicBezTo>
                      <a:pt x="165752" y="0"/>
                      <a:pt x="175628" y="4091"/>
                      <a:pt x="182908" y="11373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02507" y="326469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287018" y="3193732"/>
              <a:ext cx="13178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Credentials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4004" y="3547110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0700 / 0600 文件权限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37054" y="3547110"/>
              <a:ext cx="1338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不隔离同 UID Tool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4248150"/>
              <a:ext cx="3429000" cy="9906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54075" y="4479131"/>
              <a:ext cx="215901" cy="242888"/>
              <a:chOff x="854075" y="4479131"/>
              <a:chExt cx="215901" cy="24288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54075" y="44791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54075" y="45196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54075" y="46005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287018" y="4489132"/>
              <a:ext cx="1376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Persistence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4004" y="4842510"/>
              <a:ext cx="1501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JSONL append-only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84654" y="48425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不等于自动删除与防篡改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153400" y="1657350"/>
              <a:ext cx="3429000" cy="990600"/>
            </a:xfrm>
            <a:prstGeom prst="roundRect">
              <a:avLst>
                <a:gd name="adj" fmla="val 7692"/>
              </a:avLst>
            </a:prstGeom>
            <a:solidFill>
              <a:srgbClr val="FFF3E0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384381" y="1888331"/>
              <a:ext cx="242888" cy="242888"/>
              <a:chOff x="8384381" y="1888331"/>
              <a:chExt cx="242888" cy="242888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4381" y="18883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92478" y="1969294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92478" y="2050257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452700" y="188833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46379" y="0"/>
                    </a:moveTo>
                    <a:cubicBezTo>
                      <a:pt x="0" y="74321"/>
                      <a:pt x="0" y="168567"/>
                      <a:pt x="46379" y="2428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512572" y="188833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0" y="0"/>
                    </a:moveTo>
                    <a:cubicBezTo>
                      <a:pt x="46379" y="74321"/>
                      <a:pt x="46379" y="168567"/>
                      <a:pt x="0" y="2428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8830818" y="1898332"/>
              <a:ext cx="10972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Outbound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37804" y="2175510"/>
              <a:ext cx="1545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Web search 默认 ON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37804" y="2385060"/>
              <a:ext cx="1927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fetch + Session FTS OFF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153400" y="2952750"/>
              <a:ext cx="3429000" cy="9906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8384381" y="319722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chemeClr val="accent3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830818" y="3193732"/>
              <a:ext cx="11667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Telemetry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37804" y="3547110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默认 OFF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85554" y="3470910"/>
              <a:ext cx="18028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开启后可含 prompt、Tool</a:t>
              </a:r>
              <a:br/>
              <a:r>
                <a:rPr lang="zh-CN" sz="1200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文件与 cwd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153400" y="4248150"/>
              <a:ext cx="3429000" cy="990600"/>
            </a:xfrm>
            <a:prstGeom prst="roundRect">
              <a:avLst>
                <a:gd name="adj" fmla="val 7692"/>
              </a:avLst>
            </a:prstGeom>
            <a:solidFill>
              <a:srgbClr val="FFF0F2"/>
            </a:solidFill>
            <a:ln w="19050">
              <a:solidFill>
                <a:srgbClr val="C2415B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384381" y="4479131"/>
              <a:ext cx="242888" cy="256382"/>
              <a:chOff x="8384381" y="4479131"/>
              <a:chExt cx="242888" cy="256382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8424863" y="447913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3"/>
                    </a:moveTo>
                    <a:cubicBezTo>
                      <a:pt x="0" y="125677"/>
                      <a:pt x="36248" y="161925"/>
                      <a:pt x="80963" y="161925"/>
                    </a:cubicBezTo>
                    <a:cubicBezTo>
                      <a:pt x="125677" y="161925"/>
                      <a:pt x="161925" y="125677"/>
                      <a:pt x="161925" y="80963"/>
                    </a:cubicBezTo>
                    <a:cubicBezTo>
                      <a:pt x="161925" y="36248"/>
                      <a:pt x="125677" y="0"/>
                      <a:pt x="80963" y="0"/>
                    </a:cubicBezTo>
                    <a:cubicBezTo>
                      <a:pt x="36248" y="0"/>
                      <a:pt x="0" y="36248"/>
                      <a:pt x="0" y="80963"/>
                    </a:cubicBezTo>
                  </a:path>
                </a:pathLst>
              </a:custGeom>
              <a:noFill/>
              <a:ln w="26988">
                <a:solidFill>
                  <a:srgbClr val="C2415B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05825" y="44791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0" y="0"/>
                    </a:moveTo>
                    <a:cubicBezTo>
                      <a:pt x="17987" y="4493"/>
                      <a:pt x="26988" y="31481"/>
                      <a:pt x="26988" y="80963"/>
                    </a:cubicBezTo>
                    <a:cubicBezTo>
                      <a:pt x="26988" y="130444"/>
                      <a:pt x="17987" y="157432"/>
                      <a:pt x="0" y="161925"/>
                    </a:cubicBezTo>
                  </a:path>
                </a:pathLst>
              </a:custGeom>
              <a:noFill/>
              <a:ln w="26988">
                <a:solidFill>
                  <a:srgbClr val="C2415B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478838" y="44791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26988" y="0"/>
                    </a:moveTo>
                    <a:cubicBezTo>
                      <a:pt x="9000" y="4493"/>
                      <a:pt x="0" y="31481"/>
                      <a:pt x="0" y="80963"/>
                    </a:cubicBezTo>
                    <a:cubicBezTo>
                      <a:pt x="0" y="130444"/>
                      <a:pt x="9000" y="157432"/>
                      <a:pt x="26988" y="161925"/>
                    </a:cubicBezTo>
                  </a:path>
                </a:pathLst>
              </a:custGeom>
              <a:noFill/>
              <a:ln w="26988">
                <a:solidFill>
                  <a:srgbClr val="C2415B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424863" y="456009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26988">
                <a:solidFill>
                  <a:srgbClr val="C2415B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4381" y="4708526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26988">
                <a:solidFill>
                  <a:srgbClr val="C2415B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32813" y="4708526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26988">
                <a:solidFill>
                  <a:srgbClr val="C2415B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478838" y="46815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C2415B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505825" y="4641057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C2415B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8830818" y="4489132"/>
              <a:ext cx="15522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 boundary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337804" y="4842510"/>
              <a:ext cx="1542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Host / Origin fence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28454" y="4842510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不等于 authentication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19200" y="5467350"/>
            <a:ext cx="9753600" cy="514350"/>
            <a:chOff x="1219200" y="5467350"/>
            <a:chExt cx="9753600" cy="514350"/>
          </a:xfrm>
        </p:grpSpPr>
        <p:sp>
          <p:nvSpPr>
            <p:cNvPr id="78" name="Rectangle 78"/>
            <p:cNvSpPr/>
            <p:nvPr/>
          </p:nvSpPr>
          <p:spPr>
            <a:xfrm>
              <a:off x="1219200" y="5467350"/>
              <a:ext cx="9753600" cy="514350"/>
            </a:xfrm>
            <a:prstGeom prst="roundRect">
              <a:avLst>
                <a:gd name="adj" fmla="val 12963"/>
              </a:avLst>
            </a:prstGeom>
            <a:solidFill>
              <a:schemeClr val="accen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2711920" y="5654992"/>
              <a:ext cx="6768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AFC"/>
                  </a:solidFill>
                  <a:latin typeface="Cascadia Mono"/>
                  <a:ea typeface="Cascadia Mono"/>
                  <a:cs typeface="Cascadia Mono"/>
                </a:rPr>
                <a:t>FAIL-CLOSED ≠ FULL ISOLATION · APPEND-ONLY ≠ TAMPER-EVIDENT AUDIT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81" name="TextBox 81"/>
            <p:cNvSpPr txBox="1"/>
            <p:nvPr/>
          </p:nvSpPr>
          <p:spPr>
            <a:xfrm>
              <a:off x="602742" y="6293168"/>
              <a:ext cx="4641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K-017 · K-031 · K-032 | STATE COVERAGE PRECISELY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P18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rgbClr val="D7E0F1">
                <a:alpha val="65000"/>
              </a:srgb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93598" y="425768"/>
            <a:ext cx="10995660" cy="1064133"/>
            <a:chOff x="593598" y="425768"/>
            <a:chExt cx="10995660" cy="10641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25768"/>
              <a:ext cx="6667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ENTERPRISE GAP / IDENTITY · EXECUTION · DATA · AUDIT · LIFECYCLE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688658"/>
              <a:ext cx="74039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 Gap 集中在公开证据与责任边界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742" y="1225868"/>
              <a:ext cx="3939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企业就绪取决于可验证控制，而不是 Plugin 数量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290456" y="1225868"/>
              <a:ext cx="2298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ascadia Mono"/>
                  <a:ea typeface="Cascadia Mono"/>
                  <a:cs typeface="Cascadia Mono"/>
                </a:rPr>
                <a:t>NATIVE MATRIX / EDITABLE</a:t>
              </a:r>
            </a:p>
          </p:txBody>
        </p:sp>
      </p:grpSp>
      <p:graphicFrame>
        <p:nvGraphicFramePr>
          <p:cNvPr id="8" name="enterprise-gap-matrix"/>
          <p:cNvGraphicFramePr>
            <a:graphicFrameLocks noGrp="1"/>
          </p:cNvGraphicFramePr>
          <p:nvPr/>
        </p:nvGraphicFramePr>
        <p:xfrm>
          <a:off x="609600" y="1752600"/>
          <a:ext cx="10972800" cy="4000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95500"/>
                <a:gridCol w="2476500"/>
                <a:gridCol w="3810000"/>
                <a:gridCol w="25908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chemeClr val="accent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控制域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chemeClr val="accent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Harness 表面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9A4D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企业所需控制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chemeClr val="accent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 / 证据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 / 租户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 / Origin fence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4D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SSO · RBAC · 工作区隔离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C241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 · 公开缺口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0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执行隔离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 sandbox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4D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 · 进程 · 远程隔离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C241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 · 公开缺口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0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秘钥 / 数据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file + env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4D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Vault/KMS · DLP · 驻留证据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C241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 · 公开缺口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0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审计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Session JSONL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4D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脱敏 · 留存 · 防篡改证据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C241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 · 公开缺口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0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生命周期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developer preview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4D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LTS · SBOM · CVE · SLA · 支持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C241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 · 公开缺口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0F2"/>
                    </a:solidFill>
                  </a:tcPr>
                </a:tc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02742" y="6293168"/>
              <a:ext cx="51887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K-017 · K-018 | IDENTITY · ISOLATION · AUDIT · LIFECYCLE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P19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34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3598" y="597218"/>
            <a:ext cx="10995660" cy="1012317"/>
            <a:chOff x="593598" y="597218"/>
            <a:chExt cx="10995660" cy="101231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97218"/>
              <a:ext cx="3076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SECTION 04 / MARKET POSITION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722510" y="597218"/>
              <a:ext cx="1866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BUYER · JOB · LAYER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3598" y="993458"/>
              <a:ext cx="647124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04 · 市场：Agent 不是一个市场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47750" y="2000250"/>
            <a:ext cx="10096500" cy="3333750"/>
            <a:chOff x="1047750" y="2000250"/>
            <a:chExt cx="10096500" cy="3333750"/>
          </a:xfrm>
        </p:grpSpPr>
        <p:sp>
          <p:nvSpPr>
            <p:cNvPr id="7" name="Rectangle 7"/>
            <p:cNvSpPr/>
            <p:nvPr/>
          </p:nvSpPr>
          <p:spPr>
            <a:xfrm>
              <a:off x="1047750" y="3905250"/>
              <a:ext cx="2857500" cy="1428750"/>
            </a:xfrm>
            <a:prstGeom prst="roundRect">
              <a:avLst>
                <a:gd name="adj" fmla="val 6667"/>
              </a:avLst>
            </a:prstGeom>
            <a:solidFill>
              <a:srgbClr val="172746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343025" y="4216400"/>
              <a:ext cx="285751" cy="254001"/>
              <a:chOff x="1343025" y="4216400"/>
              <a:chExt cx="285751" cy="25400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343025" y="42799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565276" y="42799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454150" y="4216400"/>
                <a:ext cx="6350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1">
                    <a:moveTo>
                      <a:pt x="63500" y="0"/>
                    </a:moveTo>
                    <a:lnTo>
                      <a:pt x="0" y="254001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857756" y="4225290"/>
              <a:ext cx="2648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Runtime / framework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8542" y="47310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+mn-lt"/>
                  <a:ea typeface="+mn-ea"/>
                  <a:cs typeface="+mn-cs"/>
                </a:rPr>
                <a:t>购买者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86356" y="4682490"/>
              <a:ext cx="8775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Builder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905250" y="3486150"/>
              <a:ext cx="762000" cy="838200"/>
            </a:xfrm>
            <a:custGeom>
              <a:avLst/>
              <a:gdLst/>
              <a:ahLst/>
              <a:cxnLst/>
              <a:rect l="l" t="t" r="r" b="b"/>
              <a:pathLst>
                <a:path w="762000" h="838200">
                  <a:moveTo>
                    <a:pt x="0" y="83820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514850" y="34861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38100"/>
                  </a:lnTo>
                  <a:lnTo>
                    <a:pt x="9525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67250" y="3048000"/>
              <a:ext cx="2857500" cy="1714500"/>
            </a:xfrm>
            <a:prstGeom prst="roundRect">
              <a:avLst>
                <a:gd name="adj" fmla="val 5556"/>
              </a:avLst>
            </a:prstGeom>
            <a:solidFill>
              <a:srgbClr val="26385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953067" y="3333817"/>
              <a:ext cx="300423" cy="300423"/>
            </a:xfrm>
            <a:custGeom>
              <a:avLst/>
              <a:gdLst/>
              <a:ahLst/>
              <a:cxnLst/>
              <a:rect l="l" t="t" r="r" b="b"/>
              <a:pathLst>
                <a:path w="300423" h="300423">
                  <a:moveTo>
                    <a:pt x="72959" y="120584"/>
                  </a:moveTo>
                  <a:lnTo>
                    <a:pt x="120584" y="120584"/>
                  </a:lnTo>
                  <a:lnTo>
                    <a:pt x="120584" y="72959"/>
                  </a:lnTo>
                  <a:lnTo>
                    <a:pt x="65021" y="17396"/>
                  </a:lnTo>
                  <a:cubicBezTo>
                    <a:pt x="101446" y="0"/>
                    <a:pt x="144880" y="7452"/>
                    <a:pt x="173423" y="35995"/>
                  </a:cubicBezTo>
                  <a:cubicBezTo>
                    <a:pt x="201965" y="64537"/>
                    <a:pt x="209417" y="107972"/>
                    <a:pt x="192021" y="144396"/>
                  </a:cubicBezTo>
                  <a:lnTo>
                    <a:pt x="287272" y="239646"/>
                  </a:lnTo>
                  <a:cubicBezTo>
                    <a:pt x="300423" y="252798"/>
                    <a:pt x="300423" y="274120"/>
                    <a:pt x="287272" y="287272"/>
                  </a:cubicBezTo>
                  <a:cubicBezTo>
                    <a:pt x="274120" y="300423"/>
                    <a:pt x="252798" y="300423"/>
                    <a:pt x="239646" y="287272"/>
                  </a:cubicBezTo>
                  <a:lnTo>
                    <a:pt x="144396" y="192021"/>
                  </a:lnTo>
                  <a:cubicBezTo>
                    <a:pt x="107972" y="209417"/>
                    <a:pt x="64537" y="201965"/>
                    <a:pt x="35995" y="173423"/>
                  </a:cubicBezTo>
                  <a:cubicBezTo>
                    <a:pt x="7452" y="144880"/>
                    <a:pt x="0" y="101446"/>
                    <a:pt x="17396" y="65021"/>
                  </a:cubicBezTo>
                  <a:lnTo>
                    <a:pt x="72959" y="120584"/>
                  </a:lnTo>
                </a:path>
              </a:pathLst>
            </a:custGeom>
            <a:noFill/>
            <a:ln w="31750">
              <a:solidFill>
                <a:srgbClr val="F7FAF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77256" y="3368040"/>
              <a:ext cx="227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Developer product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08042" y="3778568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CONTROL SURFACE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8042" y="4216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+mn-lt"/>
                  <a:ea typeface="+mn-ea"/>
                  <a:cs typeface="+mn-cs"/>
                </a:rPr>
                <a:t>购买者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5856" y="416814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Developer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524750" y="2628900"/>
              <a:ext cx="762000" cy="838200"/>
            </a:xfrm>
            <a:custGeom>
              <a:avLst/>
              <a:gdLst/>
              <a:ahLst/>
              <a:cxnLst/>
              <a:rect l="l" t="t" r="r" b="b"/>
              <a:pathLst>
                <a:path w="762000" h="838200">
                  <a:moveTo>
                    <a:pt x="0" y="83820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8134350" y="26289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38100"/>
                  </a:lnTo>
                  <a:lnTo>
                    <a:pt x="9525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286750" y="2000250"/>
              <a:ext cx="2857500" cy="2190750"/>
            </a:xfrm>
            <a:prstGeom prst="roundRect">
              <a:avLst>
                <a:gd name="adj" fmla="val 4348"/>
              </a:avLst>
            </a:pr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569325" y="2367899"/>
              <a:ext cx="349249" cy="232495"/>
            </a:xfrm>
            <a:custGeom>
              <a:avLst/>
              <a:gdLst/>
              <a:ahLst/>
              <a:cxnLst/>
              <a:rect l="l" t="t" r="r" b="b"/>
              <a:pathLst>
                <a:path w="349249" h="232495">
                  <a:moveTo>
                    <a:pt x="81323" y="232425"/>
                  </a:moveTo>
                  <a:cubicBezTo>
                    <a:pt x="36409" y="232425"/>
                    <a:pt x="0" y="197378"/>
                    <a:pt x="0" y="154141"/>
                  </a:cubicBezTo>
                  <a:cubicBezTo>
                    <a:pt x="0" y="110922"/>
                    <a:pt x="36409" y="75874"/>
                    <a:pt x="81323" y="75874"/>
                  </a:cubicBezTo>
                  <a:cubicBezTo>
                    <a:pt x="88185" y="45106"/>
                    <a:pt x="112650" y="19995"/>
                    <a:pt x="145497" y="9989"/>
                  </a:cubicBezTo>
                  <a:cubicBezTo>
                    <a:pt x="178327" y="0"/>
                    <a:pt x="214579" y="6618"/>
                    <a:pt x="240563" y="27451"/>
                  </a:cubicBezTo>
                  <a:cubicBezTo>
                    <a:pt x="266547" y="48231"/>
                    <a:pt x="278317" y="79961"/>
                    <a:pt x="271472" y="110730"/>
                  </a:cubicBezTo>
                  <a:lnTo>
                    <a:pt x="288759" y="110730"/>
                  </a:lnTo>
                  <a:cubicBezTo>
                    <a:pt x="322165" y="110730"/>
                    <a:pt x="349249" y="137971"/>
                    <a:pt x="349249" y="171604"/>
                  </a:cubicBezTo>
                  <a:cubicBezTo>
                    <a:pt x="349249" y="205254"/>
                    <a:pt x="322165" y="232495"/>
                    <a:pt x="288742" y="232495"/>
                  </a:cubicBezTo>
                  <a:lnTo>
                    <a:pt x="81323" y="232495"/>
                  </a:lnTo>
                </a:path>
              </a:pathLst>
            </a:custGeom>
            <a:noFill/>
            <a:ln w="34925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40368" y="2279332"/>
              <a:ext cx="1171908" cy="5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Enterprise</a:t>
              </a:r>
              <a:br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27542" y="2845118"/>
              <a:ext cx="1732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GOVERNED PRODUCT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27542" y="33404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购买者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25356" y="3291840"/>
              <a:ext cx="1361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Enterprise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60265" y="5673090"/>
            <a:ext cx="3071470" cy="352044"/>
            <a:chOff x="4560265" y="5673090"/>
            <a:chExt cx="3071470" cy="352044"/>
          </a:xfrm>
        </p:grpSpPr>
        <p:sp>
          <p:nvSpPr>
            <p:cNvPr id="32" name="TextBox 32"/>
            <p:cNvSpPr txBox="1"/>
            <p:nvPr/>
          </p:nvSpPr>
          <p:spPr>
            <a:xfrm>
              <a:off x="4560265" y="567309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AFC"/>
                  </a:solidFill>
                  <a:latin typeface="Cascadia Mono"/>
                  <a:ea typeface="Microsoft YaHei"/>
                  <a:cs typeface="Cascadia Mono"/>
                </a:rPr>
                <a:t>先定义竞争层，再比较产品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34" name="TextBox 34"/>
            <p:cNvSpPr txBox="1"/>
            <p:nvPr/>
          </p:nvSpPr>
          <p:spPr>
            <a:xfrm>
              <a:off x="602742" y="6293168"/>
              <a:ext cx="4334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K-019 · K-027 | RUNTIME → PRODUCT → PLATFORM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P20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rgbClr val="D7E0F1">
                <a:alpha val="65000"/>
              </a:srgb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93598" y="501968"/>
            <a:ext cx="6265583" cy="974217"/>
            <a:chOff x="593598" y="501968"/>
            <a:chExt cx="6265583" cy="97421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01968"/>
              <a:ext cx="2678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THREE COMPETITIVE LAYERS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860108"/>
              <a:ext cx="626558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三层分别争夺架构、习惯与预算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1695450"/>
            <a:ext cx="10972800" cy="4000500"/>
            <a:chOff x="609600" y="1695450"/>
            <a:chExt cx="10972800" cy="4000500"/>
          </a:xfrm>
        </p:grpSpPr>
        <p:sp>
          <p:nvSpPr>
            <p:cNvPr id="6" name="Rectangle 6"/>
            <p:cNvSpPr/>
            <p:nvPr/>
          </p:nvSpPr>
          <p:spPr>
            <a:xfrm>
              <a:off x="5867400" y="1695450"/>
              <a:ext cx="5715000" cy="1257300"/>
            </a:xfrm>
            <a:prstGeom prst="roundRect">
              <a:avLst>
                <a:gd name="adj" fmla="val 7576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6127750" y="1998504"/>
              <a:ext cx="317501" cy="211360"/>
            </a:xfrm>
            <a:custGeom>
              <a:avLst/>
              <a:gdLst/>
              <a:ahLst/>
              <a:cxnLst/>
              <a:rect l="l" t="t" r="r" b="b"/>
              <a:pathLst>
                <a:path w="317501" h="211360">
                  <a:moveTo>
                    <a:pt x="73930" y="211297"/>
                  </a:moveTo>
                  <a:cubicBezTo>
                    <a:pt x="33099" y="211297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6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4"/>
                  </a:cubicBezTo>
                  <a:lnTo>
                    <a:pt x="262510" y="100664"/>
                  </a:lnTo>
                  <a:cubicBezTo>
                    <a:pt x="292878" y="100664"/>
                    <a:pt x="317501" y="125429"/>
                    <a:pt x="317501" y="156004"/>
                  </a:cubicBezTo>
                  <a:cubicBezTo>
                    <a:pt x="317501" y="186595"/>
                    <a:pt x="292878" y="211360"/>
                    <a:pt x="262494" y="211360"/>
                  </a:cubicBezTo>
                  <a:lnTo>
                    <a:pt x="73930" y="211360"/>
                  </a:lnTo>
                </a:path>
              </a:pathLst>
            </a:custGeom>
            <a:noFill/>
            <a:ln w="31750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58356" y="1977390"/>
              <a:ext cx="2545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Enterprise platform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89904" y="2385060"/>
              <a:ext cx="3169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企业购买者 · 治理预算 · IAM / VPC / SLA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89904" y="2670810"/>
              <a:ext cx="32032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Dify · Coze · Model Studio · Tencent ADP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515350" y="29527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1143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9754" y="3013710"/>
              <a:ext cx="1033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Cascadia Mono"/>
                  <a:ea typeface="Cascadia Mono"/>
                  <a:cs typeface="Cascadia Mono"/>
                </a:rPr>
                <a:t>GOVERNANCE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238500" y="3067050"/>
              <a:ext cx="6667500" cy="1257300"/>
            </a:xfrm>
            <a:prstGeom prst="roundRect">
              <a:avLst>
                <a:gd name="adj" fmla="val 7576"/>
              </a:avLst>
            </a:prstGeom>
            <a:solidFill>
              <a:srgbClr val="26385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05267" y="3333817"/>
              <a:ext cx="300423" cy="300423"/>
            </a:xfrm>
            <a:custGeom>
              <a:avLst/>
              <a:gdLst/>
              <a:ahLst/>
              <a:cxnLst/>
              <a:rect l="l" t="t" r="r" b="b"/>
              <a:pathLst>
                <a:path w="300423" h="300423">
                  <a:moveTo>
                    <a:pt x="72959" y="120584"/>
                  </a:moveTo>
                  <a:lnTo>
                    <a:pt x="120584" y="120584"/>
                  </a:lnTo>
                  <a:lnTo>
                    <a:pt x="120584" y="72959"/>
                  </a:lnTo>
                  <a:lnTo>
                    <a:pt x="65021" y="17396"/>
                  </a:lnTo>
                  <a:cubicBezTo>
                    <a:pt x="101446" y="0"/>
                    <a:pt x="144880" y="7452"/>
                    <a:pt x="173423" y="35995"/>
                  </a:cubicBezTo>
                  <a:cubicBezTo>
                    <a:pt x="201965" y="64537"/>
                    <a:pt x="209417" y="107972"/>
                    <a:pt x="192021" y="144396"/>
                  </a:cubicBezTo>
                  <a:lnTo>
                    <a:pt x="287272" y="239646"/>
                  </a:lnTo>
                  <a:cubicBezTo>
                    <a:pt x="300423" y="252798"/>
                    <a:pt x="300423" y="274120"/>
                    <a:pt x="287272" y="287272"/>
                  </a:cubicBezTo>
                  <a:cubicBezTo>
                    <a:pt x="274120" y="300423"/>
                    <a:pt x="252798" y="300423"/>
                    <a:pt x="239646" y="287272"/>
                  </a:cubicBezTo>
                  <a:lnTo>
                    <a:pt x="144396" y="192021"/>
                  </a:lnTo>
                  <a:cubicBezTo>
                    <a:pt x="107972" y="209417"/>
                    <a:pt x="64537" y="201965"/>
                    <a:pt x="35995" y="173423"/>
                  </a:cubicBezTo>
                  <a:cubicBezTo>
                    <a:pt x="7452" y="144880"/>
                    <a:pt x="0" y="101446"/>
                    <a:pt x="17396" y="65021"/>
                  </a:cubicBezTo>
                  <a:lnTo>
                    <a:pt x="72959" y="120584"/>
                  </a:lnTo>
                </a:path>
              </a:pathLst>
            </a:custGeom>
            <a:noFill/>
            <a:ln w="31750">
              <a:solidFill>
                <a:srgbClr val="F7FAF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029456" y="3348990"/>
              <a:ext cx="45429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Developer product / control surface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61004" y="3756660"/>
              <a:ext cx="4252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购买者 · 开发者 | 赢得 · 工作习惯 | 切换成本 · 日常工作流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61004" y="4042410"/>
              <a:ext cx="4981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Claude Code · Codex · Copilot · OpenHands · Qwen · Kimi · Trae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886450" y="4324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1143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70854" y="4385310"/>
              <a:ext cx="558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Cascadia Mono"/>
                  <a:ea typeface="Cascadia Mono"/>
                  <a:cs typeface="Cascadia Mono"/>
                </a:rPr>
                <a:t>HABITS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4438650"/>
              <a:ext cx="5715000" cy="1257300"/>
            </a:xfrm>
            <a:prstGeom prst="roundRect">
              <a:avLst>
                <a:gd name="adj" fmla="val 7576"/>
              </a:avLst>
            </a:prstGeom>
            <a:solidFill>
              <a:schemeClr val="accent1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85825" y="4730750"/>
              <a:ext cx="285751" cy="254001"/>
              <a:chOff x="885825" y="4730750"/>
              <a:chExt cx="285751" cy="25400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85825" y="47942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08076" y="47942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96950" y="4730750"/>
                <a:ext cx="6350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1">
                    <a:moveTo>
                      <a:pt x="63500" y="0"/>
                    </a:moveTo>
                    <a:lnTo>
                      <a:pt x="0" y="254001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400556" y="4720590"/>
              <a:ext cx="2648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Runtime / framework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104" y="5128260"/>
              <a:ext cx="47156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F4F7"/>
                  </a:solidFill>
                  <a:latin typeface="+mn-lt"/>
                  <a:ea typeface="+mn-ea"/>
                  <a:cs typeface="+mn-cs"/>
                </a:rPr>
                <a:t>购买者 · Builder | 赢得 · 架构 | 切换成本 · capability contract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104" y="5414010"/>
              <a:ext cx="5814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Harness · AgentScope · LangGraph · OpenAI SDK · ADK · Agent Framework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02742" y="6293168"/>
              <a:ext cx="5035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K-019 · K-021 · K-022 · K-024 · K-025 · K-026 · K-033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P21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rgbClr val="D7E0F1">
                <a:alpha val="65000"/>
              </a:srgb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93598" y="387668"/>
            <a:ext cx="10995660" cy="1064133"/>
            <a:chOff x="593598" y="387668"/>
            <a:chExt cx="10995660" cy="10641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668"/>
              <a:ext cx="4093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CHINA MARKET / SAME-LAYER COMPARISON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650558"/>
              <a:ext cx="58203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中国竞争不是一场，而是三场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742" y="1187768"/>
              <a:ext cx="57111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2026-08-18 快照 · stars 与 forks 只锚定关注度，不代表采用或收入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290456" y="1187768"/>
              <a:ext cx="2298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ascadia Mono"/>
                  <a:ea typeface="Cascadia Mono"/>
                  <a:cs typeface="Cascadia Mono"/>
                </a:rPr>
                <a:t>NATIVE MATRIX / EDITABLE</a:t>
              </a:r>
            </a:p>
          </p:txBody>
        </p:sp>
      </p:grpSp>
      <p:graphicFrame>
        <p:nvGraphicFramePr>
          <p:cNvPr id="8" name="china-competition-matrix"/>
          <p:cNvGraphicFramePr>
            <a:graphicFrameLocks noGrp="1"/>
          </p:cNvGraphicFramePr>
          <p:nvPr/>
        </p:nvGraphicFramePr>
        <p:xfrm>
          <a:off x="609600" y="1657350"/>
          <a:ext cx="10972800" cy="33337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14500"/>
                <a:gridCol w="3333750"/>
                <a:gridCol w="2857500"/>
                <a:gridCol w="3067050"/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chemeClr val="accent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chemeClr val="accent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中国同层竞品 / 许可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9A4D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公开关注快照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chemeClr val="accent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获胜机制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Runtime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AgentScope · Apache 2.0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4D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 157,324 / 16,338 AgentScope 29,019 / 3,369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 Plugin runtime · 显式语义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Developer entry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Code · Kimi · Trae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4D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Code 27,144 / 2,877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开发者入口 · 工作习惯 · 任务适配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Enterprise budget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Dify · Coze · Model Studio · ADP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9A4D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Dify 152,784 / 24,135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 · 采购 · 支持</a:t>
                      </a:r>
                    </a:p>
                  </a:txBody>
                  <a:tcPr anchor="ctr" marL="95250" marR="95250" marT="47625" marB="47625">
                    <a:lnL w="9525">
                      <a:solidFill>
                        <a:srgbClr val="A9B7D5"/>
                      </a:solidFill>
                      <a:prstDash val="solid"/>
                    </a:lnL>
                    <a:lnR w="9525">
                      <a:solidFill>
                        <a:srgbClr val="A9B7D5"/>
                      </a:solidFill>
                      <a:prstDash val="solid"/>
                    </a:lnR>
                    <a:lnT w="9525">
                      <a:solidFill>
                        <a:srgbClr val="A9B7D5"/>
                      </a:solidFill>
                      <a:prstDash val="solid"/>
                    </a:lnT>
                    <a:lnB w="9525">
                      <a:solidFill>
                        <a:srgbClr val="A9B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7" name="Group 17"/>
          <p:cNvGrpSpPr/>
          <p:nvPr/>
        </p:nvGrpSpPr>
        <p:grpSpPr>
          <a:xfrm>
            <a:off x="603504" y="5128260"/>
            <a:ext cx="9437911" cy="854202"/>
            <a:chOff x="603504" y="5128260"/>
            <a:chExt cx="9437911" cy="854202"/>
          </a:xfrm>
        </p:grpSpPr>
        <p:sp>
          <p:nvSpPr>
            <p:cNvPr id="9" name="TextBox 9"/>
            <p:cNvSpPr txBox="1"/>
            <p:nvPr/>
          </p:nvSpPr>
          <p:spPr>
            <a:xfrm>
              <a:off x="603504" y="5128260"/>
              <a:ext cx="439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许可边界：Dify 有附加条件，Coze 部分功能仅商业版提供。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5626418"/>
              <a:ext cx="1001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ascadia Mono"/>
                  <a:ea typeface="Cascadia Mono"/>
                  <a:cs typeface="Cascadia Mono"/>
                </a:rPr>
                <a:t>ATTENTION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07258" y="55130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9792" y="5626418"/>
              <a:ext cx="1656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ascadia Mono"/>
                  <a:ea typeface="Cascadia Mono"/>
                  <a:cs typeface="Cascadia Mono"/>
                </a:rPr>
                <a:t>EXPERIMENTATION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12408" y="55130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3992" y="5626418"/>
              <a:ext cx="931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ascadia Mono"/>
                  <a:ea typeface="Cascadia Mono"/>
                  <a:cs typeface="Cascadia Mono"/>
                </a:rPr>
                <a:t>ADOPTION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69858" y="55130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51442" y="5626418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ascadia Mono"/>
                  <a:ea typeface="Cascadia Mono"/>
                  <a:cs typeface="Cascadia Mono"/>
                </a:rPr>
                <a:t>REVENUE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602742" y="6293168"/>
              <a:ext cx="5035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K-020 · K-021 · K-022 · K-023 · K-024 · K-025 · K-027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P22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rgbClr val="D7E0F1">
                <a:alpha val="65000"/>
              </a:srgb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3598" y="387668"/>
            <a:ext cx="6265583" cy="1064133"/>
            <a:chOff x="593598" y="387668"/>
            <a:chExt cx="6265583" cy="10641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668"/>
              <a:ext cx="4028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REPRODUCIBLE TRIAL / EVIDENCE PIPELINE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650558"/>
              <a:ext cx="626558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可信试点让每一次比较都可重放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742" y="1187768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冻结假设，成对比较系统，用唯一运行身份绑定证据，再用同一标尺做判断。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1809750"/>
            <a:ext cx="10972800" cy="1638300"/>
            <a:chOff x="609600" y="1809750"/>
            <a:chExt cx="10972800" cy="1638300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1714500" cy="1638300"/>
            </a:xfrm>
            <a:prstGeom prst="roundRect">
              <a:avLst>
                <a:gd name="adj" fmla="val 6977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004" y="1985010"/>
              <a:ext cx="1078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EE7F0"/>
                  </a:solidFill>
                  <a:latin typeface="Cascadia Mono"/>
                  <a:ea typeface="Cascadia Mono"/>
                  <a:cs typeface="Cascadia Mono"/>
                </a:rPr>
                <a:t>01 / CHOOSE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718" y="22793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冻结假设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004" y="26136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5F6"/>
                  </a:solidFill>
                  <a:latin typeface="+mn-lt"/>
                  <a:ea typeface="+mn-ea"/>
                  <a:cs typeface="+mn-cs"/>
                </a:rPr>
                <a:t>版本 · 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004" y="2861310"/>
              <a:ext cx="14113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5F6"/>
                  </a:solidFill>
                  <a:latin typeface="+mn-lt"/>
                  <a:ea typeface="+mn-ea"/>
                  <a:cs typeface="+mn-cs"/>
                </a:rPr>
                <a:t>Provider 集 · 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004" y="3108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5F6"/>
                  </a:solidFill>
                  <a:latin typeface="+mn-lt"/>
                  <a:ea typeface="+mn-ea"/>
                  <a:cs typeface="+mn-cs"/>
                </a:rPr>
                <a:t>成功阈值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324100" y="2628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71750" y="25527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1143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781300" y="1809750"/>
              <a:ext cx="1619250" cy="704850"/>
            </a:xfrm>
            <a:prstGeom prst="roundRect">
              <a:avLst>
                <a:gd name="adj" fmla="val 13514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65704" y="1965960"/>
              <a:ext cx="7918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SYSTEM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65704" y="2213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当前基线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81300" y="2743200"/>
              <a:ext cx="1619250" cy="704850"/>
            </a:xfrm>
            <a:prstGeom prst="roundRect">
              <a:avLst>
                <a:gd name="adj" fmla="val 13514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65704" y="2899410"/>
              <a:ext cx="7918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SYSTEM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65704" y="3147060"/>
              <a:ext cx="1013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Harness 候选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686050" y="2162175"/>
              <a:ext cx="95250" cy="933450"/>
            </a:xfrm>
            <a:custGeom>
              <a:avLst/>
              <a:gdLst/>
              <a:ahLst/>
              <a:cxnLst/>
              <a:rect l="l" t="t" r="r" b="b"/>
              <a:pathLst>
                <a:path w="95250" h="933450">
                  <a:moveTo>
                    <a:pt x="0" y="466725"/>
                  </a:moveTo>
                  <a:lnTo>
                    <a:pt x="0" y="0"/>
                  </a:lnTo>
                  <a:lnTo>
                    <a:pt x="95250" y="0"/>
                  </a:lnTo>
                  <a:moveTo>
                    <a:pt x="0" y="466725"/>
                  </a:moveTo>
                  <a:lnTo>
                    <a:pt x="0" y="933450"/>
                  </a:lnTo>
                  <a:lnTo>
                    <a:pt x="95250" y="9334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400550" y="2162175"/>
              <a:ext cx="342900" cy="933450"/>
            </a:xfrm>
            <a:custGeom>
              <a:avLst/>
              <a:gdLst/>
              <a:ahLst/>
              <a:cxnLst/>
              <a:rect l="l" t="t" r="r" b="b"/>
              <a:pathLst>
                <a:path w="342900" h="933450">
                  <a:moveTo>
                    <a:pt x="0" y="0"/>
                  </a:moveTo>
                  <a:lnTo>
                    <a:pt x="342900" y="0"/>
                  </a:lnTo>
                  <a:moveTo>
                    <a:pt x="0" y="933450"/>
                  </a:moveTo>
                  <a:lnTo>
                    <a:pt x="171450" y="933450"/>
                  </a:lnTo>
                  <a:lnTo>
                    <a:pt x="171450" y="466725"/>
                  </a:lnTo>
                  <a:lnTo>
                    <a:pt x="342900" y="4667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667250" y="25527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1143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857750" y="1809750"/>
              <a:ext cx="1524000" cy="16383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42154" y="1985010"/>
              <a:ext cx="764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8CA0"/>
                  </a:solidFill>
                  <a:latin typeface="Cascadia Mono"/>
                  <a:ea typeface="Cascadia Mono"/>
                  <a:cs typeface="Cascadia Mono"/>
                </a:rPr>
                <a:t>02 / BIND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9868" y="2317432"/>
              <a:ext cx="12645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唯一 run_id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048250" y="2724150"/>
              <a:ext cx="1143000" cy="381000"/>
            </a:xfrm>
            <a:prstGeom prst="roundRect">
              <a:avLst>
                <a:gd name="adj" fmla="val 20000"/>
              </a:avLst>
            </a:prstGeom>
            <a:solidFill>
              <a:srgbClr val="E6FAF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09794" y="2842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08CA0"/>
                  </a:solidFill>
                  <a:latin typeface="Cascadia Mono"/>
                  <a:ea typeface="Cascadia Mono"/>
                  <a:cs typeface="Cascadia Mono"/>
                </a:rPr>
                <a:t>trial-0042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42154" y="31661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两条路径同一身份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381750" y="26289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648450" y="25527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1143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38950" y="1809750"/>
              <a:ext cx="1619250" cy="163830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19050">
              <a:solidFill>
                <a:srgbClr val="A9B7D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23354" y="1985010"/>
              <a:ext cx="1159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03 / EVIDENCE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1068" y="22793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23354" y="2632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配置快照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23354" y="28803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事件 · 日志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23354" y="312801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产物 · 成本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458200" y="26289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724900" y="25527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1143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15400" y="1809750"/>
              <a:ext cx="2667000" cy="1638300"/>
            </a:xfrm>
            <a:prstGeom prst="roundRect">
              <a:avLst>
                <a:gd name="adj" fmla="val 6977"/>
              </a:avLst>
            </a:prstGeom>
            <a:solidFill>
              <a:srgbClr val="FFF6E8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99804" y="1985010"/>
              <a:ext cx="160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A4D00"/>
                  </a:solidFill>
                  <a:latin typeface="Cascadia Mono"/>
                  <a:ea typeface="Cascadia Mono"/>
                  <a:cs typeface="Cascadia Mono"/>
                </a:rPr>
                <a:t>04 / SHARED RUBRIC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98280" y="22955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同一标尺，同一组结果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105900" y="2686050"/>
              <a:ext cx="685800" cy="361950"/>
            </a:xfrm>
            <a:prstGeom prst="roundRect">
              <a:avLst>
                <a:gd name="adj" fmla="val 2105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886950" y="2686050"/>
              <a:ext cx="685800" cy="361950"/>
            </a:xfrm>
            <a:prstGeom prst="roundRect">
              <a:avLst>
                <a:gd name="adj" fmla="val 2105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668000" y="2686050"/>
              <a:ext cx="723900" cy="361950"/>
            </a:xfrm>
            <a:prstGeom prst="roundRect">
              <a:avLst>
                <a:gd name="adj" fmla="val 2105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81160" y="27946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62210" y="27946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成本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62310" y="27946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99804" y="31470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不允许事后更改指标。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3886200"/>
            <a:ext cx="10972800" cy="1581150"/>
            <a:chOff x="609600" y="3886200"/>
            <a:chExt cx="10972800" cy="1581150"/>
          </a:xfrm>
        </p:grpSpPr>
        <p:sp>
          <p:nvSpPr>
            <p:cNvPr id="51" name="Rectangle 51"/>
            <p:cNvSpPr/>
            <p:nvPr/>
          </p:nvSpPr>
          <p:spPr>
            <a:xfrm>
              <a:off x="609600" y="3886200"/>
              <a:ext cx="10972800" cy="1581150"/>
            </a:xfrm>
            <a:prstGeom prst="roundRect">
              <a:avLst>
                <a:gd name="adj" fmla="val 8434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1342" y="4083368"/>
              <a:ext cx="1344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F0"/>
                  </a:solidFill>
                  <a:latin typeface="Cascadia Mono"/>
                  <a:ea typeface="Cascadia Mono"/>
                  <a:cs typeface="Cascadia Mono"/>
                </a:rPr>
                <a:t>DECISION GATE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6008" y="4370070"/>
              <a:ext cx="57915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团队能否解释差异，并重放这次运行？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38200" y="4895850"/>
              <a:ext cx="4629150" cy="381000"/>
            </a:xfrm>
            <a:prstGeom prst="roundRect">
              <a:avLst>
                <a:gd name="adj" fmla="val 20000"/>
              </a:avLst>
            </a:prstGeom>
            <a:solidFill>
              <a:srgbClr val="DFF5E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22223" y="5005864"/>
              <a:ext cx="22655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能 → 解释 → 重放 → 扩大实验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657850" y="4895850"/>
              <a:ext cx="5695950" cy="381000"/>
            </a:xfrm>
            <a:prstGeom prst="roundRect">
              <a:avLst>
                <a:gd name="adj" fmla="val 20000"/>
              </a:avLst>
            </a:prstGeom>
            <a:solidFill>
              <a:srgbClr val="FCE8ED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841873" y="5005864"/>
              <a:ext cx="31158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5B"/>
                  </a:solidFill>
                  <a:latin typeface="+mn-lt"/>
                  <a:ea typeface="+mn-ea"/>
                  <a:cs typeface="+mn-cs"/>
                </a:rPr>
                <a:t>不能 → 结果只是轶事，不是决策级证据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5715000"/>
            <a:ext cx="10972800" cy="324231"/>
            <a:chOff x="609600" y="5715000"/>
            <a:chExt cx="10972800" cy="324231"/>
          </a:xfrm>
        </p:grpSpPr>
        <p:sp>
          <p:nvSpPr>
            <p:cNvPr id="59" name="Rectangle 59"/>
            <p:cNvSpPr/>
            <p:nvPr/>
          </p:nvSpPr>
          <p:spPr>
            <a:xfrm>
              <a:off x="609600" y="5715000"/>
              <a:ext cx="1097280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4954" y="5804535"/>
              <a:ext cx="47829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Cascadia Mono"/>
                  <a:ea typeface="Microsoft YaHei"/>
                  <a:cs typeface="Cascadia Mono"/>
                </a:rPr>
                <a:t>EVIDENCE CONTRACT · 配置 + 事件 + 日志 + 产物 + 结果 + 成本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602742" y="6293168"/>
              <a:ext cx="3537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ascadia Mono"/>
                  <a:ea typeface="Cascadia Mono"/>
                  <a:cs typeface="Cascadia Mono"/>
                </a:rPr>
                <a:t>K-011 · K-012 · K-013 · K-016 · K-026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P23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3">
                <a:alpha val="38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93598" y="387668"/>
            <a:ext cx="7913029" cy="1064133"/>
            <a:chOff x="593598" y="387668"/>
            <a:chExt cx="7913029" cy="10641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87668"/>
              <a:ext cx="3988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75" dirty="0">
                  <a:solidFill>
                    <a:srgbClr val="6EE7F0"/>
                  </a:solidFill>
                  <a:latin typeface="Cascadia Mono"/>
                  <a:ea typeface="Cascadia Mono"/>
                  <a:cs typeface="Cascadia Mono"/>
                </a:rPr>
                <a:t>30 / 60 / 90 DAYS · GOVERNED ADOPTION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650558"/>
              <a:ext cx="791302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90 天变成采用决策，而不是一次演示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742" y="1187768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7D2E8"/>
                  </a:solidFill>
                  <a:latin typeface="+mn-lt"/>
                  <a:ea typeface="+mn-ea"/>
                  <a:cs typeface="+mn-cs"/>
                </a:rPr>
                <a:t>架构、治理与证据是三根支柱；每一个里程碑都必须同时增强三者。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752600"/>
            <a:ext cx="3048000" cy="3543300"/>
            <a:chOff x="609600" y="1752600"/>
            <a:chExt cx="3048000" cy="3543300"/>
          </a:xfrm>
        </p:grpSpPr>
        <p:sp>
          <p:nvSpPr>
            <p:cNvPr id="7" name="Rectangle 7"/>
            <p:cNvSpPr/>
            <p:nvPr/>
          </p:nvSpPr>
          <p:spPr>
            <a:xfrm>
              <a:off x="609600" y="1752600"/>
              <a:ext cx="3048000" cy="1047750"/>
            </a:xfrm>
            <a:prstGeom prst="roundRect">
              <a:avLst>
                <a:gd name="adj" fmla="val 10909"/>
              </a:avLst>
            </a:prstGeom>
            <a:solidFill>
              <a:srgbClr val="182747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2673" y="1929289"/>
              <a:ext cx="1226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F0"/>
                  </a:solidFill>
                  <a:latin typeface="Cascadia Mono"/>
                  <a:ea typeface="Cascadia Mono"/>
                  <a:cs typeface="Cascadia Mono"/>
                </a:rPr>
                <a:t>ARCHITECTURE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2235518"/>
              <a:ext cx="1766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Plugin 接缝保持显式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054" y="2499360"/>
              <a:ext cx="2790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D2E8"/>
                  </a:solidFill>
                  <a:latin typeface="+mn-lt"/>
                  <a:ea typeface="+mn-ea"/>
                  <a:cs typeface="+mn-cs"/>
                </a:rPr>
                <a:t>runtime · provider · tool · context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3000375"/>
              <a:ext cx="3048000" cy="1047750"/>
            </a:xfrm>
            <a:prstGeom prst="roundRect">
              <a:avLst>
                <a:gd name="adj" fmla="val 10909"/>
              </a:avLst>
            </a:prstGeom>
            <a:solidFill>
              <a:srgbClr val="182747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2673" y="3177064"/>
              <a:ext cx="1102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8C56D"/>
                  </a:solidFill>
                  <a:latin typeface="Cascadia Mono"/>
                  <a:ea typeface="Cascadia Mono"/>
                  <a:cs typeface="Cascadia Mono"/>
                </a:rPr>
                <a:t>GOVERNANCE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2292" y="3483292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策略包裹每一个接缝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054" y="3747135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D2E8"/>
                  </a:solidFill>
                  <a:latin typeface="+mn-lt"/>
                  <a:ea typeface="+mn-ea"/>
                  <a:cs typeface="+mn-cs"/>
                </a:rPr>
                <a:t>身份 · 审批 · 密钥 · 审计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4248150"/>
              <a:ext cx="3048000" cy="1047750"/>
            </a:xfrm>
            <a:prstGeom prst="roundRect">
              <a:avLst>
                <a:gd name="adj" fmla="val 10909"/>
              </a:avLst>
            </a:prstGeom>
            <a:solidFill>
              <a:srgbClr val="182747"/>
            </a:solidFill>
            <a:ln w="19050">
              <a:solidFill>
                <a:srgbClr val="65C77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2673" y="4424839"/>
              <a:ext cx="80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86E49B"/>
                  </a:solidFill>
                  <a:latin typeface="Cascadia Mono"/>
                  <a:ea typeface="Cascadia Mono"/>
                  <a:cs typeface="Cascadia Mono"/>
                </a:rPr>
                <a:t>EVIDENCE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2292" y="4731068"/>
              <a:ext cx="1855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 run_id 串起故事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3054" y="499491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D2E8"/>
                  </a:solidFill>
                  <a:latin typeface="+mn-lt"/>
                  <a:ea typeface="+mn-ea"/>
                  <a:cs typeface="+mn-cs"/>
                </a:rPr>
                <a:t>事件 · 日志 · 产物 · 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095750" y="1866900"/>
            <a:ext cx="7486650" cy="3438525"/>
            <a:chOff x="4095750" y="1866900"/>
            <a:chExt cx="7486650" cy="3438525"/>
          </a:xfrm>
        </p:grpSpPr>
        <p:sp>
          <p:nvSpPr>
            <p:cNvPr id="20" name="Freeform 20"/>
            <p:cNvSpPr/>
            <p:nvPr/>
          </p:nvSpPr>
          <p:spPr>
            <a:xfrm>
              <a:off x="4095750" y="5295900"/>
              <a:ext cx="7486650" cy="9525"/>
            </a:xfrm>
            <a:custGeom>
              <a:avLst/>
              <a:gdLst/>
              <a:ahLst/>
              <a:cxnLst/>
              <a:rect l="l" t="t" r="r" b="b"/>
              <a:pathLst>
                <a:path w="7486650" h="9525">
                  <a:moveTo>
                    <a:pt x="0" y="0"/>
                  </a:moveTo>
                  <a:lnTo>
                    <a:pt x="7486650" y="0"/>
                  </a:lnTo>
                </a:path>
              </a:pathLst>
            </a:custGeom>
            <a:noFill/>
            <a:ln w="19050">
              <a:solidFill>
                <a:srgbClr val="60739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24350" y="3771900"/>
              <a:ext cx="2095500" cy="1524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 w="19050">
              <a:solidFill>
                <a:srgbClr val="A9B7D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27042" y="3959542"/>
              <a:ext cx="145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DAY 30 / PROVE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6661" y="42848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冻结实验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7804" y="4594860"/>
              <a:ext cx="1078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成对 A/B 基线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7804" y="482346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负责人 + 唯一 run_id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27804" y="5052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共享成功标尺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29400" y="2819400"/>
              <a:ext cx="2095500" cy="2476500"/>
            </a:xfrm>
            <a:prstGeom prst="roundRect">
              <a:avLst>
                <a:gd name="adj" fmla="val 5455"/>
              </a:avLst>
            </a:prstGeom>
            <a:solidFill>
              <a:srgbClr val="FFF6E8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32092" y="3007042"/>
              <a:ext cx="1566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9A4D00"/>
                  </a:solidFill>
                  <a:latin typeface="Cascadia Mono"/>
                  <a:ea typeface="Cascadia Mono"/>
                  <a:cs typeface="Cascadia Mono"/>
                </a:rPr>
                <a:t>DAY 60 / GOVERN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31711" y="3332321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构建控制外壳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32854" y="3661410"/>
              <a:ext cx="11398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Policy adapter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32854" y="39090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 + 密钥控制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32854" y="41567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审计接收器 + 证据包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32854" y="44043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重放 + 失败演练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32854" y="48234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A4D00"/>
                  </a:solidFill>
                  <a:latin typeface="+mn-lt"/>
                  <a:ea typeface="+mn-ea"/>
                  <a:cs typeface="+mn-cs"/>
                </a:rPr>
                <a:t>闸门：可解释、可重复？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934450" y="1866900"/>
              <a:ext cx="2419350" cy="3429000"/>
            </a:xfrm>
            <a:prstGeom prst="roundRect">
              <a:avLst>
                <a:gd name="adj" fmla="val 4724"/>
              </a:avLst>
            </a:prstGeom>
            <a:solidFill>
              <a:srgbClr val="E5F7EA"/>
            </a:solidFill>
            <a:ln w="19050">
              <a:solidFill>
                <a:srgbClr val="65C77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37142" y="2054542"/>
              <a:ext cx="1475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803D"/>
                  </a:solidFill>
                  <a:latin typeface="Cascadia Mono"/>
                  <a:ea typeface="Cascadia Mono"/>
                  <a:cs typeface="Cascadia Mono"/>
                </a:rPr>
                <a:t>DAY 90 / DECIDE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36761" y="23798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有条件采用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37904" y="2727960"/>
              <a:ext cx="1377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生产负责人 + SLO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37904" y="2975610"/>
              <a:ext cx="1650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获批 Provider + tools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37904" y="32232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回滚 + 事件路径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37904" y="34709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采用 + 财务指标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44000" y="3905250"/>
              <a:ext cx="2000250" cy="514350"/>
            </a:xfrm>
            <a:prstGeom prst="roundRect">
              <a:avLst>
                <a:gd name="adj" fmla="val 16667"/>
              </a:avLst>
            </a:prstGeom>
            <a:solidFill>
              <a:srgbClr val="15803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02148" y="4073842"/>
              <a:ext cx="1283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PASS → ADOPT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144000" y="4552950"/>
              <a:ext cx="2000250" cy="514350"/>
            </a:xfrm>
            <a:prstGeom prst="roundRect">
              <a:avLst>
                <a:gd name="adj" fmla="val 16667"/>
              </a:avLst>
            </a:prstGeom>
            <a:solidFill>
              <a:srgbClr val="FCE8ED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29954" y="4721542"/>
              <a:ext cx="1828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5B"/>
                  </a:solidFill>
                  <a:latin typeface="Cascadia Mono"/>
                  <a:ea typeface="Cascadia Mono"/>
                  <a:cs typeface="Cascadia Mono"/>
                </a:rPr>
                <a:t>HOLD → CLOSE GAPS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5562600"/>
            <a:ext cx="10972800" cy="514350"/>
            <a:chOff x="609600" y="5562600"/>
            <a:chExt cx="10972800" cy="514350"/>
          </a:xfrm>
        </p:grpSpPr>
        <p:sp>
          <p:nvSpPr>
            <p:cNvPr id="47" name="Rectangle 47"/>
            <p:cNvSpPr/>
            <p:nvPr/>
          </p:nvSpPr>
          <p:spPr>
            <a:xfrm>
              <a:off x="609600" y="5562600"/>
              <a:ext cx="10972800" cy="514350"/>
            </a:xfrm>
            <a:prstGeom prst="roundRect">
              <a:avLst>
                <a:gd name="adj" fmla="val 18519"/>
              </a:avLst>
            </a:prstGeom>
            <a:solidFill>
              <a:srgbClr val="22345B"/>
            </a:solidFill>
            <a:ln w="9525">
              <a:solidFill>
                <a:schemeClr val="accent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1342" y="5740718"/>
              <a:ext cx="5414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只有当架构 + 治理 + 证据同时可解释、可重复时，才进入采用。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2742" y="6293168"/>
            <a:ext cx="10986516" cy="264033"/>
            <a:chOff x="602742" y="6293168"/>
            <a:chExt cx="10986516" cy="264033"/>
          </a:xfrm>
        </p:grpSpPr>
        <p:sp>
          <p:nvSpPr>
            <p:cNvPr id="50" name="TextBox 50"/>
            <p:cNvSpPr txBox="1"/>
            <p:nvPr/>
          </p:nvSpPr>
          <p:spPr>
            <a:xfrm>
              <a:off x="602742" y="629316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B7D5"/>
                  </a:solidFill>
                  <a:latin typeface="Cascadia Mono"/>
                  <a:ea typeface="Cascadia Mono"/>
                  <a:cs typeface="Cascadia Mono"/>
                </a:rPr>
                <a:t>K-011 · K-013 · K-019 · K-026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26648" y="629316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EE7F0"/>
                  </a:solidFill>
                  <a:latin typeface="Cascadia Mono"/>
                  <a:ea typeface="Cascadia Mono"/>
                  <a:cs typeface="Cascadia Mono"/>
                </a:rPr>
                <a:t>P24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epseek-harness-system-learning-zh">
  <a:themeElements>
    <a:clrScheme name="deepseek-harness-system-learning-zh">
      <a:dk1>
        <a:srgbClr val="101828"/>
      </a:dk1>
      <a:lt1>
        <a:srgbClr val="F7FAFC"/>
      </a:lt1>
      <a:dk2>
        <a:srgbClr val="1F497D"/>
      </a:dk2>
      <a:lt2>
        <a:srgbClr val="E8EEF7"/>
      </a:lt2>
      <a:accent1>
        <a:srgbClr val="101B35"/>
      </a:accent1>
      <a:accent2>
        <a:srgbClr val="00C2D7"/>
      </a:accent2>
      <a:accent3>
        <a:srgbClr val="3448A8"/>
      </a:accent3>
      <a:accent4>
        <a:srgbClr val="101B35"/>
      </a:accent4>
      <a:accent5>
        <a:srgbClr val="475467"/>
      </a:accent5>
      <a:accent6>
        <a:srgbClr val="D97706"/>
      </a:accent6>
      <a:hlink>
        <a:srgbClr val="00C2D7"/>
      </a:hlink>
      <a:folHlink>
        <a:srgbClr val="3448A8"/>
      </a:folHlink>
    </a:clrScheme>
    <a:fontScheme name="deepseek-harness-system-learning-z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epseek-harness-system-learning-z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epseek-harness-system-learning-zh">
  <a:themeElements>
    <a:clrScheme name="deepseek-harness-system-learning-zh">
      <a:dk1>
        <a:srgbClr val="101828"/>
      </a:dk1>
      <a:lt1>
        <a:srgbClr val="F7FAFC"/>
      </a:lt1>
      <a:dk2>
        <a:srgbClr val="1F497D"/>
      </a:dk2>
      <a:lt2>
        <a:srgbClr val="E8EEF7"/>
      </a:lt2>
      <a:accent1>
        <a:srgbClr val="101B35"/>
      </a:accent1>
      <a:accent2>
        <a:srgbClr val="00C2D7"/>
      </a:accent2>
      <a:accent3>
        <a:srgbClr val="3448A8"/>
      </a:accent3>
      <a:accent4>
        <a:srgbClr val="101B35"/>
      </a:accent4>
      <a:accent5>
        <a:srgbClr val="475467"/>
      </a:accent5>
      <a:accent6>
        <a:srgbClr val="D97706"/>
      </a:accent6>
      <a:hlink>
        <a:srgbClr val="00C2D7"/>
      </a:hlink>
      <a:folHlink>
        <a:srgbClr val="3448A8"/>
      </a:folHlink>
    </a:clrScheme>
    <a:fontScheme name="deepseek-harness-system-learning-z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epseek-harness-system-learning-z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2026-08-18T14:02:59Z</dcterms:created>
  <dcterms:modified xsi:type="dcterms:W3CDTF">2026-08-18T14:02:59Z</dcterms:modified>
  <cp:category/>
  <cp:contentStatus/>
</cp:coreProperties>
</file>